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c46776b35b4c0e" /><Relationship Type="http://schemas.openxmlformats.org/package/2006/relationships/metadata/core-properties" Target="/docProps/core.xml" Id="R3fee234257c6416a" /><Relationship Type="http://schemas.openxmlformats.org/officeDocument/2006/relationships/extended-properties" Target="/docProps/app.xml" Id="Rde456032029f4bc7" /><Relationship Type="http://schemas.openxmlformats.org/officeDocument/2006/relationships/custom-properties" Target="/docProps/custom.xml" Id="Re4686be0b09340a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66c09c4d11d4ba7"/>
  </p:notesMasterIdLst>
  <p:sldIdLst>
    <p:sldId id="256" r:id="R2dde6bce617f481e"/>
    <p:sldId id="257" r:id="R8634a30e68eb42d7"/>
    <p:sldId id="258" r:id="R2c5b73e0ecd941b6"/>
    <p:sldId id="259" r:id="R778abcc961784e95"/>
    <p:sldId id="260" r:id="Rffa8581dcdee4cc4"/>
    <p:sldId id="261" r:id="Rb1789102f1b0441e"/>
    <p:sldId id="262" r:id="Re7751ebd11ed4b31"/>
    <p:sldId id="263" r:id="Rd0ac01cfeedd4f8d"/>
    <p:sldId id="264" r:id="Ra20bc90535724f56"/>
    <p:sldId id="265" r:id="Rdb33cafc991d4a9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dde6bce617f481e" /><Relationship Type="http://schemas.openxmlformats.org/officeDocument/2006/relationships/notesMaster" Target="/ppt/notesMasters/notesMaster1.xml" Id="R566c09c4d11d4ba7" /><Relationship Type="http://schemas.openxmlformats.org/officeDocument/2006/relationships/slide" Target="/ppt/slides/slide2.xml" Id="R8634a30e68eb42d7" /><Relationship Type="http://schemas.openxmlformats.org/officeDocument/2006/relationships/slide" Target="/ppt/slides/slide3.xml" Id="R2c5b73e0ecd941b6" /><Relationship Type="http://schemas.openxmlformats.org/officeDocument/2006/relationships/slide" Target="/ppt/slides/slide4.xml" Id="R778abcc961784e95" /><Relationship Type="http://schemas.openxmlformats.org/officeDocument/2006/relationships/slide" Target="/ppt/slides/slide5.xml" Id="Rffa8581dcdee4cc4" /><Relationship Type="http://schemas.openxmlformats.org/officeDocument/2006/relationships/slide" Target="/ppt/slides/slide6.xml" Id="Rb1789102f1b0441e" /><Relationship Type="http://schemas.openxmlformats.org/officeDocument/2006/relationships/slide" Target="/ppt/slides/slide7.xml" Id="Re7751ebd11ed4b31" /><Relationship Type="http://schemas.openxmlformats.org/officeDocument/2006/relationships/slide" Target="/ppt/slides/slide8.xml" Id="Rd0ac01cfeedd4f8d" /><Relationship Type="http://schemas.openxmlformats.org/officeDocument/2006/relationships/slide" Target="/ppt/slides/slide9.xml" Id="Ra20bc90535724f56" /><Relationship Type="http://schemas.openxmlformats.org/officeDocument/2006/relationships/slide" Target="/ppt/slides/slide10.xml" Id="Rdb33cafc991d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6c2a0864b7440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a9cc57f37f4872" /><Relationship Type="http://schemas.openxmlformats.org/officeDocument/2006/relationships/slide" Target="/ppt/slides/slide1.xml" Id="Re6e8aafe7054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5c505830a2471e" /><Relationship Type="http://schemas.openxmlformats.org/officeDocument/2006/relationships/slide" Target="/ppt/slides/slide2.xml" Id="R72bc35997a6e49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2ab725b9a24a1b" /><Relationship Type="http://schemas.openxmlformats.org/officeDocument/2006/relationships/slide" Target="/ppt/slides/slide3.xml" Id="Rae7f90a4c924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0cc5ba908d6416c" /><Relationship Type="http://schemas.openxmlformats.org/officeDocument/2006/relationships/slide" Target="/ppt/slides/slide4.xml" Id="R25bafcb8ecd04f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34d8d821d64757" /><Relationship Type="http://schemas.openxmlformats.org/officeDocument/2006/relationships/slide" Target="/ppt/slides/slide5.xml" Id="Re66139b3bcfb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508b8dbb944606" /><Relationship Type="http://schemas.openxmlformats.org/officeDocument/2006/relationships/slide" Target="/ppt/slides/slide6.xml" Id="R200d35829c8843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2efad01cb4425d" /><Relationship Type="http://schemas.openxmlformats.org/officeDocument/2006/relationships/slide" Target="/ppt/slides/slide7.xml" Id="R33236d27b5c94c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c613fab688a4429" /><Relationship Type="http://schemas.openxmlformats.org/officeDocument/2006/relationships/slide" Target="/ppt/slides/slide8.xml" Id="R72510214bdbe48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e05fbb3a8ba405b" /><Relationship Type="http://schemas.openxmlformats.org/officeDocument/2006/relationships/slide" Target="/ppt/slides/slide9.xml" Id="R1e65db66284f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7464a22a8c4d49" /><Relationship Type="http://schemas.openxmlformats.org/officeDocument/2006/relationships/slide" Target="/ppt/slides/slide10.xml" Id="R7e8fa11be2de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Opening slide of the master organization plan for the Qiskit Fall Fest 2026. Briefly introduce the dual-presence structure (physical presence in Bangalore, India and virtual global hub on Discord) and align roles within the core committee.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Pre-event strategy notes: Emphasize that registration is the primary pipeline of the operations. Focus on automating the onboarding of attendees into Discord and locking down speaker slide schedules weeks ahead.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In-person operations notes: Address physical layout. Ensure the staging system has active fallbacks. Mention that the registration process is the physical threshold—it must be fast and zero-friction.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Online operations notes: Stream latency should be kept under 3 seconds. The Discord virtual host is a key role—without them, online participants will feel disconnected from the physical Bangalore crowd.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Daily blueprint notes: Run a tight morning check-in every day. Keep sessions on schedule. Focus on the transitions—such as moving from the Day 1 opening directly to the afternoon hackathon kickoff.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Hackathon operations notes: Keep a strict submission deadline—the system must automatically close GitHub PRs. Tally the scorecards in a shared Google Sheet in real-time to avoid award ceremony delays.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Website updates notes: Detail the need to replace 'TBA' and 'TBD' placeholders on the web pages with real, prestigious profiles to build visitor credibility and drive registration numbers.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Post-event metrics notes: Make sure the digital badges are dispatched instantly. Highlight continuing engagement—keeping the Discord community alive is essential for lasting educational impact.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Budget notes: Walk through the main chunks of costs. Detail that venue hospitality represents half of the allocation, and professional AV staging is essential for successful hybrid streaming.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milestone notes: Go over the timeline checkpoints. Emphasize that the first major milestone is locking down agreements, and the critical pre-event check is verifying live streams and onboarding speakers.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faaf1498348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5265b688843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53b42170f4b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f6b6923b247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77e8e6f32470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519682c3d62496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bec39881645dd" /><Relationship Type="http://schemas.openxmlformats.org/officeDocument/2006/relationships/notesSlide" Target="/ppt/notesSlides/notesSlide1.xml" Id="R30b7eb65bdad4e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606dc9e83480a" /><Relationship Type="http://schemas.openxmlformats.org/officeDocument/2006/relationships/notesSlide" Target="/ppt/notesSlides/notesSlide2.xml" Id="R0eb0721aed4f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c7098fed44dcf" /><Relationship Type="http://schemas.openxmlformats.org/officeDocument/2006/relationships/notesSlide" Target="/ppt/notesSlides/notesSlide3.xml" Id="R1151ba8eb66145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c6b0af64d46b6" /><Relationship Type="http://schemas.openxmlformats.org/officeDocument/2006/relationships/notesSlide" Target="/ppt/notesSlides/notesSlide4.xml" Id="Red9049f24772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9b03ffcbc4f4f" /><Relationship Type="http://schemas.openxmlformats.org/officeDocument/2006/relationships/notesSlide" Target="/ppt/notesSlides/notesSlide5.xml" Id="Refbe180a0cfb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1e4acaf104c49" /><Relationship Type="http://schemas.openxmlformats.org/officeDocument/2006/relationships/notesSlide" Target="/ppt/notesSlides/notesSlide6.xml" Id="R4247f2ce217c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1732e0ba846cf" /><Relationship Type="http://schemas.openxmlformats.org/officeDocument/2006/relationships/notesSlide" Target="/ppt/notesSlides/notesSlide7.xml" Id="R2fe7b463170e4e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2f22aa5ab4660" /><Relationship Type="http://schemas.openxmlformats.org/officeDocument/2006/relationships/notesSlide" Target="/ppt/notesSlides/notesSlide8.xml" Id="R2e1530c9481544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7b7c8fb947e4" /><Relationship Type="http://schemas.openxmlformats.org/officeDocument/2006/relationships/notesSlide" Target="/ppt/notesSlides/notesSlide9.xml" Id="Rb4d1a5436eca4f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e907eb1e48c0" /><Relationship Type="http://schemas.openxmlformats.org/officeDocument/2006/relationships/notesSlide" Target="/ppt/notesSlides/notesSlide10.xml" Id="R431433a26e43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00" name="S1_Title"/>
          <p:cNvSpPr txBox="1"/>
          <p:nvPr/>
        </p:nvSpPr>
        <p:spPr>
          <a:xfrm xmlns:a="http://schemas.openxmlformats.org/drawingml/2006/main">
            <a:off x="720000" y="90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IBM QISKIT FALL FEST 2026</a:t>
            </a:r>
          </a:p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EVENT ORGANIZATION &amp; OPERATION PLAN</a:t>
            </a:r>
          </a:p>
        </p:txBody>
      </p:sp>
      <p:sp>
        <p:nvSpPr>
          <p:cNvPr id="100001" name="S1_Subtitle"/>
          <p:cNvSpPr txBox="1"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6B9D"/>
                </a:solidFill>
                <a:latin typeface="Calibri"/>
                <a:ea typeface="Calibri"/>
              </a:rPr>
              <a:t>End-to-End Operational Run-Book for In-Person &amp; Online Hybrid Execution</a:t>
            </a:r>
          </a:p>
          <a:p xmlns:a="http://schemas.openxmlformats.org/drawingml/2006/main">
            <a:r>
              <a:rPr lang="en-US" sz="1800">
                <a:solidFill>
                  <a:srgbClr val="FF6B9D"/>
                </a:solidFill>
                <a:latin typeface="Calibri"/>
                <a:ea typeface="Calibri"/>
              </a:rPr>
              <a:t>Presented by IBM Quantum &amp; Quantum for Humanity Org  ·  November 16–20, 2026</a:t>
            </a:r>
          </a:p>
        </p:txBody>
      </p:sp>
      <p:sp>
        <p:nvSpPr>
          <p:cNvPr id="100002" name="S1_Info"/>
          <p:cNvSpPr txBox="1"/>
          <p:nvPr/>
        </p:nvSpPr>
        <p:spPr>
          <a:xfrm xmlns:a="http://schemas.openxmlformats.org/drawingml/2006/main">
            <a:off x="720000" y="4140000"/>
            <a:ext cx="107532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📍 Venue: Bangalore, India (IST timezone)  ·  🌐 Virtual Hub: Discord Community Server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👥 Focus Areas: Registration Systems, Speaker Onboarding, AV Staging, and Hybrid Operations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03" name="S2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PRE-EVENT OPERATIONAL STRATEGY (MONTHS 1–3)</a:t>
            </a:r>
          </a:p>
        </p:txBody>
      </p:sp>
      <p:sp>
        <p:nvSpPr>
          <p:cNvPr id="100004" name="S2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Attendee Onboarding &amp; Registrations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Launch official registration portal linking physical badges to virtual profiles.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Collect T-shirt sizes, food/dietary preferences, and skill level.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Auto-issue Discord invitation links upon successful registration validation.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Scaffolding Virtual Platforms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Design Discord category architecture (Announcements, General, Ask-Mentors, Hack-Teams).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Configure security verification bots to prevent server trolling and spam.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Establish roles: Admin, Speaker, Mentor, Participant, Staff.</a:t>
            </a:r>
          </a:p>
        </p:txBody>
      </p:sp>
      <p:sp>
        <p:nvSpPr>
          <p:cNvPr id="100005" name="S2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3. Speaker Consolidation (Resolving TBAs)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Confirm travel itinerary and hotel accommodation for speakers traveling to Bangalore.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Collect slide decks, custom code requirements, and speaker headshots.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Execute green-room rehearsals for online streaming presenters.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4. Public Relations &amp; Marketing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Disseminate brand kit assets (flamingo, eagle, wave-function stickers) across social channels.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Publish weekly countdown newsletters to the registered attendee database.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Release official promotional videos detailing the Quantum for Humanity mission.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06" name="S3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IN-PERSON VENUE OPERATIONS (BANGALORE HUB)</a:t>
            </a:r>
          </a:p>
        </p:txBody>
      </p:sp>
      <p:sp>
        <p:nvSpPr>
          <p:cNvPr id="100007" name="S3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AV Staging &amp; Staging Production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Install dual 4K LED screens on stage with active fallback cabling.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Deploy professional stage microphones (lapels for presenters, handhelds for Q&amp;A).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Set up a 3-cam video system: Cam 1 (Main presenter), Cam 2 (Wide stage), Cam 3 (Crowd Q&amp;A).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Ensure a hardware mixer is present for real-time noise suppression and audio feed splitting.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Registration Desks &amp; Check-ins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Set up 4 check-in queues: A-G, H-O, P-Z, and VIP/Speakers.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Deploy QR barcode scanners to speed up physical badge printing.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Distribute welcome kits (T-shirts, branded notebooks, sticker packs).</a:t>
            </a:r>
          </a:p>
        </p:txBody>
      </p:sp>
      <p:sp>
        <p:nvSpPr>
          <p:cNvPr id="100008" name="S3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3. Local Hospitality &amp; Logistics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Partner with Bangalore transport providers for speaker airport pickups.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Maintain strict dietary separation (Vegetarian, Vegan, Gluten-Free) at the catering tables.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Set up hydration stations across the hall to eliminate single-use plastics.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4. Signage &amp; Brand Environment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Display QFF-2026 banners at the entrance, registration desks, and photo-booths.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Install clear directional signage for the main hall, hackathon workspace, and catering zone.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• Set up an interactive 'Sticker Board' where students share custom sticker combinations.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09" name="S4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ONLINE STREAMING &amp; DISCORD OPERATIONS</a:t>
            </a:r>
          </a:p>
        </p:txBody>
      </p:sp>
      <p:sp>
        <p:nvSpPr>
          <p:cNvPr id="100010" name="S4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Hybrid Live Streaming Setup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Stream raw AV output to YouTube Live / Twitch in 1080p60.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Deploy hardware encoders (OBS Studio / vMix) to ingest physical cameras and virtual speaker feeds.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Configure real-time overlay graphics with speaker names and the active session countdown timer.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Bridging In-Person &amp; Online Audiences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Assign a dedicated virtual host to monitor the YouTube Live and Discord chat channels.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Virtual host acts as the voice of online participants during the Q&amp;A sessions on the main stage.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Stream live slides and code directly to Discord screenshares for remote teams.</a:t>
            </a:r>
          </a:p>
        </p:txBody>
      </p:sp>
      <p:sp>
        <p:nvSpPr>
          <p:cNvPr id="100011" name="S4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3. Discord Operations &amp; Security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Secure channels using verified permissions and automatic link scanners.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Program bots to trigger announcements before sessions start.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Schedule virtual social activities (e.g. coffee rooms, icebreakers) to maintain high online engagement.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4. Digital Asset Distribution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Link PDF handouts and Qiskit Jupyter Labs in the Discord resources channel.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Automatically distribute digital certificates and QFF-26 credential badges using bot automation after attendance verification.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12" name="S5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THE 5-DAY OPERATIONAL BLUEPRINT</a:t>
            </a:r>
          </a:p>
        </p:txBody>
      </p:sp>
      <p:sp>
        <p:nvSpPr>
          <p:cNvPr id="100013" name="S5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DAILY OPERATIONAL PHASES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• Day 1 (Mon, Nov 16) | Opening &amp; Foundation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Morning: In-person check-ins start at 8:00 AM IST.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Keynote: Welcome address &amp; roadmap release.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Operational Task: Match and finalize hackathon teams in Discord.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• Day 2 (Tue, Nov 17) | Circuits &amp; Algorithms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Intermediate focus. Track Qiskit live code laboratories.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Keynote: Eagle vs. Heron processor benchmarks.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Operational Task: Collect and format code submissions for the open-source sprint.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• Day 3 (Wed, Nov 18) | Quantum for Humanity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Applied/Impact focus. Local NGOs join panels.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Topics: Climate modeling, agriculture, clean water.</a:t>
            </a:r>
          </a:p>
          <a:p xmlns:a="http://schemas.openxmlformats.org/drawingml/2006/main">
            <a:r>
              <a:rPr lang="en-US" sz="1400">
                <a:solidFill>
                  <a:srgbClr val="E0E0E0"/>
                </a:solidFill>
                <a:latin typeface="Calibri"/>
                <a:ea typeface="Calibri"/>
              </a:rPr>
              <a:t>  - Operational Task: Moderate the responsibly-focused panels and record comments.</a:t>
            </a:r>
          </a:p>
        </p:txBody>
      </p:sp>
      <p:sp>
        <p:nvSpPr>
          <p:cNvPr id="100014" name="S5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DAILY OPERATIONAL PHASES (CONT.)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• Day 4 (Thu, Nov 19) | Advanced Research &amp; Quantum Safe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Focus: Quantum error correction, VQE, and Quantum Safe.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Operational Task: Run the corporate Masterclass.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Midpoint Check-in: Host mentor matching slots (15-min reviews) for top hackathon teams.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• Day 5 (Fri, Nov 20) | Hackathon Finals &amp; Closing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Operational Task: Stream the final 10 hackathon team presentations.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Award Ceremony: Tally judges' scoring cards and announce the IBM Quantum Prize winners.</a:t>
            </a:r>
          </a:p>
          <a:p xmlns:a="http://schemas.openxmlformats.org/drawingml/2006/main">
            <a:r>
              <a:rPr lang="en-US" sz="1400">
                <a:solidFill>
                  <a:srgbClr val="8B5CF6"/>
                </a:solidFill>
                <a:latin typeface="Calibri"/>
                <a:ea typeface="Calibri"/>
              </a:rPr>
              <a:t>  - Closing: Launch the QfH Manifesto. Transition virtual participants to the final Discord celebration.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15" name="S6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HACKATHON OPERATIONAL MECHANICS</a:t>
            </a:r>
          </a:p>
        </p:txBody>
      </p:sp>
      <p:sp>
        <p:nvSpPr>
          <p:cNvPr id="100016" name="S6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Team Formations &amp; Submissions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Open team registration on Day 1 (max 5 members per team).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Form channels in Discord (e.g. #team-01, #team-02) dynamically via bot allocation.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Provide teams with sandbox IBM Quantum access keys and pre-configured Qiskit notebook templates.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Enforce a strict submission deadline on Day 4 at 12:00 PM IST (GitHub repo URLs).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Onboarding Mentors &amp; Advisors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Secure 15 IBM Quantum researchers to serve as technical mentors.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Establish mentor channels in Discord with ping bots to triage student questions.</a:t>
            </a:r>
          </a:p>
        </p:txBody>
      </p:sp>
      <p:sp>
        <p:nvSpPr>
          <p:cNvPr id="100017" name="S6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3. Jury Onboarding &amp; Scoring Matrix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Onboard a 5-member jury panel consisting of academic, IBM, and industry experts.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Standardize the scoring sheet on a 100-point rubric: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  - 30 pts: Technical depth of the Qiskit code.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  - 30 pts: Novelty and impact of the humanitarian solution.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  - 20 pts: Presentation clarity and slide deck visual quality.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  - 20 pts: Code documentation and reproducibility.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4. Live Finals Production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Select top 10 teams to present on Day 5.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Allocate 5 minutes for presentation and 3 minutes for Q&amp;A.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18" name="S7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WEBSITE UPDATE: RESOLVING TBA SPEAKERS</a:t>
            </a:r>
          </a:p>
        </p:txBody>
      </p:sp>
      <p:sp>
        <p:nvSpPr>
          <p:cNvPr id="100019" name="S7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OUTLINING CURRENT WEBPAGE VULNERABILITIES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The live QFF-26 index.html contains 8 placeholders marked as 'Speaker TBA'.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Over 27 cells in the program schedule table are marked as 'TBD' for presenter names.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To make this plan completely ready for execution, we propose concrete, highly-aligned expert profiles to update the website immediately: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Opening Keynote Presenter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   - Sourced: IBM Fellow &amp; VP of IBM Quantum.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   - Topic: Quantum Roadmap 2026.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Quantum Error Correction (QEC) Presenter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   - Sourced: Lead QEC Researcher, IBM.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   - Topic: Scaling Surface Codes.</a:t>
            </a:r>
          </a:p>
        </p:txBody>
      </p:sp>
      <p:sp>
        <p:nvSpPr>
          <p:cNvPr id="100020" name="S7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PROPOSED EXPERTS TO SOLVE SCHEDULE HOLES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3. Quantum Machine Learning (QML) Academic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Sourced: Lead AI &amp; QML Professor, IIT Madras.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Topic: Quantum Kernels and Neural Networks.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4. Quantum for Humanity Presenter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Sourced: Executive Director, QfH Organization.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Topic: Scaling Open Science for Global Good.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5. Quantum Chemistry Presenter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Sourced: Materials Scientist, IISc Bangalore.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Topic: Nitrogen Fixation and Molecular Simulation.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6. IBM Hardware Presenter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Sourced: Chief Hardware Architect, IBM.</a:t>
            </a:r>
          </a:p>
          <a:p xmlns:a="http://schemas.openxmlformats.org/drawingml/2006/main">
            <a:r>
              <a:rPr lang="en-US" sz="1500">
                <a:solidFill>
                  <a:srgbClr val="8B5CF6"/>
                </a:solidFill>
                <a:latin typeface="Calibri"/>
                <a:ea typeface="Calibri"/>
              </a:rPr>
              <a:t>   - Topic: Heron vs. Eagle Coherence Milestones.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21" name="S8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POST-EVENT METRICS &amp; ARCHIVING OPERATIONS</a:t>
            </a:r>
          </a:p>
        </p:txBody>
      </p:sp>
      <p:sp>
        <p:nvSpPr>
          <p:cNvPr id="100022" name="S8_Col1"/>
          <p:cNvSpPr txBox="1"/>
          <p:nvPr/>
        </p:nvSpPr>
        <p:spPr>
          <a:xfrm xmlns:a="http://schemas.openxmlformats.org/drawingml/2006/main">
            <a:off x="7200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1. Media Post-Production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Edit and cut live stream videos into individual session talks within 48 hours.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Publish edited lectures to YouTube and link them in the Qiskit study materials.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Create and publish a 3-minute highlight reel capturing main stage energy, hackathon project sprints, and local student testimonials.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2. Participant Certifications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Verify final student participation records from physical scan logs and Discord presence.</a:t>
            </a:r>
          </a:p>
          <a:p xmlns:a="http://schemas.openxmlformats.org/drawingml/2006/main">
            <a:r>
              <a:rPr lang="en-US" sz="1500">
                <a:solidFill>
                  <a:srgbClr val="E0E0E0"/>
                </a:solidFill>
                <a:latin typeface="Calibri"/>
                <a:ea typeface="Calibri"/>
              </a:rPr>
              <a:t>• Auto-issue IBM Qiskit Fall Fest badges and Quantum Safe certificate files via email.</a:t>
            </a:r>
          </a:p>
        </p:txBody>
      </p:sp>
      <p:sp>
        <p:nvSpPr>
          <p:cNvPr id="100023" name="S8_Col2"/>
          <p:cNvSpPr txBox="1"/>
          <p:nvPr/>
        </p:nvSpPr>
        <p:spPr>
          <a:xfrm xmlns:a="http://schemas.openxmlformats.org/drawingml/2006/main">
            <a:off x="6433200" y="1368000"/>
            <a:ext cx="504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3. Impact Assessment &amp; Reporting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Consolidate hackathon output repos and draft the 'Global Projects Report'.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Calculate and publish event metrics (number of attendees, projects, codes compiled).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Send out attendee feedback surveys to assess logistics and workshop clarity.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4. Continuing Engagement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Keep Discord server open as an ongoing Qiskit study forum.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Host monthly virtual follow-up meetups with hackathon winners.</a:t>
            </a:r>
          </a:p>
          <a:p xmlns:a="http://schemas.openxmlformats.org/drawingml/2006/main">
            <a:r>
              <a:rPr lang="en-US" sz="1500">
                <a:solidFill>
                  <a:srgbClr val="FF6B9D"/>
                </a:solidFill>
                <a:latin typeface="Calibri"/>
                <a:ea typeface="Calibri"/>
              </a:rPr>
              <a:t>• Set up registration notifications for QFF-2027.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24" name="S9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COMPREHENSIVE BUDGET ESTIMATES</a:t>
            </a:r>
          </a:p>
        </p:txBody>
      </p:sp>
      <p:sp>
        <p:nvSpPr>
          <p:cNvPr id="100025" name="S9_Body"/>
          <p:cNvSpPr txBox="1"/>
          <p:nvPr/>
        </p:nvSpPr>
        <p:spPr>
          <a:xfrm xmlns:a="http://schemas.openxmlformats.org/drawingml/2006/main">
            <a:off x="720000" y="1368000"/>
            <a:ext cx="1075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Estimated Core Budget for Physical Hub &amp; Online Streaming Production: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Physical Venue &amp; Hospitality (50%):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Auditorium Rental (5 Days, Bangalore Hub): $15,000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Catering (Lunch, High-Tea, Coffee for 200 participants daily): $12,500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Speaker Hotel Accommodations &amp; Air Travel: $8,000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Staging AV &amp; Digital Production (25%):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Dual 4K LED Screen Rental, Cam rigs, Lapel and Q&amp;A mic arrays: $7,000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Dedicated high-bandwidth internet line, live stream switching gear: $3,000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Video editor post-production and highlight reel cuts: $2,500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Collateral &amp; Attendee Onboarding (15%):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Participant welcome kits (T-shirts, branded diaries, stickers): $6,000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Physical badges, lanyards, poster boards, directional banners: $2,000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Marketing, Operations &amp; Emergency Fallback (10%):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Paid PR, social newsletters, emergency backups, local security: $4,000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TOTAL BUDGET ESTIMATE: $60,000 (Funded by IBM Quantum &amp; Sponsors)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81D"/>
        </a:solidFill>
      </p:bgPr>
    </p:bg>
    <p:spTree>
      <p:nvGrpSpPr>
        <p:cNvPr id="1" name=""/>
        <p:cNvGrpSpPr/>
        <p:nvPr/>
      </p:nvGrpSpPr>
      <p:grpSpPr/>
      <p:sp>
        <p:nvSpPr>
          <p:cNvPr id="100026" name="S10_Title"/>
          <p:cNvSpPr txBox="1"/>
          <p:nvPr/>
        </p:nvSpPr>
        <p:spPr>
          <a:xfrm xmlns:a="http://schemas.openxmlformats.org/drawingml/2006/main">
            <a:off x="720000" y="5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OPERATIONAL TIMELINE &amp; MILESTONES</a:t>
            </a:r>
          </a:p>
        </p:txBody>
      </p:sp>
      <p:sp>
        <p:nvSpPr>
          <p:cNvPr id="100027" name="S10_Body"/>
          <p:cNvSpPr txBox="1"/>
          <p:nvPr/>
        </p:nvSpPr>
        <p:spPr>
          <a:xfrm xmlns:a="http://schemas.openxmlformats.org/drawingml/2006/main">
            <a:off x="720000" y="1368000"/>
            <a:ext cx="1075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Operational Checkpoint Milestones leading to November 16 Launch: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Milestone 1 | Pre-Event - Weeks 10-12 (T-10 Weeks):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Partner agreements finalized. Budget approved.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Website index.html live with registration links. Discord scaffold structures built.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Milestone 2 | Pre-Event - Weeks 4-6 (T-4 Weeks):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Confirm and lock in all 8 keynote speakers and replace webpage 'TBA' cards.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AV contract signed. Bangalore venue logistics checked. Welcome kits ordered.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Milestone 3 | Pre-Event - Weeks 1-2 (T-1 Week):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Complete test stream run. Setup verified secure Discord bots. Badge roster loaded.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Rehearsals completed for virtual and physical hosts. Speaker presentations compiled.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Milestone 4 | Live Event Week: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In-person and online gates open at 8:00 AM IST. Daily run-sheets enforced.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• Milestone 5 | Post-Event + 1 Week:</a:t>
            </a:r>
          </a:p>
          <a:p xmlns:a="http://schemas.openxmlformats.org/drawingml/2006/main">
            <a:r>
              <a:rPr lang="en-US" sz="1600">
                <a:solidFill>
                  <a:srgbClr val="E0E0E0"/>
                </a:solidFill>
                <a:latin typeface="Calibri"/>
                <a:ea typeface="Calibri"/>
              </a:rPr>
              <a:t>  - Distribute certificates. Publish edited session videos. Launch QfH Manifesto.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2026-09-30T04:04:06Z</dcterms:created>
  <cp:lastModifiedBy>OfficeCLI</cp:lastModifiedBy>
  <dcterms:modified xsi:type="dcterms:W3CDTF">2026-09-30T04:04:06Z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2026-09-30T04:04:08Z</vt:lpwstr>
  </op:property>
</op:Properties>
</file>