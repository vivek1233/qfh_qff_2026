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c1341a443074027" /><Relationship Type="http://schemas.openxmlformats.org/package/2006/relationships/metadata/core-properties" Target="/docProps/core.xml" Id="R7fcf01a9ae70409c" /><Relationship Type="http://schemas.openxmlformats.org/officeDocument/2006/relationships/extended-properties" Target="/docProps/app.xml" Id="R8313ce5a27ab44ad" /><Relationship Type="http://schemas.openxmlformats.org/officeDocument/2006/relationships/custom-properties" Target="/docProps/custom.xml" Id="Ra441e376dde04735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31cd281f70c04a25"/>
  </p:notesMasterIdLst>
  <p:sldIdLst>
    <p:sldId id="256" r:id="Ra3c202f6392b40c8"/>
    <p:sldId id="257" r:id="Ra60240cf59eb49dd"/>
    <p:sldId id="258" r:id="R560f7343413344d8"/>
    <p:sldId id="259" r:id="Re1cf085b30aa4403"/>
    <p:sldId id="260" r:id="Rc1e3924ef6af4dc7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a3c202f6392b40c8" /><Relationship Type="http://schemas.openxmlformats.org/officeDocument/2006/relationships/notesMaster" Target="/ppt/notesMasters/notesMaster1.xml" Id="R31cd281f70c04a25" /><Relationship Type="http://schemas.openxmlformats.org/officeDocument/2006/relationships/slide" Target="/ppt/slides/slide2.xml" Id="Ra60240cf59eb49dd" /><Relationship Type="http://schemas.openxmlformats.org/officeDocument/2006/relationships/slide" Target="/ppt/slides/slide3.xml" Id="R560f7343413344d8" /><Relationship Type="http://schemas.openxmlformats.org/officeDocument/2006/relationships/slide" Target="/ppt/slides/slide4.xml" Id="Re1cf085b30aa4403" /><Relationship Type="http://schemas.openxmlformats.org/officeDocument/2006/relationships/slide" Target="/ppt/slides/slide5.xml" Id="Rc1e3924ef6af4d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4d4a2d2ed1646e7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d387edf4da844fb" /><Relationship Type="http://schemas.openxmlformats.org/officeDocument/2006/relationships/slide" Target="/ppt/slides/slide1.xml" Id="Ra53f7c5854e443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f0a1818013d47ae" /><Relationship Type="http://schemas.openxmlformats.org/officeDocument/2006/relationships/slide" Target="/ppt/slides/slide2.xml" Id="Rd20a34f564a141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421eb5687314f9e" /><Relationship Type="http://schemas.openxmlformats.org/officeDocument/2006/relationships/slide" Target="/ppt/slides/slide3.xml" Id="Rd0d465cd3d9142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80b0015ef59428b" /><Relationship Type="http://schemas.openxmlformats.org/officeDocument/2006/relationships/slide" Target="/ppt/slides/slide4.xml" Id="R1c136554bee74f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fad194b56804de1" /><Relationship Type="http://schemas.openxmlformats.org/officeDocument/2006/relationships/slide" Target="/ppt/slides/slide5.xml" Id="R94d216a2427a45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Day 4 is for the advanced track. Prerequisites: Days 1-3. Cover quantum error correction rigorously — this is the key technology gap between NISQ and fault-tolerant. Be honest about the timeline: break-even was achieved in 2024 (Heron r2 distance-5 surface code), but 100 logical qubits are targeted for 2026.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key insight: you cannot copy a qubit (no-cloning theorem) but you CAN distribute entanglement. The Shor code (1995) was the first to protect against ALL single-qubit errors. The Steane code (1996) does it with only 7 qubits. The surface code (Kitaev 1997, Fowler et al. 2012) is the leading approach because it only requires nearest-neighbour interactions — compatible with IBM's heavy-hex layout. IBM demonstrated break-even in 2024 with Heron r2.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VQE and QAOA are the two most important NISQ-era algorithms. VQE is the quantum chemistry workhorse. QAOA is for combinatorial optimisation. Both use the parameter-shift rule for gradients — this is a key insight unique to quantum computing (no backpropagation needed, exact gradients on hardware). Barren plateaus are the main challenge: gradients vanish exponentially for large circuits.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BB84 is the world's first quantum protocol (1984) and arguably the most important application of quantum mechanics outside computing. QKD provides information-theoretic security — provably secure against any eavesdropper, including a quantum computer. The Beijing-Shanghai QKD backbone (2000+ km) is the world's largest deployed QKD network. Reference: Bennett &amp; Brassard, ICCSSP 1984; NIST FIPS 203, 204, 205, 2024.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Tomorrow (Day 5) is the grand finale — Hackathon Finals, Community Showcase, QfH Manifesto launch, IBM 2033 roadmap, and career pathways. Remind teams: hackathon presentations are 5 minutes maximum. Top 10 teams will present live. All other teams can submit 2-minute lightning talks for the Community Showcase.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cffb1612174cf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076c97ffa44e8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d4dffc50b0466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d20733e08b40d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0228ba212f46bf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fc0b4ccfdc124cbb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6d6e2eb2284593" /><Relationship Type="http://schemas.openxmlformats.org/officeDocument/2006/relationships/notesSlide" Target="/ppt/notesSlides/notesSlide1.xml" Id="Rc38e3c62bba34d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471a5dd79546ca" /><Relationship Type="http://schemas.openxmlformats.org/officeDocument/2006/relationships/notesSlide" Target="/ppt/notesSlides/notesSlide2.xml" Id="Rda3e08263a974a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7ed20ef6c84ecd" /><Relationship Type="http://schemas.openxmlformats.org/officeDocument/2006/relationships/notesSlide" Target="/ppt/notesSlides/notesSlide3.xml" Id="Rf9f1dec5e09649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e083c4843e428f" /><Relationship Type="http://schemas.openxmlformats.org/officeDocument/2006/relationships/notesSlide" Target="/ppt/notesSlides/notesSlide4.xml" Id="R1fc39c8d93ee45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e0f6e5a9144095" /><Relationship Type="http://schemas.openxmlformats.org/officeDocument/2006/relationships/notesSlide" Target="/ppt/notesSlides/notesSlide5.xml" Id="R02a36e2559e34a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A0A1A"/>
        </a:solidFill>
      </p:bgPr>
    </p:bg>
    <p:spTree>
      <p:nvGrpSpPr>
        <p:cNvPr id="1" name=""/>
        <p:cNvGrpSpPr/>
        <p:nvPr/>
      </p:nvGrpSpPr>
      <p:grpSpPr/>
      <p:sp>
        <p:nvSpPr>
          <p:cNvPr id="100000" name="Tag"/>
          <p:cNvSpPr txBox="1"/>
          <p:nvPr/>
        </p:nvSpPr>
        <p:spPr>
          <a:xfrm xmlns:a="http://schemas.openxmlformats.org/drawingml/2006/main">
            <a:off x="540000" y="180000"/>
            <a:ext cx="108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7EB6"/>
                </a:solidFill>
              </a:rPr>
              <a:t>IBM Qiskit Fall Fest 2026  ·  Quantum for Humanity Org</a:t>
            </a:r>
          </a:p>
        </p:txBody>
      </p:sp>
      <p:sp>
        <p:nvSpPr>
          <p:cNvPr id="100001" name="DayBadge"/>
          <p:cNvSpPr txBox="1"/>
          <p:nvPr/>
        </p:nvSpPr>
        <p:spPr>
          <a:xfrm xmlns:a="http://schemas.openxmlformats.org/drawingml/2006/main">
            <a:off x="540000" y="540000"/>
            <a:ext cx="18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F9A8D4"/>
                </a:solidFill>
              </a:rPr>
              <a:t>DAY 4 OF 5</a:t>
            </a:r>
          </a:p>
        </p:txBody>
      </p:sp>
      <p:sp>
        <p:nvSpPr>
          <p:cNvPr id="100002" name="Title"/>
          <p:cNvSpPr txBox="1"/>
          <p:nvPr/>
        </p:nvSpPr>
        <p:spPr>
          <a:xfrm xmlns:a="http://schemas.openxmlformats.org/drawingml/2006/main">
            <a:off x="540000" y="828000"/>
            <a:ext cx="108000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700" b="1">
                <a:solidFill>
                  <a:srgbClr val="FFFFFF"/>
                </a:solidFill>
              </a:rPr>
              <a:t>Advanced QEC, VQE/QAOA</a:t>
            </a:r>
          </a:p>
          <a:p xmlns:a="http://schemas.openxmlformats.org/drawingml/2006/main">
            <a:r>
              <a:rPr lang="en-US" sz="3700" b="1">
                <a:solidFill>
                  <a:srgbClr val="FFFFFF"/>
                </a:solidFill>
              </a:rPr>
              <a:t>&amp; Quantum Networks</a:t>
            </a:r>
          </a:p>
        </p:txBody>
      </p:sp>
      <p:sp>
        <p:nvSpPr>
          <p:cNvPr id="100003" name="Subtitle"/>
          <p:cNvSpPr txBox="1"/>
          <p:nvPr/>
        </p:nvSpPr>
        <p:spPr>
          <a:xfrm xmlns:a="http://schemas.openxmlformats.org/drawingml/2006/main">
            <a:off x="540000" y="2448000"/>
            <a:ext cx="1008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900">
                <a:solidFill>
                  <a:srgbClr val="F9A8D4"/>
                </a:solidFill>
              </a:rPr>
              <a:t>Quantum error correction at scale, variational algorithms, fault-tolerant roadmap, quantum internet, and QKD</a:t>
            </a:r>
          </a:p>
        </p:txBody>
      </p:sp>
      <p:sp>
        <p:nvSpPr>
          <p:cNvPr id="100004" name="Meta"/>
          <p:cNvSpPr txBox="1"/>
          <p:nvPr/>
        </p:nvSpPr>
        <p:spPr>
          <a:xfrm xmlns:a="http://schemas.openxmlformats.org/drawingml/2006/main">
            <a:off x="540000" y="3132000"/>
            <a:ext cx="108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8888AA"/>
                </a:solidFill>
              </a:rPr>
              <a:t>📅 November 19, 2026   ·   Advanced → Research   ·   IBM Quantum × Quantum for Humanity Org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0D1A"/>
        </a:solidFill>
      </p:bgPr>
    </p:bg>
    <p:spTree>
      <p:nvGrpSpPr>
        <p:cNvPr id="1" name=""/>
        <p:cNvGrpSpPr/>
        <p:nvPr/>
      </p:nvGrpSpPr>
      <p:grpSpPr/>
      <p:sp>
        <p:nvSpPr>
          <p:cNvPr id="100005" name="SL"/>
          <p:cNvSpPr txBox="1"/>
          <p:nvPr/>
        </p:nvSpPr>
        <p:spPr>
          <a:xfrm xmlns:a="http://schemas.openxmlformats.org/drawingml/2006/main">
            <a:off x="540000" y="180000"/>
            <a:ext cx="5400000" cy="2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7EB6"/>
                </a:solidFill>
              </a:rPr>
              <a:t>SECTION 2–4  ·  QUANTUM ERROR CORRECTION</a:t>
            </a:r>
          </a:p>
        </p:txBody>
      </p:sp>
      <p:sp>
        <p:nvSpPr>
          <p:cNvPr id="100006" name="Title"/>
          <p:cNvSpPr txBox="1"/>
          <p:nvPr/>
        </p:nvSpPr>
        <p:spPr>
          <a:xfrm xmlns:a="http://schemas.openxmlformats.org/drawingml/2006/main">
            <a:off x="540000" y="468000"/>
            <a:ext cx="108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FFFFFF"/>
                </a:solidFill>
              </a:rPr>
              <a:t>Quantum Error Correction — From 3-Qubit to Surface Code</a:t>
            </a:r>
          </a:p>
        </p:txBody>
      </p:sp>
      <p:sp>
        <p:nvSpPr>
          <p:cNvPr id="100007" name="Body"/>
          <p:cNvSpPr txBox="1"/>
          <p:nvPr/>
        </p:nvSpPr>
        <p:spPr>
          <a:xfrm xmlns:a="http://schemas.openxmlformats.org/drawingml/2006/main">
            <a:off x="540000" y="1188000"/>
            <a:ext cx="10800000" cy="46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Why QEC is possible (despite no-cloning theorem):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  We don't copy the qubit — we spread entanglement across many physical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  qubits so errors on individual qubits are detectable via syndrome measurement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Code comparison: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  Code             [[n,k,d]]   Physical/Logical  Corrects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  3-qubit bit-flip [[3,1,1]]    3                 Bit-flip only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  Shor code        [[9,1,3]]    9                 Any single error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  Steane code      [[7,1,3]]    7                 Any single error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  Surface d=5      [[25,1,5]]  25                 Any 2-qubit error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  Surface d=7      [[49,1,7]]  49                 Any 3-qubit error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Threshold Theorem: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  P_logical ≈ A × (p/p_th)^⌈d/2⌉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  If p &lt; p_th (~1% for surface code): logical error → 0 as d increases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  IBM 2024: distance-5 surface code at BREAK-EVEN (logical &lt; physical)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  IBM 2033 target: 100 logical qubits at 10⁻¹⁰ error rate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A0A1A"/>
        </a:solidFill>
      </p:bgPr>
    </p:bg>
    <p:spTree>
      <p:nvGrpSpPr>
        <p:cNvPr id="1" name=""/>
        <p:cNvGrpSpPr/>
        <p:nvPr/>
      </p:nvGrpSpPr>
      <p:grpSpPr/>
      <p:sp>
        <p:nvSpPr>
          <p:cNvPr id="100008" name="SL"/>
          <p:cNvSpPr txBox="1"/>
          <p:nvPr/>
        </p:nvSpPr>
        <p:spPr>
          <a:xfrm xmlns:a="http://schemas.openxmlformats.org/drawingml/2006/main">
            <a:off x="540000" y="180000"/>
            <a:ext cx="5040000" cy="2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7EB6"/>
                </a:solidFill>
              </a:rPr>
              <a:t>SECTION 5–6  ·  VQE &amp; QAOA</a:t>
            </a:r>
          </a:p>
        </p:txBody>
      </p:sp>
      <p:sp>
        <p:nvSpPr>
          <p:cNvPr id="100009" name="Title"/>
          <p:cNvSpPr txBox="1"/>
          <p:nvPr/>
        </p:nvSpPr>
        <p:spPr>
          <a:xfrm xmlns:a="http://schemas.openxmlformats.org/drawingml/2006/main">
            <a:off x="540000" y="468000"/>
            <a:ext cx="108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VQE &amp; QAOA — Variational Algorithms</a:t>
            </a:r>
          </a:p>
        </p:txBody>
      </p:sp>
      <p:sp>
        <p:nvSpPr>
          <p:cNvPr id="100010" name="Body"/>
          <p:cNvSpPr txBox="1"/>
          <p:nvPr/>
        </p:nvSpPr>
        <p:spPr>
          <a:xfrm xmlns:a="http://schemas.openxmlformats.org/drawingml/2006/main">
            <a:off x="540000" y="1188000"/>
            <a:ext cx="10800000" cy="46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VQE (Variational Quantum Eigensolver, Peruzzo et al. 2014):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  Hybrid quantum-classical: ⟨ψ(θ)|H|ψ(θ)⟩ minimised over θ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  Ansatz options: UCCSD (chemistry-motivated, deep), Hardware-Efficient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  (shallow, noise-tolerant), ADAPT-VQE (compact, adaptive growth)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  Gradient: parameter-shift rule ∂⟨O⟩/∂θᵢ = [⟨O⟩(θ+π/2)−⟨O⟩(θ−π/2)]/2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  Applications: molecular ground states, band structure, lattice models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QAOA (Farhi, Goldstone, Gutmann 2014):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  |ψ(γ,β)⟩ = U_B(βₚ)U_C(γₚ)...U_B(β₁)U_C(γ₁)|+⟩⊗ⁿ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  p→∞: exact optimal solution via adiabatic evolution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  p=1: provable 0.6924 approximation ratio for MAX-CUT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  Applications: logistics, portfolio optimisation, drug docking,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                water allocation, crop scheduling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MAX-CUT on 4-node graph: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  Hamiltonian: H = Σ (I−ZᵢZⱼ)/2 for each edge (i,j)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  QAOA p=2 typically gives &gt;85% optimal cut value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0D1A"/>
        </a:solidFill>
      </p:bgPr>
    </p:bg>
    <p:spTree>
      <p:nvGrpSpPr>
        <p:cNvPr id="1" name=""/>
        <p:cNvGrpSpPr/>
        <p:nvPr/>
      </p:nvGrpSpPr>
      <p:grpSpPr/>
      <p:sp>
        <p:nvSpPr>
          <p:cNvPr id="100011" name="SL"/>
          <p:cNvSpPr txBox="1"/>
          <p:nvPr/>
        </p:nvSpPr>
        <p:spPr>
          <a:xfrm xmlns:a="http://schemas.openxmlformats.org/drawingml/2006/main">
            <a:off x="540000" y="180000"/>
            <a:ext cx="5400000" cy="2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7EB6"/>
                </a:solidFill>
              </a:rPr>
              <a:t>SECTION 8–9  ·  QUANTUM NETWORKING &amp; QKD</a:t>
            </a:r>
          </a:p>
        </p:txBody>
      </p:sp>
      <p:sp>
        <p:nvSpPr>
          <p:cNvPr id="100012" name="Title"/>
          <p:cNvSpPr txBox="1"/>
          <p:nvPr/>
        </p:nvSpPr>
        <p:spPr>
          <a:xfrm xmlns:a="http://schemas.openxmlformats.org/drawingml/2006/main">
            <a:off x="540000" y="468000"/>
            <a:ext cx="108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Quantum Internet &amp; QKD</a:t>
            </a:r>
          </a:p>
        </p:txBody>
      </p:sp>
      <p:sp>
        <p:nvSpPr>
          <p:cNvPr id="100013" name="Body"/>
          <p:cNvSpPr txBox="1"/>
          <p:nvPr/>
        </p:nvSpPr>
        <p:spPr>
          <a:xfrm xmlns:a="http://schemas.openxmlformats.org/drawingml/2006/main">
            <a:off x="540000" y="1188000"/>
            <a:ext cx="10800000" cy="46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CCCCE0"/>
                </a:solidFill>
              </a:rPr>
              <a:t>Quantum Repeaters (needed because no-cloning prevents amplification):</a:t>
            </a:r>
          </a:p>
          <a:p xmlns:a="http://schemas.openxmlformats.org/drawingml/2006/main">
            <a:r>
              <a:rPr lang="en-US" sz="1500">
                <a:solidFill>
                  <a:srgbClr val="CCCCE0"/>
                </a:solidFill>
              </a:rPr>
              <a:t>  Step 1: Create A-B and B-C entanglement separately</a:t>
            </a:r>
          </a:p>
          <a:p xmlns:a="http://schemas.openxmlformats.org/drawingml/2006/main">
            <a:r>
              <a:rPr lang="en-US" sz="1500">
                <a:solidFill>
                  <a:srgbClr val="CCCCE0"/>
                </a:solidFill>
              </a:rPr>
              <a:t>  Step 2: B performs Bell state measurement → swaps entanglement to A-C</a:t>
            </a:r>
          </a:p>
          <a:p xmlns:a="http://schemas.openxmlformats.org/drawingml/2006/main">
            <a:r>
              <a:rPr lang="en-US" sz="1500">
                <a:solidFill>
                  <a:srgbClr val="CCCCE0"/>
                </a:solidFill>
              </a:rPr>
              <a:t>  Step 3: Repeat hierarchically for long distances</a:t>
            </a:r>
          </a:p>
          <a:p xmlns:a="http://schemas.openxmlformats.org/drawingml/2006/main">
            <a:r>
              <a:rPr lang="en-US" sz="1500">
                <a:solidFill>
                  <a:srgbClr val="CCCCE0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CCCCE0"/>
                </a:solidFill>
              </a:rPr>
              <a:t>Quantum Internet Alliance milestones:</a:t>
            </a:r>
          </a:p>
          <a:p xmlns:a="http://schemas.openxmlformats.org/drawingml/2006/main">
            <a:r>
              <a:rPr lang="en-US" sz="1500">
                <a:solidFill>
                  <a:srgbClr val="CCCCE0"/>
                </a:solidFill>
              </a:rPr>
              <a:t>  Stage 1 (2020-25): Trusted-node QKD networks (China, Europe, US)</a:t>
            </a:r>
          </a:p>
          <a:p xmlns:a="http://schemas.openxmlformats.org/drawingml/2006/main">
            <a:r>
              <a:rPr lang="en-US" sz="1500">
                <a:solidFill>
                  <a:srgbClr val="CCCCE0"/>
                </a:solidFill>
              </a:rPr>
              <a:t>  Stage 2 (2025-30): Prepare-and-measure networks</a:t>
            </a:r>
          </a:p>
          <a:p xmlns:a="http://schemas.openxmlformats.org/drawingml/2006/main">
            <a:r>
              <a:rPr lang="en-US" sz="1500">
                <a:solidFill>
                  <a:srgbClr val="CCCCE0"/>
                </a:solidFill>
              </a:rPr>
              <a:t>  Stage 3 (2030-35): Few-qubit repeaters, distributed QC</a:t>
            </a:r>
          </a:p>
          <a:p xmlns:a="http://schemas.openxmlformats.org/drawingml/2006/main">
            <a:r>
              <a:rPr lang="en-US" sz="1500">
                <a:solidFill>
                  <a:srgbClr val="CCCCE0"/>
                </a:solidFill>
              </a:rPr>
              <a:t>  Stage 4 (2035+): Full quantum memory repeaters</a:t>
            </a:r>
          </a:p>
          <a:p xmlns:a="http://schemas.openxmlformats.org/drawingml/2006/main">
            <a:r>
              <a:rPr lang="en-US" sz="1500">
                <a:solidFill>
                  <a:srgbClr val="CCCCE0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CCCCE0"/>
                </a:solidFill>
              </a:rPr>
              <a:t>BB84 Protocol (Bennett &amp; Brassard, 1984):</a:t>
            </a:r>
          </a:p>
          <a:p xmlns:a="http://schemas.openxmlformats.org/drawingml/2006/main">
            <a:r>
              <a:rPr lang="en-US" sz="1500">
                <a:solidFill>
                  <a:srgbClr val="CCCCE0"/>
                </a:solidFill>
              </a:rPr>
              <a:t>  Alice: random bits + random bases (+/×)</a:t>
            </a:r>
          </a:p>
          <a:p xmlns:a="http://schemas.openxmlformats.org/drawingml/2006/main">
            <a:r>
              <a:rPr lang="en-US" sz="1500">
                <a:solidFill>
                  <a:srgbClr val="CCCCE0"/>
                </a:solidFill>
              </a:rPr>
              <a:t>  Bob: random bases → sifting → raw key</a:t>
            </a:r>
          </a:p>
          <a:p xmlns:a="http://schemas.openxmlformats.org/drawingml/2006/main">
            <a:r>
              <a:rPr lang="en-US" sz="1500">
                <a:solidFill>
                  <a:srgbClr val="CCCCE0"/>
                </a:solidFill>
              </a:rPr>
              <a:t>  QBER check: any eavesdropping (Eve) disturbs qubits → detectable</a:t>
            </a:r>
          </a:p>
          <a:p xmlns:a="http://schemas.openxmlformats.org/drawingml/2006/main">
            <a:r>
              <a:rPr lang="en-US" sz="1500">
                <a:solidFill>
                  <a:srgbClr val="CCCCE0"/>
                </a:solidFill>
              </a:rPr>
              <a:t>  Security: information-theoretic (unconditionally secure)</a:t>
            </a:r>
          </a:p>
          <a:p xmlns:a="http://schemas.openxmlformats.org/drawingml/2006/main">
            <a:r>
              <a:rPr lang="en-US" sz="1500">
                <a:solidFill>
                  <a:srgbClr val="CCCCE0"/>
                </a:solidFill>
              </a:rPr>
              <a:t>  Practical QBER threshold: &lt;11% for security guarantee</a:t>
            </a:r>
          </a:p>
          <a:p xmlns:a="http://schemas.openxmlformats.org/drawingml/2006/main">
            <a:r>
              <a:rPr lang="en-US" sz="1500">
                <a:solidFill>
                  <a:srgbClr val="CCCCE0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CCCCE0"/>
                </a:solidFill>
              </a:rPr>
              <a:t>Post-Quantum Crypto (NIST 2024):</a:t>
            </a:r>
          </a:p>
          <a:p xmlns:a="http://schemas.openxmlformats.org/drawingml/2006/main">
            <a:r>
              <a:rPr lang="en-US" sz="1500">
                <a:solidFill>
                  <a:srgbClr val="CCCCE0"/>
                </a:solidFill>
              </a:rPr>
              <a:t>  CRYSTALS-Kyber (ML-KEM) — FIPS 203 — key exchange</a:t>
            </a:r>
          </a:p>
          <a:p xmlns:a="http://schemas.openxmlformats.org/drawingml/2006/main">
            <a:r>
              <a:rPr lang="en-US" sz="1500">
                <a:solidFill>
                  <a:srgbClr val="CCCCE0"/>
                </a:solidFill>
              </a:rPr>
              <a:t>  CRYSTALS-Dilithium (ML-DSA) — FIPS 204 — signatures</a:t>
            </a:r>
          </a:p>
          <a:p xmlns:a="http://schemas.openxmlformats.org/drawingml/2006/main">
            <a:r>
              <a:rPr lang="en-US" sz="1500">
                <a:solidFill>
                  <a:srgbClr val="CCCCE0"/>
                </a:solidFill>
              </a:rPr>
              <a:t>  FALCON (FN-DSA) — FIPS 206 — compact signatures</a:t>
            </a:r>
          </a:p>
          <a:p xmlns:a="http://schemas.openxmlformats.org/drawingml/2006/main">
            <a:r>
              <a:rPr lang="en-US" sz="1500">
                <a:solidFill>
                  <a:srgbClr val="CCCCE0"/>
                </a:solidFill>
              </a:rPr>
              <a:t>  SPHINCS+ (SLH-DSA) — FIPS 205 — hash-based signatures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A0A1A"/>
        </a:solidFill>
      </p:bgPr>
    </p:bg>
    <p:spTree>
      <p:nvGrpSpPr>
        <p:cNvPr id="1" name=""/>
        <p:cNvGrpSpPr/>
        <p:nvPr/>
      </p:nvGrpSpPr>
      <p:grpSpPr/>
      <p:sp>
        <p:nvSpPr>
          <p:cNvPr id="100014" name="SL"/>
          <p:cNvSpPr txBox="1"/>
          <p:nvPr/>
        </p:nvSpPr>
        <p:spPr>
          <a:xfrm xmlns:a="http://schemas.openxmlformats.org/drawingml/2006/main">
            <a:off x="540000" y="180000"/>
            <a:ext cx="4320000" cy="2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B347"/>
                </a:solidFill>
              </a:rPr>
              <a:t>KEY TAKEAWAYS  ·  DAY 4</a:t>
            </a:r>
          </a:p>
        </p:txBody>
      </p:sp>
      <p:sp>
        <p:nvSpPr>
          <p:cNvPr id="100015" name="Title"/>
          <p:cNvSpPr txBox="1"/>
          <p:nvPr/>
        </p:nvSpPr>
        <p:spPr>
          <a:xfrm xmlns:a="http://schemas.openxmlformats.org/drawingml/2006/main">
            <a:off x="540000" y="468000"/>
            <a:ext cx="108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Day 4 Summary &amp; References</a:t>
            </a:r>
          </a:p>
        </p:txBody>
      </p:sp>
      <p:sp>
        <p:nvSpPr>
          <p:cNvPr id="100016" name="Body"/>
          <p:cNvSpPr txBox="1"/>
          <p:nvPr/>
        </p:nvSpPr>
        <p:spPr>
          <a:xfrm xmlns:a="http://schemas.openxmlformats.org/drawingml/2006/main">
            <a:off x="540000" y="1188000"/>
            <a:ext cx="10800000" cy="46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Today you learned: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✅  QEC encodes 1 logical qubit in N physical qubits via entanglement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✅  Surface code threshold ~1%: logical error → 0 as distance increases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✅  IBM 2024: break-even at distance-5 surface code (Heron r2)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✅  VQE: variational principle → chemistry ground states via UCCSD/HEA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✅  QAOA: p-layer alternating circuit → combinatorial optimisation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✅  BB84: information-theoretically secure QKD (QBER threshold &lt;11%)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✅  NIST 2024 PQC: Kyber, Dilithium, FALCON, SPHINCS+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Key References: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[1] Fowler et al. Surface codes. PRA 86, 032324, 2012.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[2] Peruzzo et al. VQE. Nature Comms 5, 4213, 2014.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[3] Farhi et al. QAOA. arXiv:1411.4028, 2014.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[4] Shor, P.W. Fault-tolerant QC. FOCS 1996.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[5] Steane, A.M. Error correcting codes. PRL 77, 793, 1996.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[6] Bennett &amp; Brassard. BB84. ICCSSP 1984.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[7] NIST. PQC Standards. FIPS 203-206, 2024.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[8] IBM Quantum Roadmap. ibm.com/quantum/roadmap, 2024.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OfficeCLI/1.0.148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2026-09-09T15:10:18Z</dcterms:created>
  <cp:lastModifiedBy>OfficeCLI</cp:lastModifiedBy>
  <dcterms:modified xsi:type="dcterms:W3CDTF">2026-09-09T15:10:18Z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1.0.148</vt:lpwstr>
  </op:property>
  <op:property fmtid="{D5CDD505-2E9C-101B-9397-08002B2CF9AE}" pid="3" name="OfficeCLI.LastModified">
    <vt:lpwstr xmlns:vt="http://schemas.openxmlformats.org/officeDocument/2006/docPropsVTypes">2026-09-09T15:10:20Z</vt:lpwstr>
  </op:property>
</op:Properties>
</file>