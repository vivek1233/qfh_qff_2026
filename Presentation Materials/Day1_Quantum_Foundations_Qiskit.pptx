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8522eb65e1994ec0" /><Relationship Type="http://schemas.openxmlformats.org/package/2006/relationships/metadata/core-properties" Target="/docProps/core.xml" Id="R32e2d02450f24553" /><Relationship Type="http://schemas.openxmlformats.org/officeDocument/2006/relationships/extended-properties" Target="/docProps/app.xml" Id="R091a8e36837f4948" /><Relationship Type="http://schemas.openxmlformats.org/officeDocument/2006/relationships/custom-properties" Target="/docProps/custom.xml" Id="R8504a7da074a4a0b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notesMasterIdLst>
    <p:notesMasterId r:id="Rb706f36bf6a448fd"/>
  </p:notesMasterIdLst>
  <p:sldIdLst>
    <p:sldId id="256" r:id="R7d3040a4e77d4f17"/>
    <p:sldId id="257" r:id="Re498512f0efb4dbe"/>
    <p:sldId id="258" r:id="R32dbfdfb53754cb0"/>
    <p:sldId id="259" r:id="R915f43795447451c"/>
    <p:sldId id="260" r:id="R4c49bb6cff3946fa"/>
    <p:sldId id="261" r:id="R29b60a040e27481a"/>
    <p:sldId id="262" r:id="Rf941657e7e05465f"/>
    <p:sldId id="263" r:id="R91668c2ee12743f3"/>
    <p:sldId id="264" r:id="Re355a2ecf4d741c1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7d3040a4e77d4f17" /><Relationship Type="http://schemas.openxmlformats.org/officeDocument/2006/relationships/notesMaster" Target="/ppt/notesMasters/notesMaster1.xml" Id="Rb706f36bf6a448fd" /><Relationship Type="http://schemas.openxmlformats.org/officeDocument/2006/relationships/slide" Target="/ppt/slides/slide2.xml" Id="Re498512f0efb4dbe" /><Relationship Type="http://schemas.openxmlformats.org/officeDocument/2006/relationships/slide" Target="/ppt/slides/slide3.xml" Id="R32dbfdfb53754cb0" /><Relationship Type="http://schemas.openxmlformats.org/officeDocument/2006/relationships/slide" Target="/ppt/slides/slide4.xml" Id="R915f43795447451c" /><Relationship Type="http://schemas.openxmlformats.org/officeDocument/2006/relationships/slide" Target="/ppt/slides/slide5.xml" Id="R4c49bb6cff3946fa" /><Relationship Type="http://schemas.openxmlformats.org/officeDocument/2006/relationships/slide" Target="/ppt/slides/slide6.xml" Id="R29b60a040e27481a" /><Relationship Type="http://schemas.openxmlformats.org/officeDocument/2006/relationships/slide" Target="/ppt/slides/slide7.xml" Id="Rf941657e7e05465f" /><Relationship Type="http://schemas.openxmlformats.org/officeDocument/2006/relationships/slide" Target="/ppt/slides/slide8.xml" Id="R91668c2ee12743f3" /><Relationship Type="http://schemas.openxmlformats.org/officeDocument/2006/relationships/slide" Target="/ppt/slides/slide9.xml" Id="Re355a2ecf4d741c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26867a65e3454e7c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1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3429000"/>
            <a:ext cx="5486400" cy="411480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2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d5708553b937478f" /><Relationship Type="http://schemas.openxmlformats.org/officeDocument/2006/relationships/slide" Target="/ppt/slides/slide1.xml" Id="Re0a471a70ae74d4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0d39393d5dd64a3e" /><Relationship Type="http://schemas.openxmlformats.org/officeDocument/2006/relationships/slide" Target="/ppt/slides/slide2.xml" Id="Rc9493e9fdc08423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39867384a2454ff0" /><Relationship Type="http://schemas.openxmlformats.org/officeDocument/2006/relationships/slide" Target="/ppt/slides/slide3.xml" Id="R36425b3012e5467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cdf5c830ca3549bc" /><Relationship Type="http://schemas.openxmlformats.org/officeDocument/2006/relationships/slide" Target="/ppt/slides/slide4.xml" Id="R0437f6a2cd774d3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3ca778a272c1451d" /><Relationship Type="http://schemas.openxmlformats.org/officeDocument/2006/relationships/slide" Target="/ppt/slides/slide5.xml" Id="R53c85114857f41b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f3747d24e924486e" /><Relationship Type="http://schemas.openxmlformats.org/officeDocument/2006/relationships/slide" Target="/ppt/slides/slide6.xml" Id="Reb7c2f148ab14a6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ab0a72a4bf1844c8" /><Relationship Type="http://schemas.openxmlformats.org/officeDocument/2006/relationships/slide" Target="/ppt/slides/slide7.xml" Id="R4475ed92d214441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c22534083c1543f3" /><Relationship Type="http://schemas.openxmlformats.org/officeDocument/2006/relationships/slide" Target="/ppt/slides/slide8.xml" Id="R826a0e09a5ea4b5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dc9d34ef135a4dd2" /><Relationship Type="http://schemas.openxmlformats.org/officeDocument/2006/relationships/slide" Target="/ppt/slides/slide9.xml" Id="R82abcc3fe97d4a6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Welcome to Day 1 of IBM Qiskit Fall Fest 2026. This presentation covers quantum fundamentals from the ground up, including qubits, superposition, entanglement, the Bloch sphere, IBM hardware overview, and a complete hands-on Qiskit lab.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Run through the agenda quickly. Let attendees know all code labs are self-contained and runnable on any laptop with Python 3.9+ and Qiskit installed. IBM Quantum cloud access is free — attendees should sign up at quantum.ibm.com if they haven't already.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Key point: quantum isn't just 'faster classical'. It operates on fundamentally different physical principles. The 2023 IBM utility paper (Nature 618, 2023) is a landmark — it's the first time a quantum computer produced results a classical computer couldn't efficiently replicate for a practical problem (Ising model simulation). Reference: Kim Y. et al., Nature 618, 500–505, 2023.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Explain Dirac (bra-ket) notation. α and β are complex probability amplitudes — NOT probabilities themselves. The qubit exists in both states simultaneously before measurement. Emphasise the normalisation condition. IBM transmon qubits operate at ~15 mK — that's about 20 times colder than outer space (2.7 K). Reference: Koch et al., PRA 76, 042319, 2007 (transmon original paper).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Critical pedagogical point: superposition is NOT like a spinning coin (classical probability). A qubit in superposition genuinely exists in both states simultaneously. |+⟩ and |−⟩ have the SAME measurement probabilities (50/50) but different phases — this difference matters enormously in quantum algorithms via interference. The Bloch sphere gives a complete geometric picture of single-qubit states.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Einstein called entanglement 'spooky action at a distance' (spukhafte Fernwirkung). He thought it must be explained by hidden variables. The 2015 loophole-free Bell experiments (Hensen et al., Nature 526, 2015; Giustina et al., PRL 2015; Shalm et al., PRL 2015) conclusively proved him wrong. Entanglement is real and non-local. This is the phenomenon that gives quantum computers their power.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Walk through this live. If '01' or '10' appears it shows noise from the simulator or hardware. On a perfect simulator they should be zero. On real hardware you'll see ~1-3% noise. Install: pip install qiskit qiskit-aer qiskit-ibm-runtime. Attendees should have this pre-installed. Reference: Qiskit documentation at docs.quantum.ibm.com.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The IBM Quantum roadmap is one of the most ambitious engineering programmes in history. Key metrics: T1 = how long a qubit stays in |1⟩ before decaying (energy relaxation). T2 = how long a qubit maintains phase coherence. CLOPS = Circuit Layer Operations Per Second (throughput metric). Heavy-hex topology was chosen to reduce ZZ crosstalk between qubits compared to square-lattice processors. Reference: IBM Quantum Roadmap at ibm.com/quantum/roadmap.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Wrap up Day 1. Remind attendees that the full study guide (HTML) with all code labs and references is at vivek1233.github.io/QFH_QFF_2026/Presentation Materials/. Tomorrow (Day 2) we go deeper: gate matrices, Grover's algorithm, Shor's algorithm, QFT, and QML. Register at the Google Form if not done already.</a:t>
            </a:r>
          </a:p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e436fd46346400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ef72cb252b1485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9b2b4e42a1141e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29e3882afef455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1d5bf621fac4e7f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1747fdbab0de4cbc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0f3987225c4e3a" /><Relationship Type="http://schemas.openxmlformats.org/officeDocument/2006/relationships/notesSlide" Target="/ppt/notesSlides/notesSlide1.xml" Id="R6444a9c44ad8415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3f09a35c1b402f" /><Relationship Type="http://schemas.openxmlformats.org/officeDocument/2006/relationships/notesSlide" Target="/ppt/notesSlides/notesSlide2.xml" Id="R69b2b90161ec455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21d7aa4f424482" /><Relationship Type="http://schemas.openxmlformats.org/officeDocument/2006/relationships/notesSlide" Target="/ppt/notesSlides/notesSlide3.xml" Id="Rac6aeafe1e9d4e2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bc781023424bb5" /><Relationship Type="http://schemas.openxmlformats.org/officeDocument/2006/relationships/notesSlide" Target="/ppt/notesSlides/notesSlide4.xml" Id="Rbcc3f8c5d423405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e070b2a1d4473e" /><Relationship Type="http://schemas.openxmlformats.org/officeDocument/2006/relationships/notesSlide" Target="/ppt/notesSlides/notesSlide5.xml" Id="Rd88dea3c58c44da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aa119ee523401f" /><Relationship Type="http://schemas.openxmlformats.org/officeDocument/2006/relationships/notesSlide" Target="/ppt/notesSlides/notesSlide6.xml" Id="R508b7800e747438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61e36d89b8441c" /><Relationship Type="http://schemas.openxmlformats.org/officeDocument/2006/relationships/notesSlide" Target="/ppt/notesSlides/notesSlide7.xml" Id="R8bf6c43f33394fe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3030d8e42d425d" /><Relationship Type="http://schemas.openxmlformats.org/officeDocument/2006/relationships/notesSlide" Target="/ppt/notesSlides/notesSlide8.xml" Id="R08146105a692493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f35b0be4a540ac" /><Relationship Type="http://schemas.openxmlformats.org/officeDocument/2006/relationships/notesSlide" Target="/ppt/notesSlides/notesSlide9.xml" Id="R307a1cc1ea024e9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A0A1F"/>
        </a:solidFill>
      </p:bgPr>
    </p:bg>
    <p:spTree>
      <p:nvGrpSpPr>
        <p:cNvPr id="1" name=""/>
        <p:cNvGrpSpPr/>
        <p:nvPr/>
      </p:nvGrpSpPr>
      <p:grpSpPr/>
      <p:sp>
        <p:nvSpPr>
          <p:cNvPr id="100000" name="EventTag"/>
          <p:cNvSpPr txBox="1"/>
          <p:nvPr/>
        </p:nvSpPr>
        <p:spPr>
          <a:xfrm xmlns:a="http://schemas.openxmlformats.org/drawingml/2006/main">
            <a:off x="540000" y="180000"/>
            <a:ext cx="10800000" cy="28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1">
                <a:solidFill>
                  <a:srgbClr val="8B5CF6"/>
                </a:solidFill>
              </a:rPr>
              <a:t>IBM Qiskit Fall Fest 2026  ·  Quantum for Humanity</a:t>
            </a:r>
          </a:p>
        </p:txBody>
      </p:sp>
      <p:sp>
        <p:nvSpPr>
          <p:cNvPr id="100001" name="DayBadge"/>
          <p:cNvSpPr txBox="1"/>
          <p:nvPr/>
        </p:nvSpPr>
        <p:spPr>
          <a:xfrm xmlns:a="http://schemas.openxmlformats.org/drawingml/2006/main">
            <a:off x="540000" y="540000"/>
            <a:ext cx="1800000" cy="25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C4B5FD"/>
                </a:solidFill>
              </a:rPr>
              <a:t>DAY 1 OF 5</a:t>
            </a:r>
          </a:p>
        </p:txBody>
      </p:sp>
      <p:sp>
        <p:nvSpPr>
          <p:cNvPr id="100002" name="Title"/>
          <p:cNvSpPr txBox="1"/>
          <p:nvPr/>
        </p:nvSpPr>
        <p:spPr>
          <a:xfrm xmlns:a="http://schemas.openxmlformats.org/drawingml/2006/main">
            <a:off x="540000" y="900000"/>
            <a:ext cx="10800000" cy="10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000" b="1">
                <a:solidFill>
                  <a:srgbClr val="FFFFFF"/>
                </a:solidFill>
              </a:rPr>
              <a:t>Quantum Foundations &amp; Qiskit Introduction</a:t>
            </a:r>
          </a:p>
        </p:txBody>
      </p:sp>
      <p:sp>
        <p:nvSpPr>
          <p:cNvPr id="100003" name="Subtitle"/>
          <p:cNvSpPr txBox="1"/>
          <p:nvPr/>
        </p:nvSpPr>
        <p:spPr>
          <a:xfrm xmlns:a="http://schemas.openxmlformats.org/drawingml/2006/main">
            <a:off x="540000" y="2160000"/>
            <a:ext cx="10080000" cy="5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>
                <a:solidFill>
                  <a:srgbClr val="C4B5FD"/>
                </a:solidFill>
              </a:rPr>
              <a:t>From zero to your first quantum circuit — qubits, superposition, entanglement, and the Qiskit SDK</a:t>
            </a:r>
          </a:p>
        </p:txBody>
      </p:sp>
      <p:sp>
        <p:nvSpPr>
          <p:cNvPr id="100004" name="Meta"/>
          <p:cNvSpPr txBox="1"/>
          <p:nvPr/>
        </p:nvSpPr>
        <p:spPr>
          <a:xfrm xmlns:a="http://schemas.openxmlformats.org/drawingml/2006/main">
            <a:off x="540000" y="2952000"/>
            <a:ext cx="10800000" cy="28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8888AA"/>
                </a:solidFill>
              </a:rPr>
              <a:t>📅 November 16, 2026   ·   Beginner → Workshop   ·   IBM Quantum × Quantum for Humanity Org</a:t>
            </a:r>
          </a:p>
        </p:txBody>
      </p:sp>
    </p:spTree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D0D1A"/>
        </a:solidFill>
      </p:bgPr>
    </p:bg>
    <p:spTree>
      <p:nvGrpSpPr>
        <p:cNvPr id="1" name=""/>
        <p:cNvGrpSpPr/>
        <p:nvPr/>
      </p:nvGrpSpPr>
      <p:grpSpPr/>
      <p:sp>
        <p:nvSpPr>
          <p:cNvPr id="100005" name="SlideNum"/>
          <p:cNvSpPr txBox="1"/>
          <p:nvPr/>
        </p:nvSpPr>
        <p:spPr>
          <a:xfrm xmlns:a="http://schemas.openxmlformats.org/drawingml/2006/main">
            <a:off x="540000" y="180000"/>
            <a:ext cx="3600000" cy="21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8B5CF6"/>
                </a:solidFill>
              </a:rPr>
              <a:t>Day 1  ·  Agenda</a:t>
            </a:r>
          </a:p>
        </p:txBody>
      </p:sp>
      <p:sp>
        <p:nvSpPr>
          <p:cNvPr id="100006" name="Title"/>
          <p:cNvSpPr txBox="1"/>
          <p:nvPr/>
        </p:nvSpPr>
        <p:spPr>
          <a:xfrm xmlns:a="http://schemas.openxmlformats.org/drawingml/2006/main">
            <a:off x="540000" y="468000"/>
            <a:ext cx="10800000" cy="5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400" b="1">
                <a:solidFill>
                  <a:srgbClr val="FFFFFF"/>
                </a:solidFill>
              </a:rPr>
              <a:t>What We Cover Today</a:t>
            </a:r>
          </a:p>
        </p:txBody>
      </p:sp>
      <p:sp>
        <p:nvSpPr>
          <p:cNvPr id="100007" name="Body"/>
          <p:cNvSpPr txBox="1"/>
          <p:nvPr/>
        </p:nvSpPr>
        <p:spPr>
          <a:xfrm xmlns:a="http://schemas.openxmlformats.org/drawingml/2006/main">
            <a:off x="540000" y="1152000"/>
            <a:ext cx="10800000" cy="46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900">
                <a:solidFill>
                  <a:srgbClr val="CCCCE0"/>
                </a:solidFill>
              </a:rPr>
              <a:t>1.  The Classical–Quantum Boundary</a:t>
            </a:r>
          </a:p>
          <a:p xmlns:a="http://schemas.openxmlformats.org/drawingml/2006/main">
            <a:r>
              <a:rPr lang="en-US" sz="1900">
                <a:solidFill>
                  <a:srgbClr val="CCCCE0"/>
                </a:solidFill>
              </a:rPr>
              <a:t>2.  The Qubit — Mathematical Foundations</a:t>
            </a:r>
          </a:p>
          <a:p xmlns:a="http://schemas.openxmlformats.org/drawingml/2006/main">
            <a:r>
              <a:rPr lang="en-US" sz="1900">
                <a:solidFill>
                  <a:srgbClr val="CCCCE0"/>
                </a:solidFill>
              </a:rPr>
              <a:t>3.  Superposition, Bloch Sphere &amp; Measurement</a:t>
            </a:r>
          </a:p>
          <a:p xmlns:a="http://schemas.openxmlformats.org/drawingml/2006/main">
            <a:r>
              <a:rPr lang="en-US" sz="1900">
                <a:solidFill>
                  <a:srgbClr val="CCCCE0"/>
                </a:solidFill>
              </a:rPr>
              <a:t>4.  Entanglement &amp; Bell States</a:t>
            </a:r>
          </a:p>
          <a:p xmlns:a="http://schemas.openxmlformats.org/drawingml/2006/main">
            <a:r>
              <a:rPr lang="en-US" sz="1900">
                <a:solidFill>
                  <a:srgbClr val="CCCCE0"/>
                </a:solidFill>
              </a:rPr>
              <a:t>5.  Quantum Interference</a:t>
            </a:r>
          </a:p>
          <a:p xmlns:a="http://schemas.openxmlformats.org/drawingml/2006/main">
            <a:r>
              <a:rPr lang="en-US" sz="1900">
                <a:solidFill>
                  <a:srgbClr val="CCCCE0"/>
                </a:solidFill>
              </a:rPr>
              <a:t>6.  IBM Quantum Hardware Overview</a:t>
            </a:r>
          </a:p>
          <a:p xmlns:a="http://schemas.openxmlformats.org/drawingml/2006/main">
            <a:r>
              <a:rPr lang="en-US" sz="1900">
                <a:solidFill>
                  <a:srgbClr val="CCCCE0"/>
                </a:solidFill>
              </a:rPr>
              <a:t>7.  The Qiskit SDK — Architecture &amp; Installation</a:t>
            </a:r>
          </a:p>
          <a:p xmlns:a="http://schemas.openxmlformats.org/drawingml/2006/main">
            <a:r>
              <a:rPr lang="en-US" sz="1900">
                <a:solidFill>
                  <a:srgbClr val="CCCCE0"/>
                </a:solidFill>
              </a:rPr>
              <a:t>8.  Hands-On Lab — Your First Quantum Circuit</a:t>
            </a:r>
          </a:p>
          <a:p xmlns:a="http://schemas.openxmlformats.org/drawingml/2006/main">
            <a:r>
              <a:rPr lang="en-US" sz="1900">
                <a:solidFill>
                  <a:srgbClr val="CCCCE0"/>
                </a:solidFill>
              </a:rPr>
              <a:t>9.  Running on Real IBM Quantum Hardware</a:t>
            </a:r>
          </a:p>
          <a:p xmlns:a="http://schemas.openxmlformats.org/drawingml/2006/main">
            <a:r>
              <a:rPr lang="en-US" sz="1900">
                <a:solidFill>
                  <a:srgbClr val="CCCCE0"/>
                </a:solidFill>
              </a:rPr>
              <a:t>10. Quiz &amp; Homework Exercises</a:t>
            </a:r>
          </a:p>
        </p:txBody>
      </p:sp>
    </p:spTree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A0A1F"/>
        </a:solidFill>
      </p:bgPr>
    </p:bg>
    <p:spTree>
      <p:nvGrpSpPr>
        <p:cNvPr id="1" name=""/>
        <p:cNvGrpSpPr/>
        <p:nvPr/>
      </p:nvGrpSpPr>
      <p:grpSpPr/>
      <p:sp>
        <p:nvSpPr>
          <p:cNvPr id="100008" name="SectionLabel"/>
          <p:cNvSpPr txBox="1"/>
          <p:nvPr/>
        </p:nvSpPr>
        <p:spPr>
          <a:xfrm xmlns:a="http://schemas.openxmlformats.org/drawingml/2006/main">
            <a:off x="540000" y="180000"/>
            <a:ext cx="2880000" cy="21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1">
                <a:solidFill>
                  <a:srgbClr val="8B5CF6"/>
                </a:solidFill>
              </a:rPr>
              <a:t>SECTION 1</a:t>
            </a:r>
          </a:p>
        </p:txBody>
      </p:sp>
      <p:sp>
        <p:nvSpPr>
          <p:cNvPr id="100009" name="Title"/>
          <p:cNvSpPr txBox="1"/>
          <p:nvPr/>
        </p:nvSpPr>
        <p:spPr>
          <a:xfrm xmlns:a="http://schemas.openxmlformats.org/drawingml/2006/main">
            <a:off x="540000" y="504000"/>
            <a:ext cx="10800000" cy="64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400" b="1">
                <a:solidFill>
                  <a:srgbClr val="FFFFFF"/>
                </a:solidFill>
              </a:rPr>
              <a:t>The Classical–Quantum Boundary</a:t>
            </a:r>
          </a:p>
        </p:txBody>
      </p:sp>
      <p:sp>
        <p:nvSpPr>
          <p:cNvPr id="100010" name="Left"/>
          <p:cNvSpPr txBox="1"/>
          <p:nvPr/>
        </p:nvSpPr>
        <p:spPr>
          <a:xfrm xmlns:a="http://schemas.openxmlformats.org/drawingml/2006/main">
            <a:off x="540000" y="1296000"/>
            <a:ext cx="4680000" cy="32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700">
                <a:solidFill>
                  <a:srgbClr val="CCCCE0"/>
                </a:solidFill>
              </a:rPr>
              <a:t>CLASSICAL BIT</a:t>
            </a:r>
          </a:p>
          <a:p xmlns:a="http://schemas.openxmlformats.org/drawingml/2006/main">
            <a:r>
              <a:rPr lang="en-US" sz="1700">
                <a:solidFill>
                  <a:srgbClr val="CCCCE0"/>
                </a:solidFill>
              </a:rPr>
              <a:t/>
            </a:r>
          </a:p>
          <a:p xmlns:a="http://schemas.openxmlformats.org/drawingml/2006/main">
            <a:r>
              <a:rPr lang="en-US" sz="1700">
                <a:solidFill>
                  <a:srgbClr val="CCCCE0"/>
                </a:solidFill>
              </a:rPr>
              <a:t>• Exactly 0 or 1</a:t>
            </a:r>
          </a:p>
          <a:p xmlns:a="http://schemas.openxmlformats.org/drawingml/2006/main">
            <a:r>
              <a:rPr lang="en-US" sz="1700">
                <a:solidFill>
                  <a:srgbClr val="CCCCE0"/>
                </a:solidFill>
              </a:rPr>
              <a:t>• Freely cloneable</a:t>
            </a:r>
          </a:p>
          <a:p xmlns:a="http://schemas.openxmlformats.org/drawingml/2006/main">
            <a:r>
              <a:rPr lang="en-US" sz="1700">
                <a:solidFill>
                  <a:srgbClr val="CCCCE0"/>
                </a:solidFill>
              </a:rPr>
              <a:t>• Sequential processing</a:t>
            </a:r>
          </a:p>
          <a:p xmlns:a="http://schemas.openxmlformats.org/drawingml/2006/main">
            <a:r>
              <a:rPr lang="en-US" sz="1700">
                <a:solidFill>
                  <a:srgbClr val="CCCCE0"/>
                </a:solidFill>
              </a:rPr>
              <a:t>• Independent bits</a:t>
            </a:r>
          </a:p>
          <a:p xmlns:a="http://schemas.openxmlformats.org/drawingml/2006/main">
            <a:r>
              <a:rPr lang="en-US" sz="1700">
                <a:solidFill>
                  <a:srgbClr val="CCCCE0"/>
                </a:solidFill>
              </a:rPr>
              <a:t>• Irreversible gates</a:t>
            </a:r>
          </a:p>
          <a:p xmlns:a="http://schemas.openxmlformats.org/drawingml/2006/main">
            <a:r>
              <a:rPr lang="en-US" sz="1700">
                <a:solidFill>
                  <a:srgbClr val="CCCCE0"/>
                </a:solidFill>
              </a:rPr>
              <a:t>• Bit-flip errors only</a:t>
            </a:r>
          </a:p>
        </p:txBody>
      </p:sp>
      <p:sp>
        <p:nvSpPr>
          <p:cNvPr id="100011" name="Right"/>
          <p:cNvSpPr txBox="1"/>
          <p:nvPr/>
        </p:nvSpPr>
        <p:spPr>
          <a:xfrm xmlns:a="http://schemas.openxmlformats.org/drawingml/2006/main">
            <a:off x="6120000" y="1296000"/>
            <a:ext cx="5400000" cy="32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700">
                <a:solidFill>
                  <a:srgbClr val="C4B5FD"/>
                </a:solidFill>
              </a:rPr>
              <a:t>QUANTUM QUBIT</a:t>
            </a:r>
          </a:p>
          <a:p xmlns:a="http://schemas.openxmlformats.org/drawingml/2006/main">
            <a:r>
              <a:rPr lang="en-US" sz="1700">
                <a:solidFill>
                  <a:srgbClr val="C4B5FD"/>
                </a:solidFill>
              </a:rPr>
              <a:t/>
            </a:r>
          </a:p>
          <a:p xmlns:a="http://schemas.openxmlformats.org/drawingml/2006/main">
            <a:r>
              <a:rPr lang="en-US" sz="1700">
                <a:solidFill>
                  <a:srgbClr val="C4B5FD"/>
                </a:solidFill>
              </a:rPr>
              <a:t>• Superposition of |0⟩ and |1⟩</a:t>
            </a:r>
          </a:p>
          <a:p xmlns:a="http://schemas.openxmlformats.org/drawingml/2006/main">
            <a:r>
              <a:rPr lang="en-US" sz="1700">
                <a:solidFill>
                  <a:srgbClr val="C4B5FD"/>
                </a:solidFill>
              </a:rPr>
              <a:t>• No-cloning theorem</a:t>
            </a:r>
          </a:p>
          <a:p xmlns:a="http://schemas.openxmlformats.org/drawingml/2006/main">
            <a:r>
              <a:rPr lang="en-US" sz="1700">
                <a:solidFill>
                  <a:srgbClr val="C4B5FD"/>
                </a:solidFill>
              </a:rPr>
              <a:t>• Exponential state space</a:t>
            </a:r>
          </a:p>
          <a:p xmlns:a="http://schemas.openxmlformats.org/drawingml/2006/main">
            <a:r>
              <a:rPr lang="en-US" sz="1700">
                <a:solidFill>
                  <a:srgbClr val="C4B5FD"/>
                </a:solidFill>
              </a:rPr>
              <a:t>• Entanglement correlations</a:t>
            </a:r>
          </a:p>
          <a:p xmlns:a="http://schemas.openxmlformats.org/drawingml/2006/main">
            <a:r>
              <a:rPr lang="en-US" sz="1700">
                <a:solidFill>
                  <a:srgbClr val="C4B5FD"/>
                </a:solidFill>
              </a:rPr>
              <a:t>• All gates are unitary (reversible)</a:t>
            </a:r>
          </a:p>
          <a:p xmlns:a="http://schemas.openxmlformats.org/drawingml/2006/main">
            <a:r>
              <a:rPr lang="en-US" sz="1700">
                <a:solidFill>
                  <a:srgbClr val="C4B5FD"/>
                </a:solidFill>
              </a:rPr>
              <a:t>• Continuous amplitude + phase errors</a:t>
            </a:r>
          </a:p>
        </p:txBody>
      </p:sp>
      <p:sp>
        <p:nvSpPr>
          <p:cNvPr id="100012" name="Footer"/>
          <p:cNvSpPr txBox="1"/>
          <p:nvPr/>
        </p:nvSpPr>
        <p:spPr>
          <a:xfrm xmlns:a="http://schemas.openxmlformats.org/drawingml/2006/main">
            <a:off x="540000" y="4680000"/>
            <a:ext cx="1080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8B5CF6"/>
                </a:solidFill>
              </a:rPr>
              <a:t>IBM Quantum utility demonstrated (Kim et al., Nature 2023) — quantum computers now produce results classical methods cannot efficiently verify</a:t>
            </a:r>
          </a:p>
        </p:txBody>
      </p:sp>
    </p:spTree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D0D1A"/>
        </a:solidFill>
      </p:bgPr>
    </p:bg>
    <p:spTree>
      <p:nvGrpSpPr>
        <p:cNvPr id="1" name=""/>
        <p:cNvGrpSpPr/>
        <p:nvPr/>
      </p:nvGrpSpPr>
      <p:grpSpPr/>
      <p:sp>
        <p:nvSpPr>
          <p:cNvPr id="100013" name="SectionLabel"/>
          <p:cNvSpPr txBox="1"/>
          <p:nvPr/>
        </p:nvSpPr>
        <p:spPr>
          <a:xfrm xmlns:a="http://schemas.openxmlformats.org/drawingml/2006/main">
            <a:off x="540000" y="180000"/>
            <a:ext cx="2880000" cy="21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1">
                <a:solidFill>
                  <a:srgbClr val="8B5CF6"/>
                </a:solidFill>
              </a:rPr>
              <a:t>SECTION 2</a:t>
            </a:r>
          </a:p>
        </p:txBody>
      </p:sp>
      <p:sp>
        <p:nvSpPr>
          <p:cNvPr id="100014" name="Title"/>
          <p:cNvSpPr txBox="1"/>
          <p:nvPr/>
        </p:nvSpPr>
        <p:spPr>
          <a:xfrm xmlns:a="http://schemas.openxmlformats.org/drawingml/2006/main">
            <a:off x="540000" y="504000"/>
            <a:ext cx="10800000" cy="64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400" b="1">
                <a:solidFill>
                  <a:srgbClr val="FFFFFF"/>
                </a:solidFill>
              </a:rPr>
              <a:t>The Qubit — Mathematical Foundations</a:t>
            </a:r>
          </a:p>
        </p:txBody>
      </p:sp>
      <p:sp>
        <p:nvSpPr>
          <p:cNvPr id="100015" name="Body"/>
          <p:cNvSpPr txBox="1"/>
          <p:nvPr/>
        </p:nvSpPr>
        <p:spPr>
          <a:xfrm xmlns:a="http://schemas.openxmlformats.org/drawingml/2006/main">
            <a:off x="540000" y="1260000"/>
            <a:ext cx="10080000" cy="36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900">
                <a:solidFill>
                  <a:srgbClr val="CCCCE0"/>
                </a:solidFill>
              </a:rPr>
              <a:t>Computational basis states:</a:t>
            </a:r>
          </a:p>
          <a:p xmlns:a="http://schemas.openxmlformats.org/drawingml/2006/main">
            <a:r>
              <a:rPr lang="en-US" sz="1900">
                <a:solidFill>
                  <a:srgbClr val="CCCCE0"/>
                </a:solidFill>
              </a:rPr>
              <a:t>    |0⟩ = [1, 0]ᵀ     |1⟩ = [0, 1]ᵀ</a:t>
            </a:r>
          </a:p>
          <a:p xmlns:a="http://schemas.openxmlformats.org/drawingml/2006/main">
            <a:r>
              <a:rPr lang="en-US" sz="1900">
                <a:solidFill>
                  <a:srgbClr val="CCCCE0"/>
                </a:solidFill>
              </a:rPr>
              <a:t/>
            </a:r>
          </a:p>
          <a:p xmlns:a="http://schemas.openxmlformats.org/drawingml/2006/main">
            <a:r>
              <a:rPr lang="en-US" sz="1900">
                <a:solidFill>
                  <a:srgbClr val="CCCCE0"/>
                </a:solidFill>
              </a:rPr>
              <a:t>General qubit state (superposition):</a:t>
            </a:r>
          </a:p>
          <a:p xmlns:a="http://schemas.openxmlformats.org/drawingml/2006/main">
            <a:r>
              <a:rPr lang="en-US" sz="1900">
                <a:solidFill>
                  <a:srgbClr val="CCCCE0"/>
                </a:solidFill>
              </a:rPr>
              <a:t>    |ψ⟩ = α|0⟩ + β|1⟩    where α, β ∈ ℂ</a:t>
            </a:r>
          </a:p>
          <a:p xmlns:a="http://schemas.openxmlformats.org/drawingml/2006/main">
            <a:r>
              <a:rPr lang="en-US" sz="1900">
                <a:solidFill>
                  <a:srgbClr val="CCCCE0"/>
                </a:solidFill>
              </a:rPr>
              <a:t/>
            </a:r>
          </a:p>
          <a:p xmlns:a="http://schemas.openxmlformats.org/drawingml/2006/main">
            <a:r>
              <a:rPr lang="en-US" sz="1900">
                <a:solidFill>
                  <a:srgbClr val="CCCCE0"/>
                </a:solidFill>
              </a:rPr>
              <a:t>Normalisation constraint:</a:t>
            </a:r>
          </a:p>
          <a:p xmlns:a="http://schemas.openxmlformats.org/drawingml/2006/main">
            <a:r>
              <a:rPr lang="en-US" sz="1900">
                <a:solidFill>
                  <a:srgbClr val="CCCCE0"/>
                </a:solidFill>
              </a:rPr>
              <a:t>    |α|² + |β|² = 1</a:t>
            </a:r>
          </a:p>
          <a:p xmlns:a="http://schemas.openxmlformats.org/drawingml/2006/main">
            <a:r>
              <a:rPr lang="en-US" sz="1900">
                <a:solidFill>
                  <a:srgbClr val="CCCCE0"/>
                </a:solidFill>
              </a:rPr>
              <a:t/>
            </a:r>
          </a:p>
          <a:p xmlns:a="http://schemas.openxmlformats.org/drawingml/2006/main">
            <a:r>
              <a:rPr lang="en-US" sz="1900">
                <a:solidFill>
                  <a:srgbClr val="CCCCE0"/>
                </a:solidFill>
              </a:rPr>
              <a:t>Measurement probabilities:</a:t>
            </a:r>
          </a:p>
          <a:p xmlns:a="http://schemas.openxmlformats.org/drawingml/2006/main">
            <a:r>
              <a:rPr lang="en-US" sz="1900">
                <a:solidFill>
                  <a:srgbClr val="CCCCE0"/>
                </a:solidFill>
              </a:rPr>
              <a:t>    P(measuring 0) = |α|²</a:t>
            </a:r>
          </a:p>
          <a:p xmlns:a="http://schemas.openxmlformats.org/drawingml/2006/main">
            <a:r>
              <a:rPr lang="en-US" sz="1900">
                <a:solidFill>
                  <a:srgbClr val="CCCCE0"/>
                </a:solidFill>
              </a:rPr>
              <a:t>    P(measuring 1) = |β|²</a:t>
            </a:r>
          </a:p>
        </p:txBody>
      </p:sp>
      <p:sp>
        <p:nvSpPr>
          <p:cNvPr id="100016" name="Note"/>
          <p:cNvSpPr txBox="1"/>
          <p:nvPr/>
        </p:nvSpPr>
        <p:spPr>
          <a:xfrm xmlns:a="http://schemas.openxmlformats.org/drawingml/2006/main">
            <a:off x="540000" y="5040000"/>
            <a:ext cx="10800000" cy="32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8B5CF6"/>
                </a:solidFill>
              </a:rPr>
              <a:t>IBM uses transmon qubits cooled to ~15 mK (colder than outer space) to maintain quantum coherence</a:t>
            </a:r>
          </a:p>
        </p:txBody>
      </p:sp>
    </p:spTree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A0A1F"/>
        </a:solidFill>
      </p:bgPr>
    </p:bg>
    <p:spTree>
      <p:nvGrpSpPr>
        <p:cNvPr id="1" name=""/>
        <p:cNvGrpSpPr/>
        <p:nvPr/>
      </p:nvGrpSpPr>
      <p:grpSpPr/>
      <p:sp>
        <p:nvSpPr>
          <p:cNvPr id="100017" name="SectionLabel"/>
          <p:cNvSpPr txBox="1"/>
          <p:nvPr/>
        </p:nvSpPr>
        <p:spPr>
          <a:xfrm xmlns:a="http://schemas.openxmlformats.org/drawingml/2006/main">
            <a:off x="540000" y="180000"/>
            <a:ext cx="2880000" cy="21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1">
                <a:solidFill>
                  <a:srgbClr val="8B5CF6"/>
                </a:solidFill>
              </a:rPr>
              <a:t>SECTION 3</a:t>
            </a:r>
          </a:p>
        </p:txBody>
      </p:sp>
      <p:sp>
        <p:nvSpPr>
          <p:cNvPr id="100018" name="Title"/>
          <p:cNvSpPr txBox="1"/>
          <p:nvPr/>
        </p:nvSpPr>
        <p:spPr>
          <a:xfrm xmlns:a="http://schemas.openxmlformats.org/drawingml/2006/main">
            <a:off x="540000" y="504000"/>
            <a:ext cx="10800000" cy="64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400" b="1">
                <a:solidFill>
                  <a:srgbClr val="FFFFFF"/>
                </a:solidFill>
              </a:rPr>
              <a:t>Superposition &amp; the Bloch Sphere</a:t>
            </a:r>
          </a:p>
        </p:txBody>
      </p:sp>
      <p:sp>
        <p:nvSpPr>
          <p:cNvPr id="100019" name="Body"/>
          <p:cNvSpPr txBox="1"/>
          <p:nvPr/>
        </p:nvSpPr>
        <p:spPr>
          <a:xfrm xmlns:a="http://schemas.openxmlformats.org/drawingml/2006/main">
            <a:off x="540000" y="1260000"/>
            <a:ext cx="10800000" cy="43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CCCCE0"/>
                </a:solidFill>
              </a:rPr>
              <a:t>Equal superposition (Hadamard gate on |0⟩):</a:t>
            </a:r>
          </a:p>
          <a:p xmlns:a="http://schemas.openxmlformats.org/drawingml/2006/main">
            <a:r>
              <a:rPr lang="en-US" sz="1800">
                <a:solidFill>
                  <a:srgbClr val="CCCCE0"/>
                </a:solidFill>
              </a:rPr>
              <a:t>    |+⟩ = (|0⟩ + |1⟩) / √2    →  P(0) = P(1) = 50%</a:t>
            </a:r>
          </a:p>
          <a:p xmlns:a="http://schemas.openxmlformats.org/drawingml/2006/main">
            <a:r>
              <a:rPr lang="en-US" sz="1800">
                <a:solidFill>
                  <a:srgbClr val="CCCCE0"/>
                </a:solidFill>
              </a:rPr>
              <a:t>    |−⟩ = (|0⟩ − |1⟩) / √2    →  P(0) = P(1) = 50%  (different phase!)</a:t>
            </a:r>
          </a:p>
          <a:p xmlns:a="http://schemas.openxmlformats.org/drawingml/2006/main">
            <a:r>
              <a:rPr lang="en-US" sz="1800">
                <a:solidFill>
                  <a:srgbClr val="CCCCE0"/>
                </a:solidFill>
              </a:rPr>
              <a:t/>
            </a:r>
          </a:p>
          <a:p xmlns:a="http://schemas.openxmlformats.org/drawingml/2006/main">
            <a:r>
              <a:rPr lang="en-US" sz="1800">
                <a:solidFill>
                  <a:srgbClr val="CCCCE0"/>
                </a:solidFill>
              </a:rPr>
              <a:t>Bloch sphere parameterisation:</a:t>
            </a:r>
          </a:p>
          <a:p xmlns:a="http://schemas.openxmlformats.org/drawingml/2006/main">
            <a:r>
              <a:rPr lang="en-US" sz="1800">
                <a:solidFill>
                  <a:srgbClr val="CCCCE0"/>
                </a:solidFill>
              </a:rPr>
              <a:t>    |ψ⟩ = cos(θ/2)|0⟩ + e^(iφ) sin(θ/2)|1⟩</a:t>
            </a:r>
          </a:p>
          <a:p xmlns:a="http://schemas.openxmlformats.org/drawingml/2006/main">
            <a:r>
              <a:rPr lang="en-US" sz="1800">
                <a:solidFill>
                  <a:srgbClr val="CCCCE0"/>
                </a:solidFill>
              </a:rPr>
              <a:t/>
            </a:r>
          </a:p>
          <a:p xmlns:a="http://schemas.openxmlformats.org/drawingml/2006/main">
            <a:r>
              <a:rPr lang="en-US" sz="1800">
                <a:solidFill>
                  <a:srgbClr val="CCCCE0"/>
                </a:solidFill>
              </a:rPr>
              <a:t>Key poles:</a:t>
            </a:r>
          </a:p>
          <a:p xmlns:a="http://schemas.openxmlformats.org/drawingml/2006/main">
            <a:r>
              <a:rPr lang="en-US" sz="1800">
                <a:solidFill>
                  <a:srgbClr val="CCCCE0"/>
                </a:solidFill>
              </a:rPr>
              <a:t>    North pole (θ=0)  →  |0⟩</a:t>
            </a:r>
          </a:p>
          <a:p xmlns:a="http://schemas.openxmlformats.org/drawingml/2006/main">
            <a:r>
              <a:rPr lang="en-US" sz="1800">
                <a:solidFill>
                  <a:srgbClr val="CCCCE0"/>
                </a:solidFill>
              </a:rPr>
              <a:t>    South pole (θ=π)  →  |1⟩</a:t>
            </a:r>
          </a:p>
          <a:p xmlns:a="http://schemas.openxmlformats.org/drawingml/2006/main">
            <a:r>
              <a:rPr lang="en-US" sz="1800">
                <a:solidFill>
                  <a:srgbClr val="CCCCE0"/>
                </a:solidFill>
              </a:rPr>
              <a:t>    +X axis (θ=π/2, φ=0)  →  |+⟩  (Hadamard output)</a:t>
            </a:r>
          </a:p>
          <a:p xmlns:a="http://schemas.openxmlformats.org/drawingml/2006/main">
            <a:r>
              <a:rPr lang="en-US" sz="1800">
                <a:solidFill>
                  <a:srgbClr val="CCCCE0"/>
                </a:solidFill>
              </a:rPr>
              <a:t>    −X axis (θ=π/2, φ=π) →  |−⟩</a:t>
            </a:r>
          </a:p>
          <a:p xmlns:a="http://schemas.openxmlformats.org/drawingml/2006/main">
            <a:r>
              <a:rPr lang="en-US" sz="1800">
                <a:solidFill>
                  <a:srgbClr val="CCCCE0"/>
                </a:solidFill>
              </a:rPr>
              <a:t/>
            </a:r>
          </a:p>
          <a:p xmlns:a="http://schemas.openxmlformats.org/drawingml/2006/main">
            <a:r>
              <a:rPr lang="en-US" sz="1800">
                <a:solidFill>
                  <a:srgbClr val="CCCCE0"/>
                </a:solidFill>
              </a:rPr>
              <a:t>Measurement = Born Rule (Max Born, 1926):</a:t>
            </a:r>
          </a:p>
          <a:p xmlns:a="http://schemas.openxmlformats.org/drawingml/2006/main">
            <a:r>
              <a:rPr lang="en-US" sz="1800">
                <a:solidFill>
                  <a:srgbClr val="CCCCE0"/>
                </a:solidFill>
              </a:rPr>
              <a:t>    Collapses state irreversibly → classical outcome</a:t>
            </a:r>
          </a:p>
        </p:txBody>
      </p:sp>
    </p:spTree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D0D1A"/>
        </a:solidFill>
      </p:bgPr>
    </p:bg>
    <p:spTree>
      <p:nvGrpSpPr>
        <p:cNvPr id="1" name=""/>
        <p:cNvGrpSpPr/>
        <p:nvPr/>
      </p:nvGrpSpPr>
      <p:grpSpPr/>
      <p:sp>
        <p:nvSpPr>
          <p:cNvPr id="100020" name="SectionLabel"/>
          <p:cNvSpPr txBox="1"/>
          <p:nvPr/>
        </p:nvSpPr>
        <p:spPr>
          <a:xfrm xmlns:a="http://schemas.openxmlformats.org/drawingml/2006/main">
            <a:off x="540000" y="180000"/>
            <a:ext cx="2880000" cy="21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1">
                <a:solidFill>
                  <a:srgbClr val="8B5CF6"/>
                </a:solidFill>
              </a:rPr>
              <a:t>SECTION 4</a:t>
            </a:r>
          </a:p>
        </p:txBody>
      </p:sp>
      <p:sp>
        <p:nvSpPr>
          <p:cNvPr id="100021" name="Title"/>
          <p:cNvSpPr txBox="1"/>
          <p:nvPr/>
        </p:nvSpPr>
        <p:spPr>
          <a:xfrm xmlns:a="http://schemas.openxmlformats.org/drawingml/2006/main">
            <a:off x="540000" y="504000"/>
            <a:ext cx="10800000" cy="64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400" b="1">
                <a:solidFill>
                  <a:srgbClr val="FFFFFF"/>
                </a:solidFill>
              </a:rPr>
              <a:t>Entanglement &amp; Bell States</a:t>
            </a:r>
          </a:p>
        </p:txBody>
      </p:sp>
      <p:sp>
        <p:nvSpPr>
          <p:cNvPr id="100022" name="Body"/>
          <p:cNvSpPr txBox="1"/>
          <p:nvPr/>
        </p:nvSpPr>
        <p:spPr>
          <a:xfrm xmlns:a="http://schemas.openxmlformats.org/drawingml/2006/main">
            <a:off x="540000" y="1260000"/>
            <a:ext cx="10800000" cy="46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700">
                <a:solidFill>
                  <a:srgbClr val="CCCCE0"/>
                </a:solidFill>
              </a:rPr>
              <a:t>The 4 maximally entangled Bell states:</a:t>
            </a:r>
          </a:p>
          <a:p xmlns:a="http://schemas.openxmlformats.org/drawingml/2006/main">
            <a:r>
              <a:rPr lang="en-US" sz="1700">
                <a:solidFill>
                  <a:srgbClr val="CCCCE0"/>
                </a:solidFill>
              </a:rPr>
              <a:t/>
            </a:r>
          </a:p>
          <a:p xmlns:a="http://schemas.openxmlformats.org/drawingml/2006/main">
            <a:r>
              <a:rPr lang="en-US" sz="1700">
                <a:solidFill>
                  <a:srgbClr val="CCCCE0"/>
                </a:solidFill>
              </a:rPr>
              <a:t>    |Φ⁺⟩ = (|00⟩ + |11⟩) / √2    ← most common</a:t>
            </a:r>
          </a:p>
          <a:p xmlns:a="http://schemas.openxmlformats.org/drawingml/2006/main">
            <a:r>
              <a:rPr lang="en-US" sz="1700">
                <a:solidFill>
                  <a:srgbClr val="CCCCE0"/>
                </a:solidFill>
              </a:rPr>
              <a:t>    |Φ⁻⟩ = (|00⟩ − |11⟩) / √2</a:t>
            </a:r>
          </a:p>
          <a:p xmlns:a="http://schemas.openxmlformats.org/drawingml/2006/main">
            <a:r>
              <a:rPr lang="en-US" sz="1700">
                <a:solidFill>
                  <a:srgbClr val="CCCCE0"/>
                </a:solidFill>
              </a:rPr>
              <a:t>    |Ψ⁺⟩ = (|01⟩ + |10⟩) / √2</a:t>
            </a:r>
          </a:p>
          <a:p xmlns:a="http://schemas.openxmlformats.org/drawingml/2006/main">
            <a:r>
              <a:rPr lang="en-US" sz="1700">
                <a:solidFill>
                  <a:srgbClr val="CCCCE0"/>
                </a:solidFill>
              </a:rPr>
              <a:t>    |Ψ⁻⟩ = (|01⟩ − |10⟩) / √2</a:t>
            </a:r>
          </a:p>
          <a:p xmlns:a="http://schemas.openxmlformats.org/drawingml/2006/main">
            <a:r>
              <a:rPr lang="en-US" sz="1700">
                <a:solidFill>
                  <a:srgbClr val="CCCCE0"/>
                </a:solidFill>
              </a:rPr>
              <a:t/>
            </a:r>
          </a:p>
          <a:p xmlns:a="http://schemas.openxmlformats.org/drawingml/2006/main">
            <a:r>
              <a:rPr lang="en-US" sz="1700">
                <a:solidFill>
                  <a:srgbClr val="CCCCE0"/>
                </a:solidFill>
              </a:rPr>
              <a:t>Create |Φ⁺⟩ circuit:  H on qubit 0  →  CNOT (control=0, target=1)</a:t>
            </a:r>
          </a:p>
          <a:p xmlns:a="http://schemas.openxmlformats.org/drawingml/2006/main">
            <a:r>
              <a:rPr lang="en-US" sz="1700">
                <a:solidFill>
                  <a:srgbClr val="CCCCE0"/>
                </a:solidFill>
              </a:rPr>
              <a:t/>
            </a:r>
          </a:p>
          <a:p xmlns:a="http://schemas.openxmlformats.org/drawingml/2006/main">
            <a:r>
              <a:rPr lang="en-US" sz="1700">
                <a:solidFill>
                  <a:srgbClr val="CCCCE0"/>
                </a:solidFill>
              </a:rPr>
              <a:t>Applications:</a:t>
            </a:r>
          </a:p>
          <a:p xmlns:a="http://schemas.openxmlformats.org/drawingml/2006/main">
            <a:r>
              <a:rPr lang="en-US" sz="1700">
                <a:solidFill>
                  <a:srgbClr val="CCCCE0"/>
                </a:solidFill>
              </a:rPr>
              <a:t>  • Quantum teleportation — transfer quantum states</a:t>
            </a:r>
          </a:p>
          <a:p xmlns:a="http://schemas.openxmlformats.org/drawingml/2006/main">
            <a:r>
              <a:rPr lang="en-US" sz="1700">
                <a:solidFill>
                  <a:srgbClr val="CCCCE0"/>
                </a:solidFill>
              </a:rPr>
              <a:t>  • Superdense coding — 2 classical bits via 1 qubit + 1 ebit</a:t>
            </a:r>
          </a:p>
          <a:p xmlns:a="http://schemas.openxmlformats.org/drawingml/2006/main">
            <a:r>
              <a:rPr lang="en-US" sz="1700">
                <a:solidFill>
                  <a:srgbClr val="CCCCE0"/>
                </a:solidFill>
              </a:rPr>
              <a:t>  • QKD (E91 protocol) — secure key distribution</a:t>
            </a:r>
          </a:p>
          <a:p xmlns:a="http://schemas.openxmlformats.org/drawingml/2006/main">
            <a:r>
              <a:rPr lang="en-US" sz="1700">
                <a:solidFill>
                  <a:srgbClr val="CCCCE0"/>
                </a:solidFill>
              </a:rPr>
              <a:t>  • Quantum computing — exponential state space</a:t>
            </a:r>
          </a:p>
          <a:p xmlns:a="http://schemas.openxmlformats.org/drawingml/2006/main">
            <a:r>
              <a:rPr lang="en-US" sz="1700">
                <a:solidFill>
                  <a:srgbClr val="CCCCE0"/>
                </a:solidFill>
              </a:rPr>
              <a:t/>
            </a:r>
          </a:p>
          <a:p xmlns:a="http://schemas.openxmlformats.org/drawingml/2006/main">
            <a:r>
              <a:rPr lang="en-US" sz="1700">
                <a:solidFill>
                  <a:srgbClr val="CCCCE0"/>
                </a:solidFill>
              </a:rPr>
              <a:t>Loophole-free Bell tests (Hensen et al., Nature 2015) confirmed</a:t>
            </a:r>
          </a:p>
          <a:p xmlns:a="http://schemas.openxmlformats.org/drawingml/2006/main">
            <a:r>
              <a:rPr lang="en-US" sz="1700">
                <a:solidFill>
                  <a:srgbClr val="CCCCE0"/>
                </a:solidFill>
              </a:rPr>
              <a:t>quantum mechanics is non-local — no hidden variables possible</a:t>
            </a:r>
          </a:p>
        </p:txBody>
      </p:sp>
    </p:spTree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A0A1F"/>
        </a:solidFill>
      </p:bgPr>
    </p:bg>
    <p:spTree>
      <p:nvGrpSpPr>
        <p:cNvPr id="1" name=""/>
        <p:cNvGrpSpPr/>
        <p:nvPr/>
      </p:nvGrpSpPr>
      <p:grpSpPr/>
      <p:sp>
        <p:nvSpPr>
          <p:cNvPr id="100023" name="SectionLabel"/>
          <p:cNvSpPr txBox="1"/>
          <p:nvPr/>
        </p:nvSpPr>
        <p:spPr>
          <a:xfrm xmlns:a="http://schemas.openxmlformats.org/drawingml/2006/main">
            <a:off x="540000" y="180000"/>
            <a:ext cx="3600000" cy="21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1">
                <a:solidFill>
                  <a:srgbClr val="34D399"/>
                </a:solidFill>
              </a:rPr>
              <a:t>SECTION 7  ·  LAB</a:t>
            </a:r>
          </a:p>
        </p:txBody>
      </p:sp>
      <p:sp>
        <p:nvSpPr>
          <p:cNvPr id="100024" name="Title"/>
          <p:cNvSpPr txBox="1"/>
          <p:nvPr/>
        </p:nvSpPr>
        <p:spPr>
          <a:xfrm xmlns:a="http://schemas.openxmlformats.org/drawingml/2006/main">
            <a:off x="540000" y="504000"/>
            <a:ext cx="10800000" cy="64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400" b="1">
                <a:solidFill>
                  <a:srgbClr val="FFFFFF"/>
                </a:solidFill>
              </a:rPr>
              <a:t>Hands-On Lab — Bell State in Qiskit</a:t>
            </a:r>
          </a:p>
        </p:txBody>
      </p:sp>
      <p:sp>
        <p:nvSpPr>
          <p:cNvPr id="100025" name="Code"/>
          <p:cNvSpPr txBox="1"/>
          <p:nvPr/>
        </p:nvSpPr>
        <p:spPr>
          <a:xfrm xmlns:a="http://schemas.openxmlformats.org/drawingml/2006/main">
            <a:off x="540000" y="1260000"/>
            <a:ext cx="10800000" cy="43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>
                <a:solidFill>
                  <a:srgbClr val="6EE7B7"/>
                </a:solidFill>
              </a:rPr>
              <a:t>from qiskit import QuantumCircuit</a:t>
            </a:r>
          </a:p>
          <a:p xmlns:a="http://schemas.openxmlformats.org/drawingml/2006/main">
            <a:r>
              <a:rPr lang="en-US" sz="1500">
                <a:solidFill>
                  <a:srgbClr val="6EE7B7"/>
                </a:solidFill>
              </a:rPr>
              <a:t>from qiskit_aer import AerSimulator</a:t>
            </a:r>
          </a:p>
          <a:p xmlns:a="http://schemas.openxmlformats.org/drawingml/2006/main">
            <a:r>
              <a:rPr lang="en-US" sz="1500">
                <a:solidFill>
                  <a:srgbClr val="6EE7B7"/>
                </a:solidFill>
              </a:rPr>
              <a:t/>
            </a:r>
          </a:p>
          <a:p xmlns:a="http://schemas.openxmlformats.org/drawingml/2006/main">
            <a:r>
              <a:rPr lang="en-US" sz="1500">
                <a:solidFill>
                  <a:srgbClr val="6EE7B7"/>
                </a:solidFill>
              </a:rPr>
              <a:t># Create 2-qubit circuit</a:t>
            </a:r>
          </a:p>
          <a:p xmlns:a="http://schemas.openxmlformats.org/drawingml/2006/main">
            <a:r>
              <a:rPr lang="en-US" sz="1500">
                <a:solidFill>
                  <a:srgbClr val="6EE7B7"/>
                </a:solidFill>
              </a:rPr>
              <a:t>qc = QuantumCircuit(2, 2)</a:t>
            </a:r>
          </a:p>
          <a:p xmlns:a="http://schemas.openxmlformats.org/drawingml/2006/main">
            <a:r>
              <a:rPr lang="en-US" sz="1500">
                <a:solidFill>
                  <a:srgbClr val="6EE7B7"/>
                </a:solidFill>
              </a:rPr>
              <a:t/>
            </a:r>
          </a:p>
          <a:p xmlns:a="http://schemas.openxmlformats.org/drawingml/2006/main">
            <a:r>
              <a:rPr lang="en-US" sz="1500">
                <a:solidFill>
                  <a:srgbClr val="6EE7B7"/>
                </a:solidFill>
              </a:rPr>
              <a:t># H → superposition on qubit 0</a:t>
            </a:r>
          </a:p>
          <a:p xmlns:a="http://schemas.openxmlformats.org/drawingml/2006/main">
            <a:r>
              <a:rPr lang="en-US" sz="1500">
                <a:solidFill>
                  <a:srgbClr val="6EE7B7"/>
                </a:solidFill>
              </a:rPr>
              <a:t>qc.h(0)</a:t>
            </a:r>
          </a:p>
          <a:p xmlns:a="http://schemas.openxmlformats.org/drawingml/2006/main">
            <a:r>
              <a:rPr lang="en-US" sz="1500">
                <a:solidFill>
                  <a:srgbClr val="6EE7B7"/>
                </a:solidFill>
              </a:rPr>
              <a:t/>
            </a:r>
          </a:p>
          <a:p xmlns:a="http://schemas.openxmlformats.org/drawingml/2006/main">
            <a:r>
              <a:rPr lang="en-US" sz="1500">
                <a:solidFill>
                  <a:srgbClr val="6EE7B7"/>
                </a:solidFill>
              </a:rPr>
              <a:t># CNOT → entanglement</a:t>
            </a:r>
          </a:p>
          <a:p xmlns:a="http://schemas.openxmlformats.org/drawingml/2006/main">
            <a:r>
              <a:rPr lang="en-US" sz="1500">
                <a:solidFill>
                  <a:srgbClr val="6EE7B7"/>
                </a:solidFill>
              </a:rPr>
              <a:t>qc.cx(0, 1)</a:t>
            </a:r>
          </a:p>
          <a:p xmlns:a="http://schemas.openxmlformats.org/drawingml/2006/main">
            <a:r>
              <a:rPr lang="en-US" sz="1500">
                <a:solidFill>
                  <a:srgbClr val="6EE7B7"/>
                </a:solidFill>
              </a:rPr>
              <a:t/>
            </a:r>
          </a:p>
          <a:p xmlns:a="http://schemas.openxmlformats.org/drawingml/2006/main">
            <a:r>
              <a:rPr lang="en-US" sz="1500">
                <a:solidFill>
                  <a:srgbClr val="6EE7B7"/>
                </a:solidFill>
              </a:rPr>
              <a:t># Measure both qubits</a:t>
            </a:r>
          </a:p>
          <a:p xmlns:a="http://schemas.openxmlformats.org/drawingml/2006/main">
            <a:r>
              <a:rPr lang="en-US" sz="1500">
                <a:solidFill>
                  <a:srgbClr val="6EE7B7"/>
                </a:solidFill>
              </a:rPr>
              <a:t>qc.measure([0, 1], [0, 1])</a:t>
            </a:r>
          </a:p>
          <a:p xmlns:a="http://schemas.openxmlformats.org/drawingml/2006/main">
            <a:r>
              <a:rPr lang="en-US" sz="1500">
                <a:solidFill>
                  <a:srgbClr val="6EE7B7"/>
                </a:solidFill>
              </a:rPr>
              <a:t/>
            </a:r>
          </a:p>
          <a:p xmlns:a="http://schemas.openxmlformats.org/drawingml/2006/main">
            <a:r>
              <a:rPr lang="en-US" sz="1500">
                <a:solidFill>
                  <a:srgbClr val="6EE7B7"/>
                </a:solidFill>
              </a:rPr>
              <a:t># Simulate 2048 shots</a:t>
            </a:r>
          </a:p>
          <a:p xmlns:a="http://schemas.openxmlformats.org/drawingml/2006/main">
            <a:r>
              <a:rPr lang="en-US" sz="1500">
                <a:solidFill>
                  <a:srgbClr val="6EE7B7"/>
                </a:solidFill>
              </a:rPr>
              <a:t>sim = AerSimulator()</a:t>
            </a:r>
          </a:p>
          <a:p xmlns:a="http://schemas.openxmlformats.org/drawingml/2006/main">
            <a:r>
              <a:rPr lang="en-US" sz="1500">
                <a:solidFill>
                  <a:srgbClr val="6EE7B7"/>
                </a:solidFill>
              </a:rPr>
              <a:t>result = sim.run(qc, shots=2048).result()</a:t>
            </a:r>
          </a:p>
          <a:p xmlns:a="http://schemas.openxmlformats.org/drawingml/2006/main">
            <a:r>
              <a:rPr lang="en-US" sz="1500">
                <a:solidFill>
                  <a:srgbClr val="6EE7B7"/>
                </a:solidFill>
              </a:rPr>
              <a:t>counts = result.get_counts()</a:t>
            </a:r>
          </a:p>
          <a:p xmlns:a="http://schemas.openxmlformats.org/drawingml/2006/main">
            <a:r>
              <a:rPr lang="en-US" sz="1500">
                <a:solidFill>
                  <a:srgbClr val="6EE7B7"/>
                </a:solidFill>
              </a:rPr>
              <a:t>print("Bell state:", counts)</a:t>
            </a:r>
          </a:p>
          <a:p xmlns:a="http://schemas.openxmlformats.org/drawingml/2006/main">
            <a:r>
              <a:rPr lang="en-US" sz="1500">
                <a:solidFill>
                  <a:srgbClr val="6EE7B7"/>
                </a:solidFill>
              </a:rPr>
              <a:t># Expected: {'00': ~1024, '11': ~1024}</a:t>
            </a:r>
          </a:p>
          <a:p xmlns:a="http://schemas.openxmlformats.org/drawingml/2006/main">
            <a:r>
              <a:rPr lang="en-US" sz="1500">
                <a:solidFill>
                  <a:srgbClr val="6EE7B7"/>
                </a:solidFill>
              </a:rPr>
              <a:t># '01' and '10' ≈ 0  →  proves entanglement!</a:t>
            </a:r>
          </a:p>
        </p:txBody>
      </p:sp>
    </p:spTree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D0D1A"/>
        </a:solidFill>
      </p:bgPr>
    </p:bg>
    <p:spTree>
      <p:nvGrpSpPr>
        <p:cNvPr id="1" name=""/>
        <p:cNvGrpSpPr/>
        <p:nvPr/>
      </p:nvGrpSpPr>
      <p:grpSpPr/>
      <p:sp>
        <p:nvSpPr>
          <p:cNvPr id="100026" name="SectionLabel"/>
          <p:cNvSpPr txBox="1"/>
          <p:nvPr/>
        </p:nvSpPr>
        <p:spPr>
          <a:xfrm xmlns:a="http://schemas.openxmlformats.org/drawingml/2006/main">
            <a:off x="540000" y="180000"/>
            <a:ext cx="4320000" cy="21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1">
                <a:solidFill>
                  <a:srgbClr val="8B5CF6"/>
                </a:solidFill>
              </a:rPr>
              <a:t>IBM QUANTUM HARDWARE</a:t>
            </a:r>
          </a:p>
        </p:txBody>
      </p:sp>
      <p:sp>
        <p:nvSpPr>
          <p:cNvPr id="100027" name="Title"/>
          <p:cNvSpPr txBox="1"/>
          <p:nvPr/>
        </p:nvSpPr>
        <p:spPr>
          <a:xfrm xmlns:a="http://schemas.openxmlformats.org/drawingml/2006/main">
            <a:off x="540000" y="504000"/>
            <a:ext cx="10800000" cy="64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400" b="1">
                <a:solidFill>
                  <a:srgbClr val="FFFFFF"/>
                </a:solidFill>
              </a:rPr>
              <a:t>IBM Quantum Processor Generations</a:t>
            </a:r>
          </a:p>
        </p:txBody>
      </p:sp>
      <p:sp>
        <p:nvSpPr>
          <p:cNvPr id="100028" name="Body"/>
          <p:cNvSpPr txBox="1"/>
          <p:nvPr/>
        </p:nvSpPr>
        <p:spPr>
          <a:xfrm xmlns:a="http://schemas.openxmlformats.org/drawingml/2006/main">
            <a:off x="540000" y="1260000"/>
            <a:ext cx="10800000" cy="36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>
                <a:solidFill>
                  <a:srgbClr val="CCCCE0"/>
                </a:solidFill>
              </a:rPr>
              <a:t>Processor          Qubits    Year    Key Milestone</a:t>
            </a:r>
          </a:p>
          <a:p xmlns:a="http://schemas.openxmlformats.org/drawingml/2006/main">
            <a:r>
              <a:rPr lang="en-US" sz="1600">
                <a:solidFill>
                  <a:srgbClr val="CCCCE0"/>
                </a:solidFill>
              </a:rPr>
              <a:t>─────────────────────────────────────────────────</a:t>
            </a:r>
          </a:p>
          <a:p xmlns:a="http://schemas.openxmlformats.org/drawingml/2006/main">
            <a:r>
              <a:rPr lang="en-US" sz="1600">
                <a:solidFill>
                  <a:srgbClr val="CCCCE0"/>
                </a:solidFill>
              </a:rPr>
              <a:t>IBM Falcon           27      2019    Heavy-hex topology</a:t>
            </a:r>
          </a:p>
          <a:p xmlns:a="http://schemas.openxmlformats.org/drawingml/2006/main">
            <a:r>
              <a:rPr lang="en-US" sz="1600">
                <a:solidFill>
                  <a:srgbClr val="CCCCE0"/>
                </a:solidFill>
              </a:rPr>
              <a:t>IBM Eagle           127      2021    First 100+ qubit device</a:t>
            </a:r>
          </a:p>
          <a:p xmlns:a="http://schemas.openxmlformats.org/drawingml/2006/main">
            <a:r>
              <a:rPr lang="en-US" sz="1600">
                <a:solidFill>
                  <a:srgbClr val="CCCCE0"/>
                </a:solidFill>
              </a:rPr>
              <a:t>IBM Osprey          433      2022    Largest at launch</a:t>
            </a:r>
          </a:p>
          <a:p xmlns:a="http://schemas.openxmlformats.org/drawingml/2006/main">
            <a:r>
              <a:rPr lang="en-US" sz="1600">
                <a:solidFill>
                  <a:srgbClr val="CCCCE0"/>
                </a:solidFill>
              </a:rPr>
              <a:t>IBM Condor        1,121      2023    First 1,000+ qubit</a:t>
            </a:r>
          </a:p>
          <a:p xmlns:a="http://schemas.openxmlformats.org/drawingml/2006/main">
            <a:r>
              <a:rPr lang="en-US" sz="1600">
                <a:solidFill>
                  <a:srgbClr val="CCCCE0"/>
                </a:solidFill>
              </a:rPr>
              <a:t>IBM Heron r1        133      2023    2× better error rates</a:t>
            </a:r>
          </a:p>
          <a:p xmlns:a="http://schemas.openxmlformats.org/drawingml/2006/main">
            <a:r>
              <a:rPr lang="en-US" sz="1600">
                <a:solidFill>
                  <a:srgbClr val="CCCCE0"/>
                </a:solidFill>
              </a:rPr>
              <a:t>IBM Heron r2        156      2024    2Q fidelity ~99.9%</a:t>
            </a:r>
          </a:p>
          <a:p xmlns:a="http://schemas.openxmlformats.org/drawingml/2006/main">
            <a:r>
              <a:rPr lang="en-US" sz="1600">
                <a:solidFill>
                  <a:srgbClr val="CCCCE0"/>
                </a:solidFill>
              </a:rPr>
              <a:t>IBM Flamingo       156+      2025    Multi-chip communication</a:t>
            </a:r>
          </a:p>
          <a:p xmlns:a="http://schemas.openxmlformats.org/drawingml/2006/main">
            <a:r>
              <a:rPr lang="en-US" sz="1600">
                <a:solidFill>
                  <a:srgbClr val="CCCCE0"/>
                </a:solidFill>
              </a:rPr>
              <a:t>IBM Kookaburra   4,158       2026    3-chip system  ←  NOW</a:t>
            </a:r>
          </a:p>
        </p:txBody>
      </p:sp>
      <p:sp>
        <p:nvSpPr>
          <p:cNvPr id="100029" name="Note"/>
          <p:cNvSpPr txBox="1"/>
          <p:nvPr/>
        </p:nvSpPr>
        <p:spPr>
          <a:xfrm xmlns:a="http://schemas.openxmlformats.org/drawingml/2006/main">
            <a:off x="540000" y="5040000"/>
            <a:ext cx="10800000" cy="32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33B1FF"/>
                </a:solidFill>
              </a:rPr>
              <a:t>T1 relaxation: ~100–300 µs  ·  T2 dephasing: ~100–200 µs  ·  Gate fidelity (2Q): up to 99.9% on Heron r2</a:t>
            </a:r>
          </a:p>
        </p:txBody>
      </p:sp>
    </p:spTree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A0A1F"/>
        </a:solidFill>
      </p:bgPr>
    </p:bg>
    <p:spTree>
      <p:nvGrpSpPr>
        <p:cNvPr id="1" name=""/>
        <p:cNvGrpSpPr/>
        <p:nvPr/>
      </p:nvGrpSpPr>
      <p:grpSpPr/>
      <p:sp>
        <p:nvSpPr>
          <p:cNvPr id="100030" name="SectionLabel"/>
          <p:cNvSpPr txBox="1"/>
          <p:nvPr/>
        </p:nvSpPr>
        <p:spPr>
          <a:xfrm xmlns:a="http://schemas.openxmlformats.org/drawingml/2006/main">
            <a:off x="540000" y="180000"/>
            <a:ext cx="4320000" cy="21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1">
                <a:solidFill>
                  <a:srgbClr val="FFB347"/>
                </a:solidFill>
              </a:rPr>
              <a:t>KEY TAKEAWAYS  ·  DAY 1</a:t>
            </a:r>
          </a:p>
        </p:txBody>
      </p:sp>
      <p:sp>
        <p:nvSpPr>
          <p:cNvPr id="100031" name="Title"/>
          <p:cNvSpPr txBox="1"/>
          <p:nvPr/>
        </p:nvSpPr>
        <p:spPr>
          <a:xfrm xmlns:a="http://schemas.openxmlformats.org/drawingml/2006/main">
            <a:off x="540000" y="504000"/>
            <a:ext cx="10800000" cy="64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400" b="1">
                <a:solidFill>
                  <a:srgbClr val="FFFFFF"/>
                </a:solidFill>
              </a:rPr>
              <a:t>Day 1 Summary &amp; Next Steps</a:t>
            </a:r>
          </a:p>
        </p:txBody>
      </p:sp>
      <p:sp>
        <p:nvSpPr>
          <p:cNvPr id="100032" name="Body"/>
          <p:cNvSpPr txBox="1"/>
          <p:nvPr/>
        </p:nvSpPr>
        <p:spPr>
          <a:xfrm xmlns:a="http://schemas.openxmlformats.org/drawingml/2006/main">
            <a:off x="540000" y="1260000"/>
            <a:ext cx="10800000" cy="46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CCCCE0"/>
                </a:solidFill>
              </a:rPr>
              <a:t>Today you learned:</a:t>
            </a:r>
          </a:p>
          <a:p xmlns:a="http://schemas.openxmlformats.org/drawingml/2006/main">
            <a:r>
              <a:rPr lang="en-US" sz="1800">
                <a:solidFill>
                  <a:srgbClr val="CCCCE0"/>
                </a:solidFill>
              </a:rPr>
              <a:t>✅  A qubit is α|0⟩ + β|1⟩ — a superposition with |α|²+|β|²=1</a:t>
            </a:r>
          </a:p>
          <a:p xmlns:a="http://schemas.openxmlformats.org/drawingml/2006/main">
            <a:r>
              <a:rPr lang="en-US" sz="1800">
                <a:solidFill>
                  <a:srgbClr val="CCCCE0"/>
                </a:solidFill>
              </a:rPr>
              <a:t>✅  Measurement collapses to |0⟩ or |1⟩ with Born Rule probabilities</a:t>
            </a:r>
          </a:p>
          <a:p xmlns:a="http://schemas.openxmlformats.org/drawingml/2006/main">
            <a:r>
              <a:rPr lang="en-US" sz="1800">
                <a:solidFill>
                  <a:srgbClr val="CCCCE0"/>
                </a:solidFill>
              </a:rPr>
              <a:t>✅  Entanglement creates non-local correlations — proven by Bell tests</a:t>
            </a:r>
          </a:p>
          <a:p xmlns:a="http://schemas.openxmlformats.org/drawingml/2006/main">
            <a:r>
              <a:rPr lang="en-US" sz="1800">
                <a:solidFill>
                  <a:srgbClr val="CCCCE0"/>
                </a:solidFill>
              </a:rPr>
              <a:t>✅  IBM Quantum processors use transmon qubits at ~15 mK</a:t>
            </a:r>
          </a:p>
          <a:p xmlns:a="http://schemas.openxmlformats.org/drawingml/2006/main">
            <a:r>
              <a:rPr lang="en-US" sz="1800">
                <a:solidFill>
                  <a:srgbClr val="CCCCE0"/>
                </a:solidFill>
              </a:rPr>
              <a:t>✅  Qiskit is free, open-source, and runs on any laptop</a:t>
            </a:r>
          </a:p>
          <a:p xmlns:a="http://schemas.openxmlformats.org/drawingml/2006/main">
            <a:r>
              <a:rPr lang="en-US" sz="1800">
                <a:solidFill>
                  <a:srgbClr val="CCCCE0"/>
                </a:solidFill>
              </a:rPr>
              <a:t>✅  You created a Bell state and ran it on a simulator</a:t>
            </a:r>
          </a:p>
          <a:p xmlns:a="http://schemas.openxmlformats.org/drawingml/2006/main">
            <a:r>
              <a:rPr lang="en-US" sz="1800">
                <a:solidFill>
                  <a:srgbClr val="CCCCE0"/>
                </a:solidFill>
              </a:rPr>
              <a:t/>
            </a:r>
          </a:p>
          <a:p xmlns:a="http://schemas.openxmlformats.org/drawingml/2006/main">
            <a:r>
              <a:rPr lang="en-US" sz="1800">
                <a:solidFill>
                  <a:srgbClr val="CCCCE0"/>
                </a:solidFill>
              </a:rPr>
              <a:t>Homework (before Day 2):</a:t>
            </a:r>
          </a:p>
          <a:p xmlns:a="http://schemas.openxmlformats.org/drawingml/2006/main">
            <a:r>
              <a:rPr lang="en-US" sz="1800">
                <a:solidFill>
                  <a:srgbClr val="CCCCE0"/>
                </a:solidFill>
              </a:rPr>
              <a:t>→  Create a 3-qubit GHZ state: H + CNOT(0→1) + CNOT(0→2)</a:t>
            </a:r>
          </a:p>
          <a:p xmlns:a="http://schemas.openxmlformats.org/drawingml/2006/main">
            <a:r>
              <a:rPr lang="en-US" sz="1800">
                <a:solidFill>
                  <a:srgbClr val="CCCCE0"/>
                </a:solidFill>
              </a:rPr>
              <a:t>→  Run your Bell circuit on real IBM hardware (ibm_brisbane)</a:t>
            </a:r>
          </a:p>
          <a:p xmlns:a="http://schemas.openxmlformats.org/drawingml/2006/main">
            <a:r>
              <a:rPr lang="en-US" sz="1800">
                <a:solidFill>
                  <a:srgbClr val="CCCCE0"/>
                </a:solidFill>
              </a:rPr>
              <a:t>→  Explore learning.quantum.ibm.com — Basics of Quantum Information</a:t>
            </a:r>
          </a:p>
          <a:p xmlns:a="http://schemas.openxmlformats.org/drawingml/2006/main">
            <a:r>
              <a:rPr lang="en-US" sz="1800">
                <a:solidFill>
                  <a:srgbClr val="CCCCE0"/>
                </a:solidFill>
              </a:rPr>
              <a:t/>
            </a:r>
          </a:p>
          <a:p xmlns:a="http://schemas.openxmlformats.org/drawingml/2006/main">
            <a:r>
              <a:rPr lang="en-US" sz="1800">
                <a:solidFill>
                  <a:srgbClr val="CCCCE0"/>
                </a:solidFill>
              </a:rPr>
              <a:t>Join Discord: discord.gg/UgF3PaEax</a:t>
            </a:r>
          </a:p>
        </p:txBody>
      </p:sp>
      <p:sp>
        <p:nvSpPr>
          <p:cNvPr id="100033" name="Ref"/>
          <p:cNvSpPr txBox="1"/>
          <p:nvPr/>
        </p:nvSpPr>
        <p:spPr>
          <a:xfrm xmlns:a="http://schemas.openxmlformats.org/drawingml/2006/main">
            <a:off x="540000" y="6120000"/>
            <a:ext cx="10800000" cy="28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8888AA"/>
                </a:solidFill>
              </a:rPr>
              <a:t>References: IBM Quantum Learning (learning.quantum.ibm.com) · Nielsen &amp; Chuang (2010) · Kim et al., Nature 618, 2023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OfficeCLI/1.0.147</ap:Application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OfficeCLI</dc:creator>
  <dcterms:created xsi:type="dcterms:W3CDTF">2026-09-09T15:05:38Z</dcterms:created>
  <cp:lastModifiedBy>OfficeCLI</cp:lastModifiedBy>
  <dcterms:modified xsi:type="dcterms:W3CDTF">2026-09-09T15:05:38Z</dcterms:modified>
</cp: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1.0.147</vt:lpwstr>
  </op:property>
  <op:property fmtid="{D5CDD505-2E9C-101B-9397-08002B2CF9AE}" pid="3" name="OfficeCLI.LastModified">
    <vt:lpwstr xmlns:vt="http://schemas.openxmlformats.org/officeDocument/2006/docPropsVTypes">2026-09-09T15:05:39Z</vt:lpwstr>
  </op:property>
</op:Properties>
</file>