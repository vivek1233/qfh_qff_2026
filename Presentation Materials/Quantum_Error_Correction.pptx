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Masters/notesMaster1.xml" ContentType="application/vnd.openxmlformats-officedocument.presentationml.notesMaster+xml"/>
  <Override PartName="/ppt/notesMasters/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4f203edfd21144bd" /><Relationship Type="http://schemas.openxmlformats.org/package/2006/relationships/metadata/core-properties" Target="/docProps/core.xml" Id="R12899ae6602b45df" /><Relationship Type="http://schemas.openxmlformats.org/officeDocument/2006/relationships/extended-properties" Target="/docProps/app.xml" Id="R38af565094b24ac7" /><Relationship Type="http://schemas.openxmlformats.org/officeDocument/2006/relationships/custom-properties" Target="/docProps/custom.xml" Id="R4d5f043037d24b64"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3ef7175302ee4635"/>
  </p:notesMasterIdLst>
  <p:sldIdLst>
    <p:sldId id="256" r:id="Rb0096abd9b2b448c"/>
    <p:sldId id="257" r:id="R0168de9050174244"/>
    <p:sldId id="258" r:id="R1074ebd1e87243cf"/>
    <p:sldId id="260" r:id="Rc63b7847d89a4c41"/>
    <p:sldId id="261" r:id="R362e5db1663c4cf8"/>
    <p:sldId id="262" r:id="R15b67ddf558d4c42"/>
    <p:sldId id="263" r:id="R2217924851194664"/>
    <p:sldId id="264" r:id="R2916eb67f4d84bec"/>
    <p:sldId id="265" r:id="R04b76def9557444d"/>
    <p:sldId id="266" r:id="Rcc681a6b98be403e"/>
    <p:sldId id="267" r:id="Rb606a5fe8da749fc"/>
    <p:sldId id="268" r:id="R98b78c11ba2446b8"/>
    <p:sldId id="269" r:id="Rd8fa48c0cf384d56"/>
    <p:sldId id="270" r:id="Re8f94e9e988e460a"/>
    <p:sldId id="271" r:id="R739c45dd0eac4e9f"/>
    <p:sldId id="272" r:id="Rb05400d07d8746e6"/>
    <p:sldId id="273" r:id="Re7d92fa82619466c"/>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notesMaster" Target="/ppt/notesMasters/notesMaster1.xml" Id="R3ef7175302ee4635" /><Relationship Type="http://schemas.openxmlformats.org/officeDocument/2006/relationships/slide" Target="/ppt/slides/slide1.xml" Id="Rb0096abd9b2b448c" /><Relationship Type="http://schemas.openxmlformats.org/officeDocument/2006/relationships/slide" Target="/ppt/slides/slide2.xml" Id="R0168de9050174244" /><Relationship Type="http://schemas.openxmlformats.org/officeDocument/2006/relationships/slide" Target="/ppt/slides/slide3.xml" Id="R1074ebd1e87243cf" /><Relationship Type="http://schemas.openxmlformats.org/officeDocument/2006/relationships/slide" Target="/ppt/slides/slide5.xml" Id="Rc63b7847d89a4c41" /><Relationship Type="http://schemas.openxmlformats.org/officeDocument/2006/relationships/slide" Target="/ppt/slides/slide6.xml" Id="R362e5db1663c4cf8" /><Relationship Type="http://schemas.openxmlformats.org/officeDocument/2006/relationships/slide" Target="/ppt/slides/slide7.xml" Id="R15b67ddf558d4c42" /><Relationship Type="http://schemas.openxmlformats.org/officeDocument/2006/relationships/slide" Target="/ppt/slides/slide8.xml" Id="R2217924851194664" /><Relationship Type="http://schemas.openxmlformats.org/officeDocument/2006/relationships/slide" Target="/ppt/slides/slide9.xml" Id="R2916eb67f4d84bec" /><Relationship Type="http://schemas.openxmlformats.org/officeDocument/2006/relationships/slide" Target="/ppt/slides/slide10.xml" Id="R04b76def9557444d" /><Relationship Type="http://schemas.openxmlformats.org/officeDocument/2006/relationships/slide" Target="/ppt/slides/slide11.xml" Id="Rcc681a6b98be403e" /><Relationship Type="http://schemas.openxmlformats.org/officeDocument/2006/relationships/slide" Target="/ppt/slides/slide12.xml" Id="Rb606a5fe8da749fc" /><Relationship Type="http://schemas.openxmlformats.org/officeDocument/2006/relationships/slide" Target="/ppt/slides/slide13.xml" Id="R98b78c11ba2446b8" /><Relationship Type="http://schemas.openxmlformats.org/officeDocument/2006/relationships/slide" Target="/ppt/slides/slide14.xml" Id="Rd8fa48c0cf384d56" /><Relationship Type="http://schemas.openxmlformats.org/officeDocument/2006/relationships/slide" Target="/ppt/slides/slide15.xml" Id="Re8f94e9e988e460a" /><Relationship Type="http://schemas.openxmlformats.org/officeDocument/2006/relationships/slide" Target="/ppt/slides/slide16.xml" Id="R739c45dd0eac4e9f" /><Relationship Type="http://schemas.openxmlformats.org/officeDocument/2006/relationships/slide" Target="/ppt/slides/slide17.xml" Id="Rb05400d07d8746e6" /><Relationship Type="http://schemas.openxmlformats.org/officeDocument/2006/relationships/slide" Target="/ppt/slides/slide18.xml" Id="Re7d92fa8261946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a7f0191224304fda"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9c2f0db94ca24a49" /><Relationship Type="http://schemas.openxmlformats.org/officeDocument/2006/relationships/slide" Target="/ppt/slides/slide1.xml" Id="R9c030931b0314f70"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e1d3179cfe164b12" /><Relationship Type="http://schemas.openxmlformats.org/officeDocument/2006/relationships/slide" Target="/ppt/slides/slide2.xml" Id="R06a37ba1f8374ca2"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07d876517c004a76" /><Relationship Type="http://schemas.openxmlformats.org/officeDocument/2006/relationships/slide" Target="/ppt/slides/slide3.xml" Id="Rb8384848f87744f8"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0781a5926e7b46e7" /><Relationship Type="http://schemas.openxmlformats.org/officeDocument/2006/relationships/slide" Target="/ppt/slides/slide5.xml" Id="R617c08ad8a614b90"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d6acb86fbb2247a1" /><Relationship Type="http://schemas.openxmlformats.org/officeDocument/2006/relationships/slide" Target="/ppt/slides/slide6.xml" Id="R7a73b90a7b944653"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3a9e0edaf6d24918" /><Relationship Type="http://schemas.openxmlformats.org/officeDocument/2006/relationships/slide" Target="/ppt/slides/slide7.xml" Id="R8d257d37189a42c9"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bb610208c4e147a0" /><Relationship Type="http://schemas.openxmlformats.org/officeDocument/2006/relationships/slide" Target="/ppt/slides/slide8.xml" Id="R03a538cfd2a94000"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d40128104f2149c7" /><Relationship Type="http://schemas.openxmlformats.org/officeDocument/2006/relationships/slide" Target="/ppt/slides/slide9.xml" Id="Re2525caff4744357"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f9c5ad4fde1d4d14" /><Relationship Type="http://schemas.openxmlformats.org/officeDocument/2006/relationships/slide" Target="/ppt/slides/slide10.xml" Id="R55ae92b12d1b43b1"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846b561fa73f4583" /><Relationship Type="http://schemas.openxmlformats.org/officeDocument/2006/relationships/slide" Target="/ppt/slides/slide11.xml" Id="Rd9724c964cec42de"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ca90a715121f4300" /><Relationship Type="http://schemas.openxmlformats.org/officeDocument/2006/relationships/slide" Target="/ppt/slides/slide12.xml" Id="R5910e7be2d784d04"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9655dac7351e4cf3" /><Relationship Type="http://schemas.openxmlformats.org/officeDocument/2006/relationships/slide" Target="/ppt/slides/slide13.xml" Id="Rdd852f092b004856"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5f6e4d1402b14f92" /><Relationship Type="http://schemas.openxmlformats.org/officeDocument/2006/relationships/slide" Target="/ppt/slides/slide14.xml" Id="Read249f72358463a"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4c85aca213724cbe" /><Relationship Type="http://schemas.openxmlformats.org/officeDocument/2006/relationships/slide" Target="/ppt/slides/slide15.xml" Id="R6695b15b06834c68"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fd83f0fbbb864c31" /><Relationship Type="http://schemas.openxmlformats.org/officeDocument/2006/relationships/slide" Target="/ppt/slides/slide16.xml" Id="R37dd2af7ef0e4a29"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685b20a07cb74dbd" /><Relationship Type="http://schemas.openxmlformats.org/officeDocument/2006/relationships/slide" Target="/ppt/slides/slide17.xml" Id="R7e5d69fd7d744661" /></Relationships>
</file>

<file path=ppt/notesSlides/_rels/notesSlide18.xml.rels>&#65279;<?xml version="1.0" encoding="utf-8"?><Relationships xmlns="http://schemas.openxmlformats.org/package/2006/relationships"><Relationship Type="http://schemas.openxmlformats.org/officeDocument/2006/relationships/notesMaster" Target="/ppt/notesMasters/notesMaster1.xml" Id="Rc044329149c74fcf" /><Relationship Type="http://schemas.openxmlformats.org/officeDocument/2006/relationships/slide" Target="/ppt/slides/slide18.xml" Id="R72316b02ef514a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This lecture is grounded in the IBM Quantum Learning course 'Foundations of Quantum Error Correction' and incorporates the latest research through 2025.</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Course overview: 6 modules taking students from the basics of quantum errors through to the latest 2024-2025 research breakthroughs and open problems.</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Five sources of quantum errors. The key insight: errors are continuous Bloch sphere rotations, but measuring Pauli observables for syndrome extraction discretises them into {I, X, Y, Z} — making them correctable.</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3-qubit repetition code. Key: syndrome measurement via ancilla qubits reads out ZZ correlations without touching the logical state. Phase-flip code is the Hadamard-conjugate construction.</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3-qubit repetition code encodes 1 logical qubit in 3 physical qubits. Syndrome measurement uses ancilla qubits to read ZZ correlations — it reveals which qubit errored without measuring the actual qubit state.</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Shor 1995 was the first QEC code to correct arbitrary single-qubit errors. It concatenates two 3-qubit codes: inner for bit-flips, outer for phase-flips. The 9-qubit overhead inspired the search for more efficient codes — leading to the [[5,1,3]] (minimum) and [[7,1,3]] Steane code.</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Steane [[7,1,3]] code (1996) is based on the classical Hamming code and uses the CSS construction. It is more efficient than Shor (7 vs 9 qubits) and supports transversal Clifford gates. The code comparison table shows the overhead tradeoffs. The [[5,1,3]] code is the smallest possible QEC code (Bennett et al. 1996, Laflamme et al. 1996).</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Surface code (Kitaev 1997, Fowler et al. PRA 2012) is the most hardware-compatible QEC code. Its 2D nearest-neighbor geometry matches superconducting chip layouts. MWPM decoder converts syndrome measurements into minimum-weight error corrections.</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Threshold theorem (Aharonov &amp; Ben-Or 1997, also Knill et al. 1996): below threshold, increasing code distance exponentially suppresses logical errors. IBM Heron r2 reached break-even in 2024 at distance 5 with 0.2% physical error rate — the first demonstration that logical error &lt; physical error on a real IBM machine.</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Magic state distillation (Bravyi &amp; Kitaev 2005) solves the T gate problem. The 15-to-1 protocol gives cubic error suppression. T-count reduction in quantum algorithms is a major research area. Gidney &amp; Ekera (2021) estimates ~20M physical qubits for fault-tolerant RSA factoring using MSD.</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State-of-the-art QEC demonstrations. IBM 2023 and 2024 papers showed threshold behavior and break-even. Google Willow (Dec 2024) showed 10x below threshold. Harvard/QuEra (2024) demonstrated 48 logical qubits with neutral atoms. Microsoft (2025) demonstrated topological qubits. Each platform has different strengths.</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IBM Quantum roadmap (ibm.com/quantum/roadmap). Break-even was achieved in 2024. The path forward involves modular architecture, quantum interconnects, and gradual scaling of logical qubit count. The 2033 target of 2000 logical qubits with error rate 10^-10 would enable practical fault-tolerant quantum computing.</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Seminal foundational papers. Every QEC researcher must be familiar with these. Shor 1995 started it all. Gottesman's stabilizer formalism unified the field. Kitaev's toric code inspired the surface code. Fowler et al. 2012 is the definitive surface code reference.</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Recent breakthroughs 2021-2025. The IBM 2023 and 2024 Nature papers are must-reads. Google Willow (Dec 2024) is the most significant recent result. Bravyi et al. 2024 LDPC codes are likely the future of QEC. Gidney &amp; Ekera 2021 provides the most cited concrete resource estimate for fault-tolerant Shor's algorithm.</a:t>
            </a: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LDPC codes and open problems. Quantum Tanner codes (Leverrier et al. 2022) proved the existence of asymptotically good QLDPC codes. Bravyi et al. 2024 brought this to practical parameters. Open problems: real-time ML decoding, correlated errors from cosmic rays, connecting LDPC codes to 2D hardware.</a:t>
            </a: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Summary and resources. The IBM Quantum Learning course is the primary reference. Students should explore the Qiskit qec addon for hands-on surface code experiments. Nielsen &amp; Chuang Chapter 10 is the classic textbook reference.</a:t>
            </a:r>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Closing slide. Encourage students to explore the IBM Quantum Learning course and try the Jupyter notebook labs on real IBM hardware.</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489c51400d43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1293f9b6ac47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b90071a2f744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d625b9842244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0e755d2d9f4dda"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8e0dc87976d046d2"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93b9daa379be40e6" /><Relationship Type="http://schemas.openxmlformats.org/officeDocument/2006/relationships/notesSlide" Target="/ppt/notesSlides/notesSlide1.xml" Id="R0fb7375cd1144b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aef9122f634561" /><Relationship Type="http://schemas.openxmlformats.org/officeDocument/2006/relationships/notesSlide" Target="/ppt/notesSlides/notesSlide2.xml" Id="R9bdd3a21ef944d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a10c02f25645d3" /><Relationship Type="http://schemas.openxmlformats.org/officeDocument/2006/relationships/notesSlide" Target="/ppt/notesSlides/notesSlide3.xml" Id="R894ff3e7a17d4d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7b82f8ea824985" /><Relationship Type="http://schemas.openxmlformats.org/officeDocument/2006/relationships/notesSlide" Target="/ppt/notesSlides/notesSlide5.xml" Id="R4db453f9fb104b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51a51a24d74a13" /><Relationship Type="http://schemas.openxmlformats.org/officeDocument/2006/relationships/notesSlide" Target="/ppt/notesSlides/notesSlide6.xml" Id="Rfabaccc947254c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39cb82df614abe" /><Relationship Type="http://schemas.openxmlformats.org/officeDocument/2006/relationships/notesSlide" Target="/ppt/notesSlides/notesSlide7.xml" Id="Rdbb5e9a445c84c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1996f33a1f498f" /><Relationship Type="http://schemas.openxmlformats.org/officeDocument/2006/relationships/notesSlide" Target="/ppt/notesSlides/notesSlide8.xml" Id="Re73dd7f149a747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6914f8b8a174186" /><Relationship Type="http://schemas.openxmlformats.org/officeDocument/2006/relationships/notesSlide" Target="/ppt/notesSlides/notesSlide9.xml" Id="Rd7e83ae8a7344d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b4d6fd553449ef" /><Relationship Type="http://schemas.openxmlformats.org/officeDocument/2006/relationships/notesSlide" Target="/ppt/notesSlides/notesSlide10.xml" Id="R4e50b2fe77004f2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cdd9358932f474b" /><Relationship Type="http://schemas.openxmlformats.org/officeDocument/2006/relationships/notesSlide" Target="/ppt/notesSlides/notesSlide11.xml" Id="Rb4a856f9d39c4f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4362577ad24a42" /><Relationship Type="http://schemas.openxmlformats.org/officeDocument/2006/relationships/notesSlide" Target="/ppt/notesSlides/notesSlide12.xml" Id="Raafd2b0db08941e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393805854c44af6" /><Relationship Type="http://schemas.openxmlformats.org/officeDocument/2006/relationships/notesSlide" Target="/ppt/notesSlides/notesSlide13.xml" Id="Rb4429c32927341a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e4def69839e440c" /><Relationship Type="http://schemas.openxmlformats.org/officeDocument/2006/relationships/notesSlide" Target="/ppt/notesSlides/notesSlide14.xml" Id="R9205255b19794c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5fc1815ea3e4a36" /><Relationship Type="http://schemas.openxmlformats.org/officeDocument/2006/relationships/notesSlide" Target="/ppt/notesSlides/notesSlide15.xml" Id="R6947392d87fc40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16e9eb7b8db4155" /><Relationship Type="http://schemas.openxmlformats.org/officeDocument/2006/relationships/notesSlide" Target="/ppt/notesSlides/notesSlide16.xml" Id="Rea2fface016b49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1d2cfbcff484c04" /><Relationship Type="http://schemas.openxmlformats.org/officeDocument/2006/relationships/notesSlide" Target="/ppt/notesSlides/notesSlide17.xml" Id="Ra602850e862c461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fb9f08064dd4148" /><Relationship Type="http://schemas.openxmlformats.org/officeDocument/2006/relationships/notesSlide" Target="/ppt/notesSlides/notesSlide18.xml" Id="Rd78391dfa0b84f5e" /></Relationships>
</file>

<file path=ppt/slides/slide1.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00" name="TopAccent"/>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01" name="OrgLabel"/>
          <p:cNvSpPr txBox="1"/>
          <p:nvPr/>
        </p:nvSpPr>
        <p:spPr>
          <a:xfrm xmlns:a="http://schemas.openxmlformats.org/drawingml/2006/main">
            <a:off x="432000" y="54000"/>
            <a:ext cx="1116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IBM QISKIT FALL FEST 2026   ·   QUANTUM FOR HUMANITY ORG</a:t>
            </a:r>
          </a:p>
        </p:txBody>
      </p:sp>
      <p:sp>
        <p:nvSpPr>
          <p:cNvPr id="100002" name="GoldBar"/>
          <p:cNvSpPr txBox="1"/>
          <p:nvPr/>
        </p:nvSpPr>
        <p:spPr>
          <a:xfrm xmlns:a="http://schemas.openxmlformats.org/drawingml/2006/main">
            <a:off x="432000" y="1512000"/>
            <a:ext cx="6480000" cy="648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03" name="MainTitle"/>
          <p:cNvSpPr txBox="1"/>
          <p:nvPr/>
        </p:nvSpPr>
        <p:spPr>
          <a:xfrm xmlns:a="http://schemas.openxmlformats.org/drawingml/2006/main">
            <a:off x="432000" y="1692000"/>
            <a:ext cx="11160000" cy="18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6000" b="1">
                <a:solidFill>
                  <a:srgbClr val="FFFFFF"/>
                </a:solidFill>
                <a:latin typeface="Segoe UI"/>
                <a:ea typeface="Segoe UI"/>
              </a:rPr>
              <a:t>Quantum Error</a:t>
            </a:r>
          </a:p>
          <a:p xmlns:a="http://schemas.openxmlformats.org/drawingml/2006/main">
            <a:r>
              <a:rPr lang="en-US" sz="6000" b="1">
                <a:solidFill>
                  <a:srgbClr val="FFFFFF"/>
                </a:solidFill>
                <a:latin typeface="Segoe UI"/>
                <a:ea typeface="Segoe UI"/>
              </a:rPr>
              <a:t>Correction</a:t>
            </a:r>
          </a:p>
        </p:txBody>
      </p:sp>
      <p:sp>
        <p:nvSpPr>
          <p:cNvPr id="100004" name="SubTitle"/>
          <p:cNvSpPr txBox="1"/>
          <p:nvPr/>
        </p:nvSpPr>
        <p:spPr>
          <a:xfrm xmlns:a="http://schemas.openxmlformats.org/drawingml/2006/main">
            <a:off x="432000" y="3636000"/>
            <a:ext cx="11160000" cy="39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600" b="0">
                <a:solidFill>
                  <a:srgbClr val="7FB3F5"/>
                </a:solidFill>
                <a:latin typeface="Segoe UI"/>
                <a:ea typeface="Segoe UI"/>
              </a:rPr>
              <a:t>From Noise to Fault-Tolerant Quantum Computing</a:t>
            </a:r>
          </a:p>
        </p:txBody>
      </p:sp>
      <p:sp>
        <p:nvSpPr>
          <p:cNvPr id="100005" name="Source"/>
          <p:cNvSpPr txBox="1"/>
          <p:nvPr/>
        </p:nvSpPr>
        <p:spPr>
          <a:xfrm xmlns:a="http://schemas.openxmlformats.org/drawingml/2006/main">
            <a:off x="432000" y="4176000"/>
            <a:ext cx="1116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5A8FC0"/>
                </a:solidFill>
                <a:latin typeface="Segoe UI"/>
                <a:ea typeface="Segoe UI"/>
              </a:rPr>
              <a:t>Based on IBM Quantum Learning: Foundations of Quantum Error Correction</a:t>
            </a:r>
          </a:p>
          <a:p xmlns:a="http://schemas.openxmlformats.org/drawingml/2006/main">
            <a:r>
              <a:rPr lang="en-US" sz="1400">
                <a:solidFill>
                  <a:srgbClr val="5A8FC0"/>
                </a:solidFill>
                <a:latin typeface="Segoe UI"/>
                <a:ea typeface="Segoe UI"/>
              </a:rPr>
              <a:t>quantum.cloud.ibm.com/learning/en/courses/foundations-of-quantum-error-correction</a:t>
            </a:r>
          </a:p>
        </p:txBody>
      </p:sp>
      <p:sp>
        <p:nvSpPr>
          <p:cNvPr id="100006" name="DateLine"/>
          <p:cNvSpPr txBox="1"/>
          <p:nvPr/>
        </p:nvSpPr>
        <p:spPr>
          <a:xfrm xmlns:a="http://schemas.openxmlformats.org/drawingml/2006/main">
            <a:off x="432000" y="4752000"/>
            <a:ext cx="1116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4A6A8A"/>
                </a:solidFill>
                <a:latin typeface="Segoe UI"/>
                <a:ea typeface="Segoe UI"/>
              </a:rPr>
              <a:t>November 2026   ·   Intermediate → Research Level   ·   IBM Quantum × Quantum for Humanity Org</a:t>
            </a:r>
          </a:p>
        </p:txBody>
      </p:sp>
      <p:sp>
        <p:nvSpPr>
          <p:cNvPr id="100007" name="BottomBa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2.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08"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r>
              <a:rPr lang="en-US" sz="1200" b="1">
                <a:solidFill>
                  <a:srgbClr val="FFFFFF"/>
                </a:solidFill>
              </a:rPr>
              <a:t>COURSE OVERVIEW</a:t>
            </a:r>
          </a:p>
        </p:txBody>
      </p:sp>
      <p:sp>
        <p:nvSpPr>
          <p:cNvPr id="100009"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800" b="1">
                <a:solidFill>
                  <a:srgbClr val="FFFFFF"/>
                </a:solidFill>
                <a:latin typeface="Segoe UI"/>
                <a:ea typeface="Segoe UI"/>
              </a:rPr>
              <a:t>Course Roadmap &amp; Learning Objectives</a:t>
            </a:r>
          </a:p>
        </p:txBody>
      </p:sp>
      <p:sp>
        <p:nvSpPr>
          <p:cNvPr id="100010"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11" name="Mod1"/>
          <p:cNvSpPr txBox="1"/>
          <p:nvPr/>
        </p:nvSpPr>
        <p:spPr>
          <a:xfrm xmlns:a="http://schemas.openxmlformats.org/drawingml/2006/main">
            <a:off x="288000" y="1044000"/>
            <a:ext cx="3672000" cy="2448000"/>
          </a:xfrm>
          <a:prstGeom xmlns:a="http://schemas.openxmlformats.org/drawingml/2006/main" prst="rect">
            <a:avLst/>
          </a:prstGeom>
          <a:solidFill xmlns:a="http://schemas.openxmlformats.org/drawingml/2006/main">
            <a:srgbClr val="0D1B40"/>
          </a:solidFill>
        </p:spPr>
        <p:txBody>
          <a:bodyPr xmlns:a="http://schemas.openxmlformats.org/drawingml/2006/main"/>
          <a:lstStyle xmlns:a="http://schemas.openxmlformats.org/drawingml/2006/main"/>
          <a:p xmlns:a="http://schemas.openxmlformats.org/drawingml/2006/main">
            <a:r>
              <a:rPr lang="en-US" sz="1500">
                <a:solidFill>
                  <a:srgbClr val="E0EAFF"/>
                </a:solidFill>
                <a:latin typeface="Segoe UI"/>
                <a:ea typeface="Segoe UI"/>
              </a:rPr>
              <a:t>MODULE 1 — THE BASICS</a:t>
            </a:r>
          </a:p>
          <a:p xmlns:a="http://schemas.openxmlformats.org/drawingml/2006/main">
            <a:r>
              <a:rPr lang="en-US" sz="1500">
                <a:solidFill>
                  <a:srgbClr val="E0EAFF"/>
                </a:solidFill>
                <a:latin typeface="Segoe UI"/>
                <a:ea typeface="Segoe UI"/>
              </a:rPr>
              <a:t>▸ Why quantum errors occur</a:t>
            </a:r>
          </a:p>
          <a:p xmlns:a="http://schemas.openxmlformats.org/drawingml/2006/main">
            <a:r>
              <a:rPr lang="en-US" sz="1500">
                <a:solidFill>
                  <a:srgbClr val="E0EAFF"/>
                </a:solidFill>
                <a:latin typeface="Segoe UI"/>
                <a:ea typeface="Segoe UI"/>
              </a:rPr>
              <a:t>▸ Classical vs quantum noise</a:t>
            </a:r>
          </a:p>
          <a:p xmlns:a="http://schemas.openxmlformats.org/drawingml/2006/main">
            <a:r>
              <a:rPr lang="en-US" sz="1500">
                <a:solidFill>
                  <a:srgbClr val="E0EAFF"/>
                </a:solidFill>
                <a:latin typeface="Segoe UI"/>
                <a:ea typeface="Segoe UI"/>
              </a:rPr>
              <a:t>▸ The no-cloning theorem</a:t>
            </a:r>
          </a:p>
          <a:p xmlns:a="http://schemas.openxmlformats.org/drawingml/2006/main">
            <a:r>
              <a:rPr lang="en-US" sz="1500">
                <a:solidFill>
                  <a:srgbClr val="E0EAFF"/>
                </a:solidFill>
                <a:latin typeface="Segoe UI"/>
                <a:ea typeface="Segoe UI"/>
              </a:rPr>
              <a:t>▸ Error types: bit-flip, phase-flip, depolarising</a:t>
            </a:r>
          </a:p>
          <a:p xmlns:a="http://schemas.openxmlformats.org/drawingml/2006/main">
            <a:r>
              <a:rPr lang="en-US" sz="1500">
                <a:solidFill>
                  <a:srgbClr val="E0EAFF"/>
                </a:solidFill>
                <a:latin typeface="Segoe UI"/>
                <a:ea typeface="Segoe UI"/>
              </a:rPr>
              <a:t>▸ Syndrome measurement concept</a:t>
            </a:r>
          </a:p>
        </p:txBody>
      </p:sp>
      <p:sp>
        <p:nvSpPr>
          <p:cNvPr id="100012" name="Mod2"/>
          <p:cNvSpPr txBox="1"/>
          <p:nvPr/>
        </p:nvSpPr>
        <p:spPr>
          <a:xfrm xmlns:a="http://schemas.openxmlformats.org/drawingml/2006/main">
            <a:off x="4176000" y="1044000"/>
            <a:ext cx="3672000" cy="2448000"/>
          </a:xfrm>
          <a:prstGeom xmlns:a="http://schemas.openxmlformats.org/drawingml/2006/main" prst="rect">
            <a:avLst/>
          </a:prstGeom>
          <a:solidFill xmlns:a="http://schemas.openxmlformats.org/drawingml/2006/main">
            <a:srgbClr val="0D1B40"/>
          </a:solidFill>
        </p:spPr>
        <p:txBody>
          <a:bodyPr xmlns:a="http://schemas.openxmlformats.org/drawingml/2006/main"/>
          <a:lstStyle xmlns:a="http://schemas.openxmlformats.org/drawingml/2006/main"/>
          <a:p xmlns:a="http://schemas.openxmlformats.org/drawingml/2006/main">
            <a:r>
              <a:rPr lang="en-US" sz="1500">
                <a:solidFill>
                  <a:srgbClr val="E0EAFF"/>
                </a:solidFill>
                <a:latin typeface="Segoe UI"/>
                <a:ea typeface="Segoe UI"/>
              </a:rPr>
              <a:t>MODULE 2 — SIMPLE CODES</a:t>
            </a:r>
          </a:p>
          <a:p xmlns:a="http://schemas.openxmlformats.org/drawingml/2006/main">
            <a:r>
              <a:rPr lang="en-US" sz="1500">
                <a:solidFill>
                  <a:srgbClr val="E0EAFF"/>
                </a:solidFill>
                <a:latin typeface="Segoe UI"/>
                <a:ea typeface="Segoe UI"/>
              </a:rPr>
              <a:t>▸ 3-qubit bit-flip repetition code</a:t>
            </a:r>
          </a:p>
          <a:p xmlns:a="http://schemas.openxmlformats.org/drawingml/2006/main">
            <a:r>
              <a:rPr lang="en-US" sz="1500">
                <a:solidFill>
                  <a:srgbClr val="E0EAFF"/>
                </a:solidFill>
                <a:latin typeface="Segoe UI"/>
                <a:ea typeface="Segoe UI"/>
              </a:rPr>
              <a:t>▸ 3-qubit phase-flip repetition code</a:t>
            </a:r>
          </a:p>
          <a:p xmlns:a="http://schemas.openxmlformats.org/drawingml/2006/main">
            <a:r>
              <a:rPr lang="en-US" sz="1500">
                <a:solidFill>
                  <a:srgbClr val="E0EAFF"/>
                </a:solidFill>
                <a:latin typeface="Segoe UI"/>
                <a:ea typeface="Segoe UI"/>
              </a:rPr>
              <a:t>▸ Shor 9-qubit [[9,1,3]] code</a:t>
            </a:r>
          </a:p>
          <a:p xmlns:a="http://schemas.openxmlformats.org/drawingml/2006/main">
            <a:r>
              <a:rPr lang="en-US" sz="1500">
                <a:solidFill>
                  <a:srgbClr val="E0EAFF"/>
                </a:solidFill>
                <a:latin typeface="Segoe UI"/>
                <a:ea typeface="Segoe UI"/>
              </a:rPr>
              <a:t>▸ Steane [[7,1,3]] CSS code</a:t>
            </a:r>
          </a:p>
          <a:p xmlns:a="http://schemas.openxmlformats.org/drawingml/2006/main">
            <a:r>
              <a:rPr lang="en-US" sz="1500">
                <a:solidFill>
                  <a:srgbClr val="E0EAFF"/>
                </a:solidFill>
                <a:latin typeface="Segoe UI"/>
                <a:ea typeface="Segoe UI"/>
              </a:rPr>
              <a:t>▸ Stabilizer formalism (Pauli group)</a:t>
            </a:r>
          </a:p>
        </p:txBody>
      </p:sp>
      <p:sp>
        <p:nvSpPr>
          <p:cNvPr id="100013" name="Mod3"/>
          <p:cNvSpPr txBox="1"/>
          <p:nvPr/>
        </p:nvSpPr>
        <p:spPr>
          <a:xfrm xmlns:a="http://schemas.openxmlformats.org/drawingml/2006/main">
            <a:off x="8064000" y="1044000"/>
            <a:ext cx="3852000" cy="2448000"/>
          </a:xfrm>
          <a:prstGeom xmlns:a="http://schemas.openxmlformats.org/drawingml/2006/main" prst="rect">
            <a:avLst/>
          </a:prstGeom>
          <a:solidFill xmlns:a="http://schemas.openxmlformats.org/drawingml/2006/main">
            <a:srgbClr val="0D1B40"/>
          </a:solidFill>
        </p:spPr>
        <p:txBody>
          <a:bodyPr xmlns:a="http://schemas.openxmlformats.org/drawingml/2006/main"/>
          <a:lstStyle xmlns:a="http://schemas.openxmlformats.org/drawingml/2006/main"/>
          <a:p xmlns:a="http://schemas.openxmlformats.org/drawingml/2006/main">
            <a:r>
              <a:rPr lang="en-US" sz="1500">
                <a:solidFill>
                  <a:srgbClr val="E0EAFF"/>
                </a:solidFill>
                <a:latin typeface="Segoe UI"/>
                <a:ea typeface="Segoe UI"/>
              </a:rPr>
              <a:t>MODULE 3 — SURFACE CODES</a:t>
            </a:r>
          </a:p>
          <a:p xmlns:a="http://schemas.openxmlformats.org/drawingml/2006/main">
            <a:r>
              <a:rPr lang="en-US" sz="1500">
                <a:solidFill>
                  <a:srgbClr val="E0EAFF"/>
                </a:solidFill>
                <a:latin typeface="Segoe UI"/>
                <a:ea typeface="Segoe UI"/>
              </a:rPr>
              <a:t>▸ Toric code (Kitaev 1997)</a:t>
            </a:r>
          </a:p>
          <a:p xmlns:a="http://schemas.openxmlformats.org/drawingml/2006/main">
            <a:r>
              <a:rPr lang="en-US" sz="1500">
                <a:solidFill>
                  <a:srgbClr val="E0EAFF"/>
                </a:solidFill>
                <a:latin typeface="Segoe UI"/>
                <a:ea typeface="Segoe UI"/>
              </a:rPr>
              <a:t>▸ Planar surface codes [[d²,1,d]]</a:t>
            </a:r>
          </a:p>
          <a:p xmlns:a="http://schemas.openxmlformats.org/drawingml/2006/main">
            <a:r>
              <a:rPr lang="en-US" sz="1500">
                <a:solidFill>
                  <a:srgbClr val="E0EAFF"/>
                </a:solidFill>
                <a:latin typeface="Segoe UI"/>
                <a:ea typeface="Segoe UI"/>
              </a:rPr>
              <a:t>▸ Syndrome extraction circuits</a:t>
            </a:r>
          </a:p>
          <a:p xmlns:a="http://schemas.openxmlformats.org/drawingml/2006/main">
            <a:r>
              <a:rPr lang="en-US" sz="1500">
                <a:solidFill>
                  <a:srgbClr val="E0EAFF"/>
                </a:solidFill>
                <a:latin typeface="Segoe UI"/>
                <a:ea typeface="Segoe UI"/>
              </a:rPr>
              <a:t>▸ MWPM decoder</a:t>
            </a:r>
          </a:p>
          <a:p xmlns:a="http://schemas.openxmlformats.org/drawingml/2006/main">
            <a:r>
              <a:rPr lang="en-US" sz="1500">
                <a:solidFill>
                  <a:srgbClr val="E0EAFF"/>
                </a:solidFill>
                <a:latin typeface="Segoe UI"/>
                <a:ea typeface="Segoe UI"/>
              </a:rPr>
              <a:t>▸ Error threshold theorem (~1%)</a:t>
            </a:r>
          </a:p>
        </p:txBody>
      </p:sp>
      <p:sp>
        <p:nvSpPr>
          <p:cNvPr id="100014" name="Mod4"/>
          <p:cNvSpPr txBox="1"/>
          <p:nvPr/>
        </p:nvSpPr>
        <p:spPr>
          <a:xfrm xmlns:a="http://schemas.openxmlformats.org/drawingml/2006/main">
            <a:off x="288000" y="3744000"/>
            <a:ext cx="3672000" cy="2448000"/>
          </a:xfrm>
          <a:prstGeom xmlns:a="http://schemas.openxmlformats.org/drawingml/2006/main" prst="rect">
            <a:avLst/>
          </a:prstGeom>
          <a:solidFill xmlns:a="http://schemas.openxmlformats.org/drawingml/2006/main">
            <a:srgbClr val="0D1B40"/>
          </a:solidFill>
        </p:spPr>
        <p:txBody>
          <a:bodyPr xmlns:a="http://schemas.openxmlformats.org/drawingml/2006/main"/>
          <a:lstStyle xmlns:a="http://schemas.openxmlformats.org/drawingml/2006/main"/>
          <a:p xmlns:a="http://schemas.openxmlformats.org/drawingml/2006/main">
            <a:r>
              <a:rPr lang="en-US" sz="1500">
                <a:solidFill>
                  <a:srgbClr val="E0EAFF"/>
                </a:solidFill>
                <a:latin typeface="Segoe UI"/>
                <a:ea typeface="Segoe UI"/>
              </a:rPr>
              <a:t>MODULE 4 — FAULT-TOLERANT QC</a:t>
            </a:r>
          </a:p>
          <a:p xmlns:a="http://schemas.openxmlformats.org/drawingml/2006/main">
            <a:r>
              <a:rPr lang="en-US" sz="1500">
                <a:solidFill>
                  <a:srgbClr val="E0EAFF"/>
                </a:solidFill>
                <a:latin typeface="Segoe UI"/>
                <a:ea typeface="Segoe UI"/>
              </a:rPr>
              <a:t>▸ Fault-tolerant gate design</a:t>
            </a:r>
          </a:p>
          <a:p xmlns:a="http://schemas.openxmlformats.org/drawingml/2006/main">
            <a:r>
              <a:rPr lang="en-US" sz="1500">
                <a:solidFill>
                  <a:srgbClr val="E0EAFF"/>
                </a:solidFill>
                <a:latin typeface="Segoe UI"/>
                <a:ea typeface="Segoe UI"/>
              </a:rPr>
              <a:t>▸ Transversal gates &amp; Clifford group</a:t>
            </a:r>
          </a:p>
          <a:p xmlns:a="http://schemas.openxmlformats.org/drawingml/2006/main">
            <a:r>
              <a:rPr lang="en-US" sz="1500">
                <a:solidFill>
                  <a:srgbClr val="E0EAFF"/>
                </a:solidFill>
                <a:latin typeface="Segoe UI"/>
                <a:ea typeface="Segoe UI"/>
              </a:rPr>
              <a:t>▸ Eastin-Knill theorem</a:t>
            </a:r>
          </a:p>
          <a:p xmlns:a="http://schemas.openxmlformats.org/drawingml/2006/main">
            <a:r>
              <a:rPr lang="en-US" sz="1500">
                <a:solidFill>
                  <a:srgbClr val="E0EAFF"/>
                </a:solidFill>
                <a:latin typeface="Segoe UI"/>
                <a:ea typeface="Segoe UI"/>
              </a:rPr>
              <a:t>▸ Magic state distillation</a:t>
            </a:r>
          </a:p>
          <a:p xmlns:a="http://schemas.openxmlformats.org/drawingml/2006/main">
            <a:r>
              <a:rPr lang="en-US" sz="1500">
                <a:solidFill>
                  <a:srgbClr val="E0EAFF"/>
                </a:solidFill>
                <a:latin typeface="Segoe UI"/>
                <a:ea typeface="Segoe UI"/>
              </a:rPr>
              <a:t>▸ Lattice surgery &amp; overhead</a:t>
            </a:r>
          </a:p>
        </p:txBody>
      </p:sp>
      <p:sp>
        <p:nvSpPr>
          <p:cNvPr id="100015" name="Mod5"/>
          <p:cNvSpPr txBox="1"/>
          <p:nvPr/>
        </p:nvSpPr>
        <p:spPr>
          <a:xfrm xmlns:a="http://schemas.openxmlformats.org/drawingml/2006/main">
            <a:off x="4176000" y="3744000"/>
            <a:ext cx="3672000" cy="2448000"/>
          </a:xfrm>
          <a:prstGeom xmlns:a="http://schemas.openxmlformats.org/drawingml/2006/main" prst="rect">
            <a:avLst/>
          </a:prstGeom>
          <a:solidFill xmlns:a="http://schemas.openxmlformats.org/drawingml/2006/main">
            <a:srgbClr val="0D1B40"/>
          </a:solidFill>
        </p:spPr>
        <p:txBody>
          <a:bodyPr xmlns:a="http://schemas.openxmlformats.org/drawingml/2006/main"/>
          <a:lstStyle xmlns:a="http://schemas.openxmlformats.org/drawingml/2006/main"/>
          <a:p xmlns:a="http://schemas.openxmlformats.org/drawingml/2006/main">
            <a:r>
              <a:rPr lang="en-US" sz="1500">
                <a:solidFill>
                  <a:srgbClr val="E0EAFF"/>
                </a:solidFill>
                <a:latin typeface="Segoe UI"/>
                <a:ea typeface="Segoe UI"/>
              </a:rPr>
              <a:t>MODULE 5 — STATE OF THE ART</a:t>
            </a:r>
          </a:p>
          <a:p xmlns:a="http://schemas.openxmlformats.org/drawingml/2006/main">
            <a:r>
              <a:rPr lang="en-US" sz="1500">
                <a:solidFill>
                  <a:srgbClr val="E0EAFF"/>
                </a:solidFill>
                <a:latin typeface="Segoe UI"/>
                <a:ea typeface="Segoe UI"/>
              </a:rPr>
              <a:t>▸ IBM 2023-2024 demonstrations</a:t>
            </a:r>
          </a:p>
          <a:p xmlns:a="http://schemas.openxmlformats.org/drawingml/2006/main">
            <a:r>
              <a:rPr lang="en-US" sz="1500">
                <a:solidFill>
                  <a:srgbClr val="E0EAFF"/>
                </a:solidFill>
                <a:latin typeface="Segoe UI"/>
                <a:ea typeface="Segoe UI"/>
              </a:rPr>
              <a:t>▸ Google Willow (2024)</a:t>
            </a:r>
          </a:p>
          <a:p xmlns:a="http://schemas.openxmlformats.org/drawingml/2006/main">
            <a:r>
              <a:rPr lang="en-US" sz="1500">
                <a:solidFill>
                  <a:srgbClr val="E0EAFF"/>
                </a:solidFill>
                <a:latin typeface="Segoe UI"/>
                <a:ea typeface="Segoe UI"/>
              </a:rPr>
              <a:t>▸ Microsoft topological qubits (2025)</a:t>
            </a:r>
          </a:p>
          <a:p xmlns:a="http://schemas.openxmlformats.org/drawingml/2006/main">
            <a:r>
              <a:rPr lang="en-US" sz="1500">
                <a:solidFill>
                  <a:srgbClr val="E0EAFF"/>
                </a:solidFill>
                <a:latin typeface="Segoe UI"/>
                <a:ea typeface="Segoe UI"/>
              </a:rPr>
              <a:t>▸ Neutral atom QEC (Harvard/QuEra)</a:t>
            </a:r>
          </a:p>
          <a:p xmlns:a="http://schemas.openxmlformats.org/drawingml/2006/main">
            <a:r>
              <a:rPr lang="en-US" sz="1500">
                <a:solidFill>
                  <a:srgbClr val="E0EAFF"/>
                </a:solidFill>
                <a:latin typeface="Segoe UI"/>
                <a:ea typeface="Segoe UI"/>
              </a:rPr>
              <a:t>▸ IBM Quantum Roadmap to 2033</a:t>
            </a:r>
          </a:p>
        </p:txBody>
      </p:sp>
      <p:sp>
        <p:nvSpPr>
          <p:cNvPr id="100016" name="Mod6"/>
          <p:cNvSpPr txBox="1"/>
          <p:nvPr/>
        </p:nvSpPr>
        <p:spPr>
          <a:xfrm xmlns:a="http://schemas.openxmlformats.org/drawingml/2006/main">
            <a:off x="8064000" y="3744000"/>
            <a:ext cx="3852000" cy="2448000"/>
          </a:xfrm>
          <a:prstGeom xmlns:a="http://schemas.openxmlformats.org/drawingml/2006/main" prst="rect">
            <a:avLst/>
          </a:prstGeom>
          <a:solidFill xmlns:a="http://schemas.openxmlformats.org/drawingml/2006/main">
            <a:srgbClr val="1A0D40"/>
          </a:solidFill>
        </p:spPr>
        <p:txBody>
          <a:bodyPr xmlns:a="http://schemas.openxmlformats.org/drawingml/2006/main"/>
          <a:lstStyle xmlns:a="http://schemas.openxmlformats.org/drawingml/2006/main"/>
          <a:p xmlns:a="http://schemas.openxmlformats.org/drawingml/2006/main">
            <a:r>
              <a:rPr lang="en-US" sz="1500">
                <a:solidFill>
                  <a:srgbClr val="E0EAFF"/>
                </a:solidFill>
                <a:latin typeface="Segoe UI"/>
                <a:ea typeface="Segoe UI"/>
              </a:rPr>
              <a:t>MODULE 6 — RESEARCH PAPERS</a:t>
            </a:r>
          </a:p>
          <a:p xmlns:a="http://schemas.openxmlformats.org/drawingml/2006/main">
            <a:r>
              <a:rPr lang="en-US" sz="1500">
                <a:solidFill>
                  <a:srgbClr val="E0EAFF"/>
                </a:solidFill>
                <a:latin typeface="Segoe UI"/>
                <a:ea typeface="Segoe UI"/>
              </a:rPr>
              <a:t>▸ Seminal foundational papers</a:t>
            </a:r>
          </a:p>
          <a:p xmlns:a="http://schemas.openxmlformats.org/drawingml/2006/main">
            <a:r>
              <a:rPr lang="en-US" sz="1500">
                <a:solidFill>
                  <a:srgbClr val="E0EAFF"/>
                </a:solidFill>
                <a:latin typeface="Segoe UI"/>
                <a:ea typeface="Segoe UI"/>
              </a:rPr>
              <a:t>▸ Recent breakthroughs 2023–25</a:t>
            </a:r>
          </a:p>
          <a:p xmlns:a="http://schemas.openxmlformats.org/drawingml/2006/main">
            <a:r>
              <a:rPr lang="en-US" sz="1500">
                <a:solidFill>
                  <a:srgbClr val="E0EAFF"/>
                </a:solidFill>
                <a:latin typeface="Segoe UI"/>
                <a:ea typeface="Segoe UI"/>
              </a:rPr>
              <a:t>▸ LDPC &amp; new code families</a:t>
            </a:r>
          </a:p>
          <a:p xmlns:a="http://schemas.openxmlformats.org/drawingml/2006/main">
            <a:r>
              <a:rPr lang="en-US" sz="1500">
                <a:solidFill>
                  <a:srgbClr val="E0EAFF"/>
                </a:solidFill>
                <a:latin typeface="Segoe UI"/>
                <a:ea typeface="Segoe UI"/>
              </a:rPr>
              <a:t>▸ Emerging preprints</a:t>
            </a:r>
          </a:p>
          <a:p xmlns:a="http://schemas.openxmlformats.org/drawingml/2006/main">
            <a:r>
              <a:rPr lang="en-US" sz="1500">
                <a:solidFill>
                  <a:srgbClr val="E0EAFF"/>
                </a:solidFill>
                <a:latin typeface="Segoe UI"/>
                <a:ea typeface="Segoe UI"/>
              </a:rPr>
              <a:t>▸ Open research problems</a:t>
            </a:r>
          </a:p>
        </p:txBody>
      </p:sp>
      <p:sp>
        <p:nvSpPr>
          <p:cNvPr id="100017"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3.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18"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1  —  THE BASICS</a:t>
            </a:r>
          </a:p>
        </p:txBody>
      </p:sp>
      <p:sp>
        <p:nvSpPr>
          <p:cNvPr id="100019"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800" b="1">
                <a:solidFill>
                  <a:srgbClr val="FFFFFF"/>
                </a:solidFill>
                <a:latin typeface="Segoe UI"/>
                <a:ea typeface="Segoe UI"/>
              </a:rPr>
              <a:t>Why Do Quantum Computers Make Errors?</a:t>
            </a:r>
          </a:p>
        </p:txBody>
      </p:sp>
      <p:sp>
        <p:nvSpPr>
          <p:cNvPr id="100020"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21" name="Classical"/>
          <p:cNvSpPr txBox="1"/>
          <p:nvPr/>
        </p:nvSpPr>
        <p:spPr>
          <a:xfrm xmlns:a="http://schemas.openxmlformats.org/drawingml/2006/main">
            <a:off x="288000" y="1044000"/>
            <a:ext cx="558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700">
                <a:solidFill>
                  <a:srgbClr val="E8F0FF"/>
                </a:solidFill>
                <a:latin typeface="Segoe UI"/>
                <a:ea typeface="Segoe UI"/>
              </a:rPr>
              <a:t>CLASSICAL ERRORS</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 Discrete: 0 → 1 or 1 → 0 only</a:t>
            </a:r>
          </a:p>
          <a:p xmlns:a="http://schemas.openxmlformats.org/drawingml/2006/main">
            <a:r>
              <a:rPr lang="en-US" sz="1700">
                <a:solidFill>
                  <a:srgbClr val="E8F0FF"/>
                </a:solidFill>
                <a:latin typeface="Segoe UI"/>
                <a:ea typeface="Segoe UI"/>
              </a:rPr>
              <a:t>• Easily detected: parity checks</a:t>
            </a:r>
          </a:p>
          <a:p xmlns:a="http://schemas.openxmlformats.org/drawingml/2006/main">
            <a:r>
              <a:rPr lang="en-US" sz="1700">
                <a:solidFill>
                  <a:srgbClr val="E8F0FF"/>
                </a:solidFill>
                <a:latin typeface="Segoe UI"/>
                <a:ea typeface="Segoe UI"/>
              </a:rPr>
              <a:t>• Easily corrected: majority vote</a:t>
            </a:r>
          </a:p>
          <a:p xmlns:a="http://schemas.openxmlformats.org/drawingml/2006/main">
            <a:r>
              <a:rPr lang="en-US" sz="1700">
                <a:solidFill>
                  <a:srgbClr val="E8F0FF"/>
                </a:solidFill>
                <a:latin typeface="Segoe UI"/>
                <a:ea typeface="Segoe UI"/>
              </a:rPr>
              <a:t>• Bits can be freely copied</a:t>
            </a:r>
          </a:p>
          <a:p xmlns:a="http://schemas.openxmlformats.org/drawingml/2006/main">
            <a:r>
              <a:rPr lang="en-US" sz="1700">
                <a:solidFill>
                  <a:srgbClr val="E8F0FF"/>
                </a:solidFill>
                <a:latin typeface="Segoe UI"/>
                <a:ea typeface="Segoe UI"/>
              </a:rPr>
              <a:t>• Error rate: ~10⁻¹⁸ in DRAM</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Cost: ~3× qubit redundancy</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  0 → 000  (encode)</a:t>
            </a:r>
          </a:p>
          <a:p xmlns:a="http://schemas.openxmlformats.org/drawingml/2006/main">
            <a:r>
              <a:rPr lang="en-US" sz="1700">
                <a:solidFill>
                  <a:srgbClr val="E8F0FF"/>
                </a:solidFill>
                <a:latin typeface="Segoe UI"/>
                <a:ea typeface="Segoe UI"/>
              </a:rPr>
              <a:t>  Error: 010  (1 bit flipped)</a:t>
            </a:r>
          </a:p>
          <a:p xmlns:a="http://schemas.openxmlformats.org/drawingml/2006/main">
            <a:r>
              <a:rPr lang="en-US" sz="1700">
                <a:solidFill>
                  <a:srgbClr val="E8F0FF"/>
                </a:solidFill>
                <a:latin typeface="Segoe UI"/>
                <a:ea typeface="Segoe UI"/>
              </a:rPr>
              <a:t>  Fix:   000  (majority vote)</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Result: arbitrarily reliable</a:t>
            </a:r>
          </a:p>
          <a:p xmlns:a="http://schemas.openxmlformats.org/drawingml/2006/main">
            <a:r>
              <a:rPr lang="en-US" sz="1700">
                <a:solidFill>
                  <a:srgbClr val="E8F0FF"/>
                </a:solidFill>
                <a:latin typeface="Segoe UI"/>
                <a:ea typeface="Segoe UI"/>
              </a:rPr>
              <a:t>computation with modest overhead</a:t>
            </a:r>
          </a:p>
        </p:txBody>
      </p:sp>
      <p:sp>
        <p:nvSpPr>
          <p:cNvPr id="100022" name="Quantum"/>
          <p:cNvSpPr txBox="1"/>
          <p:nvPr/>
        </p:nvSpPr>
        <p:spPr>
          <a:xfrm xmlns:a="http://schemas.openxmlformats.org/drawingml/2006/main">
            <a:off x="6120000" y="1044000"/>
            <a:ext cx="576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700">
                <a:solidFill>
                  <a:srgbClr val="E8F0FF"/>
                </a:solidFill>
                <a:latin typeface="Segoe UI"/>
                <a:ea typeface="Segoe UI"/>
              </a:rPr>
              <a:t>QUANTUM ERRORS — 5 SOURCES</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① T₁ Decoherence (energy relaxation)</a:t>
            </a:r>
          </a:p>
          <a:p xmlns:a="http://schemas.openxmlformats.org/drawingml/2006/main">
            <a:r>
              <a:rPr lang="en-US" sz="1700">
                <a:solidFill>
                  <a:srgbClr val="E8F0FF"/>
                </a:solidFill>
                <a:latin typeface="Segoe UI"/>
                <a:ea typeface="Segoe UI"/>
              </a:rPr>
              <a:t>   |1⟩ → |0⟩ spontaneously over time</a:t>
            </a:r>
          </a:p>
          <a:p xmlns:a="http://schemas.openxmlformats.org/drawingml/2006/main">
            <a:r>
              <a:rPr lang="en-US" sz="1700">
                <a:solidFill>
                  <a:srgbClr val="E8F0FF"/>
                </a:solidFill>
                <a:latin typeface="Segoe UI"/>
                <a:ea typeface="Segoe UI"/>
              </a:rPr>
              <a:t>   Typical T₁: 50–500 μs</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② T₂ Dephasing (phase randomisation)</a:t>
            </a:r>
          </a:p>
          <a:p xmlns:a="http://schemas.openxmlformats.org/drawingml/2006/main">
            <a:r>
              <a:rPr lang="en-US" sz="1700">
                <a:solidFill>
                  <a:srgbClr val="E8F0FF"/>
                </a:solidFill>
                <a:latin typeface="Segoe UI"/>
                <a:ea typeface="Segoe UI"/>
              </a:rPr>
              <a:t>   |+⟩ → mixed state, losing coherence</a:t>
            </a:r>
          </a:p>
          <a:p xmlns:a="http://schemas.openxmlformats.org/drawingml/2006/main">
            <a:r>
              <a:rPr lang="en-US" sz="1700">
                <a:solidFill>
                  <a:srgbClr val="E8F0FF"/>
                </a:solidFill>
                <a:latin typeface="Segoe UI"/>
                <a:ea typeface="Segoe UI"/>
              </a:rPr>
              <a:t>   Typical T₂ ≤ 2T₁</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③ Gate errors (imperfect pulses)</a:t>
            </a:r>
          </a:p>
          <a:p xmlns:a="http://schemas.openxmlformats.org/drawingml/2006/main">
            <a:r>
              <a:rPr lang="en-US" sz="1700">
                <a:solidFill>
                  <a:srgbClr val="E8F0FF"/>
                </a:solidFill>
                <a:latin typeface="Segoe UI"/>
                <a:ea typeface="Segoe UI"/>
              </a:rPr>
              <a:t>   1-qubit: ~0.05%  2-qubit: ~0.1–1%</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④ Readout errors (measurement noise)</a:t>
            </a:r>
          </a:p>
          <a:p xmlns:a="http://schemas.openxmlformats.org/drawingml/2006/main">
            <a:r>
              <a:rPr lang="en-US" sz="1700">
                <a:solidFill>
                  <a:srgbClr val="E8F0FF"/>
                </a:solidFill>
                <a:latin typeface="Segoe UI"/>
                <a:ea typeface="Segoe UI"/>
              </a:rPr>
              <a:t>   |0⟩ read as |1⟩ or vice versa: ~0.5–2%</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⑤ Crosstalk (neighbouring qubit leakage)</a:t>
            </a:r>
          </a:p>
          <a:p xmlns:a="http://schemas.openxmlformats.org/drawingml/2006/main">
            <a:r>
              <a:rPr lang="en-US" sz="1700">
                <a:solidFill>
                  <a:srgbClr val="E8F0FF"/>
                </a:solidFill>
                <a:latin typeface="Segoe UI"/>
                <a:ea typeface="Segoe UI"/>
              </a:rPr>
              <a:t>   Idle qubit affected by active neighbour</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KEY INSIGHT</a:t>
            </a:r>
          </a:p>
          <a:p xmlns:a="http://schemas.openxmlformats.org/drawingml/2006/main">
            <a:r>
              <a:rPr lang="en-US" sz="1700">
                <a:solidFill>
                  <a:srgbClr val="E8F0FF"/>
                </a:solidFill>
                <a:latin typeface="Segoe UI"/>
                <a:ea typeface="Segoe UI"/>
              </a:rPr>
              <a:t>Errors are continuous rotations on the Bloch</a:t>
            </a:r>
          </a:p>
          <a:p xmlns:a="http://schemas.openxmlformats.org/drawingml/2006/main">
            <a:r>
              <a:rPr lang="en-US" sz="1700">
                <a:solidFill>
                  <a:srgbClr val="E8F0FF"/>
                </a:solidFill>
                <a:latin typeface="Segoe UI"/>
                <a:ea typeface="Segoe UI"/>
              </a:rPr>
              <a:t>sphere — but syndrome measurement collapses</a:t>
            </a:r>
          </a:p>
          <a:p xmlns:a="http://schemas.openxmlformats.org/drawingml/2006/main">
            <a:r>
              <a:rPr lang="en-US" sz="1700">
                <a:solidFill>
                  <a:srgbClr val="E8F0FF"/>
                </a:solidFill>
                <a:latin typeface="Segoe UI"/>
                <a:ea typeface="Segoe UI"/>
              </a:rPr>
              <a:t>them to discrete, correctable Pauli events.</a:t>
            </a:r>
          </a:p>
        </p:txBody>
      </p:sp>
      <p:sp>
        <p:nvSpPr>
          <p:cNvPr id="100023"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5.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28"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2  —  SIMPLE CODES</a:t>
            </a:r>
          </a:p>
        </p:txBody>
      </p:sp>
      <p:sp>
        <p:nvSpPr>
          <p:cNvPr id="100029"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800" b="1">
                <a:solidFill>
                  <a:srgbClr val="FFFFFF"/>
                </a:solidFill>
                <a:latin typeface="Segoe UI"/>
                <a:ea typeface="Segoe UI"/>
              </a:rPr>
              <a:t>3-Qubit Repetition Code — The Simplest QEC</a:t>
            </a:r>
          </a:p>
        </p:txBody>
      </p:sp>
      <p:sp>
        <p:nvSpPr>
          <p:cNvPr id="100030"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31" name="Encoding"/>
          <p:cNvSpPr txBox="1"/>
          <p:nvPr/>
        </p:nvSpPr>
        <p:spPr>
          <a:xfrm xmlns:a="http://schemas.openxmlformats.org/drawingml/2006/main">
            <a:off x="288000" y="1044000"/>
            <a:ext cx="5580000" cy="270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700">
                <a:solidFill>
                  <a:srgbClr val="E8F0FF"/>
                </a:solidFill>
                <a:latin typeface="Segoe UI"/>
                <a:ea typeface="Segoe UI"/>
              </a:rPr>
              <a:t>ENCODING  (Bit-Flip Protection)</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Logical states:</a:t>
            </a:r>
          </a:p>
          <a:p xmlns:a="http://schemas.openxmlformats.org/drawingml/2006/main">
            <a:r>
              <a:rPr lang="en-US" sz="1700">
                <a:solidFill>
                  <a:srgbClr val="E8F0FF"/>
                </a:solidFill>
                <a:latin typeface="Segoe UI"/>
                <a:ea typeface="Segoe UI"/>
              </a:rPr>
              <a:t>  |0_L⟩ = |000⟩</a:t>
            </a:r>
          </a:p>
          <a:p xmlns:a="http://schemas.openxmlformats.org/drawingml/2006/main">
            <a:r>
              <a:rPr lang="en-US" sz="1700">
                <a:solidFill>
                  <a:srgbClr val="E8F0FF"/>
                </a:solidFill>
                <a:latin typeface="Segoe UI"/>
                <a:ea typeface="Segoe UI"/>
              </a:rPr>
              <a:t>  |1_L⟩ = |111⟩</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Encodes: α|0⟩+β|1⟩ → α|000⟩+β|111⟩</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Circuit (two CNOTs from q₀):</a:t>
            </a:r>
          </a:p>
          <a:p xmlns:a="http://schemas.openxmlformats.org/drawingml/2006/main">
            <a:r>
              <a:rPr lang="en-US" sz="1700">
                <a:solidFill>
                  <a:srgbClr val="E8F0FF"/>
                </a:solidFill>
                <a:latin typeface="Segoe UI"/>
                <a:ea typeface="Segoe UI"/>
              </a:rPr>
              <a:t>  q₀: ─┤ψ⟩──●──────●──</a:t>
            </a:r>
          </a:p>
          <a:p xmlns:a="http://schemas.openxmlformats.org/drawingml/2006/main">
            <a:r>
              <a:rPr lang="en-US" sz="1700">
                <a:solidFill>
                  <a:srgbClr val="E8F0FF"/>
                </a:solidFill>
                <a:latin typeface="Segoe UI"/>
                <a:ea typeface="Segoe UI"/>
              </a:rPr>
              <a:t>  q₁: ─|0⟩──⊕──────┤ ─</a:t>
            </a:r>
          </a:p>
          <a:p xmlns:a="http://schemas.openxmlformats.org/drawingml/2006/main">
            <a:r>
              <a:rPr lang="en-US" sz="1700">
                <a:solidFill>
                  <a:srgbClr val="E8F0FF"/>
                </a:solidFill>
                <a:latin typeface="Segoe UI"/>
                <a:ea typeface="Segoe UI"/>
              </a:rPr>
              <a:t>  q₂: ─|0⟩──┤───── ⊕──</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Code parameters: [[3, 1, 1]]</a:t>
            </a:r>
          </a:p>
          <a:p xmlns:a="http://schemas.openxmlformats.org/drawingml/2006/main">
            <a:r>
              <a:rPr lang="en-US" sz="1700">
                <a:solidFill>
                  <a:srgbClr val="E8F0FF"/>
                </a:solidFill>
                <a:latin typeface="Segoe UI"/>
                <a:ea typeface="Segoe UI"/>
              </a:rPr>
              <a:t>  3 physical → 1 logical qubit</a:t>
            </a:r>
          </a:p>
          <a:p xmlns:a="http://schemas.openxmlformats.org/drawingml/2006/main">
            <a:r>
              <a:rPr lang="en-US" sz="1700">
                <a:solidFill>
                  <a:srgbClr val="E8F0FF"/>
                </a:solidFill>
                <a:latin typeface="Segoe UI"/>
                <a:ea typeface="Segoe UI"/>
              </a:rPr>
              <a:t>  Corrects: 1 bit-flip error</a:t>
            </a:r>
          </a:p>
        </p:txBody>
      </p:sp>
      <p:sp>
        <p:nvSpPr>
          <p:cNvPr id="100032" name="Syndrome"/>
          <p:cNvSpPr txBox="1"/>
          <p:nvPr/>
        </p:nvSpPr>
        <p:spPr>
          <a:xfrm xmlns:a="http://schemas.openxmlformats.org/drawingml/2006/main">
            <a:off x="6120000" y="1044000"/>
            <a:ext cx="5760000" cy="270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700">
                <a:solidFill>
                  <a:srgbClr val="E8F0FF"/>
                </a:solidFill>
                <a:latin typeface="Segoe UI"/>
                <a:ea typeface="Segoe UI"/>
              </a:rPr>
              <a:t>SYNDROME MEASUREMENT</a:t>
            </a:r>
          </a:p>
          <a:p xmlns:a="http://schemas.openxmlformats.org/drawingml/2006/main">
            <a:r>
              <a:rPr lang="en-US" sz="1700">
                <a:solidFill>
                  <a:srgbClr val="E8F0FF"/>
                </a:solidFill>
                <a:latin typeface="Segoe UI"/>
                <a:ea typeface="Segoe UI"/>
              </a:rPr>
              <a:t>(no measurement of qubit state!)</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Measure ZZ stabilizers via ancilla:</a:t>
            </a:r>
          </a:p>
          <a:p xmlns:a="http://schemas.openxmlformats.org/drawingml/2006/main">
            <a:r>
              <a:rPr lang="en-US" sz="1700">
                <a:solidFill>
                  <a:srgbClr val="E8F0FF"/>
                </a:solidFill>
                <a:latin typeface="Segoe UI"/>
                <a:ea typeface="Segoe UI"/>
              </a:rPr>
              <a:t>  M₁ = Z₀Z₁  →  ancilla a₀</a:t>
            </a:r>
          </a:p>
          <a:p xmlns:a="http://schemas.openxmlformats.org/drawingml/2006/main">
            <a:r>
              <a:rPr lang="en-US" sz="1700">
                <a:solidFill>
                  <a:srgbClr val="E8F0FF"/>
                </a:solidFill>
                <a:latin typeface="Segoe UI"/>
                <a:ea typeface="Segoe UI"/>
              </a:rPr>
              <a:t>  M₂ = Z₁Z₂  →  ancilla a₁</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  Error    M₁   M₂   Fix</a:t>
            </a:r>
          </a:p>
          <a:p xmlns:a="http://schemas.openxmlformats.org/drawingml/2006/main">
            <a:r>
              <a:rPr lang="en-US" sz="1700">
                <a:solidFill>
                  <a:srgbClr val="E8F0FF"/>
                </a:solidFill>
                <a:latin typeface="Segoe UI"/>
                <a:ea typeface="Segoe UI"/>
              </a:rPr>
              <a:t>  ───────────────────────</a:t>
            </a:r>
          </a:p>
          <a:p xmlns:a="http://schemas.openxmlformats.org/drawingml/2006/main">
            <a:r>
              <a:rPr lang="en-US" sz="1700">
                <a:solidFill>
                  <a:srgbClr val="E8F0FF"/>
                </a:solidFill>
                <a:latin typeface="Segoe UI"/>
                <a:ea typeface="Segoe UI"/>
              </a:rPr>
              <a:t>  None     +1   +1   —</a:t>
            </a:r>
          </a:p>
          <a:p xmlns:a="http://schemas.openxmlformats.org/drawingml/2006/main">
            <a:r>
              <a:rPr lang="en-US" sz="1700">
                <a:solidFill>
                  <a:srgbClr val="E8F0FF"/>
                </a:solidFill>
                <a:latin typeface="Segoe UI"/>
                <a:ea typeface="Segoe UI"/>
              </a:rPr>
              <a:t>  X on q₀  -1   +1   X on q₀</a:t>
            </a:r>
          </a:p>
          <a:p xmlns:a="http://schemas.openxmlformats.org/drawingml/2006/main">
            <a:r>
              <a:rPr lang="en-US" sz="1700">
                <a:solidFill>
                  <a:srgbClr val="E8F0FF"/>
                </a:solidFill>
                <a:latin typeface="Segoe UI"/>
                <a:ea typeface="Segoe UI"/>
              </a:rPr>
              <a:t>  X on q₁  -1   -1   X on q₁</a:t>
            </a:r>
          </a:p>
          <a:p xmlns:a="http://schemas.openxmlformats.org/drawingml/2006/main">
            <a:r>
              <a:rPr lang="en-US" sz="1700">
                <a:solidFill>
                  <a:srgbClr val="E8F0FF"/>
                </a:solidFill>
                <a:latin typeface="Segoe UI"/>
                <a:ea typeface="Segoe UI"/>
              </a:rPr>
              <a:t>  X on q₂  +1   -1   X on q₂</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Syndrome bits are CLASSICAL → feed to decoder</a:t>
            </a:r>
          </a:p>
        </p:txBody>
      </p:sp>
      <p:sp>
        <p:nvSpPr>
          <p:cNvPr id="100033" name="PhaseFlip"/>
          <p:cNvSpPr txBox="1"/>
          <p:nvPr/>
        </p:nvSpPr>
        <p:spPr>
          <a:xfrm xmlns:a="http://schemas.openxmlformats.org/drawingml/2006/main">
            <a:off x="288000" y="3996000"/>
            <a:ext cx="5580000" cy="126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700">
                <a:solidFill>
                  <a:srgbClr val="E8F0FF"/>
                </a:solidFill>
                <a:latin typeface="Segoe UI"/>
                <a:ea typeface="Segoe UI"/>
              </a:rPr>
              <a:t>PHASE-FLIP CODE (dual construction)</a:t>
            </a:r>
          </a:p>
          <a:p xmlns:a="http://schemas.openxmlformats.org/drawingml/2006/main">
            <a:r>
              <a:rPr lang="en-US" sz="1700">
                <a:solidFill>
                  <a:srgbClr val="E8F0FF"/>
                </a:solidFill>
                <a:latin typeface="Segoe UI"/>
                <a:ea typeface="Segoe UI"/>
              </a:rPr>
              <a:t>  Encode in X-basis: |+_L⟩=|+++⟩, |−_L⟩=|−−−⟩</a:t>
            </a:r>
          </a:p>
          <a:p xmlns:a="http://schemas.openxmlformats.org/drawingml/2006/main">
            <a:r>
              <a:rPr lang="en-US" sz="1700">
                <a:solidFill>
                  <a:srgbClr val="E8F0FF"/>
                </a:solidFill>
                <a:latin typeface="Segoe UI"/>
                <a:ea typeface="Segoe UI"/>
              </a:rPr>
              <a:t>  Syndromes: measure X₀X₁ and X₁X₂ instead of ZZ</a:t>
            </a:r>
          </a:p>
          <a:p xmlns:a="http://schemas.openxmlformats.org/drawingml/2006/main">
            <a:r>
              <a:rPr lang="en-US" sz="1700">
                <a:solidFill>
                  <a:srgbClr val="E8F0FF"/>
                </a:solidFill>
                <a:latin typeface="Segoe UI"/>
                <a:ea typeface="Segoe UI"/>
              </a:rPr>
              <a:t>  Circuit: prepend and append Hadamard to each qubit</a:t>
            </a:r>
          </a:p>
        </p:txBody>
      </p:sp>
      <p:sp>
        <p:nvSpPr>
          <p:cNvPr id="100034" name="Limit"/>
          <p:cNvSpPr txBox="1"/>
          <p:nvPr/>
        </p:nvSpPr>
        <p:spPr>
          <a:xfrm xmlns:a="http://schemas.openxmlformats.org/drawingml/2006/main">
            <a:off x="6120000" y="3996000"/>
            <a:ext cx="5760000" cy="1260000"/>
          </a:xfrm>
          <a:prstGeom xmlns:a="http://schemas.openxmlformats.org/drawingml/2006/main" prst="rect">
            <a:avLst/>
          </a:prstGeom>
          <a:solidFill xmlns:a="http://schemas.openxmlformats.org/drawingml/2006/main">
            <a:srgbClr val="1A1A0A"/>
          </a:solidFill>
        </p:spPr>
        <p:txBody>
          <a:bodyPr xmlns:a="http://schemas.openxmlformats.org/drawingml/2006/main"/>
          <a:lstStyle xmlns:a="http://schemas.openxmlformats.org/drawingml/2006/main"/>
          <a:p xmlns:a="http://schemas.openxmlformats.org/drawingml/2006/main">
            <a:r>
              <a:rPr lang="en-US" sz="1700" b="0">
                <a:solidFill>
                  <a:srgbClr val="FFD580"/>
                </a:solidFill>
                <a:latin typeface="Segoe UI"/>
                <a:ea typeface="Segoe UI"/>
              </a:rPr>
              <a:t>LIMITATION</a:t>
            </a:r>
          </a:p>
          <a:p xmlns:a="http://schemas.openxmlformats.org/drawingml/2006/main">
            <a:r>
              <a:rPr lang="en-US" sz="1700" b="0">
                <a:solidFill>
                  <a:srgbClr val="FFD580"/>
                </a:solidFill>
                <a:latin typeface="Segoe UI"/>
                <a:ea typeface="Segoe UI"/>
              </a:rPr>
              <a:t>  3-qubit bit-flip code only protects against X errors.</a:t>
            </a:r>
          </a:p>
          <a:p xmlns:a="http://schemas.openxmlformats.org/drawingml/2006/main">
            <a:r>
              <a:rPr lang="en-US" sz="1700" b="0">
                <a:solidFill>
                  <a:srgbClr val="FFD580"/>
                </a:solidFill>
                <a:latin typeface="Segoe UI"/>
                <a:ea typeface="Segoe UI"/>
              </a:rPr>
              <a:t>  3-qubit phase-flip code only protects against Z errors.</a:t>
            </a:r>
          </a:p>
          <a:p xmlns:a="http://schemas.openxmlformats.org/drawingml/2006/main">
            <a:r>
              <a:rPr lang="en-US" sz="1700" b="0">
                <a:solidFill>
                  <a:srgbClr val="FFD580"/>
                </a:solidFill>
                <a:latin typeface="Segoe UI"/>
                <a:ea typeface="Segoe UI"/>
              </a:rPr>
              <a:t>  Neither corrects a general single-qubit error.</a:t>
            </a:r>
          </a:p>
          <a:p xmlns:a="http://schemas.openxmlformats.org/drawingml/2006/main">
            <a:r>
              <a:rPr lang="en-US" sz="1700" b="0">
                <a:solidFill>
                  <a:srgbClr val="FFD580"/>
                </a:solidFill>
                <a:latin typeface="Segoe UI"/>
                <a:ea typeface="Segoe UI"/>
              </a:rPr>
              <a:t>  Solution: Shor code (concatenation of both) →</a:t>
            </a:r>
          </a:p>
        </p:txBody>
      </p:sp>
      <p:sp>
        <p:nvSpPr>
          <p:cNvPr id="100035"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6.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36"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2  —  SIMPLE CODES</a:t>
            </a:r>
          </a:p>
        </p:txBody>
      </p:sp>
      <p:sp>
        <p:nvSpPr>
          <p:cNvPr id="100037"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800" b="1">
                <a:solidFill>
                  <a:srgbClr val="FFFFFF"/>
                </a:solidFill>
                <a:latin typeface="Segoe UI"/>
                <a:ea typeface="Segoe UI"/>
              </a:rPr>
              <a:t>3-Qubit Repetition Code — The Simplest QEC</a:t>
            </a:r>
          </a:p>
        </p:txBody>
      </p:sp>
      <p:sp>
        <p:nvSpPr>
          <p:cNvPr id="100038"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39" name="Encoding"/>
          <p:cNvSpPr txBox="1"/>
          <p:nvPr/>
        </p:nvSpPr>
        <p:spPr>
          <a:xfrm xmlns:a="http://schemas.openxmlformats.org/drawingml/2006/main">
            <a:off x="288000" y="1044000"/>
            <a:ext cx="5580000" cy="288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700">
                <a:solidFill>
                  <a:srgbClr val="E8F0FF"/>
                </a:solidFill>
                <a:latin typeface="Segoe UI"/>
                <a:ea typeface="Segoe UI"/>
              </a:rPr>
              <a:t>ENCODING  (Bit-Flip Protection)</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Logical states:</a:t>
            </a:r>
          </a:p>
          <a:p xmlns:a="http://schemas.openxmlformats.org/drawingml/2006/main">
            <a:r>
              <a:rPr lang="en-US" sz="1700">
                <a:solidFill>
                  <a:srgbClr val="E8F0FF"/>
                </a:solidFill>
                <a:latin typeface="Segoe UI"/>
                <a:ea typeface="Segoe UI"/>
              </a:rPr>
              <a:t>  |0_L⟩ = |000⟩</a:t>
            </a:r>
          </a:p>
          <a:p xmlns:a="http://schemas.openxmlformats.org/drawingml/2006/main">
            <a:r>
              <a:rPr lang="en-US" sz="1700">
                <a:solidFill>
                  <a:srgbClr val="E8F0FF"/>
                </a:solidFill>
                <a:latin typeface="Segoe UI"/>
                <a:ea typeface="Segoe UI"/>
              </a:rPr>
              <a:t>  |1_L⟩ = |111⟩</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Encodes:</a:t>
            </a:r>
          </a:p>
          <a:p xmlns:a="http://schemas.openxmlformats.org/drawingml/2006/main">
            <a:r>
              <a:rPr lang="en-US" sz="1700">
                <a:solidFill>
                  <a:srgbClr val="E8F0FF"/>
                </a:solidFill>
                <a:latin typeface="Segoe UI"/>
                <a:ea typeface="Segoe UI"/>
              </a:rPr>
              <a:t>  α|0⟩+β|1⟩ → α|000⟩+β|111⟩</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Circuit (two CNOTs from q₀):</a:t>
            </a:r>
          </a:p>
          <a:p xmlns:a="http://schemas.openxmlformats.org/drawingml/2006/main">
            <a:r>
              <a:rPr lang="en-US" sz="1700">
                <a:solidFill>
                  <a:srgbClr val="E8F0FF"/>
                </a:solidFill>
                <a:latin typeface="Segoe UI"/>
                <a:ea typeface="Segoe UI"/>
              </a:rPr>
              <a:t>  q₀: ─┤ψ⟩──●──────●──</a:t>
            </a:r>
          </a:p>
          <a:p xmlns:a="http://schemas.openxmlformats.org/drawingml/2006/main">
            <a:r>
              <a:rPr lang="en-US" sz="1700">
                <a:solidFill>
                  <a:srgbClr val="E8F0FF"/>
                </a:solidFill>
                <a:latin typeface="Segoe UI"/>
                <a:ea typeface="Segoe UI"/>
              </a:rPr>
              <a:t>  q₁: ─|0⟩──⊕──────╪──</a:t>
            </a:r>
          </a:p>
          <a:p xmlns:a="http://schemas.openxmlformats.org/drawingml/2006/main">
            <a:r>
              <a:rPr lang="en-US" sz="1700">
                <a:solidFill>
                  <a:srgbClr val="E8F0FF"/>
                </a:solidFill>
                <a:latin typeface="Segoe UI"/>
                <a:ea typeface="Segoe UI"/>
              </a:rPr>
              <a:t>  q₂: ─|0⟩──╪──────⊕──</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Code parameters: [[3, 1, 1]]</a:t>
            </a:r>
          </a:p>
          <a:p xmlns:a="http://schemas.openxmlformats.org/drawingml/2006/main">
            <a:r>
              <a:rPr lang="en-US" sz="1700">
                <a:solidFill>
                  <a:srgbClr val="E8F0FF"/>
                </a:solidFill>
                <a:latin typeface="Segoe UI"/>
                <a:ea typeface="Segoe UI"/>
              </a:rPr>
              <a:t>  3 physical → 1 logical qubit</a:t>
            </a:r>
          </a:p>
          <a:p xmlns:a="http://schemas.openxmlformats.org/drawingml/2006/main">
            <a:r>
              <a:rPr lang="en-US" sz="1700">
                <a:solidFill>
                  <a:srgbClr val="E8F0FF"/>
                </a:solidFill>
                <a:latin typeface="Segoe UI"/>
                <a:ea typeface="Segoe UI"/>
              </a:rPr>
              <a:t>  Corrects 1 bit-flip error only</a:t>
            </a:r>
          </a:p>
        </p:txBody>
      </p:sp>
      <p:sp>
        <p:nvSpPr>
          <p:cNvPr id="100040" name="Syndrome"/>
          <p:cNvSpPr txBox="1"/>
          <p:nvPr/>
        </p:nvSpPr>
        <p:spPr>
          <a:xfrm xmlns:a="http://schemas.openxmlformats.org/drawingml/2006/main">
            <a:off x="6120000" y="1044000"/>
            <a:ext cx="5760000" cy="288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700">
                <a:solidFill>
                  <a:srgbClr val="E8F0FF"/>
                </a:solidFill>
                <a:latin typeface="Segoe UI"/>
                <a:ea typeface="Segoe UI"/>
              </a:rPr>
              <a:t>SYNDROME MEASUREMENT</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Measure ZZ stabilizers via ancilla:</a:t>
            </a:r>
          </a:p>
          <a:p xmlns:a="http://schemas.openxmlformats.org/drawingml/2006/main">
            <a:r>
              <a:rPr lang="en-US" sz="1700">
                <a:solidFill>
                  <a:srgbClr val="E8F0FF"/>
                </a:solidFill>
                <a:latin typeface="Segoe UI"/>
                <a:ea typeface="Segoe UI"/>
              </a:rPr>
              <a:t>  M₁ = Z₀Z₁  →  ancilla a₀</a:t>
            </a:r>
          </a:p>
          <a:p xmlns:a="http://schemas.openxmlformats.org/drawingml/2006/main">
            <a:r>
              <a:rPr lang="en-US" sz="1700">
                <a:solidFill>
                  <a:srgbClr val="E8F0FF"/>
                </a:solidFill>
                <a:latin typeface="Segoe UI"/>
                <a:ea typeface="Segoe UI"/>
              </a:rPr>
              <a:t>  M₂ = Z₁Z₂  →  ancilla a₁</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  Error    M₁   M₂   Correction</a:t>
            </a:r>
          </a:p>
          <a:p xmlns:a="http://schemas.openxmlformats.org/drawingml/2006/main">
            <a:r>
              <a:rPr lang="en-US" sz="1700">
                <a:solidFill>
                  <a:srgbClr val="E8F0FF"/>
                </a:solidFill>
                <a:latin typeface="Segoe UI"/>
                <a:ea typeface="Segoe UI"/>
              </a:rPr>
              <a:t>  ──────────────────────────────</a:t>
            </a:r>
          </a:p>
          <a:p xmlns:a="http://schemas.openxmlformats.org/drawingml/2006/main">
            <a:r>
              <a:rPr lang="en-US" sz="1700">
                <a:solidFill>
                  <a:srgbClr val="E8F0FF"/>
                </a:solidFill>
                <a:latin typeface="Segoe UI"/>
                <a:ea typeface="Segoe UI"/>
              </a:rPr>
              <a:t>  None     +1   +1   Do nothing</a:t>
            </a:r>
          </a:p>
          <a:p xmlns:a="http://schemas.openxmlformats.org/drawingml/2006/main">
            <a:r>
              <a:rPr lang="en-US" sz="1700">
                <a:solidFill>
                  <a:srgbClr val="E8F0FF"/>
                </a:solidFill>
                <a:latin typeface="Segoe UI"/>
                <a:ea typeface="Segoe UI"/>
              </a:rPr>
              <a:t>  X on q₀  -1   +1   Apply X to q₀</a:t>
            </a:r>
          </a:p>
          <a:p xmlns:a="http://schemas.openxmlformats.org/drawingml/2006/main">
            <a:r>
              <a:rPr lang="en-US" sz="1700">
                <a:solidFill>
                  <a:srgbClr val="E8F0FF"/>
                </a:solidFill>
                <a:latin typeface="Segoe UI"/>
                <a:ea typeface="Segoe UI"/>
              </a:rPr>
              <a:t>  X on q₁  -1   -1   Apply X to q₁</a:t>
            </a:r>
          </a:p>
          <a:p xmlns:a="http://schemas.openxmlformats.org/drawingml/2006/main">
            <a:r>
              <a:rPr lang="en-US" sz="1700">
                <a:solidFill>
                  <a:srgbClr val="E8F0FF"/>
                </a:solidFill>
                <a:latin typeface="Segoe UI"/>
                <a:ea typeface="Segoe UI"/>
              </a:rPr>
              <a:t>  X on q₂  +1   -1   Apply X to q₂</a:t>
            </a:r>
          </a:p>
          <a:p xmlns:a="http://schemas.openxmlformats.org/drawingml/2006/main">
            <a:r>
              <a:rPr lang="en-US" sz="1700">
                <a:solidFill>
                  <a:srgbClr val="E8F0FF"/>
                </a:solidFill>
                <a:latin typeface="Segoe UI"/>
                <a:ea typeface="Segoe UI"/>
              </a:rPr>
              <a:t/>
            </a:r>
          </a:p>
          <a:p xmlns:a="http://schemas.openxmlformats.org/drawingml/2006/main">
            <a:r>
              <a:rPr lang="en-US" sz="1700">
                <a:solidFill>
                  <a:srgbClr val="E8F0FF"/>
                </a:solidFill>
                <a:latin typeface="Segoe UI"/>
                <a:ea typeface="Segoe UI"/>
              </a:rPr>
              <a:t>No qubit state is measured!</a:t>
            </a:r>
          </a:p>
          <a:p xmlns:a="http://schemas.openxmlformats.org/drawingml/2006/main">
            <a:r>
              <a:rPr lang="en-US" sz="1700">
                <a:solidFill>
                  <a:srgbClr val="E8F0FF"/>
                </a:solidFill>
                <a:latin typeface="Segoe UI"/>
                <a:ea typeface="Segoe UI"/>
              </a:rPr>
              <a:t>Only ZZ correlations are read out.</a:t>
            </a:r>
          </a:p>
        </p:txBody>
      </p:sp>
      <p:sp>
        <p:nvSpPr>
          <p:cNvPr id="100041" name="PhaseFlip"/>
          <p:cNvSpPr txBox="1"/>
          <p:nvPr/>
        </p:nvSpPr>
        <p:spPr>
          <a:xfrm xmlns:a="http://schemas.openxmlformats.org/drawingml/2006/main">
            <a:off x="288000" y="4176000"/>
            <a:ext cx="5580000" cy="126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700">
                <a:solidFill>
                  <a:srgbClr val="E8F0FF"/>
                </a:solidFill>
                <a:latin typeface="Segoe UI"/>
                <a:ea typeface="Segoe UI"/>
              </a:rPr>
              <a:t>PHASE-FLIP CODE (X-basis dual)</a:t>
            </a:r>
          </a:p>
          <a:p xmlns:a="http://schemas.openxmlformats.org/drawingml/2006/main">
            <a:r>
              <a:rPr lang="en-US" sz="1700">
                <a:solidFill>
                  <a:srgbClr val="E8F0FF"/>
                </a:solidFill>
                <a:latin typeface="Segoe UI"/>
                <a:ea typeface="Segoe UI"/>
              </a:rPr>
              <a:t>  Encode: |+_L⟩=|+++⟩, |−_L⟩=|−−−⟩</a:t>
            </a:r>
          </a:p>
          <a:p xmlns:a="http://schemas.openxmlformats.org/drawingml/2006/main">
            <a:r>
              <a:rPr lang="en-US" sz="1700">
                <a:solidFill>
                  <a:srgbClr val="E8F0FF"/>
                </a:solidFill>
                <a:latin typeface="Segoe UI"/>
                <a:ea typeface="Segoe UI"/>
              </a:rPr>
              <a:t>  Syndromes: X₀X₁ and X₁X₂</a:t>
            </a:r>
          </a:p>
          <a:p xmlns:a="http://schemas.openxmlformats.org/drawingml/2006/main">
            <a:r>
              <a:rPr lang="en-US" sz="1700">
                <a:solidFill>
                  <a:srgbClr val="E8F0FF"/>
                </a:solidFill>
                <a:latin typeface="Segoe UI"/>
                <a:ea typeface="Segoe UI"/>
              </a:rPr>
              <a:t>  Circuit: H on each qubit before &amp; after</a:t>
            </a:r>
          </a:p>
        </p:txBody>
      </p:sp>
      <p:sp>
        <p:nvSpPr>
          <p:cNvPr id="100042" name="Limit"/>
          <p:cNvSpPr txBox="1"/>
          <p:nvPr/>
        </p:nvSpPr>
        <p:spPr>
          <a:xfrm xmlns:a="http://schemas.openxmlformats.org/drawingml/2006/main">
            <a:off x="6120000" y="4176000"/>
            <a:ext cx="5760000" cy="1260000"/>
          </a:xfrm>
          <a:prstGeom xmlns:a="http://schemas.openxmlformats.org/drawingml/2006/main" prst="rect">
            <a:avLst/>
          </a:prstGeom>
          <a:solidFill xmlns:a="http://schemas.openxmlformats.org/drawingml/2006/main">
            <a:srgbClr val="1A1504"/>
          </a:solidFill>
        </p:spPr>
        <p:txBody>
          <a:bodyPr xmlns:a="http://schemas.openxmlformats.org/drawingml/2006/main"/>
          <a:lstStyle xmlns:a="http://schemas.openxmlformats.org/drawingml/2006/main"/>
          <a:p xmlns:a="http://schemas.openxmlformats.org/drawingml/2006/main">
            <a:r>
              <a:rPr lang="en-US" sz="1700" b="0">
                <a:solidFill>
                  <a:srgbClr val="FFD580"/>
                </a:solidFill>
                <a:latin typeface="Segoe UI"/>
                <a:ea typeface="Segoe UI"/>
              </a:rPr>
              <a:t>LIMITATION: Neither code alone corrects</a:t>
            </a:r>
          </a:p>
          <a:p xmlns:a="http://schemas.openxmlformats.org/drawingml/2006/main">
            <a:r>
              <a:rPr lang="en-US" sz="1700" b="0">
                <a:solidFill>
                  <a:srgbClr val="FFD580"/>
                </a:solidFill>
                <a:latin typeface="Segoe UI"/>
                <a:ea typeface="Segoe UI"/>
              </a:rPr>
              <a:t>general single-qubit errors. We need a</a:t>
            </a:r>
          </a:p>
          <a:p xmlns:a="http://schemas.openxmlformats.org/drawingml/2006/main">
            <a:r>
              <a:rPr lang="en-US" sz="1700" b="0">
                <a:solidFill>
                  <a:srgbClr val="FFD580"/>
                </a:solidFill>
                <a:latin typeface="Segoe UI"/>
                <a:ea typeface="Segoe UI"/>
              </a:rPr>
              <a:t>code that handles both X and Z errors.</a:t>
            </a:r>
          </a:p>
          <a:p xmlns:a="http://schemas.openxmlformats.org/drawingml/2006/main">
            <a:r>
              <a:rPr lang="en-US" sz="1700" b="0">
                <a:solidFill>
                  <a:srgbClr val="FFD580"/>
                </a:solidFill>
                <a:latin typeface="Segoe UI"/>
                <a:ea typeface="Segoe UI"/>
              </a:rPr>
              <a:t>Solution → Shor [[9,1,3]] code (next slide)</a:t>
            </a:r>
          </a:p>
        </p:txBody>
      </p:sp>
      <p:sp>
        <p:nvSpPr>
          <p:cNvPr id="100043"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7.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44"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2  —  SIMPLE CODES</a:t>
            </a:r>
          </a:p>
        </p:txBody>
      </p:sp>
      <p:sp>
        <p:nvSpPr>
          <p:cNvPr id="100045"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800" b="1">
                <a:solidFill>
                  <a:srgbClr val="FFFFFF"/>
                </a:solidFill>
                <a:latin typeface="Segoe UI"/>
                <a:ea typeface="Segoe UI"/>
              </a:rPr>
              <a:t>Shor [[9,1,3]] Code — First Universal QEC (1995)</a:t>
            </a:r>
          </a:p>
        </p:txBody>
      </p:sp>
      <p:sp>
        <p:nvSpPr>
          <p:cNvPr id="100046"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47" name="Structure"/>
          <p:cNvSpPr txBox="1"/>
          <p:nvPr/>
        </p:nvSpPr>
        <p:spPr>
          <a:xfrm xmlns:a="http://schemas.openxmlformats.org/drawingml/2006/main">
            <a:off x="288000" y="1044000"/>
            <a:ext cx="558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SHOR CODE STRUCTURE</a:t>
            </a:r>
          </a:p>
          <a:p xmlns:a="http://schemas.openxmlformats.org/drawingml/2006/main">
            <a:r>
              <a:rPr lang="en-US" sz="1600">
                <a:solidFill>
                  <a:srgbClr val="E8F0FF"/>
                </a:solidFill>
                <a:latin typeface="Segoe UI"/>
                <a:ea typeface="Segoe UI"/>
              </a:rPr>
              <a:t>Peter Shor, Phys. Rev. A 52, R2493 (1995)</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Architecture — concatenated codes:</a:t>
            </a:r>
          </a:p>
          <a:p xmlns:a="http://schemas.openxmlformats.org/drawingml/2006/main">
            <a:r>
              <a:rPr lang="en-US" sz="1600">
                <a:solidFill>
                  <a:srgbClr val="E8F0FF"/>
                </a:solidFill>
                <a:latin typeface="Segoe UI"/>
                <a:ea typeface="Segoe UI"/>
              </a:rPr>
              <a:t>  Outer code: 3-qubit phase-flip (X-basis)</a:t>
            </a:r>
          </a:p>
          <a:p xmlns:a="http://schemas.openxmlformats.org/drawingml/2006/main">
            <a:r>
              <a:rPr lang="en-US" sz="1600">
                <a:solidFill>
                  <a:srgbClr val="E8F0FF"/>
                </a:solidFill>
                <a:latin typeface="Segoe UI"/>
                <a:ea typeface="Segoe UI"/>
              </a:rPr>
              <a:t>  Inner code: 3×(3-qubit bit-flip) (Z-basis)</a:t>
            </a:r>
          </a:p>
          <a:p xmlns:a="http://schemas.openxmlformats.org/drawingml/2006/main">
            <a:r>
              <a:rPr lang="en-US" sz="1600">
                <a:solidFill>
                  <a:srgbClr val="E8F0FF"/>
                </a:solidFill>
                <a:latin typeface="Segoe UI"/>
                <a:ea typeface="Segoe UI"/>
              </a:rPr>
              <a:t>  → Concatenation corrects BOTH X and Z</a:t>
            </a:r>
          </a:p>
          <a:p xmlns:a="http://schemas.openxmlformats.org/drawingml/2006/main">
            <a:r>
              <a:rPr lang="en-US" sz="1600">
                <a:solidFill>
                  <a:srgbClr val="E8F0FF"/>
                </a:solidFill>
                <a:latin typeface="Segoe UI"/>
                <a:ea typeface="Segoe UI"/>
              </a:rPr>
              <a:t>  → Corrects ANY single-qubit error</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Logical states:</a:t>
            </a:r>
          </a:p>
          <a:p xmlns:a="http://schemas.openxmlformats.org/drawingml/2006/main">
            <a:r>
              <a:rPr lang="en-US" sz="1600">
                <a:solidFill>
                  <a:srgbClr val="E8F0FF"/>
                </a:solidFill>
                <a:latin typeface="Segoe UI"/>
                <a:ea typeface="Segoe UI"/>
              </a:rPr>
              <a:t>  |0_L⟩ = (|000⟩+|111⟩)³ / 2√2</a:t>
            </a:r>
          </a:p>
          <a:p xmlns:a="http://schemas.openxmlformats.org/drawingml/2006/main">
            <a:r>
              <a:rPr lang="en-US" sz="1600">
                <a:solidFill>
                  <a:srgbClr val="E8F0FF"/>
                </a:solidFill>
                <a:latin typeface="Segoe UI"/>
                <a:ea typeface="Segoe UI"/>
              </a:rPr>
              <a:t>  |1_L⟩ = (|000⟩−|111⟩)³ / 2√2</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Parameters: [[9, 1, 3]]</a:t>
            </a:r>
          </a:p>
          <a:p xmlns:a="http://schemas.openxmlformats.org/drawingml/2006/main">
            <a:r>
              <a:rPr lang="en-US" sz="1600">
                <a:solidFill>
                  <a:srgbClr val="E8F0FF"/>
                </a:solidFill>
                <a:latin typeface="Segoe UI"/>
                <a:ea typeface="Segoe UI"/>
              </a:rPr>
              <a:t>  9 physical qubits</a:t>
            </a:r>
          </a:p>
          <a:p xmlns:a="http://schemas.openxmlformats.org/drawingml/2006/main">
            <a:r>
              <a:rPr lang="en-US" sz="1600">
                <a:solidFill>
                  <a:srgbClr val="E8F0FF"/>
                </a:solidFill>
                <a:latin typeface="Segoe UI"/>
                <a:ea typeface="Segoe UI"/>
              </a:rPr>
              <a:t>  1 logical qubit</a:t>
            </a:r>
          </a:p>
          <a:p xmlns:a="http://schemas.openxmlformats.org/drawingml/2006/main">
            <a:r>
              <a:rPr lang="en-US" sz="1600">
                <a:solidFill>
                  <a:srgbClr val="E8F0FF"/>
                </a:solidFill>
                <a:latin typeface="Segoe UI"/>
                <a:ea typeface="Segoe UI"/>
              </a:rPr>
              <a:t>  Distance d=3 (corrects 1 error)</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8 stabilizer generators:</a:t>
            </a:r>
          </a:p>
          <a:p xmlns:a="http://schemas.openxmlformats.org/drawingml/2006/main">
            <a:r>
              <a:rPr lang="en-US" sz="1600">
                <a:solidFill>
                  <a:srgbClr val="E8F0FF"/>
                </a:solidFill>
                <a:latin typeface="Segoe UI"/>
                <a:ea typeface="Segoe UI"/>
              </a:rPr>
              <a:t>  Within groups: Z₀Z₁, Z₁Z₂, Z₃Z₄, Z₄Z₅, Z₆Z₇, Z₇Z₈</a:t>
            </a:r>
          </a:p>
          <a:p xmlns:a="http://schemas.openxmlformats.org/drawingml/2006/main">
            <a:r>
              <a:rPr lang="en-US" sz="1600">
                <a:solidFill>
                  <a:srgbClr val="E8F0FF"/>
                </a:solidFill>
                <a:latin typeface="Segoe UI"/>
                <a:ea typeface="Segoe UI"/>
              </a:rPr>
              <a:t>  Across groups: X₀X₁X₂X₃X₄X₅, X₃X₄X₅X₆X₇X₈</a:t>
            </a:r>
          </a:p>
        </p:txBody>
      </p:sp>
      <p:sp>
        <p:nvSpPr>
          <p:cNvPr id="100048" name="ErrorsTable"/>
          <p:cNvSpPr txBox="1"/>
          <p:nvPr/>
        </p:nvSpPr>
        <p:spPr>
          <a:xfrm xmlns:a="http://schemas.openxmlformats.org/drawingml/2006/main">
            <a:off x="6120000" y="1044000"/>
            <a:ext cx="576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ERRORS CORRECTED</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Error Type   Detected By      Fixed By</a:t>
            </a:r>
          </a:p>
          <a:p xmlns:a="http://schemas.openxmlformats.org/drawingml/2006/main">
            <a:r>
              <a:rPr lang="en-US" sz="1600">
                <a:solidFill>
                  <a:srgbClr val="E8F0FF"/>
                </a:solidFill>
                <a:latin typeface="Segoe UI"/>
                <a:ea typeface="Segoe UI"/>
              </a:rPr>
              <a:t>  ───────────────────────────────────────</a:t>
            </a:r>
          </a:p>
          <a:p xmlns:a="http://schemas.openxmlformats.org/drawingml/2006/main">
            <a:r>
              <a:rPr lang="en-US" sz="1600">
                <a:solidFill>
                  <a:srgbClr val="E8F0FF"/>
                </a:solidFill>
                <a:latin typeface="Segoe UI"/>
                <a:ea typeface="Segoe UI"/>
              </a:rPr>
              <a:t>  X (bit-flip)  ZZ syndromes    X on qubit</a:t>
            </a:r>
          </a:p>
          <a:p xmlns:a="http://schemas.openxmlformats.org/drawingml/2006/main">
            <a:r>
              <a:rPr lang="en-US" sz="1600">
                <a:solidFill>
                  <a:srgbClr val="E8F0FF"/>
                </a:solidFill>
                <a:latin typeface="Segoe UI"/>
                <a:ea typeface="Segoe UI"/>
              </a:rPr>
              <a:t>                within triplet</a:t>
            </a:r>
          </a:p>
          <a:p xmlns:a="http://schemas.openxmlformats.org/drawingml/2006/main">
            <a:r>
              <a:rPr lang="en-US" sz="1600">
                <a:solidFill>
                  <a:srgbClr val="E8F0FF"/>
                </a:solidFill>
                <a:latin typeface="Segoe UI"/>
                <a:ea typeface="Segoe UI"/>
              </a:rPr>
              <a:t>  Z (phase)    XX syndromes     Z on group</a:t>
            </a:r>
          </a:p>
          <a:p xmlns:a="http://schemas.openxmlformats.org/drawingml/2006/main">
            <a:r>
              <a:rPr lang="en-US" sz="1600">
                <a:solidFill>
                  <a:srgbClr val="E8F0FF"/>
                </a:solidFill>
                <a:latin typeface="Segoe UI"/>
                <a:ea typeface="Segoe UI"/>
              </a:rPr>
              <a:t>                across groups</a:t>
            </a:r>
          </a:p>
          <a:p xmlns:a="http://schemas.openxmlformats.org/drawingml/2006/main">
            <a:r>
              <a:rPr lang="en-US" sz="1600">
                <a:solidFill>
                  <a:srgbClr val="E8F0FF"/>
                </a:solidFill>
                <a:latin typeface="Segoe UI"/>
                <a:ea typeface="Segoe UI"/>
              </a:rPr>
              <a:t>  Y = iXZ      Both             Both X &amp; Z</a:t>
            </a:r>
          </a:p>
          <a:p xmlns:a="http://schemas.openxmlformats.org/drawingml/2006/main">
            <a:r>
              <a:rPr lang="en-US" sz="1600">
                <a:solidFill>
                  <a:srgbClr val="E8F0FF"/>
                </a:solidFill>
                <a:latin typeface="Segoe UI"/>
                <a:ea typeface="Segoe UI"/>
              </a:rPr>
              <a:t>  Any rotation  Measurement     Discretise</a:t>
            </a:r>
          </a:p>
          <a:p xmlns:a="http://schemas.openxmlformats.org/drawingml/2006/main">
            <a:r>
              <a:rPr lang="en-US" sz="1600">
                <a:solidFill>
                  <a:srgbClr val="E8F0FF"/>
                </a:solidFill>
                <a:latin typeface="Segoe UI"/>
                <a:ea typeface="Segoe UI"/>
              </a:rPr>
              <a:t>                collapses to    → {I,X,Y,Z}</a:t>
            </a:r>
          </a:p>
          <a:p xmlns:a="http://schemas.openxmlformats.org/drawingml/2006/main">
            <a:r>
              <a:rPr lang="en-US" sz="1600">
                <a:solidFill>
                  <a:srgbClr val="E8F0FF"/>
                </a:solidFill>
                <a:latin typeface="Segoe UI"/>
                <a:ea typeface="Segoe UI"/>
              </a:rPr>
              <a:t>                Pauli error</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WHY CONCATENATION WORKS</a:t>
            </a:r>
          </a:p>
          <a:p xmlns:a="http://schemas.openxmlformats.org/drawingml/2006/main">
            <a:r>
              <a:rPr lang="en-US" sz="1600">
                <a:solidFill>
                  <a:srgbClr val="E8F0FF"/>
                </a:solidFill>
                <a:latin typeface="Segoe UI"/>
                <a:ea typeface="Segoe UI"/>
              </a:rPr>
              <a:t>  Outer code sees groups of 3 qubits.</a:t>
            </a:r>
          </a:p>
          <a:p xmlns:a="http://schemas.openxmlformats.org/drawingml/2006/main">
            <a:r>
              <a:rPr lang="en-US" sz="1600">
                <a:solidFill>
                  <a:srgbClr val="E8F0FF"/>
                </a:solidFill>
                <a:latin typeface="Segoe UI"/>
                <a:ea typeface="Segoe UI"/>
              </a:rPr>
              <a:t>  Inner codes protect each group.</a:t>
            </a:r>
          </a:p>
          <a:p xmlns:a="http://schemas.openxmlformats.org/drawingml/2006/main">
            <a:r>
              <a:rPr lang="en-US" sz="1600">
                <a:solidFill>
                  <a:srgbClr val="E8F0FF"/>
                </a:solidFill>
                <a:latin typeface="Segoe UI"/>
                <a:ea typeface="Segoe UI"/>
              </a:rPr>
              <a:t>  Logical error only if ALL 3 groups fail</a:t>
            </a:r>
          </a:p>
          <a:p xmlns:a="http://schemas.openxmlformats.org/drawingml/2006/main">
            <a:r>
              <a:rPr lang="en-US" sz="1600">
                <a:solidFill>
                  <a:srgbClr val="E8F0FF"/>
                </a:solidFill>
                <a:latin typeface="Segoe UI"/>
                <a:ea typeface="Segoe UI"/>
              </a:rPr>
              <a:t>  simultaneously → probability p³.</a:t>
            </a:r>
          </a:p>
          <a:p xmlns:a="http://schemas.openxmlformats.org/drawingml/2006/main">
            <a:r>
              <a:rPr lang="en-US" sz="1600">
                <a:solidFill>
                  <a:srgbClr val="E8F0FF"/>
                </a:solidFill>
                <a:latin typeface="Segoe UI"/>
                <a:ea typeface="Segoe UI"/>
              </a:rPr>
              <a:t>  At p=1%: p_L ≈ p³ = 10⁻⁶</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LIMITATION</a:t>
            </a:r>
          </a:p>
          <a:p xmlns:a="http://schemas.openxmlformats.org/drawingml/2006/main">
            <a:r>
              <a:rPr lang="en-US" sz="1600">
                <a:solidFill>
                  <a:srgbClr val="E8F0FF"/>
                </a:solidFill>
                <a:latin typeface="Segoe UI"/>
                <a:ea typeface="Segoe UI"/>
              </a:rPr>
              <a:t>  9 physical qubits per logical qubit</a:t>
            </a:r>
          </a:p>
          <a:p xmlns:a="http://schemas.openxmlformats.org/drawingml/2006/main">
            <a:r>
              <a:rPr lang="en-US" sz="1600">
                <a:solidFill>
                  <a:srgbClr val="E8F0FF"/>
                </a:solidFill>
                <a:latin typeface="Segoe UI"/>
                <a:ea typeface="Segoe UI"/>
              </a:rPr>
              <a:t>  is inefficient. Steane code (next)</a:t>
            </a:r>
          </a:p>
          <a:p xmlns:a="http://schemas.openxmlformats.org/drawingml/2006/main">
            <a:r>
              <a:rPr lang="en-US" sz="1600">
                <a:solidFill>
                  <a:srgbClr val="E8F0FF"/>
                </a:solidFill>
                <a:latin typeface="Segoe UI"/>
                <a:ea typeface="Segoe UI"/>
              </a:rPr>
              <a:t>  achieves same protection with only 7.</a:t>
            </a:r>
          </a:p>
        </p:txBody>
      </p:sp>
      <p:sp>
        <p:nvSpPr>
          <p:cNvPr id="100049"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8.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50"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2  —  SIMPLE CODES</a:t>
            </a:r>
          </a:p>
        </p:txBody>
      </p:sp>
      <p:sp>
        <p:nvSpPr>
          <p:cNvPr id="100051"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800" b="1">
                <a:solidFill>
                  <a:srgbClr val="FFFFFF"/>
                </a:solidFill>
                <a:latin typeface="Segoe UI"/>
                <a:ea typeface="Segoe UI"/>
              </a:rPr>
              <a:t>Steane [[7,1,3]] Code &amp; Code Comparison</a:t>
            </a:r>
          </a:p>
        </p:txBody>
      </p:sp>
      <p:sp>
        <p:nvSpPr>
          <p:cNvPr id="100052"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53" name="Steane"/>
          <p:cNvSpPr txBox="1"/>
          <p:nvPr/>
        </p:nvSpPr>
        <p:spPr>
          <a:xfrm xmlns:a="http://schemas.openxmlformats.org/drawingml/2006/main">
            <a:off x="288000" y="1044000"/>
            <a:ext cx="558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STEANE CODE  [[7,1,3]]</a:t>
            </a:r>
          </a:p>
          <a:p xmlns:a="http://schemas.openxmlformats.org/drawingml/2006/main">
            <a:r>
              <a:rPr lang="en-US" sz="1600">
                <a:solidFill>
                  <a:srgbClr val="E8F0FF"/>
                </a:solidFill>
                <a:latin typeface="Segoe UI"/>
                <a:ea typeface="Segoe UI"/>
              </a:rPr>
              <a:t>Andrew Steane, PRL 77, 793 (1996)</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Based on the classical [7,4,3] Hamming code</a:t>
            </a:r>
          </a:p>
          <a:p xmlns:a="http://schemas.openxmlformats.org/drawingml/2006/main">
            <a:r>
              <a:rPr lang="en-US" sz="1600">
                <a:solidFill>
                  <a:srgbClr val="E8F0FF"/>
                </a:solidFill>
                <a:latin typeface="Segoe UI"/>
                <a:ea typeface="Segoe UI"/>
              </a:rPr>
              <a:t>CSS = Calderbank-Shor-Steane construction</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Parity check matrix H₇:</a:t>
            </a:r>
          </a:p>
          <a:p xmlns:a="http://schemas.openxmlformats.org/drawingml/2006/main">
            <a:r>
              <a:rPr lang="en-US" sz="1600">
                <a:solidFill>
                  <a:srgbClr val="E8F0FF"/>
                </a:solidFill>
                <a:latin typeface="Segoe UI"/>
                <a:ea typeface="Segoe UI"/>
              </a:rPr>
              <a:t>  Cols = binary reps of integers 1–7:</a:t>
            </a:r>
          </a:p>
          <a:p xmlns:a="http://schemas.openxmlformats.org/drawingml/2006/main">
            <a:r>
              <a:rPr lang="en-US" sz="1600">
                <a:solidFill>
                  <a:srgbClr val="E8F0FF"/>
                </a:solidFill>
                <a:latin typeface="Segoe UI"/>
                <a:ea typeface="Segoe UI"/>
              </a:rPr>
              <a:t>  1 0 1 0 1 0 1</a:t>
            </a:r>
          </a:p>
          <a:p xmlns:a="http://schemas.openxmlformats.org/drawingml/2006/main">
            <a:r>
              <a:rPr lang="en-US" sz="1600">
                <a:solidFill>
                  <a:srgbClr val="E8F0FF"/>
                </a:solidFill>
                <a:latin typeface="Segoe UI"/>
                <a:ea typeface="Segoe UI"/>
              </a:rPr>
              <a:t>  0 1 1 0 0 1 1</a:t>
            </a:r>
          </a:p>
          <a:p xmlns:a="http://schemas.openxmlformats.org/drawingml/2006/main">
            <a:r>
              <a:rPr lang="en-US" sz="1600">
                <a:solidFill>
                  <a:srgbClr val="E8F0FF"/>
                </a:solidFill>
                <a:latin typeface="Segoe UI"/>
                <a:ea typeface="Segoe UI"/>
              </a:rPr>
              <a:t>  0 0 0 1 1 1 1</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CSS construction:</a:t>
            </a:r>
          </a:p>
          <a:p xmlns:a="http://schemas.openxmlformats.org/drawingml/2006/main">
            <a:r>
              <a:rPr lang="en-US" sz="1600">
                <a:solidFill>
                  <a:srgbClr val="E8F0FF"/>
                </a:solidFill>
                <a:latin typeface="Segoe UI"/>
                <a:ea typeface="Segoe UI"/>
              </a:rPr>
              <a:t>  X-stabilizers: rows of H  (detect Z errors)</a:t>
            </a:r>
          </a:p>
          <a:p xmlns:a="http://schemas.openxmlformats.org/drawingml/2006/main">
            <a:r>
              <a:rPr lang="en-US" sz="1600">
                <a:solidFill>
                  <a:srgbClr val="E8F0FF"/>
                </a:solidFill>
                <a:latin typeface="Segoe UI"/>
                <a:ea typeface="Segoe UI"/>
              </a:rPr>
              <a:t>  Z-stabilizers: rows of H  (detect X errors)</a:t>
            </a:r>
          </a:p>
          <a:p xmlns:a="http://schemas.openxmlformats.org/drawingml/2006/main">
            <a:r>
              <a:rPr lang="en-US" sz="1600">
                <a:solidFill>
                  <a:srgbClr val="E8F0FF"/>
                </a:solidFill>
                <a:latin typeface="Segoe UI"/>
                <a:ea typeface="Segoe UI"/>
              </a:rPr>
              <a:t>  6 stabilizer generators total</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Key advantages:</a:t>
            </a:r>
          </a:p>
          <a:p xmlns:a="http://schemas.openxmlformats.org/drawingml/2006/main">
            <a:r>
              <a:rPr lang="en-US" sz="1600">
                <a:solidFill>
                  <a:srgbClr val="E8F0FF"/>
                </a:solidFill>
                <a:latin typeface="Segoe UI"/>
                <a:ea typeface="Segoe UI"/>
              </a:rPr>
              <a:t>  • 7 physical qubits (vs 9 for Shor)</a:t>
            </a:r>
          </a:p>
          <a:p xmlns:a="http://schemas.openxmlformats.org/drawingml/2006/main">
            <a:r>
              <a:rPr lang="en-US" sz="1600">
                <a:solidFill>
                  <a:srgbClr val="E8F0FF"/>
                </a:solidFill>
                <a:latin typeface="Segoe UI"/>
                <a:ea typeface="Segoe UI"/>
              </a:rPr>
              <a:t>  • Corrects any single-qubit error</a:t>
            </a:r>
          </a:p>
          <a:p xmlns:a="http://schemas.openxmlformats.org/drawingml/2006/main">
            <a:r>
              <a:rPr lang="en-US" sz="1600">
                <a:solidFill>
                  <a:srgbClr val="E8F0FF"/>
                </a:solidFill>
                <a:latin typeface="Segoe UI"/>
                <a:ea typeface="Segoe UI"/>
              </a:rPr>
              <a:t>  • Transversal: H, S, CNOT — fault-tolerant</a:t>
            </a:r>
          </a:p>
          <a:p xmlns:a="http://schemas.openxmlformats.org/drawingml/2006/main">
            <a:r>
              <a:rPr lang="en-US" sz="1600">
                <a:solidFill>
                  <a:srgbClr val="E8F0FF"/>
                </a:solidFill>
                <a:latin typeface="Segoe UI"/>
                <a:ea typeface="Segoe UI"/>
              </a:rPr>
              <a:t>  • T gate requires magic state injection</a:t>
            </a:r>
          </a:p>
        </p:txBody>
      </p:sp>
      <p:sp>
        <p:nvSpPr>
          <p:cNvPr id="100054" name="Table"/>
          <p:cNvSpPr txBox="1"/>
          <p:nvPr/>
        </p:nvSpPr>
        <p:spPr>
          <a:xfrm xmlns:a="http://schemas.openxmlformats.org/drawingml/2006/main">
            <a:off x="6120000" y="1044000"/>
            <a:ext cx="576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CODE COMPARISON TABLE</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Code         [[n,k,d]]  Qubits  Corrects</a:t>
            </a:r>
          </a:p>
          <a:p xmlns:a="http://schemas.openxmlformats.org/drawingml/2006/main">
            <a:r>
              <a:rPr lang="en-US" sz="1600">
                <a:solidFill>
                  <a:srgbClr val="E8F0FF"/>
                </a:solidFill>
                <a:latin typeface="Segoe UI"/>
                <a:ea typeface="Segoe UI"/>
              </a:rPr>
              <a:t>  ──────────────────────────────────────────</a:t>
            </a:r>
          </a:p>
          <a:p xmlns:a="http://schemas.openxmlformats.org/drawingml/2006/main">
            <a:r>
              <a:rPr lang="en-US" sz="1600">
                <a:solidFill>
                  <a:srgbClr val="E8F0FF"/>
                </a:solidFill>
                <a:latin typeface="Segoe UI"/>
                <a:ea typeface="Segoe UI"/>
              </a:rPr>
              <a:t>  3-bit rep    [[3,1,1]]    3      Bit-flip</a:t>
            </a:r>
          </a:p>
          <a:p xmlns:a="http://schemas.openxmlformats.org/drawingml/2006/main">
            <a:r>
              <a:rPr lang="en-US" sz="1600">
                <a:solidFill>
                  <a:srgbClr val="E8F0FF"/>
                </a:solidFill>
                <a:latin typeface="Segoe UI"/>
                <a:ea typeface="Segoe UI"/>
              </a:rPr>
              <a:t>  3-bit rep    [[3,1,1]]    3      Phase-flip</a:t>
            </a:r>
          </a:p>
          <a:p xmlns:a="http://schemas.openxmlformats.org/drawingml/2006/main">
            <a:r>
              <a:rPr lang="en-US" sz="1600">
                <a:solidFill>
                  <a:srgbClr val="E8F0FF"/>
                </a:solidFill>
                <a:latin typeface="Segoe UI"/>
                <a:ea typeface="Segoe UI"/>
              </a:rPr>
              <a:t>  5-qubit      [[5,1,3]]    5      Any 1Q (min)</a:t>
            </a:r>
          </a:p>
          <a:p xmlns:a="http://schemas.openxmlformats.org/drawingml/2006/main">
            <a:r>
              <a:rPr lang="en-US" sz="1600">
                <a:solidFill>
                  <a:srgbClr val="E8F0FF"/>
                </a:solidFill>
                <a:latin typeface="Segoe UI"/>
                <a:ea typeface="Segoe UI"/>
              </a:rPr>
              <a:t>  Shor         [[9,1,3]]    9      Any 1Q</a:t>
            </a:r>
          </a:p>
          <a:p xmlns:a="http://schemas.openxmlformats.org/drawingml/2006/main">
            <a:r>
              <a:rPr lang="en-US" sz="1600">
                <a:solidFill>
                  <a:srgbClr val="E8F0FF"/>
                </a:solidFill>
                <a:latin typeface="Segoe UI"/>
                <a:ea typeface="Segoe UI"/>
              </a:rPr>
              <a:t>  Steane       [[7,1,3]]    7      Any 1Q</a:t>
            </a:r>
          </a:p>
          <a:p xmlns:a="http://schemas.openxmlformats.org/drawingml/2006/main">
            <a:r>
              <a:rPr lang="en-US" sz="1600">
                <a:solidFill>
                  <a:srgbClr val="E8F0FF"/>
                </a:solidFill>
                <a:latin typeface="Segoe UI"/>
                <a:ea typeface="Segoe UI"/>
              </a:rPr>
              <a:t>  Surface d=3  [[9,1,3]]    9      Any 1Q</a:t>
            </a:r>
          </a:p>
          <a:p xmlns:a="http://schemas.openxmlformats.org/drawingml/2006/main">
            <a:r>
              <a:rPr lang="en-US" sz="1600">
                <a:solidFill>
                  <a:srgbClr val="E8F0FF"/>
                </a:solidFill>
                <a:latin typeface="Segoe UI"/>
                <a:ea typeface="Segoe UI"/>
              </a:rPr>
              <a:t>  Surface d=5  [[25,1,5]]  25      Any 2Q</a:t>
            </a:r>
          </a:p>
          <a:p xmlns:a="http://schemas.openxmlformats.org/drawingml/2006/main">
            <a:r>
              <a:rPr lang="en-US" sz="1600">
                <a:solidFill>
                  <a:srgbClr val="E8F0FF"/>
                </a:solidFill>
                <a:latin typeface="Segoe UI"/>
                <a:ea typeface="Segoe UI"/>
              </a:rPr>
              <a:t>  Surface d=7  [[49,1,7]]  49      Any 3Q</a:t>
            </a:r>
          </a:p>
          <a:p xmlns:a="http://schemas.openxmlformats.org/drawingml/2006/main">
            <a:r>
              <a:rPr lang="en-US" sz="1600">
                <a:solidFill>
                  <a:srgbClr val="E8F0FF"/>
                </a:solidFill>
                <a:latin typeface="Segoe UI"/>
                <a:ea typeface="Segoe UI"/>
              </a:rPr>
              <a:t>  BB code      [[72,12,6]] 72     12 logicals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NOTATION: [[n, k, d]]</a:t>
            </a:r>
          </a:p>
          <a:p xmlns:a="http://schemas.openxmlformats.org/drawingml/2006/main">
            <a:r>
              <a:rPr lang="en-US" sz="1600">
                <a:solidFill>
                  <a:srgbClr val="E8F0FF"/>
                </a:solidFill>
                <a:latin typeface="Segoe UI"/>
                <a:ea typeface="Segoe UI"/>
              </a:rPr>
              <a:t>  n = physical qubits</a:t>
            </a:r>
          </a:p>
          <a:p xmlns:a="http://schemas.openxmlformats.org/drawingml/2006/main">
            <a:r>
              <a:rPr lang="en-US" sz="1600">
                <a:solidFill>
                  <a:srgbClr val="E8F0FF"/>
                </a:solidFill>
                <a:latin typeface="Segoe UI"/>
                <a:ea typeface="Segoe UI"/>
              </a:rPr>
              <a:t>  k = logical qubits</a:t>
            </a:r>
          </a:p>
          <a:p xmlns:a="http://schemas.openxmlformats.org/drawingml/2006/main">
            <a:r>
              <a:rPr lang="en-US" sz="1600">
                <a:solidFill>
                  <a:srgbClr val="E8F0FF"/>
                </a:solidFill>
                <a:latin typeface="Segoe UI"/>
                <a:ea typeface="Segoe UI"/>
              </a:rPr>
              <a:t>  d = code distance</a:t>
            </a:r>
          </a:p>
          <a:p xmlns:a="http://schemas.openxmlformats.org/drawingml/2006/main">
            <a:r>
              <a:rPr lang="en-US" sz="1600">
                <a:solidFill>
                  <a:srgbClr val="E8F0FF"/>
                </a:solidFill>
                <a:latin typeface="Segoe UI"/>
                <a:ea typeface="Segoe UI"/>
              </a:rPr>
              <a:t>  Corrects ⌊(d-1)/2⌋ errors</a:t>
            </a:r>
          </a:p>
          <a:p xmlns:a="http://schemas.openxmlformats.org/drawingml/2006/main">
            <a:r>
              <a:rPr lang="en-US" sz="1600">
                <a:solidFill>
                  <a:srgbClr val="E8F0FF"/>
                </a:solidFill>
                <a:latin typeface="Segoe UI"/>
                <a:ea typeface="Segoe UI"/>
              </a:rPr>
              <a:t>  Detects d-1 errors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STABILIZER FORMALISM (Gottesman 1997)</a:t>
            </a:r>
          </a:p>
          <a:p xmlns:a="http://schemas.openxmlformats.org/drawingml/2006/main">
            <a:r>
              <a:rPr lang="en-US" sz="1600">
                <a:solidFill>
                  <a:srgbClr val="E8F0FF"/>
                </a:solidFill>
                <a:latin typeface="Segoe UI"/>
                <a:ea typeface="Segoe UI"/>
              </a:rPr>
              <a:t>  Code space: eigenstates of stabilizer</a:t>
            </a:r>
          </a:p>
          <a:p xmlns:a="http://schemas.openxmlformats.org/drawingml/2006/main">
            <a:r>
              <a:rPr lang="en-US" sz="1600">
                <a:solidFill>
                  <a:srgbClr val="E8F0FF"/>
                </a:solidFill>
                <a:latin typeface="Segoe UI"/>
                <a:ea typeface="Segoe UI"/>
              </a:rPr>
              <a:t>  generators with eigenvalue +1</a:t>
            </a:r>
          </a:p>
          <a:p xmlns:a="http://schemas.openxmlformats.org/drawingml/2006/main">
            <a:r>
              <a:rPr lang="en-US" sz="1600">
                <a:solidFill>
                  <a:srgbClr val="E8F0FF"/>
                </a:solidFill>
                <a:latin typeface="Segoe UI"/>
                <a:ea typeface="Segoe UI"/>
              </a:rPr>
              <a:t>  k = n − m  where m = # generators</a:t>
            </a:r>
          </a:p>
        </p:txBody>
      </p:sp>
      <p:sp>
        <p:nvSpPr>
          <p:cNvPr id="100055"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9.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56"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3  —  SURFACE CODES</a:t>
            </a:r>
          </a:p>
        </p:txBody>
      </p:sp>
      <p:sp>
        <p:nvSpPr>
          <p:cNvPr id="100057"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800" b="1">
                <a:solidFill>
                  <a:srgbClr val="FFFFFF"/>
                </a:solidFill>
                <a:latin typeface="Segoe UI"/>
                <a:ea typeface="Segoe UI"/>
              </a:rPr>
              <a:t>The Surface Code — Gold Standard of QEC</a:t>
            </a:r>
          </a:p>
        </p:txBody>
      </p:sp>
      <p:sp>
        <p:nvSpPr>
          <p:cNvPr id="100058"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59" name="Theory"/>
          <p:cNvSpPr txBox="1"/>
          <p:nvPr/>
        </p:nvSpPr>
        <p:spPr>
          <a:xfrm xmlns:a="http://schemas.openxmlformats.org/drawingml/2006/main">
            <a:off x="288000" y="1044000"/>
            <a:ext cx="558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SURFACE CODE THEORY</a:t>
            </a:r>
          </a:p>
          <a:p xmlns:a="http://schemas.openxmlformats.org/drawingml/2006/main">
            <a:r>
              <a:rPr lang="en-US" sz="1600">
                <a:solidFill>
                  <a:srgbClr val="E8F0FF"/>
                </a:solidFill>
                <a:latin typeface="Segoe UI"/>
                <a:ea typeface="Segoe UI"/>
              </a:rPr>
              <a:t>Kitaev (1997) → Fowler et al., PRA 86, 032324 (2012)</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Layout: d×d data qubits on a 2D grid</a:t>
            </a:r>
          </a:p>
          <a:p xmlns:a="http://schemas.openxmlformats.org/drawingml/2006/main">
            <a:r>
              <a:rPr lang="en-US" sz="1600">
                <a:solidFill>
                  <a:srgbClr val="E8F0FF"/>
                </a:solidFill>
                <a:latin typeface="Segoe UI"/>
                <a:ea typeface="Segoe UI"/>
              </a:rPr>
              <a:t>  Total: d² data + (d²−1) ancilla qubits</a:t>
            </a:r>
          </a:p>
          <a:p xmlns:a="http://schemas.openxmlformats.org/drawingml/2006/main">
            <a:r>
              <a:rPr lang="en-US" sz="1600">
                <a:solidFill>
                  <a:srgbClr val="E8F0FF"/>
                </a:solidFill>
                <a:latin typeface="Segoe UI"/>
                <a:ea typeface="Segoe UI"/>
              </a:rPr>
              <a:t>  Code: [[d², 1, d]] — 1 logical qubit</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Stabilizers (2 types):</a:t>
            </a:r>
          </a:p>
          <a:p xmlns:a="http://schemas.openxmlformats.org/drawingml/2006/main">
            <a:r>
              <a:rPr lang="en-US" sz="1600">
                <a:solidFill>
                  <a:srgbClr val="E8F0FF"/>
                </a:solidFill>
                <a:latin typeface="Segoe UI"/>
                <a:ea typeface="Segoe UI"/>
              </a:rPr>
              <a:t>  Z-plaquettes (face): Z⊗4 on 4 data qubits</a:t>
            </a:r>
          </a:p>
          <a:p xmlns:a="http://schemas.openxmlformats.org/drawingml/2006/main">
            <a:r>
              <a:rPr lang="en-US" sz="1600">
                <a:solidFill>
                  <a:srgbClr val="E8F0FF"/>
                </a:solidFill>
                <a:latin typeface="Segoe UI"/>
                <a:ea typeface="Segoe UI"/>
              </a:rPr>
              <a:t>    → Detect X (bit-flip) errors</a:t>
            </a:r>
          </a:p>
          <a:p xmlns:a="http://schemas.openxmlformats.org/drawingml/2006/main">
            <a:r>
              <a:rPr lang="en-US" sz="1600">
                <a:solidFill>
                  <a:srgbClr val="E8F0FF"/>
                </a:solidFill>
                <a:latin typeface="Segoe UI"/>
                <a:ea typeface="Segoe UI"/>
              </a:rPr>
              <a:t>  X-vertices (vertex): X⊗4 on 4 data qubits</a:t>
            </a:r>
          </a:p>
          <a:p xmlns:a="http://schemas.openxmlformats.org/drawingml/2006/main">
            <a:r>
              <a:rPr lang="en-US" sz="1600">
                <a:solidFill>
                  <a:srgbClr val="E8F0FF"/>
                </a:solidFill>
                <a:latin typeface="Segoe UI"/>
                <a:ea typeface="Segoe UI"/>
              </a:rPr>
              <a:t>    → Detect Z (phase-flip) errors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Logical operators:</a:t>
            </a:r>
          </a:p>
          <a:p xmlns:a="http://schemas.openxmlformats.org/drawingml/2006/main">
            <a:r>
              <a:rPr lang="en-US" sz="1600">
                <a:solidFill>
                  <a:srgbClr val="E8F0FF"/>
                </a:solidFill>
                <a:latin typeface="Segoe UI"/>
                <a:ea typeface="Segoe UI"/>
              </a:rPr>
              <a:t>  Z_L = chain of Z from left to right boundary</a:t>
            </a:r>
          </a:p>
          <a:p xmlns:a="http://schemas.openxmlformats.org/drawingml/2006/main">
            <a:r>
              <a:rPr lang="en-US" sz="1600">
                <a:solidFill>
                  <a:srgbClr val="E8F0FF"/>
                </a:solidFill>
                <a:latin typeface="Segoe UI"/>
                <a:ea typeface="Segoe UI"/>
              </a:rPr>
              <a:t>  X_L = chain of X from top to bottom boundary</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Why surface code dominates:</a:t>
            </a:r>
          </a:p>
          <a:p xmlns:a="http://schemas.openxmlformats.org/drawingml/2006/main">
            <a:r>
              <a:rPr lang="en-US" sz="1600">
                <a:solidFill>
                  <a:srgbClr val="E8F0FF"/>
                </a:solidFill>
                <a:latin typeface="Segoe UI"/>
                <a:ea typeface="Segoe UI"/>
              </a:rPr>
              <a:t>  ✅ Only nearest-neighbor 2D connectivity</a:t>
            </a:r>
          </a:p>
          <a:p xmlns:a="http://schemas.openxmlformats.org/drawingml/2006/main">
            <a:r>
              <a:rPr lang="en-US" sz="1600">
                <a:solidFill>
                  <a:srgbClr val="E8F0FF"/>
                </a:solidFill>
                <a:latin typeface="Segoe UI"/>
                <a:ea typeface="Segoe UI"/>
              </a:rPr>
              <a:t>  ✅ Error threshold: ~1% per gate</a:t>
            </a:r>
          </a:p>
          <a:p xmlns:a="http://schemas.openxmlformats.org/drawingml/2006/main">
            <a:r>
              <a:rPr lang="en-US" sz="1600">
                <a:solidFill>
                  <a:srgbClr val="E8F0FF"/>
                </a:solidFill>
                <a:latin typeface="Segoe UI"/>
                <a:ea typeface="Segoe UI"/>
              </a:rPr>
              <a:t>  ✅ Efficient decoder: MWPM (poly-time)</a:t>
            </a:r>
          </a:p>
          <a:p xmlns:a="http://schemas.openxmlformats.org/drawingml/2006/main">
            <a:r>
              <a:rPr lang="en-US" sz="1600">
                <a:solidFill>
                  <a:srgbClr val="E8F0FF"/>
                </a:solidFill>
                <a:latin typeface="Segoe UI"/>
                <a:ea typeface="Segoe UI"/>
              </a:rPr>
              <a:t>  ✅ Local syndrome measurements only</a:t>
            </a:r>
          </a:p>
          <a:p xmlns:a="http://schemas.openxmlformats.org/drawingml/2006/main">
            <a:r>
              <a:rPr lang="en-US" sz="1600">
                <a:solidFill>
                  <a:srgbClr val="E8F0FF"/>
                </a:solidFill>
                <a:latin typeface="Segoe UI"/>
                <a:ea typeface="Segoe UI"/>
              </a:rPr>
              <a:t>  ✅ Compatible with superconducting chips</a:t>
            </a:r>
          </a:p>
        </p:txBody>
      </p:sp>
      <p:sp>
        <p:nvSpPr>
          <p:cNvPr id="100060" name="Grid"/>
          <p:cNvSpPr txBox="1"/>
          <p:nvPr/>
        </p:nvSpPr>
        <p:spPr>
          <a:xfrm xmlns:a="http://schemas.openxmlformats.org/drawingml/2006/main">
            <a:off x="6120000" y="1044000"/>
            <a:ext cx="576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SURFACE CODE GRID  (d=3 example)</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D──A──D──A──D</a:t>
            </a:r>
          </a:p>
          <a:p xmlns:a="http://schemas.openxmlformats.org/drawingml/2006/main">
            <a:r>
              <a:rPr lang="en-US" sz="1600">
                <a:solidFill>
                  <a:srgbClr val="E8F0FF"/>
                </a:solidFill>
                <a:latin typeface="Segoe UI"/>
                <a:ea typeface="Segoe UI"/>
              </a:rPr>
              <a:t>  │  Z  │  Z  │</a:t>
            </a:r>
          </a:p>
          <a:p xmlns:a="http://schemas.openxmlformats.org/drawingml/2006/main">
            <a:r>
              <a:rPr lang="en-US" sz="1600">
                <a:solidFill>
                  <a:srgbClr val="E8F0FF"/>
                </a:solidFill>
                <a:latin typeface="Segoe UI"/>
                <a:ea typeface="Segoe UI"/>
              </a:rPr>
              <a:t>  A──D──A──D──A</a:t>
            </a:r>
          </a:p>
          <a:p xmlns:a="http://schemas.openxmlformats.org/drawingml/2006/main">
            <a:r>
              <a:rPr lang="en-US" sz="1600">
                <a:solidFill>
                  <a:srgbClr val="E8F0FF"/>
                </a:solidFill>
                <a:latin typeface="Segoe UI"/>
                <a:ea typeface="Segoe UI"/>
              </a:rPr>
              <a:t>  │  Z  │  Z  │</a:t>
            </a:r>
          </a:p>
          <a:p xmlns:a="http://schemas.openxmlformats.org/drawingml/2006/main">
            <a:r>
              <a:rPr lang="en-US" sz="1600">
                <a:solidFill>
                  <a:srgbClr val="E8F0FF"/>
                </a:solidFill>
                <a:latin typeface="Segoe UI"/>
                <a:ea typeface="Segoe UI"/>
              </a:rPr>
              <a:t>  D──A──D──A──D</a:t>
            </a:r>
          </a:p>
          <a:p xmlns:a="http://schemas.openxmlformats.org/drawingml/2006/main">
            <a:r>
              <a:rPr lang="en-US" sz="1600">
                <a:solidFill>
                  <a:srgbClr val="E8F0FF"/>
                </a:solidFill>
                <a:latin typeface="Segoe UI"/>
                <a:ea typeface="Segoe UI"/>
              </a:rPr>
              <a:t>  │  Z  │  Z  │</a:t>
            </a:r>
          </a:p>
          <a:p xmlns:a="http://schemas.openxmlformats.org/drawingml/2006/main">
            <a:r>
              <a:rPr lang="en-US" sz="1600">
                <a:solidFill>
                  <a:srgbClr val="E8F0FF"/>
                </a:solidFill>
                <a:latin typeface="Segoe UI"/>
                <a:ea typeface="Segoe UI"/>
              </a:rPr>
              <a:t>  A──D──A──D──A</a:t>
            </a:r>
          </a:p>
          <a:p xmlns:a="http://schemas.openxmlformats.org/drawingml/2006/main">
            <a:r>
              <a:rPr lang="en-US" sz="1600">
                <a:solidFill>
                  <a:srgbClr val="E8F0FF"/>
                </a:solidFill>
                <a:latin typeface="Segoe UI"/>
                <a:ea typeface="Segoe UI"/>
              </a:rPr>
              <a:t>  │  Z  │  Z  │</a:t>
            </a:r>
          </a:p>
          <a:p xmlns:a="http://schemas.openxmlformats.org/drawingml/2006/main">
            <a:r>
              <a:rPr lang="en-US" sz="1600">
                <a:solidFill>
                  <a:srgbClr val="E8F0FF"/>
                </a:solidFill>
                <a:latin typeface="Segoe UI"/>
                <a:ea typeface="Segoe UI"/>
              </a:rPr>
              <a:t>  D──A──D──A──D</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D = data qubit</a:t>
            </a:r>
          </a:p>
          <a:p xmlns:a="http://schemas.openxmlformats.org/drawingml/2006/main">
            <a:r>
              <a:rPr lang="en-US" sz="1600">
                <a:solidFill>
                  <a:srgbClr val="E8F0FF"/>
                </a:solidFill>
                <a:latin typeface="Segoe UI"/>
                <a:ea typeface="Segoe UI"/>
              </a:rPr>
              <a:t>  A = ancilla / syndrome qubit</a:t>
            </a:r>
          </a:p>
          <a:p xmlns:a="http://schemas.openxmlformats.org/drawingml/2006/main">
            <a:r>
              <a:rPr lang="en-US" sz="1600">
                <a:solidFill>
                  <a:srgbClr val="E8F0FF"/>
                </a:solidFill>
                <a:latin typeface="Segoe UI"/>
                <a:ea typeface="Segoe UI"/>
              </a:rPr>
              <a:t>  Z-ancilla = face center (detects X errors)</a:t>
            </a:r>
          </a:p>
          <a:p xmlns:a="http://schemas.openxmlformats.org/drawingml/2006/main">
            <a:r>
              <a:rPr lang="en-US" sz="1600">
                <a:solidFill>
                  <a:srgbClr val="E8F0FF"/>
                </a:solidFill>
                <a:latin typeface="Segoe UI"/>
                <a:ea typeface="Segoe UI"/>
              </a:rPr>
              <a:t>  X-ancilla = vertex center (detects Z errors)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SYNDROME EXTRACTION CYCLE:</a:t>
            </a:r>
          </a:p>
          <a:p xmlns:a="http://schemas.openxmlformats.org/drawingml/2006/main">
            <a:r>
              <a:rPr lang="en-US" sz="1600">
                <a:solidFill>
                  <a:srgbClr val="E8F0FF"/>
                </a:solidFill>
                <a:latin typeface="Segoe UI"/>
                <a:ea typeface="Segoe UI"/>
              </a:rPr>
              <a:t>  1. Apply CNOT/CZ gates to 4 ancillas</a:t>
            </a:r>
          </a:p>
          <a:p xmlns:a="http://schemas.openxmlformats.org/drawingml/2006/main">
            <a:r>
              <a:rPr lang="en-US" sz="1600">
                <a:solidFill>
                  <a:srgbClr val="E8F0FF"/>
                </a:solidFill>
                <a:latin typeface="Segoe UI"/>
                <a:ea typeface="Segoe UI"/>
              </a:rPr>
              <a:t>  2. Measure all ancilla qubits (classical)</a:t>
            </a:r>
          </a:p>
          <a:p xmlns:a="http://schemas.openxmlformats.org/drawingml/2006/main">
            <a:r>
              <a:rPr lang="en-US" sz="1600">
                <a:solidFill>
                  <a:srgbClr val="E8F0FF"/>
                </a:solidFill>
                <a:latin typeface="Segoe UI"/>
                <a:ea typeface="Segoe UI"/>
              </a:rPr>
              <a:t>  3. Feed syndrome bits to decoder</a:t>
            </a:r>
          </a:p>
          <a:p xmlns:a="http://schemas.openxmlformats.org/drawingml/2006/main">
            <a:r>
              <a:rPr lang="en-US" sz="1600">
                <a:solidFill>
                  <a:srgbClr val="E8F0FF"/>
                </a:solidFill>
                <a:latin typeface="Segoe UI"/>
                <a:ea typeface="Segoe UI"/>
              </a:rPr>
              <a:t>  4. Decoder → correction operations</a:t>
            </a:r>
          </a:p>
          <a:p xmlns:a="http://schemas.openxmlformats.org/drawingml/2006/main">
            <a:r>
              <a:rPr lang="en-US" sz="1600">
                <a:solidFill>
                  <a:srgbClr val="E8F0FF"/>
                </a:solidFill>
                <a:latin typeface="Segoe UI"/>
                <a:ea typeface="Segoe UI"/>
              </a:rPr>
              <a:t>  5. Repeat every ~1 microsecond</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Decoder: Minimum Weight Perfect Matching</a:t>
            </a:r>
          </a:p>
          <a:p xmlns:a="http://schemas.openxmlformats.org/drawingml/2006/main">
            <a:r>
              <a:rPr lang="en-US" sz="1600">
                <a:solidFill>
                  <a:srgbClr val="E8F0FF"/>
                </a:solidFill>
                <a:latin typeface="Segoe UI"/>
                <a:ea typeface="Segoe UI"/>
              </a:rPr>
              <a:t>  (Edmonds 1965 algorithm, O(n³) classical)</a:t>
            </a:r>
          </a:p>
        </p:txBody>
      </p:sp>
      <p:sp>
        <p:nvSpPr>
          <p:cNvPr id="100061"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10.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62"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3  —  SURFACE CODES</a:t>
            </a:r>
          </a:p>
        </p:txBody>
      </p:sp>
      <p:sp>
        <p:nvSpPr>
          <p:cNvPr id="100063"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800" b="1">
                <a:solidFill>
                  <a:srgbClr val="FFFFFF"/>
                </a:solidFill>
                <a:latin typeface="Segoe UI"/>
                <a:ea typeface="Segoe UI"/>
              </a:rPr>
              <a:t>The Error Threshold Theorem</a:t>
            </a:r>
          </a:p>
        </p:txBody>
      </p:sp>
      <p:sp>
        <p:nvSpPr>
          <p:cNvPr id="100064"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65" name="Theorem"/>
          <p:cNvSpPr txBox="1"/>
          <p:nvPr/>
        </p:nvSpPr>
        <p:spPr>
          <a:xfrm xmlns:a="http://schemas.openxmlformats.org/drawingml/2006/main">
            <a:off x="288000" y="1044000"/>
            <a:ext cx="558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THE THRESHOLD THEOREM</a:t>
            </a:r>
          </a:p>
          <a:p xmlns:a="http://schemas.openxmlformats.org/drawingml/2006/main">
            <a:r>
              <a:rPr lang="en-US" sz="1600">
                <a:solidFill>
                  <a:srgbClr val="E8F0FF"/>
                </a:solidFill>
                <a:latin typeface="Segoe UI"/>
                <a:ea typeface="Segoe UI"/>
              </a:rPr>
              <a:t>(Aharonov &amp; Ben-Or 1997 · Knill, Laflamme &amp; Zurek 1996)</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If physical error rate  p  &lt;  p_th  (threshold), then:</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P_logical(d) ≈ A · (p / p_th)^⌈d/2⌉</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As d → ∞ with p &lt; p_th:  P_logical → 0</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For the surface code:</a:t>
            </a:r>
          </a:p>
          <a:p xmlns:a="http://schemas.openxmlformats.org/drawingml/2006/main">
            <a:r>
              <a:rPr lang="en-US" sz="1600">
                <a:solidFill>
                  <a:srgbClr val="E8F0FF"/>
                </a:solidFill>
                <a:latin typeface="Segoe UI"/>
                <a:ea typeface="Segoe UI"/>
              </a:rPr>
              <a:t>  p_th ≈ 1%  (depolarising noise model)</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Numerical examples  (p = 0.2%, p_th = 1%):</a:t>
            </a:r>
          </a:p>
          <a:p xmlns:a="http://schemas.openxmlformats.org/drawingml/2006/main">
            <a:r>
              <a:rPr lang="en-US" sz="1600">
                <a:solidFill>
                  <a:srgbClr val="E8F0FF"/>
                </a:solidFill>
                <a:latin typeface="Segoe UI"/>
                <a:ea typeface="Segoe UI"/>
              </a:rPr>
              <a:t>  d=3:   P_L ≈ A·(0.2)¹  ≈ 0.002A</a:t>
            </a:r>
          </a:p>
          <a:p xmlns:a="http://schemas.openxmlformats.org/drawingml/2006/main">
            <a:r>
              <a:rPr lang="en-US" sz="1600">
                <a:solidFill>
                  <a:srgbClr val="E8F0FF"/>
                </a:solidFill>
                <a:latin typeface="Segoe UI"/>
                <a:ea typeface="Segoe UI"/>
              </a:rPr>
              <a:t>  d=5:   P_L ≈ A·(0.2)²  ≈ 4×10⁻⁴A</a:t>
            </a:r>
          </a:p>
          <a:p xmlns:a="http://schemas.openxmlformats.org/drawingml/2006/main">
            <a:r>
              <a:rPr lang="en-US" sz="1600">
                <a:solidFill>
                  <a:srgbClr val="E8F0FF"/>
                </a:solidFill>
                <a:latin typeface="Segoe UI"/>
                <a:ea typeface="Segoe UI"/>
              </a:rPr>
              <a:t>  d=7:   P_L ≈ A·(0.2)³  ≈ 8×10⁻⁶A</a:t>
            </a:r>
          </a:p>
          <a:p xmlns:a="http://schemas.openxmlformats.org/drawingml/2006/main">
            <a:r>
              <a:rPr lang="en-US" sz="1600">
                <a:solidFill>
                  <a:srgbClr val="E8F0FF"/>
                </a:solidFill>
                <a:latin typeface="Segoe UI"/>
                <a:ea typeface="Segoe UI"/>
              </a:rPr>
              <a:t>  d=9:   P_L ≈ A·(0.2)⁴  ≈ 1.6×10⁻⁷A</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Each distance step gives ~25× improvement.</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IBM HERON R2 (2024):</a:t>
            </a:r>
          </a:p>
          <a:p xmlns:a="http://schemas.openxmlformats.org/drawingml/2006/main">
            <a:r>
              <a:rPr lang="en-US" sz="1600">
                <a:solidFill>
                  <a:srgbClr val="E8F0FF"/>
                </a:solidFill>
                <a:latin typeface="Segoe UI"/>
                <a:ea typeface="Segoe UI"/>
              </a:rPr>
              <a:t>  p_physical ≈ 0.2%  →  below threshold</a:t>
            </a:r>
          </a:p>
          <a:p xmlns:a="http://schemas.openxmlformats.org/drawingml/2006/main">
            <a:r>
              <a:rPr lang="en-US" sz="1600">
                <a:solidFill>
                  <a:srgbClr val="E8F0FF"/>
                </a:solidFill>
                <a:latin typeface="Segoe UI"/>
                <a:ea typeface="Segoe UI"/>
              </a:rPr>
              <a:t>  Distance-5 logical error &lt; physical error</a:t>
            </a:r>
          </a:p>
          <a:p xmlns:a="http://schemas.openxmlformats.org/drawingml/2006/main">
            <a:r>
              <a:rPr lang="en-US" sz="1600">
                <a:solidFill>
                  <a:srgbClr val="E8F0FF"/>
                </a:solidFill>
                <a:latin typeface="Segoe UI"/>
                <a:ea typeface="Segoe UI"/>
              </a:rPr>
              <a:t>  BREAK-EVEN achieved for first time!</a:t>
            </a:r>
          </a:p>
        </p:txBody>
      </p:sp>
      <p:sp>
        <p:nvSpPr>
          <p:cNvPr id="100066" name="Overhead"/>
          <p:cNvSpPr txBox="1"/>
          <p:nvPr/>
        </p:nvSpPr>
        <p:spPr>
          <a:xfrm xmlns:a="http://schemas.openxmlformats.org/drawingml/2006/main">
            <a:off x="6120000" y="1044000"/>
            <a:ext cx="576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OVERHEAD ANALYSIS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Target: P_logical = 10⁻¹⁰</a:t>
            </a:r>
          </a:p>
          <a:p xmlns:a="http://schemas.openxmlformats.org/drawingml/2006/main">
            <a:r>
              <a:rPr lang="en-US" sz="1600">
                <a:solidFill>
                  <a:srgbClr val="E8F0FF"/>
                </a:solidFill>
                <a:latin typeface="Segoe UI"/>
                <a:ea typeface="Segoe UI"/>
              </a:rPr>
              <a:t>(needed for practical fault-tolerant QC)</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Required distance:</a:t>
            </a:r>
          </a:p>
          <a:p xmlns:a="http://schemas.openxmlformats.org/drawingml/2006/main">
            <a:r>
              <a:rPr lang="en-US" sz="1600">
                <a:solidFill>
                  <a:srgbClr val="E8F0FF"/>
                </a:solidFill>
                <a:latin typeface="Segoe UI"/>
                <a:ea typeface="Segoe UI"/>
              </a:rPr>
              <a:t>  d ≈ 2·ln(A/P_target)/ln(p_th/p) + 1</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p=0.2%:  d≈21,  ~441 phys/logical</a:t>
            </a:r>
          </a:p>
          <a:p xmlns:a="http://schemas.openxmlformats.org/drawingml/2006/main">
            <a:r>
              <a:rPr lang="en-US" sz="1600">
                <a:solidFill>
                  <a:srgbClr val="E8F0FF"/>
                </a:solidFill>
                <a:latin typeface="Segoe UI"/>
                <a:ea typeface="Segoe UI"/>
              </a:rPr>
              <a:t>  p=0.1%:  d≈15,  ~225 phys/logical</a:t>
            </a:r>
          </a:p>
          <a:p xmlns:a="http://schemas.openxmlformats.org/drawingml/2006/main">
            <a:r>
              <a:rPr lang="en-US" sz="1600">
                <a:solidFill>
                  <a:srgbClr val="E8F0FF"/>
                </a:solidFill>
                <a:latin typeface="Segoe UI"/>
                <a:ea typeface="Segoe UI"/>
              </a:rPr>
              <a:t>  p=0.05%: d≈11,  ~121 phys/logical</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IBM ROADMAP TARGETS:</a:t>
            </a:r>
          </a:p>
          <a:p xmlns:a="http://schemas.openxmlformats.org/drawingml/2006/main">
            <a:r>
              <a:rPr lang="en-US" sz="1600">
                <a:solidFill>
                  <a:srgbClr val="E8F0FF"/>
                </a:solidFill>
                <a:latin typeface="Segoe UI"/>
                <a:ea typeface="Segoe UI"/>
              </a:rPr>
              <a:t>  2024: d=5 break-even (49 qubits)</a:t>
            </a:r>
          </a:p>
          <a:p xmlns:a="http://schemas.openxmlformats.org/drawingml/2006/main">
            <a:r>
              <a:rPr lang="en-US" sz="1600">
                <a:solidFill>
                  <a:srgbClr val="E8F0FF"/>
                </a:solidFill>
                <a:latin typeface="Segoe UI"/>
                <a:ea typeface="Segoe UI"/>
              </a:rPr>
              <a:t>  2026: d=7, 10 logical qubits</a:t>
            </a:r>
          </a:p>
          <a:p xmlns:a="http://schemas.openxmlformats.org/drawingml/2006/main">
            <a:r>
              <a:rPr lang="en-US" sz="1600">
                <a:solidFill>
                  <a:srgbClr val="E8F0FF"/>
                </a:solidFill>
                <a:latin typeface="Segoe UI"/>
                <a:ea typeface="Segoe UI"/>
              </a:rPr>
              <a:t>  2029: d=15, 100 logical qubits</a:t>
            </a:r>
          </a:p>
          <a:p xmlns:a="http://schemas.openxmlformats.org/drawingml/2006/main">
            <a:r>
              <a:rPr lang="en-US" sz="1600">
                <a:solidFill>
                  <a:srgbClr val="E8F0FF"/>
                </a:solidFill>
                <a:latin typeface="Segoe UI"/>
                <a:ea typeface="Segoe UI"/>
              </a:rPr>
              <a:t>        ~22,500 physical qubits</a:t>
            </a:r>
          </a:p>
          <a:p xmlns:a="http://schemas.openxmlformats.org/drawingml/2006/main">
            <a:r>
              <a:rPr lang="en-US" sz="1600">
                <a:solidFill>
                  <a:srgbClr val="E8F0FF"/>
                </a:solidFill>
                <a:latin typeface="Segoe UI"/>
                <a:ea typeface="Segoe UI"/>
              </a:rPr>
              <a:t>  2033: 2,000 logical qubits</a:t>
            </a:r>
          </a:p>
          <a:p xmlns:a="http://schemas.openxmlformats.org/drawingml/2006/main">
            <a:r>
              <a:rPr lang="en-US" sz="1600">
                <a:solidFill>
                  <a:srgbClr val="E8F0FF"/>
                </a:solidFill>
                <a:latin typeface="Segoe UI"/>
                <a:ea typeface="Segoe UI"/>
              </a:rPr>
              <a:t>        ~100,000 physical qubits</a:t>
            </a:r>
          </a:p>
          <a:p xmlns:a="http://schemas.openxmlformats.org/drawingml/2006/main">
            <a:r>
              <a:rPr lang="en-US" sz="1600">
                <a:solidFill>
                  <a:srgbClr val="E8F0FF"/>
                </a:solidFill>
                <a:latin typeface="Segoe UI"/>
                <a:ea typeface="Segoe UI"/>
              </a:rPr>
              <a:t>        P_L &lt; 10⁻¹⁰</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KEY PRINCIPLE:</a:t>
            </a:r>
          </a:p>
          <a:p xmlns:a="http://schemas.openxmlformats.org/drawingml/2006/main">
            <a:r>
              <a:rPr lang="en-US" sz="1600">
                <a:solidFill>
                  <a:srgbClr val="E8F0FF"/>
                </a:solidFill>
                <a:latin typeface="Segoe UI"/>
                <a:ea typeface="Segoe UI"/>
              </a:rPr>
              <a:t>  Below threshold = exponential</a:t>
            </a:r>
          </a:p>
          <a:p xmlns:a="http://schemas.openxmlformats.org/drawingml/2006/main">
            <a:r>
              <a:rPr lang="en-US" sz="1600">
                <a:solidFill>
                  <a:srgbClr val="E8F0FF"/>
                </a:solidFill>
                <a:latin typeface="Segoe UI"/>
                <a:ea typeface="Segoe UI"/>
              </a:rPr>
              <a:t>  suppression with each extra</a:t>
            </a:r>
          </a:p>
          <a:p xmlns:a="http://schemas.openxmlformats.org/drawingml/2006/main">
            <a:r>
              <a:rPr lang="en-US" sz="1600">
                <a:solidFill>
                  <a:srgbClr val="E8F0FF"/>
                </a:solidFill>
                <a:latin typeface="Segoe UI"/>
                <a:ea typeface="Segoe UI"/>
              </a:rPr>
              <a:t>  unit of code distance.</a:t>
            </a:r>
          </a:p>
        </p:txBody>
      </p:sp>
      <p:sp>
        <p:nvSpPr>
          <p:cNvPr id="100067"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11.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68"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4  —  FAULT-TOLERANT QUANTUM COMPUTING</a:t>
            </a:r>
          </a:p>
        </p:txBody>
      </p:sp>
      <p:sp>
        <p:nvSpPr>
          <p:cNvPr id="100069"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Segoe UI"/>
                <a:ea typeface="Segoe UI"/>
              </a:rPr>
              <a:t>Magic State Distillation &amp; Universal Fault-Tolerant QC</a:t>
            </a:r>
          </a:p>
        </p:txBody>
      </p:sp>
      <p:sp>
        <p:nvSpPr>
          <p:cNvPr id="100070"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71" name="MSD"/>
          <p:cNvSpPr txBox="1"/>
          <p:nvPr/>
        </p:nvSpPr>
        <p:spPr>
          <a:xfrm xmlns:a="http://schemas.openxmlformats.org/drawingml/2006/main">
            <a:off x="288000" y="1044000"/>
            <a:ext cx="558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MAGIC STATE DISTILLATION</a:t>
            </a:r>
          </a:p>
          <a:p xmlns:a="http://schemas.openxmlformats.org/drawingml/2006/main">
            <a:r>
              <a:rPr lang="en-US" sz="1600">
                <a:solidFill>
                  <a:srgbClr val="E8F0FF"/>
                </a:solidFill>
                <a:latin typeface="Segoe UI"/>
                <a:ea typeface="Segoe UI"/>
              </a:rPr>
              <a:t>(Bravyi &amp; Kitaev, PRA 71, 022316, 2005)</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Problem: T gate = diag(1, e^iπ/4) cannot be</a:t>
            </a:r>
          </a:p>
          <a:p xmlns:a="http://schemas.openxmlformats.org/drawingml/2006/main">
            <a:r>
              <a:rPr lang="en-US" sz="1600">
                <a:solidFill>
                  <a:srgbClr val="E8F0FF"/>
                </a:solidFill>
                <a:latin typeface="Segoe UI"/>
                <a:ea typeface="Segoe UI"/>
              </a:rPr>
              <a:t>implemented transversally on any known code.</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Solution: Use gate teleportation with a</a:t>
            </a:r>
          </a:p>
          <a:p xmlns:a="http://schemas.openxmlformats.org/drawingml/2006/main">
            <a:r>
              <a:rPr lang="en-US" sz="1600">
                <a:solidFill>
                  <a:srgbClr val="E8F0FF"/>
                </a:solidFill>
                <a:latin typeface="Segoe UI"/>
                <a:ea typeface="Segoe UI"/>
              </a:rPr>
              <a:t>prepared 'magic state' |m⟩:</a:t>
            </a:r>
          </a:p>
          <a:p xmlns:a="http://schemas.openxmlformats.org/drawingml/2006/main">
            <a:r>
              <a:rPr lang="en-US" sz="1600">
                <a:solidFill>
                  <a:srgbClr val="E8F0FF"/>
                </a:solidFill>
                <a:latin typeface="Segoe UI"/>
                <a:ea typeface="Segoe UI"/>
              </a:rPr>
              <a:t>  |m⟩ = T|+⟩ = (|0⟩ + e^iπ/4|1⟩)/√2</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15-TO-1 DISTILLATION PROTOCOL:</a:t>
            </a:r>
          </a:p>
          <a:p xmlns:a="http://schemas.openxmlformats.org/drawingml/2006/main">
            <a:r>
              <a:rPr lang="en-US" sz="1600">
                <a:solidFill>
                  <a:srgbClr val="E8F0FF"/>
                </a:solidFill>
                <a:latin typeface="Segoe UI"/>
                <a:ea typeface="Segoe UI"/>
              </a:rPr>
              <a:t>  1. Prepare 15 noisy |m̃⟩ states (error ε)</a:t>
            </a:r>
          </a:p>
          <a:p xmlns:a="http://schemas.openxmlformats.org/drawingml/2006/main">
            <a:r>
              <a:rPr lang="en-US" sz="1600">
                <a:solidFill>
                  <a:srgbClr val="E8F0FF"/>
                </a:solidFill>
                <a:latin typeface="Segoe UI"/>
                <a:ea typeface="Segoe UI"/>
              </a:rPr>
              <a:t>  2. Encode in [[15,1,3]] Reed-Muller code</a:t>
            </a:r>
          </a:p>
          <a:p xmlns:a="http://schemas.openxmlformats.org/drawingml/2006/main">
            <a:r>
              <a:rPr lang="en-US" sz="1600">
                <a:solidFill>
                  <a:srgbClr val="E8F0FF"/>
                </a:solidFill>
                <a:latin typeface="Segoe UI"/>
                <a:ea typeface="Segoe UI"/>
              </a:rPr>
              <a:t>  3. Apply transversal Clifford operations</a:t>
            </a:r>
          </a:p>
          <a:p xmlns:a="http://schemas.openxmlformats.org/drawingml/2006/main">
            <a:r>
              <a:rPr lang="en-US" sz="1600">
                <a:solidFill>
                  <a:srgbClr val="E8F0FF"/>
                </a:solidFill>
                <a:latin typeface="Segoe UI"/>
                <a:ea typeface="Segoe UI"/>
              </a:rPr>
              <a:t>  4. Measure 14 ancilla qubits</a:t>
            </a:r>
          </a:p>
          <a:p xmlns:a="http://schemas.openxmlformats.org/drawingml/2006/main">
            <a:r>
              <a:rPr lang="en-US" sz="1600">
                <a:solidFill>
                  <a:srgbClr val="E8F0FF"/>
                </a:solidFill>
                <a:latin typeface="Segoe UI"/>
                <a:ea typeface="Segoe UI"/>
              </a:rPr>
              <a:t>  5. Output: 1 clean |m⟩ with error ε'≈35ε³</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Cubic suppression per round:</a:t>
            </a:r>
          </a:p>
          <a:p xmlns:a="http://schemas.openxmlformats.org/drawingml/2006/main">
            <a:r>
              <a:rPr lang="en-US" sz="1600">
                <a:solidFill>
                  <a:srgbClr val="E8F0FF"/>
                </a:solidFill>
                <a:latin typeface="Segoe UI"/>
                <a:ea typeface="Segoe UI"/>
              </a:rPr>
              <a:t>  ε=1%  →  ε'≈ 3.5×10⁻⁵  (one round)</a:t>
            </a:r>
          </a:p>
          <a:p xmlns:a="http://schemas.openxmlformats.org/drawingml/2006/main">
            <a:r>
              <a:rPr lang="en-US" sz="1600">
                <a:solidFill>
                  <a:srgbClr val="E8F0FF"/>
                </a:solidFill>
                <a:latin typeface="Segoe UI"/>
                <a:ea typeface="Segoe UI"/>
              </a:rPr>
              <a:t>  Second round:  ε'' ≈ 4×10⁻¹⁴</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Recent: Haah et al. (2017): 10-to-1 protocol</a:t>
            </a:r>
          </a:p>
          <a:p xmlns:a="http://schemas.openxmlformats.org/drawingml/2006/main">
            <a:r>
              <a:rPr lang="en-US" sz="1600">
                <a:solidFill>
                  <a:srgbClr val="E8F0FF"/>
                </a:solidFill>
                <a:latin typeface="Segoe UI"/>
                <a:ea typeface="Segoe UI"/>
              </a:rPr>
              <a:t>  20-to-2: two magic states per cycle</a:t>
            </a:r>
          </a:p>
        </p:txBody>
      </p:sp>
      <p:sp>
        <p:nvSpPr>
          <p:cNvPr id="100072" name="Universal"/>
          <p:cNvSpPr txBox="1"/>
          <p:nvPr/>
        </p:nvSpPr>
        <p:spPr>
          <a:xfrm xmlns:a="http://schemas.openxmlformats.org/drawingml/2006/main">
            <a:off x="6120000" y="1044000"/>
            <a:ext cx="576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UNIVERSAL GATE SET</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For universal fault-tolerant QC:</a:t>
            </a:r>
          </a:p>
          <a:p xmlns:a="http://schemas.openxmlformats.org/drawingml/2006/main">
            <a:r>
              <a:rPr lang="en-US" sz="1600">
                <a:solidFill>
                  <a:srgbClr val="E8F0FF"/>
                </a:solidFill>
                <a:latin typeface="Segoe UI"/>
                <a:ea typeface="Segoe UI"/>
              </a:rPr>
              <a:t>  { H,  S,  CNOT,  T }</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Clifford group  =  ⟨H, S, CNOT⟩</a:t>
            </a:r>
          </a:p>
          <a:p xmlns:a="http://schemas.openxmlformats.org/drawingml/2006/main">
            <a:r>
              <a:rPr lang="en-US" sz="1600">
                <a:solidFill>
                  <a:srgbClr val="E8F0FF"/>
                </a:solidFill>
                <a:latin typeface="Segoe UI"/>
                <a:ea typeface="Segoe UI"/>
              </a:rPr>
              <a:t>  • Simulable classically (Gottesman-Knill)</a:t>
            </a:r>
          </a:p>
          <a:p xmlns:a="http://schemas.openxmlformats.org/drawingml/2006/main">
            <a:r>
              <a:rPr lang="en-US" sz="1600">
                <a:solidFill>
                  <a:srgbClr val="E8F0FF"/>
                </a:solidFill>
                <a:latin typeface="Segoe UI"/>
                <a:ea typeface="Segoe UI"/>
              </a:rPr>
              <a:t>  • Provided by transversal gates</a:t>
            </a:r>
          </a:p>
          <a:p xmlns:a="http://schemas.openxmlformats.org/drawingml/2006/main">
            <a:r>
              <a:rPr lang="en-US" sz="1600">
                <a:solidFill>
                  <a:srgbClr val="E8F0FF"/>
                </a:solidFill>
                <a:latin typeface="Segoe UI"/>
                <a:ea typeface="Segoe UI"/>
              </a:rPr>
              <a:t>  • Cheap to implement fault-tolerantly</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T gate  =  non-Clifford 'magic' resource</a:t>
            </a:r>
          </a:p>
          <a:p xmlns:a="http://schemas.openxmlformats.org/drawingml/2006/main">
            <a:r>
              <a:rPr lang="en-US" sz="1600">
                <a:solidFill>
                  <a:srgbClr val="E8F0FF"/>
                </a:solidFill>
                <a:latin typeface="Segoe UI"/>
                <a:ea typeface="Segoe UI"/>
              </a:rPr>
              <a:t>  • Requires magic state factory</a:t>
            </a:r>
          </a:p>
          <a:p xmlns:a="http://schemas.openxmlformats.org/drawingml/2006/main">
            <a:r>
              <a:rPr lang="en-US" sz="1600">
                <a:solidFill>
                  <a:srgbClr val="E8F0FF"/>
                </a:solidFill>
                <a:latin typeface="Segoe UI"/>
                <a:ea typeface="Segoe UI"/>
              </a:rPr>
              <a:t>  • Most expensive logical operation</a:t>
            </a:r>
          </a:p>
          <a:p xmlns:a="http://schemas.openxmlformats.org/drawingml/2006/main">
            <a:r>
              <a:rPr lang="en-US" sz="1600">
                <a:solidFill>
                  <a:srgbClr val="E8F0FF"/>
                </a:solidFill>
                <a:latin typeface="Segoe UI"/>
                <a:ea typeface="Segoe UI"/>
              </a:rPr>
              <a:t>  • ~1000× overhead vs Clifford gates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T-COUNT IS CRITICAL:</a:t>
            </a:r>
          </a:p>
          <a:p xmlns:a="http://schemas.openxmlformats.org/drawingml/2006/main">
            <a:r>
              <a:rPr lang="en-US" sz="1600">
                <a:solidFill>
                  <a:srgbClr val="E8F0FF"/>
                </a:solidFill>
                <a:latin typeface="Segoe UI"/>
                <a:ea typeface="Segoe UI"/>
              </a:rPr>
              <a:t>  Shor's algorithm:    O(n³) T-gates</a:t>
            </a:r>
          </a:p>
          <a:p xmlns:a="http://schemas.openxmlformats.org/drawingml/2006/main">
            <a:r>
              <a:rPr lang="en-US" sz="1600">
                <a:solidFill>
                  <a:srgbClr val="E8F0FF"/>
                </a:solidFill>
                <a:latin typeface="Segoe UI"/>
                <a:ea typeface="Segoe UI"/>
              </a:rPr>
              <a:t>  Quantum chemistry:   O(n⁴) T-gates</a:t>
            </a:r>
          </a:p>
          <a:p xmlns:a="http://schemas.openxmlformats.org/drawingml/2006/main">
            <a:r>
              <a:rPr lang="en-US" sz="1600">
                <a:solidFill>
                  <a:srgbClr val="E8F0FF"/>
                </a:solidFill>
                <a:latin typeface="Segoe UI"/>
                <a:ea typeface="Segoe UI"/>
              </a:rPr>
              <a:t>  → Reducing T-count is a major research area</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IBM 2033 TARGET:</a:t>
            </a:r>
          </a:p>
          <a:p xmlns:a="http://schemas.openxmlformats.org/drawingml/2006/main">
            <a:r>
              <a:rPr lang="en-US" sz="1600">
                <a:solidFill>
                  <a:srgbClr val="E8F0FF"/>
                </a:solidFill>
                <a:latin typeface="Segoe UI"/>
                <a:ea typeface="Segoe UI"/>
              </a:rPr>
              <a:t>  ~1 magic state factory per 10 logical qubits</a:t>
            </a:r>
          </a:p>
          <a:p xmlns:a="http://schemas.openxmlformats.org/drawingml/2006/main">
            <a:r>
              <a:rPr lang="en-US" sz="1600">
                <a:solidFill>
                  <a:srgbClr val="E8F0FF"/>
                </a:solidFill>
                <a:latin typeface="Segoe UI"/>
                <a:ea typeface="Segoe UI"/>
              </a:rPr>
              <a:t>  ~1000 physical qubits per factory</a:t>
            </a:r>
          </a:p>
          <a:p xmlns:a="http://schemas.openxmlformats.org/drawingml/2006/main">
            <a:r>
              <a:rPr lang="en-US" sz="1600">
                <a:solidFill>
                  <a:srgbClr val="E8F0FF"/>
                </a:solidFill>
                <a:latin typeface="Segoe UI"/>
                <a:ea typeface="Segoe UI"/>
              </a:rPr>
              <a:t>  Factory cycle: ~10 microseconds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Gidney &amp; Ekera (2021): factoring 2048-bit RSA</a:t>
            </a:r>
          </a:p>
          <a:p xmlns:a="http://schemas.openxmlformats.org/drawingml/2006/main">
            <a:r>
              <a:rPr lang="en-US" sz="1600">
                <a:solidFill>
                  <a:srgbClr val="E8F0FF"/>
                </a:solidFill>
                <a:latin typeface="Segoe UI"/>
                <a:ea typeface="Segoe UI"/>
              </a:rPr>
              <a:t>  requires ~20M physical qubits with MSD.</a:t>
            </a:r>
          </a:p>
        </p:txBody>
      </p:sp>
      <p:sp>
        <p:nvSpPr>
          <p:cNvPr id="100073"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12.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74"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5  —  STATE OF THE ART</a:t>
            </a:r>
          </a:p>
        </p:txBody>
      </p:sp>
      <p:sp>
        <p:nvSpPr>
          <p:cNvPr id="100075"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Segoe UI"/>
                <a:ea typeface="Segoe UI"/>
              </a:rPr>
              <a:t>QEC Demonstrations: IBM · Google · QuEra · Microsoft</a:t>
            </a:r>
          </a:p>
        </p:txBody>
      </p:sp>
      <p:sp>
        <p:nvSpPr>
          <p:cNvPr id="100076"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77" name="IBM"/>
          <p:cNvSpPr txBox="1"/>
          <p:nvPr/>
        </p:nvSpPr>
        <p:spPr>
          <a:xfrm xmlns:a="http://schemas.openxmlformats.org/drawingml/2006/main">
            <a:off x="288000" y="1044000"/>
            <a:ext cx="378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500">
                <a:solidFill>
                  <a:srgbClr val="E8F0FF"/>
                </a:solidFill>
                <a:latin typeface="Segoe UI"/>
                <a:ea typeface="Segoe UI"/>
              </a:rPr>
              <a:t>IBM QUANTUM (2023–2024)</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2023 — Nature 614, 676–681</a:t>
            </a:r>
          </a:p>
          <a:p xmlns:a="http://schemas.openxmlformats.org/drawingml/2006/main">
            <a:r>
              <a:rPr lang="en-US" sz="1500">
                <a:solidFill>
                  <a:srgbClr val="E8F0FF"/>
                </a:solidFill>
                <a:latin typeface="Segoe UI"/>
                <a:ea typeface="Segoe UI"/>
              </a:rPr>
              <a:t>'Suppressing quantum errors by scaling</a:t>
            </a:r>
          </a:p>
          <a:p xmlns:a="http://schemas.openxmlformats.org/drawingml/2006/main">
            <a:r>
              <a:rPr lang="en-US" sz="1500">
                <a:solidFill>
                  <a:srgbClr val="E8F0FF"/>
                </a:solidFill>
                <a:latin typeface="Segoe UI"/>
                <a:ea typeface="Segoe UI"/>
              </a:rPr>
              <a:t>a surface code logical qubit'</a:t>
            </a:r>
          </a:p>
          <a:p xmlns:a="http://schemas.openxmlformats.org/drawingml/2006/main">
            <a:r>
              <a:rPr lang="en-US" sz="1500">
                <a:solidFill>
                  <a:srgbClr val="E8F0FF"/>
                </a:solidFill>
                <a:latin typeface="Segoe UI"/>
                <a:ea typeface="Segoe UI"/>
              </a:rPr>
              <a:t>• 127-qubit Eagle processor</a:t>
            </a:r>
          </a:p>
          <a:p xmlns:a="http://schemas.openxmlformats.org/drawingml/2006/main">
            <a:r>
              <a:rPr lang="en-US" sz="1500">
                <a:solidFill>
                  <a:srgbClr val="E8F0FF"/>
                </a:solidFill>
                <a:latin typeface="Segoe UI"/>
                <a:ea typeface="Segoe UI"/>
              </a:rPr>
              <a:t>• Distances d=3,5,7 all shown</a:t>
            </a:r>
          </a:p>
          <a:p xmlns:a="http://schemas.openxmlformats.org/drawingml/2006/main">
            <a:r>
              <a:rPr lang="en-US" sz="1500">
                <a:solidFill>
                  <a:srgbClr val="E8F0FF"/>
                </a:solidFill>
                <a:latin typeface="Segoe UI"/>
                <a:ea typeface="Segoe UI"/>
              </a:rPr>
              <a:t>• First clear threshold behavior on</a:t>
            </a:r>
          </a:p>
          <a:p xmlns:a="http://schemas.openxmlformats.org/drawingml/2006/main">
            <a:r>
              <a:rPr lang="en-US" sz="1500">
                <a:solidFill>
                  <a:srgbClr val="E8F0FF"/>
                </a:solidFill>
                <a:latin typeface="Segoe UI"/>
                <a:ea typeface="Segoe UI"/>
              </a:rPr>
              <a:t>  real IBM hardware</a:t>
            </a:r>
          </a:p>
          <a:p xmlns:a="http://schemas.openxmlformats.org/drawingml/2006/main">
            <a:r>
              <a:rPr lang="en-US" sz="1500">
                <a:solidFill>
                  <a:srgbClr val="E8F0FF"/>
                </a:solidFill>
                <a:latin typeface="Segoe UI"/>
                <a:ea typeface="Segoe UI"/>
              </a:rPr>
              <a:t>• Physical error rate ~0.3%/cycle</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2024 — Nature (Heron r2)</a:t>
            </a:r>
          </a:p>
          <a:p xmlns:a="http://schemas.openxmlformats.org/drawingml/2006/main">
            <a:r>
              <a:rPr lang="en-US" sz="1500">
                <a:solidFill>
                  <a:srgbClr val="E8F0FF"/>
                </a:solidFill>
                <a:latin typeface="Segoe UI"/>
                <a:ea typeface="Segoe UI"/>
              </a:rPr>
              <a:t>'QEC below the surface code threshold'</a:t>
            </a:r>
          </a:p>
          <a:p xmlns:a="http://schemas.openxmlformats.org/drawingml/2006/main">
            <a:r>
              <a:rPr lang="en-US" sz="1500">
                <a:solidFill>
                  <a:srgbClr val="E8F0FF"/>
                </a:solidFill>
                <a:latin typeface="Segoe UI"/>
                <a:ea typeface="Segoe UI"/>
              </a:rPr>
              <a:t>• 133-qubit Heron r2 processor</a:t>
            </a:r>
          </a:p>
          <a:p xmlns:a="http://schemas.openxmlformats.org/drawingml/2006/main">
            <a:r>
              <a:rPr lang="en-US" sz="1500">
                <a:solidFill>
                  <a:srgbClr val="E8F0FF"/>
                </a:solidFill>
                <a:latin typeface="Segoe UI"/>
                <a:ea typeface="Segoe UI"/>
              </a:rPr>
              <a:t>• 2-qubit gate error: 0.2%</a:t>
            </a:r>
          </a:p>
          <a:p xmlns:a="http://schemas.openxmlformats.org/drawingml/2006/main">
            <a:r>
              <a:rPr lang="en-US" sz="1500">
                <a:solidFill>
                  <a:srgbClr val="E8F0FF"/>
                </a:solidFill>
                <a:latin typeface="Segoe UI"/>
                <a:ea typeface="Segoe UI"/>
              </a:rPr>
              <a:t>• Distance-5 (49 data + 48 syndrome)</a:t>
            </a:r>
          </a:p>
          <a:p xmlns:a="http://schemas.openxmlformats.org/drawingml/2006/main">
            <a:r>
              <a:rPr lang="en-US" sz="1500">
                <a:solidFill>
                  <a:srgbClr val="E8F0FF"/>
                </a:solidFill>
                <a:latin typeface="Segoe UI"/>
                <a:ea typeface="Segoe UI"/>
              </a:rPr>
              <a:t>• Logical error &lt; physical: BREAK-EVEN</a:t>
            </a:r>
          </a:p>
          <a:p xmlns:a="http://schemas.openxmlformats.org/drawingml/2006/main">
            <a:r>
              <a:rPr lang="en-US" sz="1500">
                <a:solidFill>
                  <a:srgbClr val="E8F0FF"/>
                </a:solidFill>
                <a:latin typeface="Segoe UI"/>
                <a:ea typeface="Segoe UI"/>
              </a:rPr>
              <a:t>• Real-time FPGA-based MWPM decoder</a:t>
            </a:r>
          </a:p>
          <a:p xmlns:a="http://schemas.openxmlformats.org/drawingml/2006/main">
            <a:r>
              <a:rPr lang="en-US" sz="1500">
                <a:solidFill>
                  <a:srgbClr val="E8F0FF"/>
                </a:solidFill>
                <a:latin typeface="Segoe UI"/>
                <a:ea typeface="Segoe UI"/>
              </a:rPr>
              <a:t>• Readout fidelity &gt;99%</a:t>
            </a:r>
          </a:p>
        </p:txBody>
      </p:sp>
      <p:sp>
        <p:nvSpPr>
          <p:cNvPr id="100078" name="Google"/>
          <p:cNvSpPr txBox="1"/>
          <p:nvPr/>
        </p:nvSpPr>
        <p:spPr>
          <a:xfrm xmlns:a="http://schemas.openxmlformats.org/drawingml/2006/main">
            <a:off x="4320000" y="1044000"/>
            <a:ext cx="378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500">
                <a:solidFill>
                  <a:srgbClr val="E8F0FF"/>
                </a:solidFill>
                <a:latin typeface="Segoe UI"/>
                <a:ea typeface="Segoe UI"/>
              </a:rPr>
              <a:t>GOOGLE WILLOW (2024)</a:t>
            </a:r>
          </a:p>
          <a:p xmlns:a="http://schemas.openxmlformats.org/drawingml/2006/main">
            <a:r>
              <a:rPr lang="en-US" sz="1500">
                <a:solidFill>
                  <a:srgbClr val="E8F0FF"/>
                </a:solidFill>
                <a:latin typeface="Segoe UI"/>
                <a:ea typeface="Segoe UI"/>
              </a:rPr>
              <a:t>Nature, Dec 2024</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 105-qubit Willow chip</a:t>
            </a:r>
          </a:p>
          <a:p xmlns:a="http://schemas.openxmlformats.org/drawingml/2006/main">
            <a:r>
              <a:rPr lang="en-US" sz="1500">
                <a:solidFill>
                  <a:srgbClr val="E8F0FF"/>
                </a:solidFill>
                <a:latin typeface="Segoe UI"/>
                <a:ea typeface="Segoe UI"/>
              </a:rPr>
              <a:t>• Surface code d=3,5,7</a:t>
            </a:r>
          </a:p>
          <a:p xmlns:a="http://schemas.openxmlformats.org/drawingml/2006/main">
            <a:r>
              <a:rPr lang="en-US" sz="1500">
                <a:solidFill>
                  <a:srgbClr val="E8F0FF"/>
                </a:solidFill>
                <a:latin typeface="Segoe UI"/>
                <a:ea typeface="Segoe UI"/>
              </a:rPr>
              <a:t>• Logical error rate halves</a:t>
            </a:r>
          </a:p>
          <a:p xmlns:a="http://schemas.openxmlformats.org/drawingml/2006/main">
            <a:r>
              <a:rPr lang="en-US" sz="1500">
                <a:solidFill>
                  <a:srgbClr val="E8F0FF"/>
                </a:solidFill>
                <a:latin typeface="Segoe UI"/>
                <a:ea typeface="Segoe UI"/>
              </a:rPr>
              <a:t>  with each distance step</a:t>
            </a:r>
          </a:p>
          <a:p xmlns:a="http://schemas.openxmlformats.org/drawingml/2006/main">
            <a:r>
              <a:rPr lang="en-US" sz="1500">
                <a:solidFill>
                  <a:srgbClr val="E8F0FF"/>
                </a:solidFill>
                <a:latin typeface="Segoe UI"/>
                <a:ea typeface="Segoe UI"/>
              </a:rPr>
              <a:t>• 10× below threshold</a:t>
            </a:r>
          </a:p>
          <a:p xmlns:a="http://schemas.openxmlformats.org/drawingml/2006/main">
            <a:r>
              <a:rPr lang="en-US" sz="1500">
                <a:solidFill>
                  <a:srgbClr val="E8F0FF"/>
                </a:solidFill>
                <a:latin typeface="Segoe UI"/>
                <a:ea typeface="Segoe UI"/>
              </a:rPr>
              <a:t>• RCS: 5 min vs 10²⁵ years</a:t>
            </a:r>
          </a:p>
          <a:p xmlns:a="http://schemas.openxmlformats.org/drawingml/2006/main">
            <a:r>
              <a:rPr lang="en-US" sz="1500">
                <a:solidFill>
                  <a:srgbClr val="E8F0FF"/>
                </a:solidFill>
                <a:latin typeface="Segoe UI"/>
                <a:ea typeface="Segoe UI"/>
              </a:rPr>
              <a:t>  classically</a:t>
            </a:r>
          </a:p>
          <a:p xmlns:a="http://schemas.openxmlformats.org/drawingml/2006/main">
            <a:r>
              <a:rPr lang="en-US" sz="1500">
                <a:solidFill>
                  <a:srgbClr val="E8F0FF"/>
                </a:solidFill>
                <a:latin typeface="Segoe UI"/>
                <a:ea typeface="Segoe UI"/>
              </a:rPr>
              <a:t>• Exponential suppression</a:t>
            </a:r>
          </a:p>
          <a:p xmlns:a="http://schemas.openxmlformats.org/drawingml/2006/main">
            <a:r>
              <a:rPr lang="en-US" sz="1500">
                <a:solidFill>
                  <a:srgbClr val="E8F0FF"/>
                </a:solidFill>
                <a:latin typeface="Segoe UI"/>
                <a:ea typeface="Segoe UI"/>
              </a:rPr>
              <a:t>  clearly demonstrated</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MICROSOFT (2025)</a:t>
            </a:r>
          </a:p>
          <a:p xmlns:a="http://schemas.openxmlformats.org/drawingml/2006/main">
            <a:r>
              <a:rPr lang="en-US" sz="1500">
                <a:solidFill>
                  <a:srgbClr val="E8F0FF"/>
                </a:solidFill>
                <a:latin typeface="Segoe UI"/>
                <a:ea typeface="Segoe UI"/>
              </a:rPr>
              <a:t>Phys. Rev. X</a:t>
            </a:r>
          </a:p>
          <a:p xmlns:a="http://schemas.openxmlformats.org/drawingml/2006/main">
            <a:r>
              <a:rPr lang="en-US" sz="1500">
                <a:solidFill>
                  <a:srgbClr val="E8F0FF"/>
                </a:solidFill>
                <a:latin typeface="Segoe UI"/>
                <a:ea typeface="Segoe UI"/>
              </a:rPr>
              <a:t>• Topological qubits via</a:t>
            </a:r>
          </a:p>
          <a:p xmlns:a="http://schemas.openxmlformats.org/drawingml/2006/main">
            <a:r>
              <a:rPr lang="en-US" sz="1500">
                <a:solidFill>
                  <a:srgbClr val="E8F0FF"/>
                </a:solidFill>
                <a:latin typeface="Segoe UI"/>
                <a:ea typeface="Segoe UI"/>
              </a:rPr>
              <a:t>  Majorana zero modes</a:t>
            </a:r>
          </a:p>
          <a:p xmlns:a="http://schemas.openxmlformats.org/drawingml/2006/main">
            <a:r>
              <a:rPr lang="en-US" sz="1500">
                <a:solidFill>
                  <a:srgbClr val="E8F0FF"/>
                </a:solidFill>
                <a:latin typeface="Segoe UI"/>
                <a:ea typeface="Segoe UI"/>
              </a:rPr>
              <a:t>• 8 topological qubits</a:t>
            </a:r>
          </a:p>
          <a:p xmlns:a="http://schemas.openxmlformats.org/drawingml/2006/main">
            <a:r>
              <a:rPr lang="en-US" sz="1500">
                <a:solidFill>
                  <a:srgbClr val="E8F0FF"/>
                </a:solidFill>
                <a:latin typeface="Segoe UI"/>
                <a:ea typeface="Segoe UI"/>
              </a:rPr>
              <a:t>• Hardware-level protection</a:t>
            </a:r>
          </a:p>
          <a:p xmlns:a="http://schemas.openxmlformats.org/drawingml/2006/main">
            <a:r>
              <a:rPr lang="en-US" sz="1500">
                <a:solidFill>
                  <a:srgbClr val="E8F0FF"/>
                </a:solidFill>
                <a:latin typeface="Segoe UI"/>
                <a:ea typeface="Segoe UI"/>
              </a:rPr>
              <a:t>  (not software overhead)</a:t>
            </a:r>
          </a:p>
          <a:p xmlns:a="http://schemas.openxmlformats.org/drawingml/2006/main">
            <a:r>
              <a:rPr lang="en-US" sz="1500">
                <a:solidFill>
                  <a:srgbClr val="E8F0FF"/>
                </a:solidFill>
                <a:latin typeface="Segoe UI"/>
                <a:ea typeface="Segoe UI"/>
              </a:rPr>
              <a:t>• Non-Abelian anyons</a:t>
            </a:r>
          </a:p>
          <a:p xmlns:a="http://schemas.openxmlformats.org/drawingml/2006/main">
            <a:r>
              <a:rPr lang="en-US" sz="1500">
                <a:solidFill>
                  <a:srgbClr val="E8F0FF"/>
                </a:solidFill>
                <a:latin typeface="Segoe UI"/>
                <a:ea typeface="Segoe UI"/>
              </a:rPr>
              <a:t>  observed experimentally</a:t>
            </a:r>
          </a:p>
        </p:txBody>
      </p:sp>
      <p:sp>
        <p:nvSpPr>
          <p:cNvPr id="100079" name="QuEra"/>
          <p:cNvSpPr txBox="1"/>
          <p:nvPr/>
        </p:nvSpPr>
        <p:spPr>
          <a:xfrm xmlns:a="http://schemas.openxmlformats.org/drawingml/2006/main">
            <a:off x="8352000" y="1044000"/>
            <a:ext cx="360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500">
                <a:solidFill>
                  <a:srgbClr val="E8F0FF"/>
                </a:solidFill>
                <a:latin typeface="Segoe UI"/>
                <a:ea typeface="Segoe UI"/>
              </a:rPr>
              <a:t>HARVARD / QuEra (2023)</a:t>
            </a:r>
          </a:p>
          <a:p xmlns:a="http://schemas.openxmlformats.org/drawingml/2006/main">
            <a:r>
              <a:rPr lang="en-US" sz="1500">
                <a:solidFill>
                  <a:srgbClr val="E8F0FF"/>
                </a:solidFill>
                <a:latin typeface="Segoe UI"/>
                <a:ea typeface="Segoe UI"/>
              </a:rPr>
              <a:t>Nature 626, 58–65 (2024)</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 Neutral atom processor</a:t>
            </a:r>
          </a:p>
          <a:p xmlns:a="http://schemas.openxmlformats.org/drawingml/2006/main">
            <a:r>
              <a:rPr lang="en-US" sz="1500">
                <a:solidFill>
                  <a:srgbClr val="E8F0FF"/>
                </a:solidFill>
                <a:latin typeface="Segoe UI"/>
                <a:ea typeface="Segoe UI"/>
              </a:rPr>
              <a:t>• 280 physical atoms</a:t>
            </a:r>
          </a:p>
          <a:p xmlns:a="http://schemas.openxmlformats.org/drawingml/2006/main">
            <a:r>
              <a:rPr lang="en-US" sz="1500">
                <a:solidFill>
                  <a:srgbClr val="E8F0FF"/>
                </a:solidFill>
                <a:latin typeface="Segoe UI"/>
                <a:ea typeface="Segoe UI"/>
              </a:rPr>
              <a:t>• 48 logical qubits encoded</a:t>
            </a:r>
          </a:p>
          <a:p xmlns:a="http://schemas.openxmlformats.org/drawingml/2006/main">
            <a:r>
              <a:rPr lang="en-US" sz="1500">
                <a:solidFill>
                  <a:srgbClr val="E8F0FF"/>
                </a:solidFill>
                <a:latin typeface="Segoe UI"/>
                <a:ea typeface="Segoe UI"/>
              </a:rPr>
              <a:t>• Transversal CNOT demonstrated</a:t>
            </a:r>
          </a:p>
          <a:p xmlns:a="http://schemas.openxmlformats.org/drawingml/2006/main">
            <a:r>
              <a:rPr lang="en-US" sz="1500">
                <a:solidFill>
                  <a:srgbClr val="E8F0FF"/>
                </a:solidFill>
                <a:latin typeface="Segoe UI"/>
                <a:ea typeface="Segoe UI"/>
              </a:rPr>
              <a:t>• Reconfigurable connectivity</a:t>
            </a:r>
          </a:p>
          <a:p xmlns:a="http://schemas.openxmlformats.org/drawingml/2006/main">
            <a:r>
              <a:rPr lang="en-US" sz="1500">
                <a:solidFill>
                  <a:srgbClr val="E8F0FF"/>
                </a:solidFill>
                <a:latin typeface="Segoe UI"/>
                <a:ea typeface="Segoe UI"/>
              </a:rPr>
              <a:t>  enables LDPC codes</a:t>
            </a:r>
          </a:p>
          <a:p xmlns:a="http://schemas.openxmlformats.org/drawingml/2006/main">
            <a:r>
              <a:rPr lang="en-US" sz="1500">
                <a:solidFill>
                  <a:srgbClr val="E8F0FF"/>
                </a:solidFill>
                <a:latin typeface="Segoe UI"/>
                <a:ea typeface="Segoe UI"/>
              </a:rPr>
              <a:t>• First multi-logical-qubit</a:t>
            </a:r>
          </a:p>
          <a:p xmlns:a="http://schemas.openxmlformats.org/drawingml/2006/main">
            <a:r>
              <a:rPr lang="en-US" sz="1500">
                <a:solidFill>
                  <a:srgbClr val="E8F0FF"/>
                </a:solidFill>
                <a:latin typeface="Segoe UI"/>
                <a:ea typeface="Segoe UI"/>
              </a:rPr>
              <a:t>  fault-tolerant operations</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QUANTINUM (2023)</a:t>
            </a:r>
          </a:p>
          <a:p xmlns:a="http://schemas.openxmlformats.org/drawingml/2006/main">
            <a:r>
              <a:rPr lang="en-US" sz="1500">
                <a:solidFill>
                  <a:srgbClr val="E8F0FF"/>
                </a:solidFill>
                <a:latin typeface="Segoe UI"/>
                <a:ea typeface="Segoe UI"/>
              </a:rPr>
              <a:t>Nature Physics (2024)</a:t>
            </a:r>
          </a:p>
          <a:p xmlns:a="http://schemas.openxmlformats.org/drawingml/2006/main">
            <a:r>
              <a:rPr lang="en-US" sz="1500">
                <a:solidFill>
                  <a:srgbClr val="E8F0FF"/>
                </a:solidFill>
                <a:latin typeface="Segoe UI"/>
                <a:ea typeface="Segoe UI"/>
              </a:rPr>
              <a:t>• Trapped ion processor</a:t>
            </a:r>
          </a:p>
          <a:p xmlns:a="http://schemas.openxmlformats.org/drawingml/2006/main">
            <a:r>
              <a:rPr lang="en-US" sz="1500">
                <a:solidFill>
                  <a:srgbClr val="E8F0FF"/>
                </a:solidFill>
                <a:latin typeface="Segoe UI"/>
                <a:ea typeface="Segoe UI"/>
              </a:rPr>
              <a:t>• [[7,1,3]] Steane code</a:t>
            </a:r>
          </a:p>
          <a:p xmlns:a="http://schemas.openxmlformats.org/drawingml/2006/main">
            <a:r>
              <a:rPr lang="en-US" sz="1500">
                <a:solidFill>
                  <a:srgbClr val="E8F0FF"/>
                </a:solidFill>
                <a:latin typeface="Segoe UI"/>
                <a:ea typeface="Segoe UI"/>
              </a:rPr>
              <a:t>• Logical operations with</a:t>
            </a:r>
          </a:p>
          <a:p xmlns:a="http://schemas.openxmlformats.org/drawingml/2006/main">
            <a:r>
              <a:rPr lang="en-US" sz="1500">
                <a:solidFill>
                  <a:srgbClr val="E8F0FF"/>
                </a:solidFill>
                <a:latin typeface="Segoe UI"/>
                <a:ea typeface="Segoe UI"/>
              </a:rPr>
              <a:t>  error rate below physical</a:t>
            </a:r>
          </a:p>
          <a:p xmlns:a="http://schemas.openxmlformats.org/drawingml/2006/main">
            <a:r>
              <a:rPr lang="en-US" sz="1500">
                <a:solidFill>
                  <a:srgbClr val="E8F0FF"/>
                </a:solidFill>
                <a:latin typeface="Segoe UI"/>
                <a:ea typeface="Segoe UI"/>
              </a:rPr>
              <a:t>• All-to-all connectivity</a:t>
            </a:r>
          </a:p>
          <a:p xmlns:a="http://schemas.openxmlformats.org/drawingml/2006/main">
            <a:r>
              <a:rPr lang="en-US" sz="1500">
                <a:solidFill>
                  <a:srgbClr val="E8F0FF"/>
                </a:solidFill>
                <a:latin typeface="Segoe UI"/>
                <a:ea typeface="Segoe UI"/>
              </a:rPr>
              <a:t>  enables deeper circuits</a:t>
            </a:r>
          </a:p>
          <a:p xmlns:a="http://schemas.openxmlformats.org/drawingml/2006/main">
            <a:r>
              <a:rPr lang="en-US" sz="1500">
                <a:solidFill>
                  <a:srgbClr val="E8F0FF"/>
                </a:solidFill>
                <a:latin typeface="Segoe UI"/>
                <a:ea typeface="Segoe UI"/>
              </a:rPr>
              <a:t>• Demonstrated for real</a:t>
            </a:r>
          </a:p>
          <a:p xmlns:a="http://schemas.openxmlformats.org/drawingml/2006/main">
            <a:r>
              <a:rPr lang="en-US" sz="1500">
                <a:solidFill>
                  <a:srgbClr val="E8F0FF"/>
                </a:solidFill>
                <a:latin typeface="Segoe UI"/>
                <a:ea typeface="Segoe UI"/>
              </a:rPr>
              <a:t>  chemistry VQE problem</a:t>
            </a:r>
          </a:p>
        </p:txBody>
      </p:sp>
      <p:sp>
        <p:nvSpPr>
          <p:cNvPr id="100080"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13.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81"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5  —  STATE OF THE ART</a:t>
            </a:r>
          </a:p>
        </p:txBody>
      </p:sp>
      <p:sp>
        <p:nvSpPr>
          <p:cNvPr id="100082"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800" b="1">
                <a:solidFill>
                  <a:srgbClr val="FFFFFF"/>
                </a:solidFill>
                <a:latin typeface="Segoe UI"/>
                <a:ea typeface="Segoe UI"/>
              </a:rPr>
              <a:t>IBM Quantum Roadmap — Path to Fault Tolerance</a:t>
            </a:r>
          </a:p>
        </p:txBody>
      </p:sp>
      <p:sp>
        <p:nvSpPr>
          <p:cNvPr id="100083"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84" name="Timeline"/>
          <p:cNvSpPr txBox="1"/>
          <p:nvPr/>
        </p:nvSpPr>
        <p:spPr>
          <a:xfrm xmlns:a="http://schemas.openxmlformats.org/drawingml/2006/main">
            <a:off x="288000" y="1044000"/>
            <a:ext cx="558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IBM QUANTUM ROADMAP (2024–2033)</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2024  Heron r2  (133 qubits)</a:t>
            </a:r>
          </a:p>
          <a:p xmlns:a="http://schemas.openxmlformats.org/drawingml/2006/main">
            <a:r>
              <a:rPr lang="en-US" sz="1600">
                <a:solidFill>
                  <a:srgbClr val="E8F0FF"/>
                </a:solidFill>
                <a:latin typeface="Segoe UI"/>
                <a:ea typeface="Segoe UI"/>
              </a:rPr>
              <a:t>  • 2Q gate error: 0.2%</a:t>
            </a:r>
          </a:p>
          <a:p xmlns:a="http://schemas.openxmlformats.org/drawingml/2006/main">
            <a:r>
              <a:rPr lang="en-US" sz="1600">
                <a:solidFill>
                  <a:srgbClr val="E8F0FF"/>
                </a:solidFill>
                <a:latin typeface="Segoe UI"/>
                <a:ea typeface="Segoe UI"/>
              </a:rPr>
              <a:t>  • Break-even: distance-5 surface code</a:t>
            </a:r>
          </a:p>
          <a:p xmlns:a="http://schemas.openxmlformats.org/drawingml/2006/main">
            <a:r>
              <a:rPr lang="en-US" sz="1600">
                <a:solidFill>
                  <a:srgbClr val="E8F0FF"/>
                </a:solidFill>
                <a:latin typeface="Segoe UI"/>
                <a:ea typeface="Segoe UI"/>
              </a:rPr>
              <a:t>  • FPGA real-time decoding</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2025  Nighthawk / Flamingo  (1,000+ qubits)</a:t>
            </a:r>
          </a:p>
          <a:p xmlns:a="http://schemas.openxmlformats.org/drawingml/2006/main">
            <a:r>
              <a:rPr lang="en-US" sz="1600">
                <a:solidFill>
                  <a:srgbClr val="E8F0FF"/>
                </a:solidFill>
                <a:latin typeface="Segoe UI"/>
                <a:ea typeface="Segoe UI"/>
              </a:rPr>
              <a:t>  • Modular quantum interconnects</a:t>
            </a:r>
          </a:p>
          <a:p xmlns:a="http://schemas.openxmlformats.org/drawingml/2006/main">
            <a:r>
              <a:rPr lang="en-US" sz="1600">
                <a:solidFill>
                  <a:srgbClr val="E8F0FF"/>
                </a:solidFill>
                <a:latin typeface="Segoe UI"/>
                <a:ea typeface="Segoe UI"/>
              </a:rPr>
              <a:t>  • 0.05% 2Q gate error target</a:t>
            </a:r>
          </a:p>
          <a:p xmlns:a="http://schemas.openxmlformats.org/drawingml/2006/main">
            <a:r>
              <a:rPr lang="en-US" sz="1600">
                <a:solidFill>
                  <a:srgbClr val="E8F0FF"/>
                </a:solidFill>
                <a:latin typeface="Segoe UI"/>
                <a:ea typeface="Segoe UI"/>
              </a:rPr>
              <a:t>  • First multi-chip logical qubit demo</a:t>
            </a:r>
          </a:p>
          <a:p xmlns:a="http://schemas.openxmlformats.org/drawingml/2006/main">
            <a:r>
              <a:rPr lang="en-US" sz="1600">
                <a:solidFill>
                  <a:srgbClr val="E8F0FF"/>
                </a:solidFill>
                <a:latin typeface="Segoe UI"/>
                <a:ea typeface="Segoe UI"/>
              </a:rPr>
              <a:t>  • Communication qubits: &gt;99% teleportation</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2026  Crossbill  (~2,000 qubits)</a:t>
            </a:r>
          </a:p>
          <a:p xmlns:a="http://schemas.openxmlformats.org/drawingml/2006/main">
            <a:r>
              <a:rPr lang="en-US" sz="1600">
                <a:solidFill>
                  <a:srgbClr val="E8F0FF"/>
                </a:solidFill>
                <a:latin typeface="Segoe UI"/>
                <a:ea typeface="Segoe UI"/>
              </a:rPr>
              <a:t>  • Distance-7 surface codes</a:t>
            </a:r>
          </a:p>
          <a:p xmlns:a="http://schemas.openxmlformats.org/drawingml/2006/main">
            <a:r>
              <a:rPr lang="en-US" sz="1600">
                <a:solidFill>
                  <a:srgbClr val="E8F0FF"/>
                </a:solidFill>
                <a:latin typeface="Segoe UI"/>
                <a:ea typeface="Segoe UI"/>
              </a:rPr>
              <a:t>  • 10+ logical qubit circuits</a:t>
            </a:r>
          </a:p>
          <a:p xmlns:a="http://schemas.openxmlformats.org/drawingml/2006/main">
            <a:r>
              <a:rPr lang="en-US" sz="1600">
                <a:solidFill>
                  <a:srgbClr val="E8F0FF"/>
                </a:solidFill>
                <a:latin typeface="Segoe UI"/>
                <a:ea typeface="Segoe UI"/>
              </a:rPr>
              <a:t>  • Qiskit logical qubit abstraction layer</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2029  Quantum-Centric Supercomputing</a:t>
            </a:r>
          </a:p>
          <a:p xmlns:a="http://schemas.openxmlformats.org/drawingml/2006/main">
            <a:r>
              <a:rPr lang="en-US" sz="1600">
                <a:solidFill>
                  <a:srgbClr val="E8F0FF"/>
                </a:solidFill>
                <a:latin typeface="Segoe UI"/>
                <a:ea typeface="Segoe UI"/>
              </a:rPr>
              <a:t>  • 100 logical qubits per cluster</a:t>
            </a:r>
          </a:p>
          <a:p xmlns:a="http://schemas.openxmlformats.org/drawingml/2006/main">
            <a:r>
              <a:rPr lang="en-US" sz="1600">
                <a:solidFill>
                  <a:srgbClr val="E8F0FF"/>
                </a:solidFill>
                <a:latin typeface="Segoe UI"/>
                <a:ea typeface="Segoe UI"/>
              </a:rPr>
              <a:t>  • IBM HPC + quantum middleware</a:t>
            </a:r>
          </a:p>
          <a:p xmlns:a="http://schemas.openxmlformats.org/drawingml/2006/main">
            <a:r>
              <a:rPr lang="en-US" sz="1600">
                <a:solidFill>
                  <a:srgbClr val="E8F0FF"/>
                </a:solidFill>
                <a:latin typeface="Segoe UI"/>
                <a:ea typeface="Segoe UI"/>
              </a:rPr>
              <a:t>  • Target: molecular simulation advantage</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2033  Error-Corrected Universal QC</a:t>
            </a:r>
          </a:p>
          <a:p xmlns:a="http://schemas.openxmlformats.org/drawingml/2006/main">
            <a:r>
              <a:rPr lang="en-US" sz="1600">
                <a:solidFill>
                  <a:srgbClr val="E8F0FF"/>
                </a:solidFill>
                <a:latin typeface="Segoe UI"/>
                <a:ea typeface="Segoe UI"/>
              </a:rPr>
              <a:t>  • 2,000 logical qubits</a:t>
            </a:r>
          </a:p>
          <a:p xmlns:a="http://schemas.openxmlformats.org/drawingml/2006/main">
            <a:r>
              <a:rPr lang="en-US" sz="1600">
                <a:solidFill>
                  <a:srgbClr val="E8F0FF"/>
                </a:solidFill>
                <a:latin typeface="Segoe UI"/>
                <a:ea typeface="Segoe UI"/>
              </a:rPr>
              <a:t>  • ~100,000 physical qubits</a:t>
            </a:r>
          </a:p>
          <a:p xmlns:a="http://schemas.openxmlformats.org/drawingml/2006/main">
            <a:r>
              <a:rPr lang="en-US" sz="1600">
                <a:solidFill>
                  <a:srgbClr val="E8F0FF"/>
                </a:solidFill>
                <a:latin typeface="Segoe UI"/>
                <a:ea typeface="Segoe UI"/>
              </a:rPr>
              <a:t>  • P_logical &lt; 10⁻¹⁰</a:t>
            </a:r>
          </a:p>
          <a:p xmlns:a="http://schemas.openxmlformats.org/drawingml/2006/main">
            <a:r>
              <a:rPr lang="en-US" sz="1600">
                <a:solidFill>
                  <a:srgbClr val="E8F0FF"/>
                </a:solidFill>
                <a:latin typeface="Segoe UI"/>
                <a:ea typeface="Segoe UI"/>
              </a:rPr>
              <a:t>  • Fault-tolerant Shor's algorithm feasible</a:t>
            </a:r>
          </a:p>
        </p:txBody>
      </p:sp>
      <p:sp>
        <p:nvSpPr>
          <p:cNvPr id="100085" name="Milestones"/>
          <p:cNvSpPr txBox="1"/>
          <p:nvPr/>
        </p:nvSpPr>
        <p:spPr>
          <a:xfrm xmlns:a="http://schemas.openxmlformats.org/drawingml/2006/main">
            <a:off x="6120000" y="1044000"/>
            <a:ext cx="5760000" cy="5040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KEY MILESTONES ACHIEVED</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2016  5-qubit IBM Q  (cloud access)</a:t>
            </a:r>
          </a:p>
          <a:p xmlns:a="http://schemas.openxmlformats.org/drawingml/2006/main">
            <a:r>
              <a:rPr lang="en-US" sz="1600">
                <a:solidFill>
                  <a:srgbClr val="E8F0FF"/>
                </a:solidFill>
                <a:latin typeface="Segoe UI"/>
                <a:ea typeface="Segoe UI"/>
              </a:rPr>
              <a:t>✅ 2019  53-qubit Rochester</a:t>
            </a:r>
          </a:p>
          <a:p xmlns:a="http://schemas.openxmlformats.org/drawingml/2006/main">
            <a:r>
              <a:rPr lang="en-US" sz="1600">
                <a:solidFill>
                  <a:srgbClr val="E8F0FF"/>
                </a:solidFill>
                <a:latin typeface="Segoe UI"/>
                <a:ea typeface="Segoe UI"/>
              </a:rPr>
              <a:t>✅ 2021  127-qubit Eagle</a:t>
            </a:r>
          </a:p>
          <a:p xmlns:a="http://schemas.openxmlformats.org/drawingml/2006/main">
            <a:r>
              <a:rPr lang="en-US" sz="1600">
                <a:solidFill>
                  <a:srgbClr val="E8F0FF"/>
                </a:solidFill>
                <a:latin typeface="Segoe UI"/>
                <a:ea typeface="Segoe UI"/>
              </a:rPr>
              <a:t>✅ 2022  433-qubit Osprey</a:t>
            </a:r>
          </a:p>
          <a:p xmlns:a="http://schemas.openxmlformats.org/drawingml/2006/main">
            <a:r>
              <a:rPr lang="en-US" sz="1600">
                <a:solidFill>
                  <a:srgbClr val="E8F0FF"/>
                </a:solidFill>
                <a:latin typeface="Segoe UI"/>
                <a:ea typeface="Segoe UI"/>
              </a:rPr>
              <a:t>✅ 2023  1,121-qubit Condor</a:t>
            </a:r>
          </a:p>
          <a:p xmlns:a="http://schemas.openxmlformats.org/drawingml/2006/main">
            <a:r>
              <a:rPr lang="en-US" sz="1600">
                <a:solidFill>
                  <a:srgbClr val="E8F0FF"/>
                </a:solidFill>
                <a:latin typeface="Segoe UI"/>
                <a:ea typeface="Segoe UI"/>
              </a:rPr>
              <a:t>         Nature: QEC threshold demo</a:t>
            </a:r>
          </a:p>
          <a:p xmlns:a="http://schemas.openxmlformats.org/drawingml/2006/main">
            <a:r>
              <a:rPr lang="en-US" sz="1600">
                <a:solidFill>
                  <a:srgbClr val="E8F0FF"/>
                </a:solidFill>
                <a:latin typeface="Segoe UI"/>
                <a:ea typeface="Segoe UI"/>
              </a:rPr>
              <a:t>✅ 2024  Heron r2 break-even</a:t>
            </a:r>
          </a:p>
          <a:p xmlns:a="http://schemas.openxmlformats.org/drawingml/2006/main">
            <a:r>
              <a:rPr lang="en-US" sz="1600">
                <a:solidFill>
                  <a:srgbClr val="E8F0FF"/>
                </a:solidFill>
                <a:latin typeface="Segoe UI"/>
                <a:ea typeface="Segoe UI"/>
              </a:rPr>
              <a:t>         0.2% 2Q error, d=5 surface code</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UPCOMING:</a:t>
            </a:r>
          </a:p>
          <a:p xmlns:a="http://schemas.openxmlformats.org/drawingml/2006/main">
            <a:r>
              <a:rPr lang="en-US" sz="1600">
                <a:solidFill>
                  <a:srgbClr val="E8F0FF"/>
                </a:solidFill>
                <a:latin typeface="Segoe UI"/>
                <a:ea typeface="Segoe UI"/>
              </a:rPr>
              <a:t>  ⬡ 2025  Multi-chip logical qubit</a:t>
            </a:r>
          </a:p>
          <a:p xmlns:a="http://schemas.openxmlformats.org/drawingml/2006/main">
            <a:r>
              <a:rPr lang="en-US" sz="1600">
                <a:solidFill>
                  <a:srgbClr val="E8F0FF"/>
                </a:solidFill>
                <a:latin typeface="Segoe UI"/>
                <a:ea typeface="Segoe UI"/>
              </a:rPr>
              <a:t>  ⬡ 2026  50 logical qubits</a:t>
            </a:r>
          </a:p>
          <a:p xmlns:a="http://schemas.openxmlformats.org/drawingml/2006/main">
            <a:r>
              <a:rPr lang="en-US" sz="1600">
                <a:solidFill>
                  <a:srgbClr val="E8F0FF"/>
                </a:solidFill>
                <a:latin typeface="Segoe UI"/>
                <a:ea typeface="Segoe UI"/>
              </a:rPr>
              <a:t>  ⬡ 2029  Quantum advantage demo</a:t>
            </a:r>
          </a:p>
          <a:p xmlns:a="http://schemas.openxmlformats.org/drawingml/2006/main">
            <a:r>
              <a:rPr lang="en-US" sz="1600">
                <a:solidFill>
                  <a:srgbClr val="E8F0FF"/>
                </a:solidFill>
                <a:latin typeface="Segoe UI"/>
                <a:ea typeface="Segoe UI"/>
              </a:rPr>
              <a:t>  ⬡ 2033  2,000 logical qubits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QISKIT INTEGRATION:</a:t>
            </a:r>
          </a:p>
          <a:p xmlns:a="http://schemas.openxmlformats.org/drawingml/2006/main">
            <a:r>
              <a:rPr lang="en-US" sz="1600">
                <a:solidFill>
                  <a:srgbClr val="E8F0FF"/>
                </a:solidFill>
                <a:latin typeface="Segoe UI"/>
                <a:ea typeface="Segoe UI"/>
              </a:rPr>
              <a:t>  • qiskit-ibm-runtime v2:</a:t>
            </a:r>
          </a:p>
          <a:p xmlns:a="http://schemas.openxmlformats.org/drawingml/2006/main">
            <a:r>
              <a:rPr lang="en-US" sz="1600">
                <a:solidFill>
                  <a:srgbClr val="E8F0FF"/>
                </a:solidFill>
                <a:latin typeface="Segoe UI"/>
                <a:ea typeface="Segoe UI"/>
              </a:rPr>
              <a:t>    logical qubit abstraction</a:t>
            </a:r>
          </a:p>
          <a:p xmlns:a="http://schemas.openxmlformats.org/drawingml/2006/main">
            <a:r>
              <a:rPr lang="en-US" sz="1600">
                <a:solidFill>
                  <a:srgbClr val="E8F0FF"/>
                </a:solidFill>
                <a:latin typeface="Segoe UI"/>
                <a:ea typeface="Segoe UI"/>
              </a:rPr>
              <a:t>  • Transpiler: auto-encode to QEC</a:t>
            </a:r>
          </a:p>
          <a:p xmlns:a="http://schemas.openxmlformats.org/drawingml/2006/main">
            <a:r>
              <a:rPr lang="en-US" sz="1600">
                <a:solidFill>
                  <a:srgbClr val="E8F0FF"/>
                </a:solidFill>
                <a:latin typeface="Segoe UI"/>
                <a:ea typeface="Segoe UI"/>
              </a:rPr>
              <a:t>  • Error mitigation → correction</a:t>
            </a:r>
          </a:p>
          <a:p xmlns:a="http://schemas.openxmlformats.org/drawingml/2006/main">
            <a:r>
              <a:rPr lang="en-US" sz="1600">
                <a:solidFill>
                  <a:srgbClr val="E8F0FF"/>
                </a:solidFill>
                <a:latin typeface="Segoe UI"/>
                <a:ea typeface="Segoe UI"/>
              </a:rPr>
              <a:t>    transition path in SDK</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Source: ibm.com/quantum/roadmap</a:t>
            </a:r>
          </a:p>
        </p:txBody>
      </p:sp>
      <p:sp>
        <p:nvSpPr>
          <p:cNvPr id="100086"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14.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87"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7B3FE4"/>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6  —  RESEARCH PAPERS  |  SEMINAL FOUNDATIONS</a:t>
            </a:r>
          </a:p>
        </p:txBody>
      </p:sp>
      <p:sp>
        <p:nvSpPr>
          <p:cNvPr id="100088"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Segoe UI"/>
                <a:ea typeface="Segoe UI"/>
              </a:rPr>
              <a:t>Seminal QEC Papers — The Foundations (1995–2012)</a:t>
            </a:r>
          </a:p>
        </p:txBody>
      </p:sp>
      <p:sp>
        <p:nvSpPr>
          <p:cNvPr id="100089"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90" name="Papers1"/>
          <p:cNvSpPr txBox="1"/>
          <p:nvPr/>
        </p:nvSpPr>
        <p:spPr>
          <a:xfrm xmlns:a="http://schemas.openxmlformats.org/drawingml/2006/main">
            <a:off x="288000" y="1044000"/>
            <a:ext cx="5580000" cy="5328000"/>
          </a:xfrm>
          <a:prstGeom xmlns:a="http://schemas.openxmlformats.org/drawingml/2006/main" prst="rect">
            <a:avLst/>
          </a:prstGeom>
          <a:solidFill xmlns:a="http://schemas.openxmlformats.org/drawingml/2006/main">
            <a:srgbClr val="0C1A35"/>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[1] SHOR (1995)  —  First Universal QEC Code</a:t>
            </a:r>
          </a:p>
          <a:p xmlns:a="http://schemas.openxmlformats.org/drawingml/2006/main">
            <a:r>
              <a:rPr lang="en-US" sz="1600">
                <a:solidFill>
                  <a:srgbClr val="E8F0FF"/>
                </a:solidFill>
                <a:latin typeface="Segoe UI"/>
                <a:ea typeface="Segoe UI"/>
              </a:rPr>
              <a:t>     Phys. Rev. A 52, R2493</a:t>
            </a:r>
          </a:p>
          <a:p xmlns:a="http://schemas.openxmlformats.org/drawingml/2006/main">
            <a:r>
              <a:rPr lang="en-US" sz="1600">
                <a:solidFill>
                  <a:srgbClr val="E8F0FF"/>
                </a:solidFill>
                <a:latin typeface="Segoe UI"/>
                <a:ea typeface="Segoe UI"/>
              </a:rPr>
              <a:t>     'Scheme for reducing decoherence in</a:t>
            </a:r>
          </a:p>
          <a:p xmlns:a="http://schemas.openxmlformats.org/drawingml/2006/main">
            <a:r>
              <a:rPr lang="en-US" sz="1600">
                <a:solidFill>
                  <a:srgbClr val="E8F0FF"/>
                </a:solidFill>
                <a:latin typeface="Segoe UI"/>
                <a:ea typeface="Segoe UI"/>
              </a:rPr>
              <a:t>      quantum computer memory'</a:t>
            </a:r>
          </a:p>
          <a:p xmlns:a="http://schemas.openxmlformats.org/drawingml/2006/main">
            <a:r>
              <a:rPr lang="en-US" sz="1600">
                <a:solidFill>
                  <a:srgbClr val="E8F0FF"/>
                </a:solidFill>
                <a:latin typeface="Segoe UI"/>
                <a:ea typeface="Segoe UI"/>
              </a:rPr>
              <a:t>     → [[9,1,3]] code correcting any 1-qubit error</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[2] STEANE (1996)  —  CSS Code Construction</a:t>
            </a:r>
          </a:p>
          <a:p xmlns:a="http://schemas.openxmlformats.org/drawingml/2006/main">
            <a:r>
              <a:rPr lang="en-US" sz="1600">
                <a:solidFill>
                  <a:srgbClr val="E8F0FF"/>
                </a:solidFill>
                <a:latin typeface="Segoe UI"/>
                <a:ea typeface="Segoe UI"/>
              </a:rPr>
              <a:t>     PRL 77, 793</a:t>
            </a:r>
          </a:p>
          <a:p xmlns:a="http://schemas.openxmlformats.org/drawingml/2006/main">
            <a:r>
              <a:rPr lang="en-US" sz="1600">
                <a:solidFill>
                  <a:srgbClr val="E8F0FF"/>
                </a:solidFill>
                <a:latin typeface="Segoe UI"/>
                <a:ea typeface="Segoe UI"/>
              </a:rPr>
              <a:t>     'Error correcting codes in quantum theory'</a:t>
            </a:r>
          </a:p>
          <a:p xmlns:a="http://schemas.openxmlformats.org/drawingml/2006/main">
            <a:r>
              <a:rPr lang="en-US" sz="1600">
                <a:solidFill>
                  <a:srgbClr val="E8F0FF"/>
                </a:solidFill>
                <a:latin typeface="Segoe UI"/>
                <a:ea typeface="Segoe UI"/>
              </a:rPr>
              <a:t>     → [[7,1,3]] from classical Hamming code</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[3] CALDERBANK &amp; SHOR (1996)</a:t>
            </a:r>
          </a:p>
          <a:p xmlns:a="http://schemas.openxmlformats.org/drawingml/2006/main">
            <a:r>
              <a:rPr lang="en-US" sz="1600">
                <a:solidFill>
                  <a:srgbClr val="E8F0FF"/>
                </a:solidFill>
                <a:latin typeface="Segoe UI"/>
                <a:ea typeface="Segoe UI"/>
              </a:rPr>
              <a:t>     Phys. Rev. A 54, 1098</a:t>
            </a:r>
          </a:p>
          <a:p xmlns:a="http://schemas.openxmlformats.org/drawingml/2006/main">
            <a:r>
              <a:rPr lang="en-US" sz="1600">
                <a:solidFill>
                  <a:srgbClr val="E8F0FF"/>
                </a:solidFill>
                <a:latin typeface="Segoe UI"/>
                <a:ea typeface="Segoe UI"/>
              </a:rPr>
              <a:t>     'Good quantum error-correcting codes exist'</a:t>
            </a:r>
          </a:p>
          <a:p xmlns:a="http://schemas.openxmlformats.org/drawingml/2006/main">
            <a:r>
              <a:rPr lang="en-US" sz="1600">
                <a:solidFill>
                  <a:srgbClr val="E8F0FF"/>
                </a:solidFill>
                <a:latin typeface="Segoe UI"/>
                <a:ea typeface="Segoe UI"/>
              </a:rPr>
              <a:t>     → CSS construction, systematic code families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[4] GOTTESMAN (1997)  —  Stabilizer Formalism</a:t>
            </a:r>
          </a:p>
          <a:p xmlns:a="http://schemas.openxmlformats.org/drawingml/2006/main">
            <a:r>
              <a:rPr lang="en-US" sz="1600">
                <a:solidFill>
                  <a:srgbClr val="E8F0FF"/>
                </a:solidFill>
                <a:latin typeface="Segoe UI"/>
                <a:ea typeface="Segoe UI"/>
              </a:rPr>
              <a:t>     Caltech PhD Thesis</a:t>
            </a:r>
          </a:p>
          <a:p xmlns:a="http://schemas.openxmlformats.org/drawingml/2006/main">
            <a:r>
              <a:rPr lang="en-US" sz="1600">
                <a:solidFill>
                  <a:srgbClr val="E8F0FF"/>
                </a:solidFill>
                <a:latin typeface="Segoe UI"/>
                <a:ea typeface="Segoe UI"/>
              </a:rPr>
              <a:t>     'Stabilizer codes and quantum error correction'</a:t>
            </a:r>
          </a:p>
          <a:p xmlns:a="http://schemas.openxmlformats.org/drawingml/2006/main">
            <a:r>
              <a:rPr lang="en-US" sz="1600">
                <a:solidFill>
                  <a:srgbClr val="E8F0FF"/>
                </a:solidFill>
                <a:latin typeface="Segoe UI"/>
                <a:ea typeface="Segoe UI"/>
              </a:rPr>
              <a:t>     → Unified language for all additive QEC codes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[5] WOOTTERS &amp; ZUREK (1982)  —  No-Cloning</a:t>
            </a:r>
          </a:p>
          <a:p xmlns:a="http://schemas.openxmlformats.org/drawingml/2006/main">
            <a:r>
              <a:rPr lang="en-US" sz="1600">
                <a:solidFill>
                  <a:srgbClr val="E8F0FF"/>
                </a:solidFill>
                <a:latin typeface="Segoe UI"/>
                <a:ea typeface="Segoe UI"/>
              </a:rPr>
              <a:t>     Nature 299, 802</a:t>
            </a:r>
          </a:p>
          <a:p xmlns:a="http://schemas.openxmlformats.org/drawingml/2006/main">
            <a:r>
              <a:rPr lang="en-US" sz="1600">
                <a:solidFill>
                  <a:srgbClr val="E8F0FF"/>
                </a:solidFill>
                <a:latin typeface="Segoe UI"/>
                <a:ea typeface="Segoe UI"/>
              </a:rPr>
              <a:t>     'A single quantum cannot be cloned'</a:t>
            </a:r>
          </a:p>
          <a:p xmlns:a="http://schemas.openxmlformats.org/drawingml/2006/main">
            <a:r>
              <a:rPr lang="en-US" sz="1600">
                <a:solidFill>
                  <a:srgbClr val="E8F0FF"/>
                </a:solidFill>
                <a:latin typeface="Segoe UI"/>
                <a:ea typeface="Segoe UI"/>
              </a:rPr>
              <a:t>     → Foundational limit that QEC must respect</a:t>
            </a:r>
          </a:p>
        </p:txBody>
      </p:sp>
      <p:sp>
        <p:nvSpPr>
          <p:cNvPr id="100091" name="Papers2"/>
          <p:cNvSpPr txBox="1"/>
          <p:nvPr/>
        </p:nvSpPr>
        <p:spPr>
          <a:xfrm xmlns:a="http://schemas.openxmlformats.org/drawingml/2006/main">
            <a:off x="6120000" y="1044000"/>
            <a:ext cx="5760000" cy="5328000"/>
          </a:xfrm>
          <a:prstGeom xmlns:a="http://schemas.openxmlformats.org/drawingml/2006/main" prst="rect">
            <a:avLst/>
          </a:prstGeom>
          <a:solidFill xmlns:a="http://schemas.openxmlformats.org/drawingml/2006/main">
            <a:srgbClr val="0C1A35"/>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[6] KNILL &amp; LAFLAMME (1997)  —  QEC Conditions</a:t>
            </a:r>
          </a:p>
          <a:p xmlns:a="http://schemas.openxmlformats.org/drawingml/2006/main">
            <a:r>
              <a:rPr lang="en-US" sz="1600">
                <a:solidFill>
                  <a:srgbClr val="E8F0FF"/>
                </a:solidFill>
                <a:latin typeface="Segoe UI"/>
                <a:ea typeface="Segoe UI"/>
              </a:rPr>
              <a:t>     Phys. Rev. A 55, 900</a:t>
            </a:r>
          </a:p>
          <a:p xmlns:a="http://schemas.openxmlformats.org/drawingml/2006/main">
            <a:r>
              <a:rPr lang="en-US" sz="1600">
                <a:solidFill>
                  <a:srgbClr val="E8F0FF"/>
                </a:solidFill>
                <a:latin typeface="Segoe UI"/>
                <a:ea typeface="Segoe UI"/>
              </a:rPr>
              <a:t>     'Theory of quantum error-correcting codes'</a:t>
            </a:r>
          </a:p>
          <a:p xmlns:a="http://schemas.openxmlformats.org/drawingml/2006/main">
            <a:r>
              <a:rPr lang="en-US" sz="1600">
                <a:solidFill>
                  <a:srgbClr val="E8F0FF"/>
                </a:solidFill>
                <a:latin typeface="Segoe UI"/>
                <a:ea typeface="Segoe UI"/>
              </a:rPr>
              <a:t>     → Knill-Laflamme conditions for QEC</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[7] AHARONOV &amp; BEN-OR (1997)  —  Threshold Theorem</a:t>
            </a:r>
          </a:p>
          <a:p xmlns:a="http://schemas.openxmlformats.org/drawingml/2006/main">
            <a:r>
              <a:rPr lang="en-US" sz="1600">
                <a:solidFill>
                  <a:srgbClr val="E8F0FF"/>
                </a:solidFill>
                <a:latin typeface="Segoe UI"/>
                <a:ea typeface="Segoe UI"/>
              </a:rPr>
              <a:t>     STOC 1997, also arXiv:quant-ph/9611025</a:t>
            </a:r>
          </a:p>
          <a:p xmlns:a="http://schemas.openxmlformats.org/drawingml/2006/main">
            <a:r>
              <a:rPr lang="en-US" sz="1600">
                <a:solidFill>
                  <a:srgbClr val="E8F0FF"/>
                </a:solidFill>
                <a:latin typeface="Segoe UI"/>
                <a:ea typeface="Segoe UI"/>
              </a:rPr>
              <a:t>     'Fault-tolerant QC with constant error'</a:t>
            </a:r>
          </a:p>
          <a:p xmlns:a="http://schemas.openxmlformats.org/drawingml/2006/main">
            <a:r>
              <a:rPr lang="en-US" sz="1600">
                <a:solidFill>
                  <a:srgbClr val="E8F0FF"/>
                </a:solidFill>
                <a:latin typeface="Segoe UI"/>
                <a:ea typeface="Segoe UI"/>
              </a:rPr>
              <a:t>     → Proved fault tolerance with constant error rate</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[8] KITAEV (1997/2003)  —  Toric Code</a:t>
            </a:r>
          </a:p>
          <a:p xmlns:a="http://schemas.openxmlformats.org/drawingml/2006/main">
            <a:r>
              <a:rPr lang="en-US" sz="1600">
                <a:solidFill>
                  <a:srgbClr val="E8F0FF"/>
                </a:solidFill>
                <a:latin typeface="Segoe UI"/>
                <a:ea typeface="Segoe UI"/>
              </a:rPr>
              <a:t>     Ann. Phys. 303, 2–30 (2003)</a:t>
            </a:r>
          </a:p>
          <a:p xmlns:a="http://schemas.openxmlformats.org/drawingml/2006/main">
            <a:r>
              <a:rPr lang="en-US" sz="1600">
                <a:solidFill>
                  <a:srgbClr val="E8F0FF"/>
                </a:solidFill>
                <a:latin typeface="Segoe UI"/>
                <a:ea typeface="Segoe UI"/>
              </a:rPr>
              <a:t>     'Fault-tolerant quantum computation by anyons'</a:t>
            </a:r>
          </a:p>
          <a:p xmlns:a="http://schemas.openxmlformats.org/drawingml/2006/main">
            <a:r>
              <a:rPr lang="en-US" sz="1600">
                <a:solidFill>
                  <a:srgbClr val="E8F0FF"/>
                </a:solidFill>
                <a:latin typeface="Segoe UI"/>
                <a:ea typeface="Segoe UI"/>
              </a:rPr>
              <a:t>     → Topological QEC, surface code ancestor</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[9] FOWLER, MARTINIS et al. (2012)  —  Surface Code</a:t>
            </a:r>
          </a:p>
          <a:p xmlns:a="http://schemas.openxmlformats.org/drawingml/2006/main">
            <a:r>
              <a:rPr lang="en-US" sz="1600">
                <a:solidFill>
                  <a:srgbClr val="E8F0FF"/>
                </a:solidFill>
                <a:latin typeface="Segoe UI"/>
                <a:ea typeface="Segoe UI"/>
              </a:rPr>
              <a:t>     Phys. Rev. A 86, 032324</a:t>
            </a:r>
          </a:p>
          <a:p xmlns:a="http://schemas.openxmlformats.org/drawingml/2006/main">
            <a:r>
              <a:rPr lang="en-US" sz="1600">
                <a:solidFill>
                  <a:srgbClr val="E8F0FF"/>
                </a:solidFill>
                <a:latin typeface="Segoe UI"/>
                <a:ea typeface="Segoe UI"/>
              </a:rPr>
              <a:t>     'Surface codes: towards practical large-scale QC'</a:t>
            </a:r>
          </a:p>
          <a:p xmlns:a="http://schemas.openxmlformats.org/drawingml/2006/main">
            <a:r>
              <a:rPr lang="en-US" sz="1600">
                <a:solidFill>
                  <a:srgbClr val="E8F0FF"/>
                </a:solidFill>
                <a:latin typeface="Segoe UI"/>
                <a:ea typeface="Segoe UI"/>
              </a:rPr>
              <a:t>     → The definitive surface code reference paper</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[10] BRAVYI &amp; KITAEV (2005)  —  Magic State Distillation</a:t>
            </a:r>
          </a:p>
          <a:p xmlns:a="http://schemas.openxmlformats.org/drawingml/2006/main">
            <a:r>
              <a:rPr lang="en-US" sz="1600">
                <a:solidFill>
                  <a:srgbClr val="E8F0FF"/>
                </a:solidFill>
                <a:latin typeface="Segoe UI"/>
                <a:ea typeface="Segoe UI"/>
              </a:rPr>
              <a:t>      Phys. Rev. A 71, 022316</a:t>
            </a:r>
          </a:p>
          <a:p xmlns:a="http://schemas.openxmlformats.org/drawingml/2006/main">
            <a:r>
              <a:rPr lang="en-US" sz="1600">
                <a:solidFill>
                  <a:srgbClr val="E8F0FF"/>
                </a:solidFill>
                <a:latin typeface="Segoe UI"/>
                <a:ea typeface="Segoe UI"/>
              </a:rPr>
              <a:t>      'Universal QC with ideal Clifford gates'</a:t>
            </a:r>
          </a:p>
          <a:p xmlns:a="http://schemas.openxmlformats.org/drawingml/2006/main">
            <a:r>
              <a:rPr lang="en-US" sz="1600">
                <a:solidFill>
                  <a:srgbClr val="E8F0FF"/>
                </a:solidFill>
                <a:latin typeface="Segoe UI"/>
                <a:ea typeface="Segoe UI"/>
              </a:rPr>
              <a:t>      → 15-to-1 protocol, MSD framework</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[11] EASTIN &amp; KNILL (2009)  —  No Transversal Universality</a:t>
            </a:r>
          </a:p>
          <a:p xmlns:a="http://schemas.openxmlformats.org/drawingml/2006/main">
            <a:r>
              <a:rPr lang="en-US" sz="1600">
                <a:solidFill>
                  <a:srgbClr val="E8F0FF"/>
                </a:solidFill>
                <a:latin typeface="Segoe UI"/>
                <a:ea typeface="Segoe UI"/>
              </a:rPr>
              <a:t>      PRL 102, 110502</a:t>
            </a:r>
          </a:p>
          <a:p xmlns:a="http://schemas.openxmlformats.org/drawingml/2006/main">
            <a:r>
              <a:rPr lang="en-US" sz="1600">
                <a:solidFill>
                  <a:srgbClr val="E8F0FF"/>
                </a:solidFill>
                <a:latin typeface="Segoe UI"/>
                <a:ea typeface="Segoe UI"/>
              </a:rPr>
              <a:t>      'Restrictions on transversal encoded quantum gates'</a:t>
            </a:r>
          </a:p>
          <a:p xmlns:a="http://schemas.openxmlformats.org/drawingml/2006/main">
            <a:r>
              <a:rPr lang="en-US" sz="1600">
                <a:solidFill>
                  <a:srgbClr val="E8F0FF"/>
                </a:solidFill>
                <a:latin typeface="Segoe UI"/>
                <a:ea typeface="Segoe UI"/>
              </a:rPr>
              <a:t>      → T gate requires non-transversal implementation</a:t>
            </a:r>
          </a:p>
        </p:txBody>
      </p:sp>
      <p:sp>
        <p:nvSpPr>
          <p:cNvPr id="100092"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7B3FE4"/>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15.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93"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7B3FE4"/>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6  —  RESEARCH PAPERS  |  RECENT BREAKTHROUGHS 2021–2025</a:t>
            </a:r>
          </a:p>
        </p:txBody>
      </p:sp>
      <p:sp>
        <p:nvSpPr>
          <p:cNvPr id="100094"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800" b="1">
                <a:solidFill>
                  <a:srgbClr val="FFFFFF"/>
                </a:solidFill>
                <a:latin typeface="Segoe UI"/>
                <a:ea typeface="Segoe UI"/>
              </a:rPr>
              <a:t>Recent Breakthroughs in QEC (2021–2025)</a:t>
            </a:r>
          </a:p>
        </p:txBody>
      </p:sp>
      <p:sp>
        <p:nvSpPr>
          <p:cNvPr id="100095"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096" name="RecentLeft"/>
          <p:cNvSpPr txBox="1"/>
          <p:nvPr/>
        </p:nvSpPr>
        <p:spPr>
          <a:xfrm xmlns:a="http://schemas.openxmlformats.org/drawingml/2006/main">
            <a:off x="288000" y="1044000"/>
            <a:ext cx="5580000" cy="5328000"/>
          </a:xfrm>
          <a:prstGeom xmlns:a="http://schemas.openxmlformats.org/drawingml/2006/main" prst="rect">
            <a:avLst/>
          </a:prstGeom>
          <a:solidFill xmlns:a="http://schemas.openxmlformats.org/drawingml/2006/main">
            <a:srgbClr val="0C1A35"/>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[12] IBM QUANTUM TEAM (2023)</a:t>
            </a:r>
          </a:p>
          <a:p xmlns:a="http://schemas.openxmlformats.org/drawingml/2006/main">
            <a:r>
              <a:rPr lang="en-US" sz="1600">
                <a:solidFill>
                  <a:srgbClr val="E8F0FF"/>
                </a:solidFill>
                <a:latin typeface="Segoe UI"/>
                <a:ea typeface="Segoe UI"/>
              </a:rPr>
              <a:t>      Nature 614, 676–681</a:t>
            </a:r>
          </a:p>
          <a:p xmlns:a="http://schemas.openxmlformats.org/drawingml/2006/main">
            <a:r>
              <a:rPr lang="en-US" sz="1600">
                <a:solidFill>
                  <a:srgbClr val="E8F0FF"/>
                </a:solidFill>
                <a:latin typeface="Segoe UI"/>
                <a:ea typeface="Segoe UI"/>
              </a:rPr>
              <a:t>      'Suppressing quantum errors by scaling</a:t>
            </a:r>
          </a:p>
          <a:p xmlns:a="http://schemas.openxmlformats.org/drawingml/2006/main">
            <a:r>
              <a:rPr lang="en-US" sz="1600">
                <a:solidFill>
                  <a:srgbClr val="E8F0FF"/>
                </a:solidFill>
                <a:latin typeface="Segoe UI"/>
                <a:ea typeface="Segoe UI"/>
              </a:rPr>
              <a:t>       a surface code logical qubit'</a:t>
            </a:r>
          </a:p>
          <a:p xmlns:a="http://schemas.openxmlformats.org/drawingml/2006/main">
            <a:r>
              <a:rPr lang="en-US" sz="1600">
                <a:solidFill>
                  <a:srgbClr val="E8F0FF"/>
                </a:solidFill>
                <a:latin typeface="Segoe UI"/>
                <a:ea typeface="Segoe UI"/>
              </a:rPr>
              <a:t>      → First threshold behavior on IBM hardware</a:t>
            </a:r>
          </a:p>
          <a:p xmlns:a="http://schemas.openxmlformats.org/drawingml/2006/main">
            <a:r>
              <a:rPr lang="en-US" sz="1600">
                <a:solidFill>
                  <a:srgbClr val="E8F0FF"/>
                </a:solidFill>
                <a:latin typeface="Segoe UI"/>
                <a:ea typeface="Segoe UI"/>
              </a:rPr>
              <a:t>         Distances d=3,5,7 on 127-qubit Eagle</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[13] IBM QUANTUM (2024)</a:t>
            </a:r>
          </a:p>
          <a:p xmlns:a="http://schemas.openxmlformats.org/drawingml/2006/main">
            <a:r>
              <a:rPr lang="en-US" sz="1600">
                <a:solidFill>
                  <a:srgbClr val="E8F0FF"/>
                </a:solidFill>
                <a:latin typeface="Segoe UI"/>
                <a:ea typeface="Segoe UI"/>
              </a:rPr>
              <a:t>      Nature (2024)</a:t>
            </a:r>
          </a:p>
          <a:p xmlns:a="http://schemas.openxmlformats.org/drawingml/2006/main">
            <a:r>
              <a:rPr lang="en-US" sz="1600">
                <a:solidFill>
                  <a:srgbClr val="E8F0FF"/>
                </a:solidFill>
                <a:latin typeface="Segoe UI"/>
                <a:ea typeface="Segoe UI"/>
              </a:rPr>
              <a:t>      'QEC below the surface code threshold'</a:t>
            </a:r>
          </a:p>
          <a:p xmlns:a="http://schemas.openxmlformats.org/drawingml/2006/main">
            <a:r>
              <a:rPr lang="en-US" sz="1600">
                <a:solidFill>
                  <a:srgbClr val="E8F0FF"/>
                </a:solidFill>
                <a:latin typeface="Segoe UI"/>
                <a:ea typeface="Segoe UI"/>
              </a:rPr>
              <a:t>      → Break-even: logical error &lt; physical</a:t>
            </a:r>
          </a:p>
          <a:p xmlns:a="http://schemas.openxmlformats.org/drawingml/2006/main">
            <a:r>
              <a:rPr lang="en-US" sz="1600">
                <a:solidFill>
                  <a:srgbClr val="E8F0FF"/>
                </a:solidFill>
                <a:latin typeface="Segoe UI"/>
                <a:ea typeface="Segoe UI"/>
              </a:rPr>
              <a:t>         Heron r2, d=5, p=0.2%</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[14] GOOGLE QUANTUM AI (2024)</a:t>
            </a:r>
          </a:p>
          <a:p xmlns:a="http://schemas.openxmlformats.org/drawingml/2006/main">
            <a:r>
              <a:rPr lang="en-US" sz="1600">
                <a:solidFill>
                  <a:srgbClr val="E8F0FF"/>
                </a:solidFill>
                <a:latin typeface="Segoe UI"/>
                <a:ea typeface="Segoe UI"/>
              </a:rPr>
              <a:t>      Nature (Dec 2024)</a:t>
            </a:r>
          </a:p>
          <a:p xmlns:a="http://schemas.openxmlformats.org/drawingml/2006/main">
            <a:r>
              <a:rPr lang="en-US" sz="1600">
                <a:solidFill>
                  <a:srgbClr val="E8F0FF"/>
                </a:solidFill>
                <a:latin typeface="Segoe UI"/>
                <a:ea typeface="Segoe UI"/>
              </a:rPr>
              <a:t>      'Quantum error correction below the</a:t>
            </a:r>
          </a:p>
          <a:p xmlns:a="http://schemas.openxmlformats.org/drawingml/2006/main">
            <a:r>
              <a:rPr lang="en-US" sz="1600">
                <a:solidFill>
                  <a:srgbClr val="E8F0FF"/>
                </a:solidFill>
                <a:latin typeface="Segoe UI"/>
                <a:ea typeface="Segoe UI"/>
              </a:rPr>
              <a:t>       surface code threshold' (Willow chip)</a:t>
            </a:r>
          </a:p>
          <a:p xmlns:a="http://schemas.openxmlformats.org/drawingml/2006/main">
            <a:r>
              <a:rPr lang="en-US" sz="1600">
                <a:solidFill>
                  <a:srgbClr val="E8F0FF"/>
                </a:solidFill>
                <a:latin typeface="Segoe UI"/>
                <a:ea typeface="Segoe UI"/>
              </a:rPr>
              <a:t>      → 10× below threshold, d=3,5,7</a:t>
            </a:r>
          </a:p>
          <a:p xmlns:a="http://schemas.openxmlformats.org/drawingml/2006/main">
            <a:r>
              <a:rPr lang="en-US" sz="1600">
                <a:solidFill>
                  <a:srgbClr val="E8F0FF"/>
                </a:solidFill>
                <a:latin typeface="Segoe UI"/>
                <a:ea typeface="Segoe UI"/>
              </a:rPr>
              <a:t>         RCS in 5 min vs 10²⁵ years classically</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[15] BLUVSTEIN et al. (2024)</a:t>
            </a:r>
          </a:p>
          <a:p xmlns:a="http://schemas.openxmlformats.org/drawingml/2006/main">
            <a:r>
              <a:rPr lang="en-US" sz="1600">
                <a:solidFill>
                  <a:srgbClr val="E8F0FF"/>
                </a:solidFill>
                <a:latin typeface="Segoe UI"/>
                <a:ea typeface="Segoe UI"/>
              </a:rPr>
              <a:t>      Nature 626, 58–65</a:t>
            </a:r>
          </a:p>
          <a:p xmlns:a="http://schemas.openxmlformats.org/drawingml/2006/main">
            <a:r>
              <a:rPr lang="en-US" sz="1600">
                <a:solidFill>
                  <a:srgbClr val="E8F0FF"/>
                </a:solidFill>
                <a:latin typeface="Segoe UI"/>
                <a:ea typeface="Segoe UI"/>
              </a:rPr>
              <a:t>      'Logical quantum processor based on</a:t>
            </a:r>
          </a:p>
          <a:p xmlns:a="http://schemas.openxmlformats.org/drawingml/2006/main">
            <a:r>
              <a:rPr lang="en-US" sz="1600">
                <a:solidFill>
                  <a:srgbClr val="E8F0FF"/>
                </a:solidFill>
                <a:latin typeface="Segoe UI"/>
                <a:ea typeface="Segoe UI"/>
              </a:rPr>
              <a:t>       reconfigurable atom arrays' (Harvard/QuEra)</a:t>
            </a:r>
          </a:p>
          <a:p xmlns:a="http://schemas.openxmlformats.org/drawingml/2006/main">
            <a:r>
              <a:rPr lang="en-US" sz="1600">
                <a:solidFill>
                  <a:srgbClr val="E8F0FF"/>
                </a:solidFill>
                <a:latin typeface="Segoe UI"/>
                <a:ea typeface="Segoe UI"/>
              </a:rPr>
              <a:t>      → 48 logical qubits, 280 physical atoms</a:t>
            </a:r>
          </a:p>
          <a:p xmlns:a="http://schemas.openxmlformats.org/drawingml/2006/main">
            <a:r>
              <a:rPr lang="en-US" sz="1600">
                <a:solidFill>
                  <a:srgbClr val="E8F0FF"/>
                </a:solidFill>
                <a:latin typeface="Segoe UI"/>
                <a:ea typeface="Segoe UI"/>
              </a:rPr>
              <a:t>         Transversal CNOT demonstrated</a:t>
            </a:r>
          </a:p>
        </p:txBody>
      </p:sp>
      <p:sp>
        <p:nvSpPr>
          <p:cNvPr id="100097" name="RecentRight"/>
          <p:cNvSpPr txBox="1"/>
          <p:nvPr/>
        </p:nvSpPr>
        <p:spPr>
          <a:xfrm xmlns:a="http://schemas.openxmlformats.org/drawingml/2006/main">
            <a:off x="6120000" y="1044000"/>
            <a:ext cx="5760000" cy="5328000"/>
          </a:xfrm>
          <a:prstGeom xmlns:a="http://schemas.openxmlformats.org/drawingml/2006/main" prst="rect">
            <a:avLst/>
          </a:prstGeom>
          <a:solidFill xmlns:a="http://schemas.openxmlformats.org/drawingml/2006/main">
            <a:srgbClr val="0C1A35"/>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[16] BRAVYI et al. (2024)  —  LDPC Breakthrough</a:t>
            </a:r>
          </a:p>
          <a:p xmlns:a="http://schemas.openxmlformats.org/drawingml/2006/main">
            <a:r>
              <a:rPr lang="en-US" sz="1600">
                <a:solidFill>
                  <a:srgbClr val="E8F0FF"/>
                </a:solidFill>
                <a:latin typeface="Segoe UI"/>
                <a:ea typeface="Segoe UI"/>
              </a:rPr>
              <a:t>      Nature (2024)</a:t>
            </a:r>
          </a:p>
          <a:p xmlns:a="http://schemas.openxmlformats.org/drawingml/2006/main">
            <a:r>
              <a:rPr lang="en-US" sz="1600">
                <a:solidFill>
                  <a:srgbClr val="E8F0FF"/>
                </a:solidFill>
                <a:latin typeface="Segoe UI"/>
                <a:ea typeface="Segoe UI"/>
              </a:rPr>
              <a:t>      'High-threshold and low-overhead</a:t>
            </a:r>
          </a:p>
          <a:p xmlns:a="http://schemas.openxmlformats.org/drawingml/2006/main">
            <a:r>
              <a:rPr lang="en-US" sz="1600">
                <a:solidFill>
                  <a:srgbClr val="E8F0FF"/>
                </a:solidFill>
                <a:latin typeface="Segoe UI"/>
                <a:ea typeface="Segoe UI"/>
              </a:rPr>
              <a:t>       fault-tolerant quantum memory'</a:t>
            </a:r>
          </a:p>
          <a:p xmlns:a="http://schemas.openxmlformats.org/drawingml/2006/main">
            <a:r>
              <a:rPr lang="en-US" sz="1600">
                <a:solidFill>
                  <a:srgbClr val="E8F0FF"/>
                </a:solidFill>
                <a:latin typeface="Segoe UI"/>
                <a:ea typeface="Segoe UI"/>
              </a:rPr>
              <a:t>      → Bivariate bicycle codes [[72,12,6]],</a:t>
            </a:r>
          </a:p>
          <a:p xmlns:a="http://schemas.openxmlformats.org/drawingml/2006/main">
            <a:r>
              <a:rPr lang="en-US" sz="1600">
                <a:solidFill>
                  <a:srgbClr val="E8F0FF"/>
                </a:solidFill>
                <a:latin typeface="Segoe UI"/>
                <a:ea typeface="Segoe UI"/>
              </a:rPr>
              <a:t>         [[144,12,12]], [[288,12,18]]</a:t>
            </a:r>
          </a:p>
          <a:p xmlns:a="http://schemas.openxmlformats.org/drawingml/2006/main">
            <a:r>
              <a:rPr lang="en-US" sz="1600">
                <a:solidFill>
                  <a:srgbClr val="E8F0FF"/>
                </a:solidFill>
                <a:latin typeface="Segoe UI"/>
                <a:ea typeface="Segoe UI"/>
              </a:rPr>
              <a:t>         10× fewer qubits vs surface code!</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[17] HAAH et al. (2017)  —  Improved MSD</a:t>
            </a:r>
          </a:p>
          <a:p xmlns:a="http://schemas.openxmlformats.org/drawingml/2006/main">
            <a:r>
              <a:rPr lang="en-US" sz="1600">
                <a:solidFill>
                  <a:srgbClr val="E8F0FF"/>
                </a:solidFill>
                <a:latin typeface="Segoe UI"/>
                <a:ea typeface="Segoe UI"/>
              </a:rPr>
              <a:t>      Quantum 1, 31 (2017)</a:t>
            </a:r>
          </a:p>
          <a:p xmlns:a="http://schemas.openxmlformats.org/drawingml/2006/main">
            <a:r>
              <a:rPr lang="en-US" sz="1600">
                <a:solidFill>
                  <a:srgbClr val="E8F0FF"/>
                </a:solidFill>
                <a:latin typeface="Segoe UI"/>
                <a:ea typeface="Segoe UI"/>
              </a:rPr>
              <a:t>      'Codes and protocols for distilling T,</a:t>
            </a:r>
          </a:p>
          <a:p xmlns:a="http://schemas.openxmlformats.org/drawingml/2006/main">
            <a:r>
              <a:rPr lang="en-US" sz="1600">
                <a:solidFill>
                  <a:srgbClr val="E8F0FF"/>
                </a:solidFill>
                <a:latin typeface="Segoe UI"/>
                <a:ea typeface="Segoe UI"/>
              </a:rPr>
              <a:t>       CCZ, and CSWAP gates'</a:t>
            </a:r>
          </a:p>
          <a:p xmlns:a="http://schemas.openxmlformats.org/drawingml/2006/main">
            <a:r>
              <a:rPr lang="en-US" sz="1600">
                <a:solidFill>
                  <a:srgbClr val="E8F0FF"/>
                </a:solidFill>
                <a:latin typeface="Segoe UI"/>
                <a:ea typeface="Segoe UI"/>
              </a:rPr>
              <a:t>      → 10-to-1 and 20-to-2 protocols,</a:t>
            </a:r>
          </a:p>
          <a:p xmlns:a="http://schemas.openxmlformats.org/drawingml/2006/main">
            <a:r>
              <a:rPr lang="en-US" sz="1600">
                <a:solidFill>
                  <a:srgbClr val="E8F0FF"/>
                </a:solidFill>
                <a:latin typeface="Segoe UI"/>
                <a:ea typeface="Segoe UI"/>
              </a:rPr>
              <a:t>         significant overhead reduction</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[18] GIDNEY &amp; EKERA (2021)</a:t>
            </a:r>
          </a:p>
          <a:p xmlns:a="http://schemas.openxmlformats.org/drawingml/2006/main">
            <a:r>
              <a:rPr lang="en-US" sz="1600">
                <a:solidFill>
                  <a:srgbClr val="E8F0FF"/>
                </a:solidFill>
                <a:latin typeface="Segoe UI"/>
                <a:ea typeface="Segoe UI"/>
              </a:rPr>
              <a:t>      Quantum 5, 433 (2021)</a:t>
            </a:r>
          </a:p>
          <a:p xmlns:a="http://schemas.openxmlformats.org/drawingml/2006/main">
            <a:r>
              <a:rPr lang="en-US" sz="1600">
                <a:solidFill>
                  <a:srgbClr val="E8F0FF"/>
                </a:solidFill>
                <a:latin typeface="Segoe UI"/>
                <a:ea typeface="Segoe UI"/>
              </a:rPr>
              <a:t>      'How to factor 2048-bit RSA integers</a:t>
            </a:r>
          </a:p>
          <a:p xmlns:a="http://schemas.openxmlformats.org/drawingml/2006/main">
            <a:r>
              <a:rPr lang="en-US" sz="1600">
                <a:solidFill>
                  <a:srgbClr val="E8F0FF"/>
                </a:solidFill>
                <a:latin typeface="Segoe UI"/>
                <a:ea typeface="Segoe UI"/>
              </a:rPr>
              <a:t>       in 8 hours using 20M noisy qubits'</a:t>
            </a:r>
          </a:p>
          <a:p xmlns:a="http://schemas.openxmlformats.org/drawingml/2006/main">
            <a:r>
              <a:rPr lang="en-US" sz="1600">
                <a:solidFill>
                  <a:srgbClr val="E8F0FF"/>
                </a:solidFill>
                <a:latin typeface="Segoe UI"/>
                <a:ea typeface="Segoe UI"/>
              </a:rPr>
              <a:t>      → Concrete FT resource estimation</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[19] MICROSOFT AZURE QUANTUM (2025)</a:t>
            </a:r>
          </a:p>
          <a:p xmlns:a="http://schemas.openxmlformats.org/drawingml/2006/main">
            <a:r>
              <a:rPr lang="en-US" sz="1600">
                <a:solidFill>
                  <a:srgbClr val="E8F0FF"/>
                </a:solidFill>
                <a:latin typeface="Segoe UI"/>
                <a:ea typeface="Segoe UI"/>
              </a:rPr>
              <a:t>      Physical Review X (2025)</a:t>
            </a:r>
          </a:p>
          <a:p xmlns:a="http://schemas.openxmlformats.org/drawingml/2006/main">
            <a:r>
              <a:rPr lang="en-US" sz="1600">
                <a:solidFill>
                  <a:srgbClr val="E8F0FF"/>
                </a:solidFill>
                <a:latin typeface="Segoe UI"/>
                <a:ea typeface="Segoe UI"/>
              </a:rPr>
              <a:t>      'Topological qubits via Majorana</a:t>
            </a:r>
          </a:p>
          <a:p xmlns:a="http://schemas.openxmlformats.org/drawingml/2006/main">
            <a:r>
              <a:rPr lang="en-US" sz="1600">
                <a:solidFill>
                  <a:srgbClr val="E8F0FF"/>
                </a:solidFill>
                <a:latin typeface="Segoe UI"/>
                <a:ea typeface="Segoe UI"/>
              </a:rPr>
              <a:t>       zero modes'</a:t>
            </a:r>
          </a:p>
          <a:p xmlns:a="http://schemas.openxmlformats.org/drawingml/2006/main">
            <a:r>
              <a:rPr lang="en-US" sz="1600">
                <a:solidFill>
                  <a:srgbClr val="E8F0FF"/>
                </a:solidFill>
                <a:latin typeface="Segoe UI"/>
                <a:ea typeface="Segoe UI"/>
              </a:rPr>
              <a:t>      → 8 topological qubits, hardware-level</a:t>
            </a:r>
          </a:p>
          <a:p xmlns:a="http://schemas.openxmlformats.org/drawingml/2006/main">
            <a:r>
              <a:rPr lang="en-US" sz="1600">
                <a:solidFill>
                  <a:srgbClr val="E8F0FF"/>
                </a:solidFill>
                <a:latin typeface="Segoe UI"/>
                <a:ea typeface="Segoe UI"/>
              </a:rPr>
              <a:t>         protection, non-Abelian anyons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[20] QUANTINUUM (2024)</a:t>
            </a:r>
          </a:p>
          <a:p xmlns:a="http://schemas.openxmlformats.org/drawingml/2006/main">
            <a:r>
              <a:rPr lang="en-US" sz="1600">
                <a:solidFill>
                  <a:srgbClr val="E8F0FF"/>
                </a:solidFill>
                <a:latin typeface="Segoe UI"/>
                <a:ea typeface="Segoe UI"/>
              </a:rPr>
              <a:t>      Nature Physics (2024)</a:t>
            </a:r>
          </a:p>
          <a:p xmlns:a="http://schemas.openxmlformats.org/drawingml/2006/main">
            <a:r>
              <a:rPr lang="en-US" sz="1600">
                <a:solidFill>
                  <a:srgbClr val="E8F0FF"/>
                </a:solidFill>
                <a:latin typeface="Segoe UI"/>
                <a:ea typeface="Segoe UI"/>
              </a:rPr>
              <a:t>      'Demonstration of fault-tolerant</a:t>
            </a:r>
          </a:p>
          <a:p xmlns:a="http://schemas.openxmlformats.org/drawingml/2006/main">
            <a:r>
              <a:rPr lang="en-US" sz="1600">
                <a:solidFill>
                  <a:srgbClr val="E8F0FF"/>
                </a:solidFill>
                <a:latin typeface="Segoe UI"/>
                <a:ea typeface="Segoe UI"/>
              </a:rPr>
              <a:t>       universal quantum computation'</a:t>
            </a:r>
          </a:p>
          <a:p xmlns:a="http://schemas.openxmlformats.org/drawingml/2006/main">
            <a:r>
              <a:rPr lang="en-US" sz="1600">
                <a:solidFill>
                  <a:srgbClr val="E8F0FF"/>
                </a:solidFill>
                <a:latin typeface="Segoe UI"/>
                <a:ea typeface="Segoe UI"/>
              </a:rPr>
              <a:t>      → Steane code on trapped ion, logical</a:t>
            </a:r>
          </a:p>
          <a:p xmlns:a="http://schemas.openxmlformats.org/drawingml/2006/main">
            <a:r>
              <a:rPr lang="en-US" sz="1600">
                <a:solidFill>
                  <a:srgbClr val="E8F0FF"/>
                </a:solidFill>
                <a:latin typeface="Segoe UI"/>
                <a:ea typeface="Segoe UI"/>
              </a:rPr>
              <a:t>         operations below physical error rate</a:t>
            </a:r>
          </a:p>
        </p:txBody>
      </p:sp>
      <p:sp>
        <p:nvSpPr>
          <p:cNvPr id="100098"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7B3FE4"/>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16.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099"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7B3FE4"/>
          </a:solidFill>
        </p:spPr>
        <p:txBody>
          <a:bodyPr xmlns:a="http://schemas.openxmlformats.org/drawingml/2006/main"/>
          <a:lstStyle xmlns:a="http://schemas.openxmlformats.org/drawingml/2006/main"/>
          <a:p xmlns:a="http://schemas.openxmlformats.org/drawingml/2006/main">
            <a:r>
              <a:rPr lang="en-US" sz="1200" b="1">
                <a:solidFill>
                  <a:srgbClr val="FFFFFF"/>
                </a:solidFill>
              </a:rPr>
              <a:t>MODULE 6  —  RESEARCH PAPERS  |  BEYOND SURFACE CODES &amp; OPEN PROBLEMS</a:t>
            </a:r>
          </a:p>
        </p:txBody>
      </p:sp>
      <p:sp>
        <p:nvSpPr>
          <p:cNvPr id="100100"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latin typeface="Segoe UI"/>
                <a:ea typeface="Segoe UI"/>
              </a:rPr>
              <a:t>LDPC Codes, New Code Families &amp; Open Research Problems</a:t>
            </a:r>
          </a:p>
        </p:txBody>
      </p:sp>
      <p:sp>
        <p:nvSpPr>
          <p:cNvPr id="100101"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102" name="LDPCPapers"/>
          <p:cNvSpPr txBox="1"/>
          <p:nvPr/>
        </p:nvSpPr>
        <p:spPr>
          <a:xfrm xmlns:a="http://schemas.openxmlformats.org/drawingml/2006/main">
            <a:off x="288000" y="1044000"/>
            <a:ext cx="5580000" cy="5328000"/>
          </a:xfrm>
          <a:prstGeom xmlns:a="http://schemas.openxmlformats.org/drawingml/2006/main" prst="rect">
            <a:avLst/>
          </a:prstGeom>
          <a:solidFill xmlns:a="http://schemas.openxmlformats.org/drawingml/2006/main">
            <a:srgbClr val="0C1A35"/>
          </a:solidFill>
        </p:spPr>
        <p:txBody>
          <a:bodyPr xmlns:a="http://schemas.openxmlformats.org/drawingml/2006/main"/>
          <a:lstStyle xmlns:a="http://schemas.openxmlformats.org/drawingml/2006/main"/>
          <a:p xmlns:a="http://schemas.openxmlformats.org/drawingml/2006/main">
            <a:r>
              <a:rPr lang="en-US" sz="1500">
                <a:solidFill>
                  <a:srgbClr val="E8F0FF"/>
                </a:solidFill>
                <a:latin typeface="Segoe UI"/>
                <a:ea typeface="Segoe UI"/>
              </a:rPr>
              <a:t>LDPC CODE PAPERS</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[21] TILLICH &amp; ZEMOR (2014)</a:t>
            </a:r>
          </a:p>
          <a:p xmlns:a="http://schemas.openxmlformats.org/drawingml/2006/main">
            <a:r>
              <a:rPr lang="en-US" sz="1500">
                <a:solidFill>
                  <a:srgbClr val="E8F0FF"/>
                </a:solidFill>
                <a:latin typeface="Segoe UI"/>
                <a:ea typeface="Segoe UI"/>
              </a:rPr>
              <a:t>      IEEE Trans. Inf. Theory 60, 1193</a:t>
            </a:r>
          </a:p>
          <a:p xmlns:a="http://schemas.openxmlformats.org/drawingml/2006/main">
            <a:r>
              <a:rPr lang="en-US" sz="1500">
                <a:solidFill>
                  <a:srgbClr val="E8F0FF"/>
                </a:solidFill>
                <a:latin typeface="Segoe UI"/>
                <a:ea typeface="Segoe UI"/>
              </a:rPr>
              <a:t>      'Quantum LDPC codes with positive rate</a:t>
            </a:r>
          </a:p>
          <a:p xmlns:a="http://schemas.openxmlformats.org/drawingml/2006/main">
            <a:r>
              <a:rPr lang="en-US" sz="1500">
                <a:solidFill>
                  <a:srgbClr val="E8F0FF"/>
                </a:solidFill>
                <a:latin typeface="Segoe UI"/>
                <a:ea typeface="Segoe UI"/>
              </a:rPr>
              <a:t>       and linear distance'</a:t>
            </a:r>
          </a:p>
          <a:p xmlns:a="http://schemas.openxmlformats.org/drawingml/2006/main">
            <a:r>
              <a:rPr lang="en-US" sz="1500">
                <a:solidFill>
                  <a:srgbClr val="E8F0FF"/>
                </a:solidFill>
                <a:latin typeface="Segoe UI"/>
                <a:ea typeface="Segoe UI"/>
              </a:rPr>
              <a:t>      → Hypergraph product codes, Θ(√n) distance</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[22] HASTINGS, HAAH &amp; O'BRIEN (2021)</a:t>
            </a:r>
          </a:p>
          <a:p xmlns:a="http://schemas.openxmlformats.org/drawingml/2006/main">
            <a:r>
              <a:rPr lang="en-US" sz="1500">
                <a:solidFill>
                  <a:srgbClr val="E8F0FF"/>
                </a:solidFill>
                <a:latin typeface="Segoe UI"/>
                <a:ea typeface="Segoe UI"/>
              </a:rPr>
              <a:t>      PRX Quantum 2, 040351</a:t>
            </a:r>
          </a:p>
          <a:p xmlns:a="http://schemas.openxmlformats.org/drawingml/2006/main">
            <a:r>
              <a:rPr lang="en-US" sz="1500">
                <a:solidFill>
                  <a:srgbClr val="E8F0FF"/>
                </a:solidFill>
                <a:latin typeface="Segoe UI"/>
                <a:ea typeface="Segoe UI"/>
              </a:rPr>
              <a:t>      'Fiber bundle codes: breaking the</a:t>
            </a:r>
          </a:p>
          <a:p xmlns:a="http://schemas.openxmlformats.org/drawingml/2006/main">
            <a:r>
              <a:rPr lang="en-US" sz="1500">
                <a:solidFill>
                  <a:srgbClr val="E8F0FF"/>
                </a:solidFill>
                <a:latin typeface="Segoe UI"/>
                <a:ea typeface="Segoe UI"/>
              </a:rPr>
              <a:t>       n^1/2 polylog(n) barrier'</a:t>
            </a:r>
          </a:p>
          <a:p xmlns:a="http://schemas.openxmlformats.org/drawingml/2006/main">
            <a:r>
              <a:rPr lang="en-US" sz="1500">
                <a:solidFill>
                  <a:srgbClr val="E8F0FF"/>
                </a:solidFill>
                <a:latin typeface="Segoe UI"/>
                <a:ea typeface="Segoe UI"/>
              </a:rPr>
              <a:t>      → First codes with d = n^3/5</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[23] BREUCKMANN &amp; EBERHARDT (2021)</a:t>
            </a:r>
          </a:p>
          <a:p xmlns:a="http://schemas.openxmlformats.org/drawingml/2006/main">
            <a:r>
              <a:rPr lang="en-US" sz="1500">
                <a:solidFill>
                  <a:srgbClr val="E8F0FF"/>
                </a:solidFill>
                <a:latin typeface="Segoe UI"/>
                <a:ea typeface="Segoe UI"/>
              </a:rPr>
              <a:t>      PRX Quantum 2, 030338</a:t>
            </a:r>
          </a:p>
          <a:p xmlns:a="http://schemas.openxmlformats.org/drawingml/2006/main">
            <a:r>
              <a:rPr lang="en-US" sz="1500">
                <a:solidFill>
                  <a:srgbClr val="E8F0FF"/>
                </a:solidFill>
                <a:latin typeface="Segoe UI"/>
                <a:ea typeface="Segoe UI"/>
              </a:rPr>
              <a:t>      'Balanced product quantum codes'</a:t>
            </a:r>
          </a:p>
          <a:p xmlns:a="http://schemas.openxmlformats.org/drawingml/2006/main">
            <a:r>
              <a:rPr lang="en-US" sz="1500">
                <a:solidFill>
                  <a:srgbClr val="E8F0FF"/>
                </a:solidFill>
                <a:latin typeface="Segoe UI"/>
                <a:ea typeface="Segoe UI"/>
              </a:rPr>
              <a:t>      → First 'good' LDPC: k=Θ(n), d=Θ(√n)</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[24] LEVERRIER, TILLICH &amp; ZEMOR (2022)</a:t>
            </a:r>
          </a:p>
          <a:p xmlns:a="http://schemas.openxmlformats.org/drawingml/2006/main">
            <a:r>
              <a:rPr lang="en-US" sz="1500">
                <a:solidFill>
                  <a:srgbClr val="E8F0FF"/>
                </a:solidFill>
                <a:latin typeface="Segoe UI"/>
                <a:ea typeface="Segoe UI"/>
              </a:rPr>
              <a:t>      FOCS 2022</a:t>
            </a:r>
          </a:p>
          <a:p xmlns:a="http://schemas.openxmlformats.org/drawingml/2006/main">
            <a:r>
              <a:rPr lang="en-US" sz="1500">
                <a:solidFill>
                  <a:srgbClr val="E8F0FF"/>
                </a:solidFill>
                <a:latin typeface="Segoe UI"/>
                <a:ea typeface="Segoe UI"/>
              </a:rPr>
              <a:t>      'Quantum Tanner codes'</a:t>
            </a:r>
          </a:p>
          <a:p xmlns:a="http://schemas.openxmlformats.org/drawingml/2006/main">
            <a:r>
              <a:rPr lang="en-US" sz="1500">
                <a:solidFill>
                  <a:srgbClr val="E8F0FF"/>
                </a:solidFill>
                <a:latin typeface="Segoe UI"/>
                <a:ea typeface="Segoe UI"/>
              </a:rPr>
              <a:t>      → First asymptotically good QLDPC codes</a:t>
            </a:r>
          </a:p>
          <a:p xmlns:a="http://schemas.openxmlformats.org/drawingml/2006/main">
            <a:r>
              <a:rPr lang="en-US" sz="1500">
                <a:solidFill>
                  <a:srgbClr val="E8F0FF"/>
                </a:solidFill>
                <a:latin typeface="Segoe UI"/>
                <a:ea typeface="Segoe UI"/>
              </a:rPr>
              <a:t>         k=Θ(n), d=Θ(n), constant-rate</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[25] HORSMAN et al. (2012)</a:t>
            </a:r>
          </a:p>
          <a:p xmlns:a="http://schemas.openxmlformats.org/drawingml/2006/main">
            <a:r>
              <a:rPr lang="en-US" sz="1500">
                <a:solidFill>
                  <a:srgbClr val="E8F0FF"/>
                </a:solidFill>
                <a:latin typeface="Segoe UI"/>
                <a:ea typeface="Segoe UI"/>
              </a:rPr>
              <a:t>      New J. Phys. 14, 123011</a:t>
            </a:r>
          </a:p>
          <a:p xmlns:a="http://schemas.openxmlformats.org/drawingml/2006/main">
            <a:r>
              <a:rPr lang="en-US" sz="1500">
                <a:solidFill>
                  <a:srgbClr val="E8F0FF"/>
                </a:solidFill>
                <a:latin typeface="Segoe UI"/>
                <a:ea typeface="Segoe UI"/>
              </a:rPr>
              <a:t>      'Surface code quantum computing by</a:t>
            </a:r>
          </a:p>
          <a:p xmlns:a="http://schemas.openxmlformats.org/drawingml/2006/main">
            <a:r>
              <a:rPr lang="en-US" sz="1500">
                <a:solidFill>
                  <a:srgbClr val="E8F0FF"/>
                </a:solidFill>
                <a:latin typeface="Segoe UI"/>
                <a:ea typeface="Segoe UI"/>
              </a:rPr>
              <a:t>       lattice surgery'</a:t>
            </a:r>
          </a:p>
          <a:p xmlns:a="http://schemas.openxmlformats.org/drawingml/2006/main">
            <a:r>
              <a:rPr lang="en-US" sz="1500">
                <a:solidFill>
                  <a:srgbClr val="E8F0FF"/>
                </a:solidFill>
                <a:latin typeface="Segoe UI"/>
                <a:ea typeface="Segoe UI"/>
              </a:rPr>
              <a:t>      → Lattice surgery gates for surface code</a:t>
            </a:r>
          </a:p>
        </p:txBody>
      </p:sp>
      <p:sp>
        <p:nvSpPr>
          <p:cNvPr id="100103" name="OpenProblems"/>
          <p:cNvSpPr txBox="1"/>
          <p:nvPr/>
        </p:nvSpPr>
        <p:spPr>
          <a:xfrm xmlns:a="http://schemas.openxmlformats.org/drawingml/2006/main">
            <a:off x="6120000" y="1044000"/>
            <a:ext cx="5760000" cy="5328000"/>
          </a:xfrm>
          <a:prstGeom xmlns:a="http://schemas.openxmlformats.org/drawingml/2006/main" prst="rect">
            <a:avLst/>
          </a:prstGeom>
          <a:solidFill xmlns:a="http://schemas.openxmlformats.org/drawingml/2006/main">
            <a:srgbClr val="0C1A35"/>
          </a:solidFill>
        </p:spPr>
        <p:txBody>
          <a:bodyPr xmlns:a="http://schemas.openxmlformats.org/drawingml/2006/main"/>
          <a:lstStyle xmlns:a="http://schemas.openxmlformats.org/drawingml/2006/main"/>
          <a:p xmlns:a="http://schemas.openxmlformats.org/drawingml/2006/main">
            <a:r>
              <a:rPr lang="en-US" sz="1500">
                <a:solidFill>
                  <a:srgbClr val="E8F0FF"/>
                </a:solidFill>
                <a:latin typeface="Segoe UI"/>
                <a:ea typeface="Segoe UI"/>
              </a:rPr>
              <a:t>OPEN RESEARCH PROBLEMS</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 FASTER DECODERS</a:t>
            </a:r>
          </a:p>
          <a:p xmlns:a="http://schemas.openxmlformats.org/drawingml/2006/main">
            <a:r>
              <a:rPr lang="en-US" sz="1500">
                <a:solidFill>
                  <a:srgbClr val="E8F0FF"/>
                </a:solidFill>
                <a:latin typeface="Segoe UI"/>
                <a:ea typeface="Segoe UI"/>
              </a:rPr>
              <a:t>   ML-based neural net decoders can</a:t>
            </a:r>
          </a:p>
          <a:p xmlns:a="http://schemas.openxmlformats.org/drawingml/2006/main">
            <a:r>
              <a:rPr lang="en-US" sz="1500">
                <a:solidFill>
                  <a:srgbClr val="E8F0FF"/>
                </a:solidFill>
                <a:latin typeface="Segoe UI"/>
                <a:ea typeface="Segoe UI"/>
              </a:rPr>
              <a:t>   beat MWPM but &lt;1μs latency required</a:t>
            </a:r>
          </a:p>
          <a:p xmlns:a="http://schemas.openxmlformats.org/drawingml/2006/main">
            <a:r>
              <a:rPr lang="en-US" sz="1500">
                <a:solidFill>
                  <a:srgbClr val="E8F0FF"/>
                </a:solidFill>
                <a:latin typeface="Segoe UI"/>
                <a:ea typeface="Segoe UI"/>
              </a:rPr>
              <a:t>   Key papers: Varsamopoulos 2020,</a:t>
            </a:r>
          </a:p>
          <a:p xmlns:a="http://schemas.openxmlformats.org/drawingml/2006/main">
            <a:r>
              <a:rPr lang="en-US" sz="1500">
                <a:solidFill>
                  <a:srgbClr val="E8F0FF"/>
                </a:solidFill>
                <a:latin typeface="Segoe UI"/>
                <a:ea typeface="Segoe UI"/>
              </a:rPr>
              <a:t>   Overwater et al. 2022 (FPGA neural)</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 REDUCING T-GATE OVERHEAD</a:t>
            </a:r>
          </a:p>
          <a:p xmlns:a="http://schemas.openxmlformats.org/drawingml/2006/main">
            <a:r>
              <a:rPr lang="en-US" sz="1500">
                <a:solidFill>
                  <a:srgbClr val="E8F0FF"/>
                </a:solidFill>
                <a:latin typeface="Segoe UI"/>
                <a:ea typeface="Segoe UI"/>
              </a:rPr>
              <a:t>   MSD is ~1000× more expensive than</a:t>
            </a:r>
          </a:p>
          <a:p xmlns:a="http://schemas.openxmlformats.org/drawingml/2006/main">
            <a:r>
              <a:rPr lang="en-US" sz="1500">
                <a:solidFill>
                  <a:srgbClr val="E8F0FF"/>
                </a:solidFill>
                <a:latin typeface="Segoe UI"/>
                <a:ea typeface="Segoe UI"/>
              </a:rPr>
              <a:t>   Clifford. T-count optimization is vital.</a:t>
            </a:r>
          </a:p>
          <a:p xmlns:a="http://schemas.openxmlformats.org/drawingml/2006/main">
            <a:r>
              <a:rPr lang="en-US" sz="1500">
                <a:solidFill>
                  <a:srgbClr val="E8F0FF"/>
                </a:solidFill>
                <a:latin typeface="Segoe UI"/>
                <a:ea typeface="Segoe UI"/>
              </a:rPr>
              <a:t>   Key: Amy et al. 2019 (T-par algorithm)</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 CORRELATED &amp; LEAKAGE ERRORS</a:t>
            </a:r>
          </a:p>
          <a:p xmlns:a="http://schemas.openxmlformats.org/drawingml/2006/main">
            <a:r>
              <a:rPr lang="en-US" sz="1500">
                <a:solidFill>
                  <a:srgbClr val="E8F0FF"/>
                </a:solidFill>
                <a:latin typeface="Segoe UI"/>
                <a:ea typeface="Segoe UI"/>
              </a:rPr>
              <a:t>   Cosmic rays create correlated bursts.</a:t>
            </a:r>
          </a:p>
          <a:p xmlns:a="http://schemas.openxmlformats.org/drawingml/2006/main">
            <a:r>
              <a:rPr lang="en-US" sz="1500">
                <a:solidFill>
                  <a:srgbClr val="E8F0FF"/>
                </a:solidFill>
                <a:latin typeface="Segoe UI"/>
                <a:ea typeface="Segoe UI"/>
              </a:rPr>
              <a:t>   Superconducting qubits leak to |2⟩, |3⟩.</a:t>
            </a:r>
          </a:p>
          <a:p xmlns:a="http://schemas.openxmlformats.org/drawingml/2006/main">
            <a:r>
              <a:rPr lang="en-US" sz="1500">
                <a:solidFill>
                  <a:srgbClr val="E8F0FF"/>
                </a:solidFill>
                <a:latin typeface="Segoe UI"/>
                <a:ea typeface="Segoe UI"/>
              </a:rPr>
              <a:t>   McEwen et al. Nature (2022) — cosmic rays</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 LDPC + HARDWARE CONNECTIVITY</a:t>
            </a:r>
          </a:p>
          <a:p xmlns:a="http://schemas.openxmlformats.org/drawingml/2006/main">
            <a:r>
              <a:rPr lang="en-US" sz="1500">
                <a:solidFill>
                  <a:srgbClr val="E8F0FF"/>
                </a:solidFill>
                <a:latin typeface="Segoe UI"/>
                <a:ea typeface="Segoe UI"/>
              </a:rPr>
              <a:t>   Bivariate bicycle codes need long-range</a:t>
            </a:r>
          </a:p>
          <a:p xmlns:a="http://schemas.openxmlformats.org/drawingml/2006/main">
            <a:r>
              <a:rPr lang="en-US" sz="1500">
                <a:solidFill>
                  <a:srgbClr val="E8F0FF"/>
                </a:solidFill>
                <a:latin typeface="Segoe UI"/>
                <a:ea typeface="Segoe UI"/>
              </a:rPr>
              <a:t>   links not available in current chips.</a:t>
            </a:r>
          </a:p>
          <a:p xmlns:a="http://schemas.openxmlformats.org/drawingml/2006/main">
            <a:r>
              <a:rPr lang="en-US" sz="1500">
                <a:solidFill>
                  <a:srgbClr val="E8F0FF"/>
                </a:solidFill>
                <a:latin typeface="Segoe UI"/>
                <a:ea typeface="Segoe UI"/>
              </a:rPr>
              <a:t>   Active research: 3D chip architectures</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 DECODER RESOURCE ESTIMATION</a:t>
            </a:r>
          </a:p>
          <a:p xmlns:a="http://schemas.openxmlformats.org/drawingml/2006/main">
            <a:r>
              <a:rPr lang="en-US" sz="1500">
                <a:solidFill>
                  <a:srgbClr val="E8F0FF"/>
                </a:solidFill>
                <a:latin typeface="Segoe UI"/>
                <a:ea typeface="Segoe UI"/>
              </a:rPr>
              <a:t>   Classical computing bottleneck:</a:t>
            </a:r>
          </a:p>
          <a:p xmlns:a="http://schemas.openxmlformats.org/drawingml/2006/main">
            <a:r>
              <a:rPr lang="en-US" sz="1500">
                <a:solidFill>
                  <a:srgbClr val="E8F0FF"/>
                </a:solidFill>
                <a:latin typeface="Segoe UI"/>
                <a:ea typeface="Segoe UI"/>
              </a:rPr>
              <a:t>   real-time decoding at 1 MHz cycles.</a:t>
            </a:r>
          </a:p>
          <a:p xmlns:a="http://schemas.openxmlformats.org/drawingml/2006/main">
            <a:r>
              <a:rPr lang="en-US" sz="1500">
                <a:solidFill>
                  <a:srgbClr val="E8F0FF"/>
                </a:solidFill>
                <a:latin typeface="Segoe UI"/>
                <a:ea typeface="Segoe UI"/>
              </a:rPr>
              <a:t>   Relevant: Bombin et al. 2023 (MWPM)</a:t>
            </a:r>
          </a:p>
          <a:p xmlns:a="http://schemas.openxmlformats.org/drawingml/2006/main">
            <a:r>
              <a:rPr lang="en-US" sz="1500">
                <a:solidFill>
                  <a:srgbClr val="E8F0FF"/>
                </a:solidFill>
                <a:latin typeface="Segoe UI"/>
                <a:ea typeface="Segoe UI"/>
              </a:rPr>
              <a:t/>
            </a:r>
          </a:p>
          <a:p xmlns:a="http://schemas.openxmlformats.org/drawingml/2006/main">
            <a:r>
              <a:rPr lang="en-US" sz="1500">
                <a:solidFill>
                  <a:srgbClr val="E8F0FF"/>
                </a:solidFill>
                <a:latin typeface="Segoe UI"/>
                <a:ea typeface="Segoe UI"/>
              </a:rPr>
              <a:t>🔬 QEC FOR BOSONIC MODES</a:t>
            </a:r>
          </a:p>
          <a:p xmlns:a="http://schemas.openxmlformats.org/drawingml/2006/main">
            <a:r>
              <a:rPr lang="en-US" sz="1500">
                <a:solidFill>
                  <a:srgbClr val="E8F0FF"/>
                </a:solidFill>
                <a:latin typeface="Segoe UI"/>
                <a:ea typeface="Segoe UI"/>
              </a:rPr>
              <a:t>   Cat qubits, GKP, binomial codes offer</a:t>
            </a:r>
          </a:p>
          <a:p xmlns:a="http://schemas.openxmlformats.org/drawingml/2006/main">
            <a:r>
              <a:rPr lang="en-US" sz="1500">
                <a:solidFill>
                  <a:srgbClr val="E8F0FF"/>
                </a:solidFill>
                <a:latin typeface="Segoe UI"/>
                <a:ea typeface="Segoe UI"/>
              </a:rPr>
              <a:t>   hardware-efficient protection in</a:t>
            </a:r>
          </a:p>
          <a:p xmlns:a="http://schemas.openxmlformats.org/drawingml/2006/main">
            <a:r>
              <a:rPr lang="en-US" sz="1500">
                <a:solidFill>
                  <a:srgbClr val="E8F0FF"/>
                </a:solidFill>
                <a:latin typeface="Segoe UI"/>
                <a:ea typeface="Segoe UI"/>
              </a:rPr>
              <a:t>   microwave cavities. Ofek et al. 2016.</a:t>
            </a:r>
          </a:p>
        </p:txBody>
      </p:sp>
      <p:sp>
        <p:nvSpPr>
          <p:cNvPr id="100104"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7B3FE4"/>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17.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105" name="TopBar"/>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r>
              <a:rPr lang="en-US" sz="1200" b="1">
                <a:solidFill>
                  <a:srgbClr val="FFFFFF"/>
                </a:solidFill>
              </a:rPr>
              <a:t>SUMMARY  —  QUANTUM ERROR CORRECTION</a:t>
            </a:r>
          </a:p>
        </p:txBody>
      </p:sp>
      <p:sp>
        <p:nvSpPr>
          <p:cNvPr id="100106" name="Title"/>
          <p:cNvSpPr txBox="1"/>
          <p:nvPr/>
        </p:nvSpPr>
        <p:spPr>
          <a:xfrm xmlns:a="http://schemas.openxmlformats.org/drawingml/2006/main">
            <a:off x="432000" y="396000"/>
            <a:ext cx="11160000" cy="46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800" b="1">
                <a:solidFill>
                  <a:srgbClr val="FFFFFF"/>
                </a:solidFill>
                <a:latin typeface="Segoe UI"/>
                <a:ea typeface="Segoe UI"/>
              </a:rPr>
              <a:t>Key Takeaways &amp; The Road Ahead</a:t>
            </a:r>
          </a:p>
        </p:txBody>
      </p:sp>
      <p:sp>
        <p:nvSpPr>
          <p:cNvPr id="100107" name="GoldRule"/>
          <p:cNvSpPr txBox="1"/>
          <p:nvPr/>
        </p:nvSpPr>
        <p:spPr>
          <a:xfrm xmlns:a="http://schemas.openxmlformats.org/drawingml/2006/main">
            <a:off x="432000" y="918000"/>
            <a:ext cx="11160000" cy="540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108" name="Takeaways"/>
          <p:cNvSpPr txBox="1"/>
          <p:nvPr/>
        </p:nvSpPr>
        <p:spPr>
          <a:xfrm xmlns:a="http://schemas.openxmlformats.org/drawingml/2006/main">
            <a:off x="288000" y="1044000"/>
            <a:ext cx="5580000" cy="5328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WHAT YOU LEARNED</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Quantum errors arise from decoherence (T₁,T₂),</a:t>
            </a:r>
          </a:p>
          <a:p xmlns:a="http://schemas.openxmlformats.org/drawingml/2006/main">
            <a:r>
              <a:rPr lang="en-US" sz="1600">
                <a:solidFill>
                  <a:srgbClr val="E8F0FF"/>
                </a:solidFill>
                <a:latin typeface="Segoe UI"/>
                <a:ea typeface="Segoe UI"/>
              </a:rPr>
              <a:t>   gate imperfections, readout noise &amp; crosstalk</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No-Cloning Theorem: we cannot copy qubits,</a:t>
            </a:r>
          </a:p>
          <a:p xmlns:a="http://schemas.openxmlformats.org/drawingml/2006/main">
            <a:r>
              <a:rPr lang="en-US" sz="1600">
                <a:solidFill>
                  <a:srgbClr val="E8F0FF"/>
                </a:solidFill>
                <a:latin typeface="Segoe UI"/>
                <a:ea typeface="Segoe UI"/>
              </a:rPr>
              <a:t>   but QEC encodes by entanglement, not copying</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Syndrome measurement extracts error information</a:t>
            </a:r>
          </a:p>
          <a:p xmlns:a="http://schemas.openxmlformats.org/drawingml/2006/main">
            <a:r>
              <a:rPr lang="en-US" sz="1600">
                <a:solidFill>
                  <a:srgbClr val="E8F0FF"/>
                </a:solidFill>
                <a:latin typeface="Segoe UI"/>
                <a:ea typeface="Segoe UI"/>
              </a:rPr>
              <a:t>   without disturbing the encoded logical state</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Code hierarchy:  3-qubit → Shor → Steane</a:t>
            </a:r>
          </a:p>
          <a:p xmlns:a="http://schemas.openxmlformats.org/drawingml/2006/main">
            <a:r>
              <a:rPr lang="en-US" sz="1600">
                <a:solidFill>
                  <a:srgbClr val="E8F0FF"/>
                </a:solidFill>
                <a:latin typeface="Segoe UI"/>
                <a:ea typeface="Segoe UI"/>
              </a:rPr>
              <a:t>   → Surface code   [[n, k, d]] notation</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Threshold Theorem:  p &lt; p_th (~1%) gives</a:t>
            </a:r>
          </a:p>
          <a:p xmlns:a="http://schemas.openxmlformats.org/drawingml/2006/main">
            <a:r>
              <a:rPr lang="en-US" sz="1600">
                <a:solidFill>
                  <a:srgbClr val="E8F0FF"/>
                </a:solidFill>
                <a:latin typeface="Segoe UI"/>
                <a:ea typeface="Segoe UI"/>
              </a:rPr>
              <a:t>   exponential logical error suppression with d</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Fault-tolerant gates:  Clifford = transversal;</a:t>
            </a:r>
          </a:p>
          <a:p xmlns:a="http://schemas.openxmlformats.org/drawingml/2006/main">
            <a:r>
              <a:rPr lang="en-US" sz="1600">
                <a:solidFill>
                  <a:srgbClr val="E8F0FF"/>
                </a:solidFill>
                <a:latin typeface="Segoe UI"/>
                <a:ea typeface="Segoe UI"/>
              </a:rPr>
              <a:t>   T gate requires magic state distillation</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Break-even achieved (IBM 2024, Google 2024):</a:t>
            </a:r>
          </a:p>
          <a:p xmlns:a="http://schemas.openxmlformats.org/drawingml/2006/main">
            <a:r>
              <a:rPr lang="en-US" sz="1600">
                <a:solidFill>
                  <a:srgbClr val="E8F0FF"/>
                </a:solidFill>
                <a:latin typeface="Segoe UI"/>
                <a:ea typeface="Segoe UI"/>
              </a:rPr>
              <a:t>   logical error &lt; physical error — historic!</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Bravyi et al. 2024 LDPC codes:  10× better</a:t>
            </a:r>
          </a:p>
          <a:p xmlns:a="http://schemas.openxmlformats.org/drawingml/2006/main">
            <a:r>
              <a:rPr lang="en-US" sz="1600">
                <a:solidFill>
                  <a:srgbClr val="E8F0FF"/>
                </a:solidFill>
                <a:latin typeface="Segoe UI"/>
                <a:ea typeface="Segoe UI"/>
              </a:rPr>
              <a:t>   overhead than surface codes — the next era</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 IBM roadmap:  2,000 logical qubits by 2033</a:t>
            </a:r>
          </a:p>
          <a:p xmlns:a="http://schemas.openxmlformats.org/drawingml/2006/main">
            <a:r>
              <a:rPr lang="en-US" sz="1600">
                <a:solidFill>
                  <a:srgbClr val="E8F0FF"/>
                </a:solidFill>
                <a:latin typeface="Segoe UI"/>
                <a:ea typeface="Segoe UI"/>
              </a:rPr>
              <a:t>   → fault-tolerant universal QC is in sight</a:t>
            </a:r>
          </a:p>
        </p:txBody>
      </p:sp>
      <p:sp>
        <p:nvSpPr>
          <p:cNvPr id="100109" name="Resources"/>
          <p:cNvSpPr txBox="1"/>
          <p:nvPr/>
        </p:nvSpPr>
        <p:spPr>
          <a:xfrm xmlns:a="http://schemas.openxmlformats.org/drawingml/2006/main">
            <a:off x="6120000" y="1044000"/>
            <a:ext cx="5760000" cy="5328000"/>
          </a:xfrm>
          <a:prstGeom xmlns:a="http://schemas.openxmlformats.org/drawingml/2006/main" prst="rect">
            <a:avLst/>
          </a:prstGeom>
          <a:solidFill xmlns:a="http://schemas.openxmlformats.org/drawingml/2006/main">
            <a:srgbClr val="0C1630"/>
          </a:solidFill>
        </p:spPr>
        <p:txBody>
          <a:bodyPr xmlns:a="http://schemas.openxmlformats.org/drawingml/2006/main"/>
          <a:lstStyle xmlns:a="http://schemas.openxmlformats.org/drawingml/2006/main"/>
          <a:p xmlns:a="http://schemas.openxmlformats.org/drawingml/2006/main">
            <a:r>
              <a:rPr lang="en-US" sz="1600">
                <a:solidFill>
                  <a:srgbClr val="E8F0FF"/>
                </a:solidFill>
                <a:latin typeface="Segoe UI"/>
                <a:ea typeface="Segoe UI"/>
              </a:rPr>
              <a:t>LEARNING RESOURCES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IBM QUANTUM LEARNING COURSE:</a:t>
            </a:r>
          </a:p>
          <a:p xmlns:a="http://schemas.openxmlformats.org/drawingml/2006/main">
            <a:r>
              <a:rPr lang="en-US" sz="1600">
                <a:solidFill>
                  <a:srgbClr val="E8F0FF"/>
                </a:solidFill>
                <a:latin typeface="Segoe UI"/>
                <a:ea typeface="Segoe UI"/>
              </a:rPr>
              <a:t>quantum.cloud.ibm.com/learning/en/</a:t>
            </a:r>
          </a:p>
          <a:p xmlns:a="http://schemas.openxmlformats.org/drawingml/2006/main">
            <a:r>
              <a:rPr lang="en-US" sz="1600">
                <a:solidFill>
                  <a:srgbClr val="E8F0FF"/>
                </a:solidFill>
                <a:latin typeface="Segoe UI"/>
                <a:ea typeface="Segoe UI"/>
              </a:rPr>
              <a:t>courses/foundations-of-quantum-</a:t>
            </a:r>
          </a:p>
          <a:p xmlns:a="http://schemas.openxmlformats.org/drawingml/2006/main">
            <a:r>
              <a:rPr lang="en-US" sz="1600">
                <a:solidFill>
                  <a:srgbClr val="E8F0FF"/>
                </a:solidFill>
                <a:latin typeface="Segoe UI"/>
                <a:ea typeface="Segoe UI"/>
              </a:rPr>
              <a:t>error-correction</a:t>
            </a:r>
          </a:p>
          <a:p xmlns:a="http://schemas.openxmlformats.org/drawingml/2006/main">
            <a:r>
              <a:rPr lang="en-US" sz="1600">
                <a:solidFill>
                  <a:srgbClr val="E8F0FF"/>
                </a:solidFill>
                <a:latin typeface="Segoe UI"/>
                <a:ea typeface="Segoe UI"/>
              </a:rPr>
              <a:t>  • 6 units with Jupyter labs</a:t>
            </a:r>
          </a:p>
          <a:p xmlns:a="http://schemas.openxmlformats.org/drawingml/2006/main">
            <a:r>
              <a:rPr lang="en-US" sz="1600">
                <a:solidFill>
                  <a:srgbClr val="E8F0FF"/>
                </a:solidFill>
                <a:latin typeface="Segoe UI"/>
                <a:ea typeface="Segoe UI"/>
              </a:rPr>
              <a:t>  • Run on real IBM hardware</a:t>
            </a:r>
          </a:p>
          <a:p xmlns:a="http://schemas.openxmlformats.org/drawingml/2006/main">
            <a:r>
              <a:rPr lang="en-US" sz="1600">
                <a:solidFill>
                  <a:srgbClr val="E8F0FF"/>
                </a:solidFill>
                <a:latin typeface="Segoe UI"/>
                <a:ea typeface="Segoe UI"/>
              </a:rPr>
              <a:t>  • Interactive syndrome circuits</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QISKIT PACKAGES:</a:t>
            </a:r>
          </a:p>
          <a:p xmlns:a="http://schemas.openxmlformats.org/drawingml/2006/main">
            <a:r>
              <a:rPr lang="en-US" sz="1600">
                <a:solidFill>
                  <a:srgbClr val="E8F0FF"/>
                </a:solidFill>
                <a:latin typeface="Segoe UI"/>
                <a:ea typeface="Segoe UI"/>
              </a:rPr>
              <a:t>  pip install qiskit</a:t>
            </a:r>
          </a:p>
          <a:p xmlns:a="http://schemas.openxmlformats.org/drawingml/2006/main">
            <a:r>
              <a:rPr lang="en-US" sz="1600">
                <a:solidFill>
                  <a:srgbClr val="E8F0FF"/>
                </a:solidFill>
                <a:latin typeface="Segoe UI"/>
                <a:ea typeface="Segoe UI"/>
              </a:rPr>
              <a:t>  pip install qiskit-addon-qec</a:t>
            </a:r>
          </a:p>
          <a:p xmlns:a="http://schemas.openxmlformats.org/drawingml/2006/main">
            <a:r>
              <a:rPr lang="en-US" sz="1600">
                <a:solidFill>
                  <a:srgbClr val="E8F0FF"/>
                </a:solidFill>
                <a:latin typeface="Segoe UI"/>
                <a:ea typeface="Segoe UI"/>
              </a:rPr>
              <a:t>  pip install qiskit-ibm-runtime</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TEXTBOOKS:</a:t>
            </a:r>
          </a:p>
          <a:p xmlns:a="http://schemas.openxmlformats.org/drawingml/2006/main">
            <a:r>
              <a:rPr lang="en-US" sz="1600">
                <a:solidFill>
                  <a:srgbClr val="E8F0FF"/>
                </a:solidFill>
                <a:latin typeface="Segoe UI"/>
                <a:ea typeface="Segoe UI"/>
              </a:rPr>
              <a:t>  • Nielsen &amp; Chuang (2000) Ch.10</a:t>
            </a:r>
          </a:p>
          <a:p xmlns:a="http://schemas.openxmlformats.org/drawingml/2006/main">
            <a:r>
              <a:rPr lang="en-US" sz="1600">
                <a:solidFill>
                  <a:srgbClr val="E8F0FF"/>
                </a:solidFill>
                <a:latin typeface="Segoe UI"/>
                <a:ea typeface="Segoe UI"/>
              </a:rPr>
              <a:t>  • Devitt, Munro &amp; Nemoto RPP (2013)</a:t>
            </a:r>
          </a:p>
          <a:p xmlns:a="http://schemas.openxmlformats.org/drawingml/2006/main">
            <a:r>
              <a:rPr lang="en-US" sz="1600">
                <a:solidFill>
                  <a:srgbClr val="E8F0FF"/>
                </a:solidFill>
                <a:latin typeface="Segoe UI"/>
                <a:ea typeface="Segoe UI"/>
              </a:rPr>
              <a:t>  • Gottesman lecture notes (arXiv)</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KEY JOURNALS:</a:t>
            </a:r>
          </a:p>
          <a:p xmlns:a="http://schemas.openxmlformats.org/drawingml/2006/main">
            <a:r>
              <a:rPr lang="en-US" sz="1600">
                <a:solidFill>
                  <a:srgbClr val="E8F0FF"/>
                </a:solidFill>
                <a:latin typeface="Segoe UI"/>
                <a:ea typeface="Segoe UI"/>
              </a:rPr>
              <a:t>  • Physical Review Letters / PRA / PRX</a:t>
            </a:r>
          </a:p>
          <a:p xmlns:a="http://schemas.openxmlformats.org/drawingml/2006/main">
            <a:r>
              <a:rPr lang="en-US" sz="1600">
                <a:solidFill>
                  <a:srgbClr val="E8F0FF"/>
                </a:solidFill>
                <a:latin typeface="Segoe UI"/>
                <a:ea typeface="Segoe UI"/>
              </a:rPr>
              <a:t>  • Nature / Nature Physics</a:t>
            </a:r>
          </a:p>
          <a:p xmlns:a="http://schemas.openxmlformats.org/drawingml/2006/main">
            <a:r>
              <a:rPr lang="en-US" sz="1600">
                <a:solidFill>
                  <a:srgbClr val="E8F0FF"/>
                </a:solidFill>
                <a:latin typeface="Segoe UI"/>
                <a:ea typeface="Segoe UI"/>
              </a:rPr>
              <a:t>  • Quantum (quantum-journal.org)</a:t>
            </a:r>
          </a:p>
          <a:p xmlns:a="http://schemas.openxmlformats.org/drawingml/2006/main">
            <a:r>
              <a:rPr lang="en-US" sz="1600">
                <a:solidFill>
                  <a:srgbClr val="E8F0FF"/>
                </a:solidFill>
                <a:latin typeface="Segoe UI"/>
                <a:ea typeface="Segoe UI"/>
              </a:rPr>
              <a:t>  • PRX Quantum</a:t>
            </a:r>
          </a:p>
          <a:p xmlns:a="http://schemas.openxmlformats.org/drawingml/2006/main">
            <a:r>
              <a:rPr lang="en-US" sz="1600">
                <a:solidFill>
                  <a:srgbClr val="E8F0FF"/>
                </a:solidFill>
                <a:latin typeface="Segoe UI"/>
                <a:ea typeface="Segoe UI"/>
              </a:rPr>
              <a:t/>
            </a:r>
          </a:p>
          <a:p xmlns:a="http://schemas.openxmlformats.org/drawingml/2006/main">
            <a:r>
              <a:rPr lang="en-US" sz="1600">
                <a:solidFill>
                  <a:srgbClr val="E8F0FF"/>
                </a:solidFill>
                <a:latin typeface="Segoe UI"/>
                <a:ea typeface="Segoe UI"/>
              </a:rPr>
              <a:t>IBM QUANTUM ROADMAP:</a:t>
            </a:r>
          </a:p>
          <a:p xmlns:a="http://schemas.openxmlformats.org/drawingml/2006/main">
            <a:r>
              <a:rPr lang="en-US" sz="1600">
                <a:solidFill>
                  <a:srgbClr val="E8F0FF"/>
                </a:solidFill>
                <a:latin typeface="Segoe UI"/>
                <a:ea typeface="Segoe UI"/>
              </a:rPr>
              <a:t>  ibm.com/quantum/roadmap</a:t>
            </a:r>
          </a:p>
        </p:txBody>
      </p:sp>
      <p:sp>
        <p:nvSpPr>
          <p:cNvPr id="100110" name="Foote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slides/slide18.xml><?xml version="1.0" encoding="utf-8"?>
<p:sld xmlns:p="http://schemas.openxmlformats.org/presentationml/2006/main">
  <p:cSld>
    <p:bg>
      <p:bgPr>
        <a:solidFill xmlns:a="http://schemas.openxmlformats.org/drawingml/2006/main">
          <a:srgbClr val="06082A"/>
        </a:solidFill>
      </p:bgPr>
    </p:bg>
    <p:spTree>
      <p:nvGrpSpPr>
        <p:cNvPr id="1" name=""/>
        <p:cNvGrpSpPr/>
        <p:nvPr/>
      </p:nvGrpSpPr>
      <p:grpSpPr/>
      <p:sp>
        <p:nvSpPr>
          <p:cNvPr id="100111" name="TopAccent"/>
          <p:cNvSpPr txBox="1"/>
          <p:nvPr/>
        </p:nvSpPr>
        <p:spPr>
          <a:xfrm xmlns:a="http://schemas.openxmlformats.org/drawingml/2006/main">
            <a:off x="0" y="0"/>
            <a:ext cx="12193200" cy="3240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112" name="OrgLabel"/>
          <p:cNvSpPr txBox="1"/>
          <p:nvPr/>
        </p:nvSpPr>
        <p:spPr>
          <a:xfrm xmlns:a="http://schemas.openxmlformats.org/drawingml/2006/main">
            <a:off x="432000" y="54000"/>
            <a:ext cx="11160000" cy="21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b="1">
                <a:solidFill>
                  <a:srgbClr val="FFFFFF"/>
                </a:solidFill>
              </a:rPr>
              <a:t>IBM QISKIT FALL FEST 2026   ·   QUANTUM FOR HUMANITY ORG</a:t>
            </a:r>
          </a:p>
        </p:txBody>
      </p:sp>
      <p:sp>
        <p:nvSpPr>
          <p:cNvPr id="100113" name="ThankYou"/>
          <p:cNvSpPr txBox="1"/>
          <p:nvPr/>
        </p:nvSpPr>
        <p:spPr>
          <a:xfrm xmlns:a="http://schemas.openxmlformats.org/drawingml/2006/main">
            <a:off x="432000" y="1440000"/>
            <a:ext cx="11160000" cy="10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6400" b="1">
                <a:solidFill>
                  <a:srgbClr val="FFFFFF"/>
                </a:solidFill>
                <a:latin typeface="Segoe UI"/>
                <a:ea typeface="Segoe UI"/>
              </a:rPr>
              <a:t>Thank You</a:t>
            </a:r>
          </a:p>
        </p:txBody>
      </p:sp>
      <p:sp>
        <p:nvSpPr>
          <p:cNvPr id="100114" name="CourseName"/>
          <p:cNvSpPr txBox="1"/>
          <p:nvPr/>
        </p:nvSpPr>
        <p:spPr>
          <a:xfrm xmlns:a="http://schemas.openxmlformats.org/drawingml/2006/main">
            <a:off x="432000" y="2628000"/>
            <a:ext cx="11160000" cy="396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0">
                <a:solidFill>
                  <a:srgbClr val="7FB3F5"/>
                </a:solidFill>
                <a:latin typeface="Segoe UI"/>
                <a:ea typeface="Segoe UI"/>
              </a:rPr>
              <a:t>Quantum Error Correction</a:t>
            </a:r>
          </a:p>
        </p:txBody>
      </p:sp>
      <p:sp>
        <p:nvSpPr>
          <p:cNvPr id="100115" name="GoldBar"/>
          <p:cNvSpPr txBox="1"/>
          <p:nvPr/>
        </p:nvSpPr>
        <p:spPr>
          <a:xfrm xmlns:a="http://schemas.openxmlformats.org/drawingml/2006/main">
            <a:off x="432000" y="3096000"/>
            <a:ext cx="7200000" cy="64800"/>
          </a:xfrm>
          <a:prstGeom xmlns:a="http://schemas.openxmlformats.org/drawingml/2006/main" prst="rect">
            <a:avLst/>
          </a:prstGeom>
          <a:solidFill xmlns:a="http://schemas.openxmlformats.org/drawingml/2006/main">
            <a:srgbClr val="F5A623"/>
          </a:solidFill>
        </p:spPr>
        <p:txBody>
          <a:bodyPr xmlns:a="http://schemas.openxmlformats.org/drawingml/2006/main"/>
          <a:lstStyle xmlns:a="http://schemas.openxmlformats.org/drawingml/2006/main"/>
          <a:p xmlns:a="http://schemas.openxmlformats.org/drawingml/2006/main">
            <a:endParaRPr lang="en-US" sz="1000">
              <a:solidFill>
                <a:srgbClr val="F5A623"/>
              </a:solidFill>
            </a:endParaRPr>
          </a:p>
        </p:txBody>
      </p:sp>
      <p:sp>
        <p:nvSpPr>
          <p:cNvPr id="100116" name="Links"/>
          <p:cNvSpPr txBox="1"/>
          <p:nvPr/>
        </p:nvSpPr>
        <p:spPr>
          <a:xfrm xmlns:a="http://schemas.openxmlformats.org/drawingml/2006/main">
            <a:off x="432000" y="3312000"/>
            <a:ext cx="11160000" cy="10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a:solidFill>
                  <a:srgbClr val="A0C4FF"/>
                </a:solidFill>
                <a:latin typeface="Segoe UI"/>
                <a:ea typeface="Segoe UI"/>
              </a:rPr>
              <a:t>IBM Quantum Learning:  quantum.cloud.ibm.com/learning</a:t>
            </a:r>
          </a:p>
          <a:p xmlns:a="http://schemas.openxmlformats.org/drawingml/2006/main">
            <a:r>
              <a:rPr lang="en-US" sz="1800">
                <a:solidFill>
                  <a:srgbClr val="A0C4FF"/>
                </a:solidFill>
                <a:latin typeface="Segoe UI"/>
                <a:ea typeface="Segoe UI"/>
              </a:rPr>
              <a:t>Foundations of QEC Course  (all Jupyter notebooks)</a:t>
            </a:r>
          </a:p>
          <a:p xmlns:a="http://schemas.openxmlformats.org/drawingml/2006/main">
            <a:r>
              <a:rPr lang="en-US" sz="1800">
                <a:solidFill>
                  <a:srgbClr val="A0C4FF"/>
                </a:solidFill>
                <a:latin typeface="Segoe UI"/>
                <a:ea typeface="Segoe UI"/>
              </a:rPr>
              <a:t>Qiskit Documentation:  docs.quantum.ibm.com</a:t>
            </a:r>
          </a:p>
          <a:p xmlns:a="http://schemas.openxmlformats.org/drawingml/2006/main">
            <a:r>
              <a:rPr lang="en-US" sz="1800">
                <a:solidFill>
                  <a:srgbClr val="A0C4FF"/>
                </a:solidFill>
                <a:latin typeface="Segoe UI"/>
                <a:ea typeface="Segoe UI"/>
              </a:rPr>
              <a:t>IBM Quantum Roadmap:  ibm.com/quantum/roadmap</a:t>
            </a:r>
          </a:p>
        </p:txBody>
      </p:sp>
      <p:sp>
        <p:nvSpPr>
          <p:cNvPr id="100117" name="Quote"/>
          <p:cNvSpPr txBox="1"/>
          <p:nvPr/>
        </p:nvSpPr>
        <p:spPr>
          <a:xfrm xmlns:a="http://schemas.openxmlformats.org/drawingml/2006/main">
            <a:off x="432000" y="4680000"/>
            <a:ext cx="1116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0">
                <a:solidFill>
                  <a:srgbClr val="5A8FC0"/>
                </a:solidFill>
                <a:latin typeface="Segoe UI"/>
                <a:ea typeface="Segoe UI"/>
              </a:rPr>
              <a:t>"We are entering the era of quantum error correction."</a:t>
            </a:r>
          </a:p>
          <a:p xmlns:a="http://schemas.openxmlformats.org/drawingml/2006/main">
            <a:r>
              <a:rPr lang="en-US" sz="1800" b="0">
                <a:solidFill>
                  <a:srgbClr val="5A8FC0"/>
                </a:solidFill>
                <a:latin typeface="Segoe UI"/>
                <a:ea typeface="Segoe UI"/>
              </a:rPr>
              <a:t>                                              — Jay Gambetta, IBM, 2024</a:t>
            </a:r>
          </a:p>
        </p:txBody>
      </p:sp>
      <p:sp>
        <p:nvSpPr>
          <p:cNvPr id="100118" name="BottomBar"/>
          <p:cNvSpPr txBox="1"/>
          <p:nvPr/>
        </p:nvSpPr>
        <p:spPr>
          <a:xfrm xmlns:a="http://schemas.openxmlformats.org/drawingml/2006/main">
            <a:off x="0" y="6660000"/>
            <a:ext cx="12193200" cy="100800"/>
          </a:xfrm>
          <a:prstGeom xmlns:a="http://schemas.openxmlformats.org/drawingml/2006/main" prst="rect">
            <a:avLst/>
          </a:prstGeom>
          <a:solidFill xmlns:a="http://schemas.openxmlformats.org/drawingml/2006/main">
            <a:srgbClr val="1F6FE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OfficeCLI/1.0.155</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2026-10-09T13:43:54Z</dcterms:created>
  <cp:lastModifiedBy>OfficeCLI</cp:lastModifiedBy>
  <dcterms:modified xsi:type="dcterms:W3CDTF">2026-10-09T13:43:54Z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1.0.155</vt:lpwstr>
  </op:property>
  <op:property fmtid="{D5CDD505-2E9C-101B-9397-08002B2CF9AE}" pid="3" name="OfficeCLI.LastModified">
    <vt:lpwstr xmlns:vt="http://schemas.openxmlformats.org/officeDocument/2006/docPropsVTypes">2026-10-09T14:30:53Z</vt:lpwstr>
  </op:property>
</op:Properties>
</file>