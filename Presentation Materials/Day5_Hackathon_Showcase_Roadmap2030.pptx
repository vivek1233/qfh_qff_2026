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fddeb168951a48b6" /><Relationship Type="http://schemas.openxmlformats.org/package/2006/relationships/metadata/core-properties" Target="/docProps/core.xml" Id="Refda95eb49d740d3" /><Relationship Type="http://schemas.openxmlformats.org/officeDocument/2006/relationships/extended-properties" Target="/docProps/app.xml" Id="R4c5e12811d2c4e7c" /><Relationship Type="http://schemas.openxmlformats.org/officeDocument/2006/relationships/custom-properties" Target="/docProps/custom.xml" Id="R32d82aed4a16432b"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ac487d013d844bbb"/>
  </p:notesMasterIdLst>
  <p:sldIdLst>
    <p:sldId id="256" r:id="R1f0f2715caeb4785"/>
    <p:sldId id="257" r:id="R9867c7cc28c1432b"/>
    <p:sldId id="258" r:id="Ra09725fdc2f54b45"/>
    <p:sldId id="259" r:id="R3077874c05704d07"/>
    <p:sldId id="260" r:id="Rbc650d12e1024323"/>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1f0f2715caeb4785" /><Relationship Type="http://schemas.openxmlformats.org/officeDocument/2006/relationships/notesMaster" Target="/ppt/notesMasters/notesMaster1.xml" Id="Rac487d013d844bbb" /><Relationship Type="http://schemas.openxmlformats.org/officeDocument/2006/relationships/slide" Target="/ppt/slides/slide2.xml" Id="R9867c7cc28c1432b" /><Relationship Type="http://schemas.openxmlformats.org/officeDocument/2006/relationships/slide" Target="/ppt/slides/slide3.xml" Id="Ra09725fdc2f54b45" /><Relationship Type="http://schemas.openxmlformats.org/officeDocument/2006/relationships/slide" Target="/ppt/slides/slide4.xml" Id="R3077874c05704d07" /><Relationship Type="http://schemas.openxmlformats.org/officeDocument/2006/relationships/slide" Target="/ppt/slides/slide5.xml" Id="Rbc650d12e10243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046b20e3a1b41c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483733abb5274f4c" /><Relationship Type="http://schemas.openxmlformats.org/officeDocument/2006/relationships/slide" Target="/ppt/slides/slide1.xml" Id="R85d9dad8c5cb431e"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c17a78296c224a70" /><Relationship Type="http://schemas.openxmlformats.org/officeDocument/2006/relationships/slide" Target="/ppt/slides/slide2.xml" Id="Rc457e5ba99d74629"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9732e6895f7b455e" /><Relationship Type="http://schemas.openxmlformats.org/officeDocument/2006/relationships/slide" Target="/ppt/slides/slide3.xml" Id="Rb2815e3256614c81"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d4e0f986119548ec" /><Relationship Type="http://schemas.openxmlformats.org/officeDocument/2006/relationships/slide" Target="/ppt/slides/slide4.xml" Id="R80e0650103a94099"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897b1a2f315a4b5e" /><Relationship Type="http://schemas.openxmlformats.org/officeDocument/2006/relationships/slide" Target="/ppt/slides/slide5.xml" Id="R3a4e0dc47af346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Day 5 is the celebration — 5 days of learning, building, and connecting culminate here. Hackathon Finals (top 10 teams, 5 min each), Award Ceremony, QfH Manifesto Launch, Community Showcase (2-min lightning talks), Closing Keynote on Quantum 2030, and Discord celebration.</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Key judging principle: technical excellence without impact is less valuable than impactful work with solid technical quality. The special Impact Award ensures projects targeting the most underserved populations are recognised even if they aren't technically the most sophisticated. All top-10 teams get 5 minutes + 2 min Q&amp;A. Judges: IBM Quantum researchers, Quantum for Humanity board, domain experts.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QfH Manifesto is a founding document for the Quantum for Humanity movement. It is not a policy document — it is a commitment by a community of practitioners. Signatories include individual researchers, students, and organisations. The Discord community serves as the living registry. This is a historic moment — the first quantum computing community manifesto focused explicitly on humanitarian values.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culminating vision slide. Connect the technical roadmap to the humanitarian mission. IBM's 2033 target of 100,000 physical qubits is not science fiction — it's a publicly committed engineering programme. The quantum divide is the most urgent policy challenge in our field. The Quantum for Humanity community exists precisely to ensure quantum benefits reach everyone, not just the privileged few. References: McKinsey Quantum Technology Monitor 2023; WEF Quantum Economy Blueprint 2023; IBM Quantum Roadmap ibm.com/quantum/roadmap.</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message. End on inspiration, not information. The IBM Qiskit Fall Fest is IBM's annual quantum learning festival. Quantum for Humanity is the community that ensures this technology serves all of humanity. Thank everyone — speakers, judges, organisers, IBM Quantum team, and especially every attendee who showed up to learn. The quantum revolution needs everyone.</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a300b0aa8d40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72fd831bac4d1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23f3c5bbda44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c0c0877dae4e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2350a3493541d5"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953a196e633f48f0"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a6865ab6b63a4392" /><Relationship Type="http://schemas.openxmlformats.org/officeDocument/2006/relationships/notesSlide" Target="/ppt/notesSlides/notesSlide1.xml" Id="R6468c73f24444a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1ff95f045d4c36" /><Relationship Type="http://schemas.openxmlformats.org/officeDocument/2006/relationships/notesSlide" Target="/ppt/notesSlides/notesSlide2.xml" Id="R0d5997151e1549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0e837b419246d4" /><Relationship Type="http://schemas.openxmlformats.org/officeDocument/2006/relationships/notesSlide" Target="/ppt/notesSlides/notesSlide3.xml" Id="Rd4c86be9f0a640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6e344fb2fd4079" /><Relationship Type="http://schemas.openxmlformats.org/officeDocument/2006/relationships/notesSlide" Target="/ppt/notesSlides/notesSlide4.xml" Id="R5c4b259367a8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fb7567430e4f51" /><Relationship Type="http://schemas.openxmlformats.org/officeDocument/2006/relationships/notesSlide" Target="/ppt/notesSlides/notesSlide5.xml" Id="Rf1b53e79f83c41d3" /></Relationships>
</file>

<file path=ppt/slides/slide1.xml><?xml version="1.0" encoding="utf-8"?>
<p:sld xmlns:p="http://schemas.openxmlformats.org/presentationml/2006/main">
  <p:cSld>
    <p:bg>
      <p:bgPr>
        <a:solidFill xmlns:a="http://schemas.openxmlformats.org/drawingml/2006/main">
          <a:srgbClr val="1A1200"/>
        </a:solidFill>
      </p:bgPr>
    </p:bg>
    <p:spTree>
      <p:nvGrpSpPr>
        <p:cNvPr id="1" name=""/>
        <p:cNvGrpSpPr/>
        <p:nvPr/>
      </p:nvGrpSpPr>
      <p:grpSpPr/>
      <p:sp>
        <p:nvSpPr>
          <p:cNvPr id="100000" name="Tag"/>
          <p:cNvSpPr txBox="1"/>
          <p:nvPr/>
        </p:nvSpPr>
        <p:spPr>
          <a:xfrm xmlns:a="http://schemas.openxmlformats.org/drawingml/2006/main">
            <a:off x="540000" y="180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FFB347"/>
                </a:solidFill>
              </a:rPr>
              <a:t>IBM Qiskit Fall Fest 2026  ·  Quantum for Humanity Org</a:t>
            </a:r>
          </a:p>
        </p:txBody>
      </p:sp>
      <p:sp>
        <p:nvSpPr>
          <p:cNvPr id="100001" name="DayBadge"/>
          <p:cNvSpPr txBox="1"/>
          <p:nvPr/>
        </p:nvSpPr>
        <p:spPr>
          <a:xfrm xmlns:a="http://schemas.openxmlformats.org/drawingml/2006/main">
            <a:off x="540000" y="540000"/>
            <a:ext cx="28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b="1">
                <a:solidFill>
                  <a:srgbClr val="FCD34D"/>
                </a:solidFill>
              </a:rPr>
              <a:t>DAY 5 OF 5  ·  FINALE</a:t>
            </a:r>
          </a:p>
        </p:txBody>
      </p:sp>
      <p:sp>
        <p:nvSpPr>
          <p:cNvPr id="100002" name="Title"/>
          <p:cNvSpPr txBox="1"/>
          <p:nvPr/>
        </p:nvSpPr>
        <p:spPr>
          <a:xfrm xmlns:a="http://schemas.openxmlformats.org/drawingml/2006/main">
            <a:off x="540000" y="828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Hackathon Finals, Showcase</a:t>
            </a:r>
          </a:p>
          <a:p xmlns:a="http://schemas.openxmlformats.org/drawingml/2006/main">
            <a:r>
              <a:rPr lang="en-US" sz="3600" b="1">
                <a:solidFill>
                  <a:srgbClr val="FFFFFF"/>
                </a:solidFill>
              </a:rPr>
              <a:t>&amp; Quantum Roadmap 2030</a:t>
            </a:r>
          </a:p>
        </p:txBody>
      </p:sp>
      <p:sp>
        <p:nvSpPr>
          <p:cNvPr id="100003" name="Subtitle"/>
          <p:cNvSpPr txBox="1"/>
          <p:nvPr/>
        </p:nvSpPr>
        <p:spPr>
          <a:xfrm xmlns:a="http://schemas.openxmlformats.org/drawingml/2006/main">
            <a:off x="540000" y="2448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FCD34D"/>
                </a:solidFill>
              </a:rPr>
              <a:t>48h hackathon culmination · Community showcase · QfH Manifesto launch · IBM 2033 roadmap · Career pathways</a:t>
            </a:r>
          </a:p>
        </p:txBody>
      </p:sp>
      <p:sp>
        <p:nvSpPr>
          <p:cNvPr id="100004" name="Meta"/>
          <p:cNvSpPr txBox="1"/>
          <p:nvPr/>
        </p:nvSpPr>
        <p:spPr>
          <a:xfrm xmlns:a="http://schemas.openxmlformats.org/drawingml/2006/main">
            <a:off x="540000" y="3132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8888AA"/>
                </a:solidFill>
              </a:rPr>
              <a:t>📅 November 20, 2026   ·   All Levels — Celebration   ·   IBM Quantum × Quantum for Humanity Org</a:t>
            </a:r>
          </a:p>
        </p:txBody>
      </p:sp>
    </p:spTree>
  </p:cSld>
</p:sld>
</file>

<file path=ppt/slides/slide2.xml><?xml version="1.0" encoding="utf-8"?>
<p:sld xmlns:p="http://schemas.openxmlformats.org/presentationml/2006/main">
  <p:cSld>
    <p:bg>
      <p:bgPr>
        <a:solidFill xmlns:a="http://schemas.openxmlformats.org/drawingml/2006/main">
          <a:srgbClr val="0D0D1A"/>
        </a:solidFill>
      </p:bgPr>
    </p:bg>
    <p:spTree>
      <p:nvGrpSpPr>
        <p:cNvPr id="1" name=""/>
        <p:cNvGrpSpPr/>
        <p:nvPr/>
      </p:nvGrpSpPr>
      <p:grpSpPr/>
      <p:sp>
        <p:nvSpPr>
          <p:cNvPr id="100005" name="SL"/>
          <p:cNvSpPr txBox="1"/>
          <p:nvPr/>
        </p:nvSpPr>
        <p:spPr>
          <a:xfrm xmlns:a="http://schemas.openxmlformats.org/drawingml/2006/main">
            <a:off x="540000" y="180000"/>
            <a:ext cx="432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B347"/>
                </a:solidFill>
              </a:rPr>
              <a:t>SECTION 1  ·  HACKATHON FINALS</a:t>
            </a:r>
          </a:p>
        </p:txBody>
      </p:sp>
      <p:sp>
        <p:nvSpPr>
          <p:cNvPr id="100006"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Hackathon Judging Rubric</a:t>
            </a:r>
          </a:p>
        </p:txBody>
      </p:sp>
      <p:sp>
        <p:nvSpPr>
          <p:cNvPr id="100007" name="Body"/>
          <p:cNvSpPr txBox="1"/>
          <p:nvPr/>
        </p:nvSpPr>
        <p:spPr>
          <a:xfrm xmlns:a="http://schemas.openxmlformats.org/drawingml/2006/main">
            <a:off x="540000" y="1188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CCCCE0"/>
                </a:solidFill>
              </a:rPr>
              <a:t>4 Tracks: Healthcare · Agriculture · Education · Finance</a:t>
            </a:r>
          </a:p>
          <a:p xmlns:a="http://schemas.openxmlformats.org/drawingml/2006/main">
            <a:r>
              <a:rPr lang="en-US" sz="1600">
                <a:solidFill>
                  <a:srgbClr val="CCCCE0"/>
                </a:solidFill>
              </a:rPr>
              <a:t/>
            </a:r>
          </a:p>
          <a:p xmlns:a="http://schemas.openxmlformats.org/drawingml/2006/main">
            <a:r>
              <a:rPr lang="en-US" sz="1600">
                <a:solidFill>
                  <a:srgbClr val="CCCCE0"/>
                </a:solidFill>
              </a:rPr>
              <a:t>Judging rubric (100 points total):</a:t>
            </a:r>
          </a:p>
          <a:p xmlns:a="http://schemas.openxmlformats.org/drawingml/2006/main">
            <a:r>
              <a:rPr lang="en-US" sz="1600">
                <a:solidFill>
                  <a:srgbClr val="CCCCE0"/>
                </a:solidFill>
              </a:rPr>
              <a:t>  Technical Depth    30 pts  — Correct quantum algorithms, circuit design</a:t>
            </a:r>
          </a:p>
          <a:p xmlns:a="http://schemas.openxmlformats.org/drawingml/2006/main">
            <a:r>
              <a:rPr lang="en-US" sz="1600">
                <a:solidFill>
                  <a:srgbClr val="CCCCE0"/>
                </a:solidFill>
              </a:rPr>
              <a:t>  Impact Potential   25 pts  — Realistic humanitarian impact, SDG alignment</a:t>
            </a:r>
          </a:p>
          <a:p xmlns:a="http://schemas.openxmlformats.org/drawingml/2006/main">
            <a:r>
              <a:rPr lang="en-US" sz="1600">
                <a:solidFill>
                  <a:srgbClr val="CCCCE0"/>
                </a:solidFill>
              </a:rPr>
              <a:t>  Innovation         20 pts  — Novel application, creative problem framing</a:t>
            </a:r>
          </a:p>
          <a:p xmlns:a="http://schemas.openxmlformats.org/drawingml/2006/main">
            <a:r>
              <a:rPr lang="en-US" sz="1600">
                <a:solidFill>
                  <a:srgbClr val="CCCCE0"/>
                </a:solidFill>
              </a:rPr>
              <a:t>  Presentation       15 pts  — Clarity, 5-min pitch quality, demo quality</a:t>
            </a:r>
          </a:p>
          <a:p xmlns:a="http://schemas.openxmlformats.org/drawingml/2006/main">
            <a:r>
              <a:rPr lang="en-US" sz="1600">
                <a:solidFill>
                  <a:srgbClr val="CCCCE0"/>
                </a:solidFill>
              </a:rPr>
              <a:t>  Reproducibility    10 pts  — GitHub repo, README, open-source, runnable</a:t>
            </a:r>
          </a:p>
          <a:p xmlns:a="http://schemas.openxmlformats.org/drawingml/2006/main">
            <a:r>
              <a:rPr lang="en-US" sz="1600">
                <a:solidFill>
                  <a:srgbClr val="CCCCE0"/>
                </a:solidFill>
              </a:rPr>
              <a:t/>
            </a:r>
          </a:p>
          <a:p xmlns:a="http://schemas.openxmlformats.org/drawingml/2006/main">
            <a:r>
              <a:rPr lang="en-US" sz="1600">
                <a:solidFill>
                  <a:srgbClr val="CCCCE0"/>
                </a:solidFill>
              </a:rPr>
              <a:t>Special Awards:</a:t>
            </a:r>
          </a:p>
          <a:p xmlns:a="http://schemas.openxmlformats.org/drawingml/2006/main">
            <a:r>
              <a:rPr lang="en-US" sz="1600">
                <a:solidFill>
                  <a:srgbClr val="CCCCE0"/>
                </a:solidFill>
              </a:rPr>
              <a:t>  🌍 Impact Award — Highest humanitarian impact (regardless of technical)</a:t>
            </a:r>
          </a:p>
          <a:p xmlns:a="http://schemas.openxmlformats.org/drawingml/2006/main">
            <a:r>
              <a:rPr lang="en-US" sz="1600">
                <a:solidFill>
                  <a:srgbClr val="CCCCE0"/>
                </a:solidFill>
              </a:rPr>
              <a:t>  🌐 Global Inclusion Award — Most diverse team or underserved population</a:t>
            </a:r>
          </a:p>
          <a:p xmlns:a="http://schemas.openxmlformats.org/drawingml/2006/main">
            <a:r>
              <a:rPr lang="en-US" sz="1600">
                <a:solidFill>
                  <a:srgbClr val="CCCCE0"/>
                </a:solidFill>
              </a:rPr>
              <a:t>  🎓 Best Beginner Team — All members started at beginner level</a:t>
            </a:r>
          </a:p>
          <a:p xmlns:a="http://schemas.openxmlformats.org/drawingml/2006/main">
            <a:r>
              <a:rPr lang="en-US" sz="1600">
                <a:solidFill>
                  <a:srgbClr val="CCCCE0"/>
                </a:solidFill>
              </a:rPr>
              <a:t/>
            </a:r>
          </a:p>
          <a:p xmlns:a="http://schemas.openxmlformats.org/drawingml/2006/main">
            <a:r>
              <a:rPr lang="en-US" sz="1600">
                <a:solidFill>
                  <a:srgbClr val="CCCCE0"/>
                </a:solidFill>
              </a:rPr>
              <a:t>Prizes:</a:t>
            </a:r>
          </a:p>
          <a:p xmlns:a="http://schemas.openxmlformats.org/drawingml/2006/main">
            <a:r>
              <a:rPr lang="en-US" sz="1600">
                <a:solidFill>
                  <a:srgbClr val="CCCCE0"/>
                </a:solidFill>
              </a:rPr>
              <a:t>  🥇 Grand Prize: IBM Quantum credits $10K + Network membership</a:t>
            </a:r>
          </a:p>
          <a:p xmlns:a="http://schemas.openxmlformats.org/drawingml/2006/main">
            <a:r>
              <a:rPr lang="en-US" sz="1600">
                <a:solidFill>
                  <a:srgbClr val="CCCCE0"/>
                </a:solidFill>
              </a:rPr>
              <a:t>  🥈 Runner-Up:   IBM Quantum credits $5K + Publication opportunity</a:t>
            </a:r>
          </a:p>
          <a:p xmlns:a="http://schemas.openxmlformats.org/drawingml/2006/main">
            <a:r>
              <a:rPr lang="en-US" sz="1600">
                <a:solidFill>
                  <a:srgbClr val="CCCCE0"/>
                </a:solidFill>
              </a:rPr>
              <a:t>  🥉 Third Place: IBM Quantum credits $2.5K + Certificate</a:t>
            </a:r>
          </a:p>
        </p:txBody>
      </p:sp>
    </p:spTree>
  </p:cSld>
</p:sld>
</file>

<file path=ppt/slides/slide3.xml><?xml version="1.0" encoding="utf-8"?>
<p:sld xmlns:p="http://schemas.openxmlformats.org/presentationml/2006/main">
  <p:cSld>
    <p:bg>
      <p:bgPr>
        <a:solidFill xmlns:a="http://schemas.openxmlformats.org/drawingml/2006/main">
          <a:srgbClr val="1A1200"/>
        </a:solidFill>
      </p:bgPr>
    </p:bg>
    <p:spTree>
      <p:nvGrpSpPr>
        <p:cNvPr id="1" name=""/>
        <p:cNvGrpSpPr/>
        <p:nvPr/>
      </p:nvGrpSpPr>
      <p:grpSpPr/>
      <p:sp>
        <p:nvSpPr>
          <p:cNvPr id="100008" name="SL"/>
          <p:cNvSpPr txBox="1"/>
          <p:nvPr/>
        </p:nvSpPr>
        <p:spPr>
          <a:xfrm xmlns:a="http://schemas.openxmlformats.org/drawingml/2006/main">
            <a:off x="540000" y="180000"/>
            <a:ext cx="432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B347"/>
                </a:solidFill>
              </a:rPr>
              <a:t>SECTION 5  ·  QFH MANIFESTO</a:t>
            </a:r>
          </a:p>
        </p:txBody>
      </p:sp>
      <p:sp>
        <p:nvSpPr>
          <p:cNvPr id="100009"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Quantum for Humanity Manifesto (2026)</a:t>
            </a:r>
          </a:p>
        </p:txBody>
      </p:sp>
      <p:sp>
        <p:nvSpPr>
          <p:cNvPr id="100010" name="Body"/>
          <p:cNvSpPr txBox="1"/>
          <p:nvPr/>
        </p:nvSpPr>
        <p:spPr>
          <a:xfrm xmlns:a="http://schemas.openxmlformats.org/drawingml/2006/main">
            <a:off x="540000" y="1188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CCCCE0"/>
                </a:solidFill>
              </a:rPr>
              <a:t>Seven Founding Principles:</a:t>
            </a:r>
          </a:p>
          <a:p xmlns:a="http://schemas.openxmlformats.org/drawingml/2006/main">
            <a:r>
              <a:rPr lang="en-US" sz="1700">
                <a:solidFill>
                  <a:srgbClr val="CCCCE0"/>
                </a:solidFill>
              </a:rPr>
              <a:t/>
            </a:r>
          </a:p>
          <a:p xmlns:a="http://schemas.openxmlformats.org/drawingml/2006/main">
            <a:r>
              <a:rPr lang="en-US" sz="1700">
                <a:solidFill>
                  <a:srgbClr val="CCCCE0"/>
                </a:solidFill>
              </a:rPr>
              <a:t>1. Open Science — All humanitarian quantum research published open access</a:t>
            </a:r>
          </a:p>
          <a:p xmlns:a="http://schemas.openxmlformats.org/drawingml/2006/main">
            <a:r>
              <a:rPr lang="en-US" sz="1700">
                <a:solidFill>
                  <a:srgbClr val="CCCCE0"/>
                </a:solidFill>
              </a:rPr>
              <a:t/>
            </a:r>
          </a:p>
          <a:p xmlns:a="http://schemas.openxmlformats.org/drawingml/2006/main">
            <a:r>
              <a:rPr lang="en-US" sz="1700">
                <a:solidFill>
                  <a:srgbClr val="CCCCE0"/>
                </a:solidFill>
              </a:rPr>
              <a:t>2. Inclusive Access — Free tools &amp; training for LMIC researchers &amp; students</a:t>
            </a:r>
          </a:p>
          <a:p xmlns:a="http://schemas.openxmlformats.org/drawingml/2006/main">
            <a:r>
              <a:rPr lang="en-US" sz="1700">
                <a:solidFill>
                  <a:srgbClr val="CCCCE0"/>
                </a:solidFill>
              </a:rPr>
              <a:t/>
            </a:r>
          </a:p>
          <a:p xmlns:a="http://schemas.openxmlformats.org/drawingml/2006/main">
            <a:r>
              <a:rPr lang="en-US" sz="1700">
                <a:solidFill>
                  <a:srgbClr val="CCCCE0"/>
                </a:solidFill>
              </a:rPr>
              <a:t>3. Community Sovereignty — Affected communities define problem statements</a:t>
            </a:r>
          </a:p>
          <a:p xmlns:a="http://schemas.openxmlformats.org/drawingml/2006/main">
            <a:r>
              <a:rPr lang="en-US" sz="1700">
                <a:solidFill>
                  <a:srgbClr val="CCCCE0"/>
                </a:solidFill>
              </a:rPr>
              <a:t/>
            </a:r>
          </a:p>
          <a:p xmlns:a="http://schemas.openxmlformats.org/drawingml/2006/main">
            <a:r>
              <a:rPr lang="en-US" sz="1700">
                <a:solidFill>
                  <a:srgbClr val="CCCCE0"/>
                </a:solidFill>
              </a:rPr>
              <a:t>4. Transparency — Quantum AI in public services must be explainable</a:t>
            </a:r>
          </a:p>
          <a:p xmlns:a="http://schemas.openxmlformats.org/drawingml/2006/main">
            <a:r>
              <a:rPr lang="en-US" sz="1700">
                <a:solidFill>
                  <a:srgbClr val="CCCCE0"/>
                </a:solidFill>
              </a:rPr>
              <a:t/>
            </a:r>
          </a:p>
          <a:p xmlns:a="http://schemas.openxmlformats.org/drawingml/2006/main">
            <a:r>
              <a:rPr lang="en-US" sz="1700">
                <a:solidFill>
                  <a:srgbClr val="CCCCE0"/>
                </a:solidFill>
              </a:rPr>
              <a:t>5. Non-Weaponisation — No contribution to WMD or mass surveillance</a:t>
            </a:r>
          </a:p>
          <a:p xmlns:a="http://schemas.openxmlformats.org/drawingml/2006/main">
            <a:r>
              <a:rPr lang="en-US" sz="1700">
                <a:solidFill>
                  <a:srgbClr val="CCCCE0"/>
                </a:solidFill>
              </a:rPr>
              <a:t/>
            </a:r>
          </a:p>
          <a:p xmlns:a="http://schemas.openxmlformats.org/drawingml/2006/main">
            <a:r>
              <a:rPr lang="en-US" sz="1700">
                <a:solidFill>
                  <a:srgbClr val="CCCCE0"/>
                </a:solidFill>
              </a:rPr>
              <a:t>6. Intergenerational Equity — Benefits distributed across generations</a:t>
            </a:r>
          </a:p>
          <a:p xmlns:a="http://schemas.openxmlformats.org/drawingml/2006/main">
            <a:r>
              <a:rPr lang="en-US" sz="1700">
                <a:solidFill>
                  <a:srgbClr val="CCCCE0"/>
                </a:solidFill>
              </a:rPr>
              <a:t/>
            </a:r>
          </a:p>
          <a:p xmlns:a="http://schemas.openxmlformats.org/drawingml/2006/main">
            <a:r>
              <a:rPr lang="en-US" sz="1700">
                <a:solidFill>
                  <a:srgbClr val="CCCCE0"/>
                </a:solidFill>
              </a:rPr>
              <a:t>7. Cultural Respect — Acknowledge all contributors, resist erasure of</a:t>
            </a:r>
          </a:p>
          <a:p xmlns:a="http://schemas.openxmlformats.org/drawingml/2006/main">
            <a:r>
              <a:rPr lang="en-US" sz="1700">
                <a:solidFill>
                  <a:srgbClr val="CCCCE0"/>
                </a:solidFill>
              </a:rPr>
              <a:t>   non-Western scientific traditions</a:t>
            </a:r>
          </a:p>
          <a:p xmlns:a="http://schemas.openxmlformats.org/drawingml/2006/main">
            <a:r>
              <a:rPr lang="en-US" sz="1700">
                <a:solidFill>
                  <a:srgbClr val="CCCCE0"/>
                </a:solidFill>
              </a:rPr>
              <a:t/>
            </a:r>
          </a:p>
          <a:p xmlns:a="http://schemas.openxmlformats.org/drawingml/2006/main">
            <a:r>
              <a:rPr lang="en-US" sz="1700">
                <a:solidFill>
                  <a:srgbClr val="CCCCE0"/>
                </a:solidFill>
              </a:rPr>
              <a:t>Sign the Manifesto: discord.gg/UgF3PaEax</a:t>
            </a:r>
          </a:p>
        </p:txBody>
      </p:sp>
    </p:spTree>
  </p:cSld>
</p:sld>
</file>

<file path=ppt/slides/slide4.xml><?xml version="1.0" encoding="utf-8"?>
<p:sld xmlns:p="http://schemas.openxmlformats.org/presentationml/2006/main">
  <p:cSld>
    <p:bg>
      <p:bgPr>
        <a:solidFill xmlns:a="http://schemas.openxmlformats.org/drawingml/2006/main">
          <a:srgbClr val="0D0D1A"/>
        </a:solidFill>
      </p:bgPr>
    </p:bg>
    <p:spTree>
      <p:nvGrpSpPr>
        <p:cNvPr id="1" name=""/>
        <p:cNvGrpSpPr/>
        <p:nvPr/>
      </p:nvGrpSpPr>
      <p:grpSpPr/>
      <p:sp>
        <p:nvSpPr>
          <p:cNvPr id="100011" name="SL"/>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B347"/>
                </a:solidFill>
              </a:rPr>
              <a:t>SECTION 6  ·  IBM ROADMAP &amp; GLOBAL FORECAST</a:t>
            </a:r>
          </a:p>
        </p:txBody>
      </p:sp>
      <p:sp>
        <p:nvSpPr>
          <p:cNvPr id="100012" name="Title"/>
          <p:cNvSpPr txBox="1"/>
          <p:nvPr/>
        </p:nvSpPr>
        <p:spPr>
          <a:xfrm xmlns:a="http://schemas.openxmlformats.org/drawingml/2006/main">
            <a:off x="540000" y="46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rPr>
              <a:t>IBM Quantum Roadmap 2026–2033</a:t>
            </a:r>
          </a:p>
        </p:txBody>
      </p:sp>
      <p:sp>
        <p:nvSpPr>
          <p:cNvPr id="100013" name="Body"/>
          <p:cNvSpPr txBox="1"/>
          <p:nvPr/>
        </p:nvSpPr>
        <p:spPr>
          <a:xfrm xmlns:a="http://schemas.openxmlformats.org/drawingml/2006/main">
            <a:off x="540000" y="1188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CCCCE0"/>
                </a:solidFill>
              </a:rPr>
              <a:t>Year    Milestone                         Physical Q  Logical Q</a:t>
            </a:r>
          </a:p>
          <a:p xmlns:a="http://schemas.openxmlformats.org/drawingml/2006/main">
            <a:r>
              <a:rPr lang="en-US" sz="1500">
                <a:solidFill>
                  <a:srgbClr val="CCCCE0"/>
                </a:solidFill>
              </a:rPr>
              <a:t>──────────────────────────────────────────────────────────────</a:t>
            </a:r>
          </a:p>
          <a:p xmlns:a="http://schemas.openxmlformats.org/drawingml/2006/main">
            <a:r>
              <a:rPr lang="en-US" sz="1500">
                <a:solidFill>
                  <a:srgbClr val="CCCCE0"/>
                </a:solidFill>
              </a:rPr>
              <a:t>2023    Quantum utility (Kim Nature 2023)    133        —</a:t>
            </a:r>
          </a:p>
          <a:p xmlns:a="http://schemas.openxmlformats.org/drawingml/2006/main">
            <a:r>
              <a:rPr lang="en-US" sz="1500">
                <a:solidFill>
                  <a:srgbClr val="CCCCE0"/>
                </a:solidFill>
              </a:rPr>
              <a:t>2024    Heron r2, 99.9% fidelity, break-even 156        ~5</a:t>
            </a:r>
          </a:p>
          <a:p xmlns:a="http://schemas.openxmlformats.org/drawingml/2006/main">
            <a:r>
              <a:rPr lang="en-US" sz="1500">
                <a:solidFill>
                  <a:srgbClr val="CCCCE0"/>
                </a:solidFill>
              </a:rPr>
              <a:t>2025    Flamingo, multi-chip communication  1,386       ~10</a:t>
            </a:r>
          </a:p>
          <a:p xmlns:a="http://schemas.openxmlformats.org/drawingml/2006/main">
            <a:r>
              <a:rPr lang="en-US" sz="1500">
                <a:solidFill>
                  <a:srgbClr val="CCCCE0"/>
                </a:solidFill>
              </a:rPr>
              <a:t>2026    Kookaburra, 3-chip system           4,158       ~100  ← NOW</a:t>
            </a:r>
          </a:p>
          <a:p xmlns:a="http://schemas.openxmlformats.org/drawingml/2006/main">
            <a:r>
              <a:rPr lang="en-US" sz="1500">
                <a:solidFill>
                  <a:srgbClr val="CCCCE0"/>
                </a:solidFill>
              </a:rPr>
              <a:t>2028    Early fault-tolerant applications  ~10,000     ~1,000</a:t>
            </a:r>
          </a:p>
          <a:p xmlns:a="http://schemas.openxmlformats.org/drawingml/2006/main">
            <a:r>
              <a:rPr lang="en-US" sz="1500">
                <a:solidFill>
                  <a:srgbClr val="CCCCE0"/>
                </a:solidFill>
              </a:rPr>
              <a:t>2033    100,000-qubit fault-tolerant system 100,000     ~100 at 10⁻¹⁰</a:t>
            </a:r>
          </a:p>
          <a:p xmlns:a="http://schemas.openxmlformats.org/drawingml/2006/main">
            <a:r>
              <a:rPr lang="en-US" sz="1500">
                <a:solidFill>
                  <a:srgbClr val="CCCCE0"/>
                </a:solidFill>
              </a:rPr>
              <a:t/>
            </a:r>
          </a:p>
          <a:p xmlns:a="http://schemas.openxmlformats.org/drawingml/2006/main">
            <a:r>
              <a:rPr lang="en-US" sz="1500">
                <a:solidFill>
                  <a:srgbClr val="CCCCE0"/>
                </a:solidFill>
              </a:rPr>
              <a:t>Global market forecast (McKinsey 2023):</a:t>
            </a:r>
          </a:p>
          <a:p xmlns:a="http://schemas.openxmlformats.org/drawingml/2006/main">
            <a:r>
              <a:rPr lang="en-US" sz="1500">
                <a:solidFill>
                  <a:srgbClr val="CCCCE0"/>
                </a:solidFill>
              </a:rPr>
              <a:t>  2023: $1.3B   →   2030: $45–100B</a:t>
            </a:r>
          </a:p>
          <a:p xmlns:a="http://schemas.openxmlformats.org/drawingml/2006/main">
            <a:r>
              <a:rPr lang="en-US" sz="1500">
                <a:solidFill>
                  <a:srgbClr val="CCCCE0"/>
                </a:solidFill>
              </a:rPr>
              <a:t>Workforce gap (WEF 2023): 2.5 million quantum workers needed by 2030</a:t>
            </a:r>
          </a:p>
          <a:p xmlns:a="http://schemas.openxmlformats.org/drawingml/2006/main">
            <a:r>
              <a:rPr lang="en-US" sz="1500">
                <a:solidFill>
                  <a:srgbClr val="CCCCE0"/>
                </a:solidFill>
              </a:rPr>
              <a:t/>
            </a:r>
          </a:p>
          <a:p xmlns:a="http://schemas.openxmlformats.org/drawingml/2006/main">
            <a:r>
              <a:rPr lang="en-US" sz="1500">
                <a:solidFill>
                  <a:srgbClr val="CCCCE0"/>
                </a:solidFill>
              </a:rPr>
              <a:t>Quantum Divide — critical policy gap:</a:t>
            </a:r>
          </a:p>
          <a:p xmlns:a="http://schemas.openxmlformats.org/drawingml/2006/main">
            <a:r>
              <a:rPr lang="en-US" sz="1500">
                <a:solidFill>
                  <a:srgbClr val="CCCCE0"/>
                </a:solidFill>
              </a:rPr>
              <a:t>  Only 6 of 195 countries have national quantum strategies</a:t>
            </a:r>
          </a:p>
          <a:p xmlns:a="http://schemas.openxmlformats.org/drawingml/2006/main">
            <a:r>
              <a:rPr lang="en-US" sz="1500">
                <a:solidFill>
                  <a:srgbClr val="CCCCE0"/>
                </a:solidFill>
              </a:rPr>
              <a:t>  Africa, SEA, Latin America: near-zero quantum hardware access</a:t>
            </a:r>
          </a:p>
          <a:p xmlns:a="http://schemas.openxmlformats.org/drawingml/2006/main">
            <a:r>
              <a:rPr lang="en-US" sz="1500">
                <a:solidFill>
                  <a:srgbClr val="CCCCE0"/>
                </a:solidFill>
              </a:rPr>
              <a:t>  Without deliberate intervention: quantum deepens global inequality</a:t>
            </a:r>
          </a:p>
          <a:p xmlns:a="http://schemas.openxmlformats.org/drawingml/2006/main">
            <a:r>
              <a:rPr lang="en-US" sz="1500">
                <a:solidFill>
                  <a:srgbClr val="CCCCE0"/>
                </a:solidFill>
              </a:rPr>
              <a:t/>
            </a:r>
          </a:p>
          <a:p xmlns:a="http://schemas.openxmlformats.org/drawingml/2006/main">
            <a:r>
              <a:rPr lang="en-US" sz="1500">
                <a:solidFill>
                  <a:srgbClr val="CCCCE0"/>
                </a:solidFill>
              </a:rPr>
              <a:t>Action required: free cloud access + language-localised education</a:t>
            </a:r>
          </a:p>
          <a:p xmlns:a="http://schemas.openxmlformats.org/drawingml/2006/main">
            <a:r>
              <a:rPr lang="en-US" sz="1500">
                <a:solidFill>
                  <a:srgbClr val="CCCCE0"/>
                </a:solidFill>
              </a:rPr>
              <a:t>+ technology transfer + mentorship pipelines → Quantum for ALL</a:t>
            </a:r>
          </a:p>
        </p:txBody>
      </p:sp>
    </p:spTree>
  </p:cSld>
</p:sld>
</file>

<file path=ppt/slides/slide5.xml><?xml version="1.0" encoding="utf-8"?>
<p:sld xmlns:p="http://schemas.openxmlformats.org/presentationml/2006/main">
  <p:cSld>
    <p:bg>
      <p:bgPr>
        <a:solidFill xmlns:a="http://schemas.openxmlformats.org/drawingml/2006/main">
          <a:srgbClr val="1A1200"/>
        </a:solidFill>
      </p:bgPr>
    </p:bg>
    <p:spTree>
      <p:nvGrpSpPr>
        <p:cNvPr id="1" name=""/>
        <p:cNvGrpSpPr/>
        <p:nvPr/>
      </p:nvGrpSpPr>
      <p:grpSpPr/>
      <p:sp>
        <p:nvSpPr>
          <p:cNvPr id="100014" name="SL"/>
          <p:cNvSpPr txBox="1"/>
          <p:nvPr/>
        </p:nvSpPr>
        <p:spPr>
          <a:xfrm xmlns:a="http://schemas.openxmlformats.org/drawingml/2006/main">
            <a:off x="540000" y="180000"/>
            <a:ext cx="54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1">
                <a:solidFill>
                  <a:srgbClr val="FFB347"/>
                </a:solidFill>
              </a:rPr>
              <a:t>CLOSING  ·  THE QUANTUM DECADE AHEAD</a:t>
            </a:r>
          </a:p>
        </p:txBody>
      </p:sp>
      <p:sp>
        <p:nvSpPr>
          <p:cNvPr id="100015" name="Title"/>
          <p:cNvSpPr txBox="1"/>
          <p:nvPr/>
        </p:nvSpPr>
        <p:spPr>
          <a:xfrm xmlns:a="http://schemas.openxmlformats.org/drawingml/2006/main">
            <a:off x="540000" y="46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FFFFFF"/>
                </a:solidFill>
              </a:rPr>
              <a:t>The Quantum Decade Starts Now</a:t>
            </a:r>
          </a:p>
        </p:txBody>
      </p:sp>
      <p:sp>
        <p:nvSpPr>
          <p:cNvPr id="100016" name="Body"/>
          <p:cNvSpPr txBox="1"/>
          <p:nvPr/>
        </p:nvSpPr>
        <p:spPr>
          <a:xfrm xmlns:a="http://schemas.openxmlformats.org/drawingml/2006/main">
            <a:off x="540000" y="1368000"/>
            <a:ext cx="10800000" cy="50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CCCCE0"/>
                </a:solidFill>
              </a:rPr>
              <a:t>What you accomplished this week:</a:t>
            </a:r>
          </a:p>
          <a:p xmlns:a="http://schemas.openxmlformats.org/drawingml/2006/main">
            <a:r>
              <a:rPr lang="en-US" sz="1700">
                <a:solidFill>
                  <a:srgbClr val="CCCCE0"/>
                </a:solidFill>
              </a:rPr>
              <a:t>✅  Built quantum circuits and ran them on real IBM hardware</a:t>
            </a:r>
          </a:p>
          <a:p xmlns:a="http://schemas.openxmlformats.org/drawingml/2006/main">
            <a:r>
              <a:rPr lang="en-US" sz="1700">
                <a:solidFill>
                  <a:srgbClr val="CCCCE0"/>
                </a:solidFill>
              </a:rPr>
              <a:t>✅  Implemented Grover's, Shor's (conceptual), VQE, QAOA</a:t>
            </a:r>
          </a:p>
          <a:p xmlns:a="http://schemas.openxmlformats.org/drawingml/2006/main">
            <a:r>
              <a:rPr lang="en-US" sz="1700">
                <a:solidFill>
                  <a:srgbClr val="CCCCE0"/>
                </a:solidFill>
              </a:rPr>
              <a:t>✅  Connected quantum computing to real humanitarian challenges</a:t>
            </a:r>
          </a:p>
          <a:p xmlns:a="http://schemas.openxmlformats.org/drawingml/2006/main">
            <a:r>
              <a:rPr lang="en-US" sz="1700">
                <a:solidFill>
                  <a:srgbClr val="CCCCE0"/>
                </a:solidFill>
              </a:rPr>
              <a:t>✅  Joined a global community of 550,000+ quantum learners</a:t>
            </a:r>
          </a:p>
          <a:p xmlns:a="http://schemas.openxmlformats.org/drawingml/2006/main">
            <a:r>
              <a:rPr lang="en-US" sz="1700">
                <a:solidFill>
                  <a:srgbClr val="CCCCE0"/>
                </a:solidFill>
              </a:rPr>
              <a:t>✅  Contributed to the Quantum for Humanity Manifesto</a:t>
            </a:r>
          </a:p>
          <a:p xmlns:a="http://schemas.openxmlformats.org/drawingml/2006/main">
            <a:r>
              <a:rPr lang="en-US" sz="1700">
                <a:solidFill>
                  <a:srgbClr val="CCCCE0"/>
                </a:solidFill>
              </a:rPr>
              <a:t/>
            </a:r>
          </a:p>
          <a:p xmlns:a="http://schemas.openxmlformats.org/drawingml/2006/main">
            <a:r>
              <a:rPr lang="en-US" sz="1700">
                <a:solidFill>
                  <a:srgbClr val="CCCCE0"/>
                </a:solidFill>
              </a:rPr>
              <a:t>Your next steps:</a:t>
            </a:r>
          </a:p>
          <a:p xmlns:a="http://schemas.openxmlformats.org/drawingml/2006/main">
            <a:r>
              <a:rPr lang="en-US" sz="1700">
                <a:solidFill>
                  <a:srgbClr val="CCCCE0"/>
                </a:solidFill>
              </a:rPr>
              <a:t>→  Continue at learning.quantum.ibm.com (free, all levels)</a:t>
            </a:r>
          </a:p>
          <a:p xmlns:a="http://schemas.openxmlformats.org/drawingml/2006/main">
            <a:r>
              <a:rPr lang="en-US" sz="1700">
                <a:solidFill>
                  <a:srgbClr val="CCCCE0"/>
                </a:solidFill>
              </a:rPr>
              <a:t>→  Publish your QFF 2026 project on GitHub with #QFF2026</a:t>
            </a:r>
          </a:p>
          <a:p xmlns:a="http://schemas.openxmlformats.org/drawingml/2006/main">
            <a:r>
              <a:rPr lang="en-US" sz="1700">
                <a:solidFill>
                  <a:srgbClr val="CCCCE0"/>
                </a:solidFill>
              </a:rPr>
              <a:t>→  Stay on Discord: discord.gg/UgF3PaEax</a:t>
            </a:r>
          </a:p>
          <a:p xmlns:a="http://schemas.openxmlformats.org/drawingml/2006/main">
            <a:r>
              <a:rPr lang="en-US" sz="1700">
                <a:solidFill>
                  <a:srgbClr val="CCCCE0"/>
                </a:solidFill>
              </a:rPr>
              <a:t>→  Apply for Qiskit Advocate at qiskit.org/advocates</a:t>
            </a:r>
          </a:p>
          <a:p xmlns:a="http://schemas.openxmlformats.org/drawingml/2006/main">
            <a:r>
              <a:rPr lang="en-US" sz="1700">
                <a:solidFill>
                  <a:srgbClr val="CCCCE0"/>
                </a:solidFill>
              </a:rPr>
              <a:t>→  Look out for QFF 2027 — see you next year!</a:t>
            </a:r>
          </a:p>
          <a:p xmlns:a="http://schemas.openxmlformats.org/drawingml/2006/main">
            <a:r>
              <a:rPr lang="en-US" sz="1700">
                <a:solidFill>
                  <a:srgbClr val="CCCCE0"/>
                </a:solidFill>
              </a:rPr>
              <a:t/>
            </a:r>
          </a:p>
          <a:p xmlns:a="http://schemas.openxmlformats.org/drawingml/2006/main">
            <a:r>
              <a:rPr lang="en-US" sz="1700">
                <a:solidFill>
                  <a:srgbClr val="CCCCE0"/>
                </a:solidFill>
              </a:rPr>
              <a:t>Remember:</a:t>
            </a:r>
          </a:p>
          <a:p xmlns:a="http://schemas.openxmlformats.org/drawingml/2006/main">
            <a:r>
              <a:rPr lang="en-US" sz="1700">
                <a:solidFill>
                  <a:srgbClr val="CCCCE0"/>
                </a:solidFill>
              </a:rPr>
              <a:t>The best quantum advice is simple — start building.</a:t>
            </a:r>
          </a:p>
          <a:p xmlns:a="http://schemas.openxmlformats.org/drawingml/2006/main">
            <a:r>
              <a:rPr lang="en-US" sz="1700">
                <a:solidFill>
                  <a:srgbClr val="CCCCE0"/>
                </a:solidFill>
              </a:rPr>
              <a:t>Run a circuit. Make something. Share it.</a:t>
            </a:r>
          </a:p>
          <a:p xmlns:a="http://schemas.openxmlformats.org/drawingml/2006/main">
            <a:r>
              <a:rPr lang="en-US" sz="1700">
                <a:solidFill>
                  <a:srgbClr val="CCCCE0"/>
                </a:solidFill>
              </a:rPr>
              <a:t>The quantum future belongs to everyone who chooses to build it.</a:t>
            </a:r>
          </a:p>
          <a:p xmlns:a="http://schemas.openxmlformats.org/drawingml/2006/main">
            <a:r>
              <a:rPr lang="en-US" sz="1700">
                <a:solidFill>
                  <a:srgbClr val="CCCCE0"/>
                </a:solidFill>
              </a:rPr>
              <a:t/>
            </a:r>
          </a:p>
          <a:p xmlns:a="http://schemas.openxmlformats.org/drawingml/2006/main">
            <a:r>
              <a:rPr lang="en-US" sz="1700">
                <a:solidFill>
                  <a:srgbClr val="CCCCE0"/>
                </a:solidFill>
              </a:rPr>
              <a:t>— Quantum for Humanity Org &amp;  IBM Qiskit Fall Fest 2026</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OfficeCLI/1.0.148</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2026-09-09T15:11:44Z</dcterms:created>
  <cp:lastModifiedBy>OfficeCLI</cp:lastModifiedBy>
  <dcterms:modified xsi:type="dcterms:W3CDTF">2026-09-09T15:11:44Z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1.0.148</vt:lpwstr>
  </op:property>
  <op:property fmtid="{D5CDD505-2E9C-101B-9397-08002B2CF9AE}" pid="3" name="OfficeCLI.LastModified">
    <vt:lpwstr xmlns:vt="http://schemas.openxmlformats.org/officeDocument/2006/docPropsVTypes">2026-09-09T15:11:45Z</vt:lpwstr>
  </op:property>
</op:Properties>
</file>