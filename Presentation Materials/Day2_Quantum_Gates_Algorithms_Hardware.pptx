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882762dfe4b4277" /><Relationship Type="http://schemas.openxmlformats.org/package/2006/relationships/metadata/core-properties" Target="/docProps/core.xml" Id="Rcd61799373dd4ca8" /><Relationship Type="http://schemas.openxmlformats.org/officeDocument/2006/relationships/extended-properties" Target="/docProps/app.xml" Id="R7d4148fef7884a53" /><Relationship Type="http://schemas.openxmlformats.org/officeDocument/2006/relationships/custom-properties" Target="/docProps/custom.xml" Id="R5a41d93baf124f3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0e165c75fc142b8"/>
  </p:notesMasterIdLst>
  <p:sldIdLst>
    <p:sldId id="256" r:id="Rd89e2c460927437f"/>
    <p:sldId id="257" r:id="Rdd22e49f46714fe4"/>
    <p:sldId id="258" r:id="R2931c62f22454f0e"/>
    <p:sldId id="259" r:id="R7f9d18d6f9c34508"/>
    <p:sldId id="260" r:id="Re9274aaef50f4d5f"/>
    <p:sldId id="261" r:id="Rde5218e586c346d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89e2c460927437f" /><Relationship Type="http://schemas.openxmlformats.org/officeDocument/2006/relationships/notesMaster" Target="/ppt/notesMasters/notesMaster1.xml" Id="R90e165c75fc142b8" /><Relationship Type="http://schemas.openxmlformats.org/officeDocument/2006/relationships/slide" Target="/ppt/slides/slide2.xml" Id="Rdd22e49f46714fe4" /><Relationship Type="http://schemas.openxmlformats.org/officeDocument/2006/relationships/slide" Target="/ppt/slides/slide3.xml" Id="R2931c62f22454f0e" /><Relationship Type="http://schemas.openxmlformats.org/officeDocument/2006/relationships/slide" Target="/ppt/slides/slide4.xml" Id="R7f9d18d6f9c34508" /><Relationship Type="http://schemas.openxmlformats.org/officeDocument/2006/relationships/slide" Target="/ppt/slides/slide5.xml" Id="Re9274aaef50f4d5f" /><Relationship Type="http://schemas.openxmlformats.org/officeDocument/2006/relationships/slide" Target="/ppt/slides/slide6.xml" Id="Rde5218e586c346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89546289a7b44c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adffe29a3dc456f" /><Relationship Type="http://schemas.openxmlformats.org/officeDocument/2006/relationships/slide" Target="/ppt/slides/slide1.xml" Id="Rc77a2b79a82d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03ac37032064d7f" /><Relationship Type="http://schemas.openxmlformats.org/officeDocument/2006/relationships/slide" Target="/ppt/slides/slide2.xml" Id="R26add387bd774d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c1fb6374e454c95" /><Relationship Type="http://schemas.openxmlformats.org/officeDocument/2006/relationships/slide" Target="/ppt/slides/slide3.xml" Id="Re364231697ed47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e9e6468772d425e" /><Relationship Type="http://schemas.openxmlformats.org/officeDocument/2006/relationships/slide" Target="/ppt/slides/slide4.xml" Id="R5f87dfde8e534f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4894f429dc4c7f" /><Relationship Type="http://schemas.openxmlformats.org/officeDocument/2006/relationships/slide" Target="/ppt/slides/slide5.xml" Id="R151ebaa8611549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19f6475988f4bfc" /><Relationship Type="http://schemas.openxmlformats.org/officeDocument/2006/relationships/slide" Target="/ppt/slides/slide6.xml" Id="Rbcb6999463024a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Day 2 builds directly on Day 1 foundations. Attendees should have Qiskit installed and have completed the Bell state lab. Today covers the theoretical depth behind quantum algorithms and real hardware architecture.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Key point: every quantum gate is a UNITARY matrix — U†U = I. This ensures reversibility and normalisation. The Clifford group (H, S, CNOT) can be efficiently simulated classically (Gottesman-Knill theorem). The T gate makes the set universal — this is why T-count is the key metric in fault-tolerant computing. The Rz gate on IBM hardware is virtual (implemented by frame tracking) — it costs zero error budget!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Grover's algorithm was proven OPTIMAL for black-box unstructured search (Bennett et al., 1997). The speedup is quadratic, not exponential — important to be accurate about this. BBHT extension (Boyer, Brassard, Høyer, Tapp 1998) generalises to k unknown solutions: O(√(N/k)). Reference: Grover, L.K., STOC 1996, doi:10.1145/237814.237866.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Critical honesty: Shor's algorithm breaking RSA-2048 requires ~20 MILLION physical qubits (Gidney &amp; Ekerå, Quantum 2021). Current devices are nowhere near sufficient. However, 'harvest now, decrypt later' (HNDL) attacks are real — nation-states are storing encrypted data TODAY. NIST standardised post-quantum algorithms in 2024. Every organisation should be planning migration to CRYSTALS-Kyber/Dilithium now. Reference: Shor, SIAM J. Comput. 26(5), 1997.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Transmon physics: Josephson junction + large shunt capacitor → EC/EJ &lt;&lt; 1 → charge-insensitive. Operated at ~15 mK in dilution refrigerator. Qubit frequency 4–8 GHz. ECR = Echoed Cross-Resonance gate. IBM chose ECR over CNOT because the echo sequence cancels residual ZZ coupling, improving fidelity by ~0.5pp. Reference: IBM Heron paper, IBM Research Blog 2023.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Tomorrow (Day 3) is the Quantum for Humanity day — impact applications in drug discovery, agriculture, water security, financial inclusion, and the ethics of responsible quantum innovation. Homework: implement Grover's algorithm for 3 qubits searching for |101⟩.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fb776c74845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07fb4ba9643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f093faa5f45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454d2b6d842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20159ee1a443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02033a56483444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6e968f57e472e" /><Relationship Type="http://schemas.openxmlformats.org/officeDocument/2006/relationships/notesSlide" Target="/ppt/notesSlides/notesSlide1.xml" Id="R3974979fd30b4a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59841a6a24031" /><Relationship Type="http://schemas.openxmlformats.org/officeDocument/2006/relationships/notesSlide" Target="/ppt/notesSlides/notesSlide2.xml" Id="R85e2c38948a4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0ff54955d4676" /><Relationship Type="http://schemas.openxmlformats.org/officeDocument/2006/relationships/notesSlide" Target="/ppt/notesSlides/notesSlide3.xml" Id="Refd1e82cf2ca4c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59d091ad847d4" /><Relationship Type="http://schemas.openxmlformats.org/officeDocument/2006/relationships/notesSlide" Target="/ppt/notesSlides/notesSlide4.xml" Id="R3775bf66e9ea46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66885a5a04a6e" /><Relationship Type="http://schemas.openxmlformats.org/officeDocument/2006/relationships/notesSlide" Target="/ppt/notesSlides/notesSlide5.xml" Id="Rff25696133cb42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2af225ed74a30" /><Relationship Type="http://schemas.openxmlformats.org/officeDocument/2006/relationships/notesSlide" Target="/ppt/notesSlides/notesSlide6.xml" Id="R1f8679df53fc47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1F"/>
        </a:solidFill>
      </p:bgPr>
    </p:bg>
    <p:spTree>
      <p:nvGrpSpPr>
        <p:cNvPr id="1" name=""/>
        <p:cNvGrpSpPr/>
        <p:nvPr/>
      </p:nvGrpSpPr>
      <p:grpSpPr/>
      <p:sp>
        <p:nvSpPr>
          <p:cNvPr id="100000" name="EventTag"/>
          <p:cNvSpPr txBox="1"/>
          <p:nvPr/>
        </p:nvSpPr>
        <p:spPr>
          <a:xfrm xmlns:a="http://schemas.openxmlformats.org/drawingml/2006/main">
            <a:off x="540000" y="1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3B1FF"/>
                </a:solidFill>
              </a:rPr>
              <a:t>IBM Qiskit Fall Fest 2026  ·  Quantum for Humanity Org</a:t>
            </a:r>
          </a:p>
        </p:txBody>
      </p:sp>
      <p:sp>
        <p:nvSpPr>
          <p:cNvPr id="100001" name="DayBadge"/>
          <p:cNvSpPr txBox="1"/>
          <p:nvPr/>
        </p:nvSpPr>
        <p:spPr>
          <a:xfrm xmlns:a="http://schemas.openxmlformats.org/drawingml/2006/main">
            <a:off x="540000" y="540000"/>
            <a:ext cx="1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3C5FD"/>
                </a:solidFill>
              </a:rPr>
              <a:t>DAY 2 OF 5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90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</a:rPr>
              <a:t>Quantum Gates, Algorithms &amp; Hardware Deep Dive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540000" y="216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93C5FD"/>
                </a:solidFill>
              </a:rPr>
              <a:t>Gate matrices, Grover's &amp; Shor's algorithms, QFT, Quantum ML, and IBM Eagle/Heron processor architecture</a:t>
            </a:r>
          </a:p>
        </p:txBody>
      </p:sp>
      <p:sp>
        <p:nvSpPr>
          <p:cNvPr id="100004" name="Meta"/>
          <p:cNvSpPr txBox="1"/>
          <p:nvPr/>
        </p:nvSpPr>
        <p:spPr>
          <a:xfrm xmlns:a="http://schemas.openxmlformats.org/drawingml/2006/main">
            <a:off x="540000" y="295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888AA"/>
                </a:solidFill>
              </a:rPr>
              <a:t>📅 November 17, 2026   ·   Intermediate → Research   ·   IBM Quantum × Quantum for Humanity Org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05" name="SL"/>
          <p:cNvSpPr txBox="1"/>
          <p:nvPr/>
        </p:nvSpPr>
        <p:spPr>
          <a:xfrm xmlns:a="http://schemas.openxmlformats.org/drawingml/2006/main">
            <a:off x="540000" y="180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3B1FF"/>
                </a:solidFill>
              </a:rPr>
              <a:t>SECTION 1  ·  GATES</a:t>
            </a: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Single-Qubit Gates — Complete Reference</a:t>
            </a:r>
          </a:p>
        </p:txBody>
      </p:sp>
      <p:sp>
        <p:nvSpPr>
          <p:cNvPr id="100007" name="GateTable"/>
          <p:cNvSpPr txBox="1"/>
          <p:nvPr/>
        </p:nvSpPr>
        <p:spPr>
          <a:xfrm xmlns:a="http://schemas.openxmlformats.org/drawingml/2006/main">
            <a:off x="540000" y="1188000"/>
            <a:ext cx="1080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Gate        Matrix              Action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Pauli-X     [[0,1],[1,0]]       Flips |0⟩↔|1⟩ (NOT gate)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Pauli-Y     [[0,-i],[i,0]]      Rotation π around Y-axis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Pauli-Z     [[1,0],[0,-1]]      Phase flip: |1⟩→-|1⟩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Hadamard H  1/√2 [[1,1],[1,-1]] Creates superposition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S gate      [[1,0],[0,i]]       π/2 phase (S²=Z)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T gate      [[1,0],[0,e^iπ/4]]  π/4 phase (non-Clifford!)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Rx(θ)       cos(θ/2)I-i sin(θ/2)X  Rotation around X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Ry(θ)       cos(θ/2)I-i sin(θ/2)Y  Rotation around Y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Rz(θ)       cos(θ/2)I-i sin(θ/2)Z  Virtual (free on IBM!)</a:t>
            </a:r>
          </a:p>
        </p:txBody>
      </p:sp>
      <p:sp>
        <p:nvSpPr>
          <p:cNvPr id="100008" name="Note"/>
          <p:cNvSpPr txBox="1"/>
          <p:nvPr/>
        </p:nvSpPr>
        <p:spPr>
          <a:xfrm xmlns:a="http://schemas.openxmlformats.org/drawingml/2006/main">
            <a:off x="540000" y="5328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B1FF"/>
                </a:solidFill>
              </a:rPr>
              <a:t>IBM Heron native gate set: {ECR, Rz, SX} — all other gates transpile into these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1F"/>
        </a:solidFill>
      </p:bgPr>
    </p:bg>
    <p:spTree>
      <p:nvGrpSpPr>
        <p:cNvPr id="1" name=""/>
        <p:cNvGrpSpPr/>
        <p:nvPr/>
      </p:nvGrpSpPr>
      <p:grpSpPr/>
      <p:sp>
        <p:nvSpPr>
          <p:cNvPr id="100009" name="SL"/>
          <p:cNvSpPr txBox="1"/>
          <p:nvPr/>
        </p:nvSpPr>
        <p:spPr>
          <a:xfrm xmlns:a="http://schemas.openxmlformats.org/drawingml/2006/main">
            <a:off x="540000" y="180000"/>
            <a:ext cx="43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3B1FF"/>
                </a:solidFill>
              </a:rPr>
              <a:t>SECTION 4  ·  GROVER'S ALGORITHM</a:t>
            </a:r>
          </a:p>
        </p:txBody>
      </p:sp>
      <p:sp>
        <p:nvSpPr>
          <p:cNvPr id="100010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Grover's Search Algorithm — O(√N)</a:t>
            </a:r>
          </a:p>
        </p:txBody>
      </p:sp>
      <p:sp>
        <p:nvSpPr>
          <p:cNvPr id="100011" name="Body"/>
          <p:cNvSpPr txBox="1"/>
          <p:nvPr/>
        </p:nvSpPr>
        <p:spPr>
          <a:xfrm xmlns:a="http://schemas.openxmlformats.org/drawingml/2006/main">
            <a:off x="540000" y="1188000"/>
            <a:ext cx="1080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Problem: find one marked item in N unsorted items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Classical best: O(N/2) expected queries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Grover quantum: O(√N) queries  →  QUADRATIC speedup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Algorithm steps: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1.  H⊗n |0⟩ — equal superposition over all N=2ⁿ states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2.  Oracle Uₒ — phase flip on target: Uₒ|x⟩ = (-1)^f(x)|x⟩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3.  Diffusion — reflection about mean: 2|s⟩⟨s|−I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4.  Repeat steps 2–3 for ⌊π/4·√N⌋ iterations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5.  Measure — target appears with probability ≥ 1−1/N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Optimal iterations: r ≈ (π/4)·√N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Example: N=1024 items → r ≈ 25 iterations (vs 512 classical)</a:t>
            </a:r>
          </a:p>
          <a:p xmlns:a="http://schemas.openxmlformats.org/drawingml/2006/main">
            <a:r>
              <a:rPr lang="en-US" sz="1800">
                <a:solidFill>
                  <a:srgbClr val="CCCCE0"/>
                </a:solidFill>
              </a:rPr>
              <a:t>Example: N=1M items  → r ≈ 785 iterations (vs 500,000 classical)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12" name="SL"/>
          <p:cNvSpPr txBox="1"/>
          <p:nvPr/>
        </p:nvSpPr>
        <p:spPr>
          <a:xfrm xmlns:a="http://schemas.openxmlformats.org/drawingml/2006/main">
            <a:off x="540000" y="180000"/>
            <a:ext cx="43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3B1FF"/>
                </a:solidFill>
              </a:rPr>
              <a:t>SECTION 5  ·  SHOR'S ALGORITHM</a:t>
            </a:r>
          </a:p>
        </p:txBody>
      </p:sp>
      <p:sp>
        <p:nvSpPr>
          <p:cNvPr id="100013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Shor's Factoring Algorithm — O((log N)³)</a:t>
            </a:r>
          </a:p>
        </p:txBody>
      </p:sp>
      <p:sp>
        <p:nvSpPr>
          <p:cNvPr id="100014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Threat: breaks RSA and ECC public-key cryptography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Classical GNFS: O(exp(n^(1/3)))  →  sub-exponential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Shor quantum: O((log N)³)  →  EXPONENTIAL speedup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Algorithm structure: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1.  Classical reduction — factor N by finding period r of aˣ mod N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2.  Quantum period finding — QPE on modular exponentiation unitary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  Uf|y⟩ = |ay mod N⟩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3.  QFT reveals period r from measurement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4.  Classical: gcd(a^(r/2) ± 1, N) → factors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Resource requirements for RSA-2048: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Gidney &amp; Ekerå (2021): ~20 million physical qubits, 8 hours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  Current IBM 2026: ~4,158 physical qubits — FAR from sufficient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Post-quantum standards (NIST 2024): CRYSTALS-Kyber,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Dilithium, FALCON, SPHINCS+ — migrate NOW!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1F"/>
        </a:solidFill>
      </p:bgPr>
    </p:bg>
    <p:spTree>
      <p:nvGrpSpPr>
        <p:cNvPr id="1" name=""/>
        <p:cNvGrpSpPr/>
        <p:nvPr/>
      </p:nvGrpSpPr>
      <p:grpSpPr/>
      <p:sp>
        <p:nvSpPr>
          <p:cNvPr id="100015" name="SL"/>
          <p:cNvSpPr txBox="1"/>
          <p:nvPr/>
        </p:nvSpPr>
        <p:spPr>
          <a:xfrm xmlns:a="http://schemas.openxmlformats.org/drawingml/2006/main">
            <a:off x="540000" y="180000"/>
            <a:ext cx="43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3B1FF"/>
                </a:solidFill>
              </a:rPr>
              <a:t>SECTION 7  ·  IBM HARDWARE</a:t>
            </a:r>
          </a:p>
        </p:txBody>
      </p:sp>
      <p:sp>
        <p:nvSpPr>
          <p:cNvPr id="100016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IBM Eagle vs Heron — Hardware Architecture</a:t>
            </a:r>
          </a:p>
        </p:txBody>
      </p:sp>
      <p:sp>
        <p:nvSpPr>
          <p:cNvPr id="100017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Feature              IBM Eagle (127Q)     IBM Heron r2 (156Q)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Qubits                127                  156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Topology              Heavy-hex            Heavy-hex denser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Native 2Q gate        CNOT (CX)            ECR (Echoed CR)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2Q gate fidelity      ~99.0%               ~99.9%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1Q gate fidelity      ~99.9%               ~99.97%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T1 (avg)              ~200 µs              ~300 µs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T2 (avg)              ~150 µs              ~200 µs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Readout error         ~1–3%                ~0.5–1%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Crosstalk             Standard             Tunable couplers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Key: ECR gate was designed to ECHO OUT ZZ crosstalk errors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Rz gate is virtual (frame tracking) — zero error budget cost</a:t>
            </a:r>
          </a:p>
          <a:p xmlns:a="http://schemas.openxmlformats.org/drawingml/2006/main">
            <a:r>
              <a:rPr lang="en-US" sz="1500">
                <a:solidFill>
                  <a:srgbClr val="CCCCE0"/>
                </a:solidFill>
              </a:rPr>
              <a:t>Heavy-hex: max 3 neighbours/qubit → 3× less crosstalk than square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D1A"/>
        </a:solidFill>
      </p:bgPr>
    </p:bg>
    <p:spTree>
      <p:nvGrpSpPr>
        <p:cNvPr id="1" name=""/>
        <p:cNvGrpSpPr/>
        <p:nvPr/>
      </p:nvGrpSpPr>
      <p:grpSpPr/>
      <p:sp>
        <p:nvSpPr>
          <p:cNvPr id="100018" name="SL"/>
          <p:cNvSpPr txBox="1"/>
          <p:nvPr/>
        </p:nvSpPr>
        <p:spPr>
          <a:xfrm xmlns:a="http://schemas.openxmlformats.org/drawingml/2006/main">
            <a:off x="540000" y="180000"/>
            <a:ext cx="432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B347"/>
                </a:solidFill>
              </a:rPr>
              <a:t>KEY TAKEAWAYS  ·  DAY 2</a:t>
            </a:r>
          </a:p>
        </p:txBody>
      </p:sp>
      <p:sp>
        <p:nvSpPr>
          <p:cNvPr id="100019" name="Title"/>
          <p:cNvSpPr txBox="1"/>
          <p:nvPr/>
        </p:nvSpPr>
        <p:spPr>
          <a:xfrm xmlns:a="http://schemas.openxmlformats.org/drawingml/2006/main">
            <a:off x="540000" y="4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Day 2 Summary &amp; References</a:t>
            </a:r>
          </a:p>
        </p:txBody>
      </p:sp>
      <p:sp>
        <p:nvSpPr>
          <p:cNvPr id="100020" name="Body"/>
          <p:cNvSpPr txBox="1"/>
          <p:nvPr/>
        </p:nvSpPr>
        <p:spPr>
          <a:xfrm xmlns:a="http://schemas.openxmlformats.org/drawingml/2006/main">
            <a:off x="540000" y="1188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Today you learned: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✅  Every quantum gate is a unitary matrix — reversible &amp; norm-preserving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✅  Grover's algorithm: O(√N) — quadratic speedup for search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✅  Shor's algorithm: O((log N)³) — exponential speedup for factoring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✅  QFT: O(n²) circuit — exponential compression vs classical FFT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✅  IBM Heron r2: 99.9% 2Q fidelity via ECR + tunable couplers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✅  QML: quantum kernels K(x,x')=|⟨φ(x)|φ(x')⟩|² and VQC classifiers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Key References: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[1] IBM Quantum Learning. Fundamentals of Quantum Algorithms, 2024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[2] Grover, L.K. STOC 1996. doi:10.1145/237814.237866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[3] Shor, P.W. SIAM J. Comput. 26(5), 1997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[4] Biamonte et al. Quantum ML. Nature 549, 2017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[5] Koch et al. Transmon qubit. PRA 76, 042319, 2007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[6] Havlíček et al. Quantum feature spaces. Nature 567, 2019</a:t>
            </a:r>
          </a:p>
          <a:p xmlns:a="http://schemas.openxmlformats.org/drawingml/2006/main">
            <a:r>
              <a:rPr lang="en-US" sz="1700">
                <a:solidFill>
                  <a:srgbClr val="CCCCE0"/>
                </a:solidFill>
              </a:rPr>
              <a:t>[7] Mitarai et al. Parameter-shift rule. PRA 98, 2018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2026-09-09T15:07:22Z</dcterms:created>
  <cp:lastModifiedBy>OfficeCLI</cp:lastModifiedBy>
  <dcterms:modified xsi:type="dcterms:W3CDTF">2026-09-09T15:07:22Z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2026-09-09T15:07:24Z</vt:lpwstr>
  </op:property>
</op:Properties>
</file>