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878cbdb70341435b" /><Relationship Type="http://schemas.openxmlformats.org/package/2006/relationships/metadata/core-properties" Target="/docProps/core.xml" Id="Rff7751e4c6af477b" /><Relationship Type="http://schemas.openxmlformats.org/officeDocument/2006/relationships/extended-properties" Target="/docProps/app.xml" Id="R3d3e347a2df74c86" /><Relationship Type="http://schemas.openxmlformats.org/officeDocument/2006/relationships/custom-properties" Target="/docProps/custom.xml" Id="Rebda7293ca494621"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7b81eaac627445f6"/>
  </p:notesMasterIdLst>
  <p:sldIdLst>
    <p:sldId id="256" r:id="R704c5c39db71404d"/>
    <p:sldId id="257" r:id="R191e803e8a09441e"/>
    <p:sldId id="258" r:id="R4853dcfc82ae4101"/>
    <p:sldId id="259" r:id="R86ee607c2fbb45eb"/>
    <p:sldId id="260" r:id="R765d9b029de84253"/>
    <p:sldId id="261" r:id="R24f3a35b595d4db3"/>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704c5c39db71404d" /><Relationship Type="http://schemas.openxmlformats.org/officeDocument/2006/relationships/notesMaster" Target="/ppt/notesMasters/notesMaster1.xml" Id="R7b81eaac627445f6" /><Relationship Type="http://schemas.openxmlformats.org/officeDocument/2006/relationships/slide" Target="/ppt/slides/slide2.xml" Id="R191e803e8a09441e" /><Relationship Type="http://schemas.openxmlformats.org/officeDocument/2006/relationships/slide" Target="/ppt/slides/slide3.xml" Id="R4853dcfc82ae4101" /><Relationship Type="http://schemas.openxmlformats.org/officeDocument/2006/relationships/slide" Target="/ppt/slides/slide4.xml" Id="R86ee607c2fbb45eb" /><Relationship Type="http://schemas.openxmlformats.org/officeDocument/2006/relationships/slide" Target="/ppt/slides/slide5.xml" Id="R765d9b029de84253" /><Relationship Type="http://schemas.openxmlformats.org/officeDocument/2006/relationships/slide" Target="/ppt/slides/slide6.xml" Id="R24f3a35b595d4d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97a93cb318b44ba"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44ba68673b9a4904" /><Relationship Type="http://schemas.openxmlformats.org/officeDocument/2006/relationships/slide" Target="/ppt/slides/slide1.xml" Id="R8c28ca244ab54c9d"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df737d887d9d4ef0" /><Relationship Type="http://schemas.openxmlformats.org/officeDocument/2006/relationships/slide" Target="/ppt/slides/slide2.xml" Id="Rfe52e8ca6cc64c3c"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e62c03caf3374950" /><Relationship Type="http://schemas.openxmlformats.org/officeDocument/2006/relationships/slide" Target="/ppt/slides/slide3.xml" Id="Rb2a56e83cc714474"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8f9b5d570ce24013" /><Relationship Type="http://schemas.openxmlformats.org/officeDocument/2006/relationships/slide" Target="/ppt/slides/slide4.xml" Id="R186e3fa1159b47b3"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88b0685b91554b46" /><Relationship Type="http://schemas.openxmlformats.org/officeDocument/2006/relationships/slide" Target="/ppt/slides/slide5.xml" Id="Rf8c00debaedf4da5"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f66b92a09f4b4f84" /><Relationship Type="http://schemas.openxmlformats.org/officeDocument/2006/relationships/slide" Target="/ppt/slides/slide6.xml" Id="R2a003ff6a45c46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slides for the IBM Quantum Safe Enterprise Transformation Masterclass and Workshop. Welcome attendees and introduce the speakers. Mention that this content is directly aligned with IBM Quantum Learning and the finalized August 2024 NIST Post-Quantum Cryptography standards.</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Module 1 Speaker Notes: Detail Shor's algorithm and explain how it threatens all asymmetric cryptography. Mention that Grover's algorithm necessitates transitioning to AES-256. Emphasize the threat of HNDL (Harvest Now Decrypt Later) on enterprise data assets today.</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Module 2 Speaker Notes: Outline FIPS 203, 204, and 205. Note that IBM researchers co-designed CRYSTALS-Kyber (ML-KEM) and CRYSTALS-Dilithium (ML-DSA). Mention the physical constraints: post-quantum public keys and signatures are significantly larger than classical ones (e.g., ML-DSA-65 signature is 3,293 bytes).</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Module 3 Speaker Notes: Talk about the Discover-Observe-Transform phases. Highlight the Cryptographic Bill of Materials (CBOM) as the standard file representation of cryptographic posture. Mention IBM Z Crypto Discovery &amp; Inventory (zCDI) and its capability on the mainframe.</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Module 4 Speaker Notes: Go over the schedule. Focus on the afternoon sessions where developers get hands-on with Python. Point out that Labs 1, 2, and 3 use real code pipelines directly available in their workspace folder.</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Module 5 Speaker Notes: Explain the 100-point grading engine. Tell students they will receive an official IBM Qiskit Fall Fest 2026 digital badge upon achieving a passing score. Discuss enterprise deployment using IBM z16 CEX8S hardware coprocessors and Cloud HPCS HSMs.</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2fc2a981684a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3144b45fb745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a08a24c02a44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6e9667e66c4c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7848f383b14cb7"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76d28fc762274552"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de67faeea4464b69" /><Relationship Type="http://schemas.openxmlformats.org/officeDocument/2006/relationships/notesSlide" Target="/ppt/notesSlides/notesSlide1.xml" Id="R357bdf57bea348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1fe217b1cb4ff5" /><Relationship Type="http://schemas.openxmlformats.org/officeDocument/2006/relationships/notesSlide" Target="/ppt/notesSlides/notesSlide2.xml" Id="R43a1e7fd74c145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a981f66f4a4073" /><Relationship Type="http://schemas.openxmlformats.org/officeDocument/2006/relationships/notesSlide" Target="/ppt/notesSlides/notesSlide3.xml" Id="Rf6f1c97362224f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684ba86bfa427e" /><Relationship Type="http://schemas.openxmlformats.org/officeDocument/2006/relationships/notesSlide" Target="/ppt/notesSlides/notesSlide4.xml" Id="R40b00b07c4ed4c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0eae6487634e76" /><Relationship Type="http://schemas.openxmlformats.org/officeDocument/2006/relationships/notesSlide" Target="/ppt/notesSlides/notesSlide5.xml" Id="R6c979617254e48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b6cbe95eabc459a" /><Relationship Type="http://schemas.openxmlformats.org/officeDocument/2006/relationships/notesSlide" Target="/ppt/notesSlides/notesSlide6.xml" Id="R5c3de6e675e24a04" /></Relationships>
</file>

<file path=ppt/slides/slide1.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p:sp>
        <p:nvSpPr>
          <p:cNvPr id="100000" name="S1_Title"/>
          <p:cNvSpPr txBox="1"/>
          <p:nvPr/>
        </p:nvSpPr>
        <p:spPr>
          <a:xfrm xmlns:a="http://schemas.openxmlformats.org/drawingml/2006/main">
            <a:off x="720000" y="1080000"/>
            <a:ext cx="107532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FFFFFF"/>
                </a:solidFill>
                <a:latin typeface="Georgia"/>
                <a:ea typeface="Georgia"/>
              </a:rPr>
              <a:t>IBM QUANTUM SAFE</a:t>
            </a:r>
          </a:p>
          <a:p xmlns:a="http://schemas.openxmlformats.org/drawingml/2006/main">
            <a:r>
              <a:rPr lang="en-US" sz="4000" b="1">
                <a:solidFill>
                  <a:srgbClr val="FFFFFF"/>
                </a:solidFill>
                <a:latin typeface="Georgia"/>
                <a:ea typeface="Georgia"/>
              </a:rPr>
              <a:t>ENTERPRISE TRANSFORMATION</a:t>
            </a:r>
          </a:p>
        </p:txBody>
      </p:sp>
      <p:sp>
        <p:nvSpPr>
          <p:cNvPr id="100001" name="S1_Subtitle"/>
          <p:cNvSpPr txBox="1"/>
          <p:nvPr/>
        </p:nvSpPr>
        <p:spPr>
          <a:xfrm xmlns:a="http://schemas.openxmlformats.org/drawingml/2006/main">
            <a:off x="720000" y="2700000"/>
            <a:ext cx="10753200" cy="10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a:solidFill>
                  <a:srgbClr val="FF6B9D"/>
                </a:solidFill>
                <a:latin typeface="Calibri"/>
                <a:ea typeface="Calibri"/>
              </a:rPr>
              <a:t>One-Day Masterclass &amp; Hands-On Laboratory Workshop</a:t>
            </a:r>
          </a:p>
          <a:p xmlns:a="http://schemas.openxmlformats.org/drawingml/2006/main">
            <a:r>
              <a:rPr lang="en-US" sz="1800">
                <a:solidFill>
                  <a:srgbClr val="FF6B9D"/>
                </a:solidFill>
                <a:latin typeface="Calibri"/>
                <a:ea typeface="Calibri"/>
              </a:rPr>
              <a:t>Preparing Cybersecurity, PKI, and Application Architecture for the Post-Quantum Era</a:t>
            </a:r>
          </a:p>
        </p:txBody>
      </p:sp>
      <p:sp>
        <p:nvSpPr>
          <p:cNvPr id="100002" name="S1_Info"/>
          <p:cNvSpPr txBox="1"/>
          <p:nvPr/>
        </p:nvSpPr>
        <p:spPr>
          <a:xfrm xmlns:a="http://schemas.openxmlformats.org/drawingml/2006/main">
            <a:off x="720000" y="4140000"/>
            <a:ext cx="107532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8B5CF6"/>
                </a:solidFill>
                <a:latin typeface="Calibri"/>
                <a:ea typeface="Calibri"/>
              </a:rPr>
              <a:t>📅 Date: November 19, 2026  ·  ⏱️ Duration: 9:00 AM – 5:00 PM IST</a:t>
            </a:r>
          </a:p>
          <a:p xmlns:a="http://schemas.openxmlformats.org/drawingml/2006/main">
            <a:r>
              <a:rPr lang="en-US" sz="1400">
                <a:solidFill>
                  <a:srgbClr val="8B5CF6"/>
                </a:solidFill>
                <a:latin typeface="Calibri"/>
                <a:ea typeface="Calibri"/>
              </a:rPr>
              <a:t>💻 Target Audience: Cybersecurity Architects, Developers, PKI Administrators</a:t>
            </a:r>
          </a:p>
          <a:p xmlns:a="http://schemas.openxmlformats.org/drawingml/2006/main">
            <a:r>
              <a:rPr lang="en-US" sz="1400">
                <a:solidFill>
                  <a:srgbClr val="8B5CF6"/>
                </a:solidFill>
                <a:latin typeface="Calibri"/>
                <a:ea typeface="Calibri"/>
              </a:rPr>
              <a:t>🏆 Organized by: IBM Quantum &amp; Quantum for Humanity Org (QFF 2026)</a:t>
            </a:r>
          </a:p>
        </p:txBody>
      </p:sp>
    </p:spTree>
  </p:cSld>
</p:sld>
</file>

<file path=ppt/slides/slide2.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p:sp>
        <p:nvSpPr>
          <p:cNvPr id="100003" name="S2_Title"/>
          <p:cNvSpPr txBox="1"/>
          <p:nvPr/>
        </p:nvSpPr>
        <p:spPr>
          <a:xfrm xmlns:a="http://schemas.openxmlformats.org/drawingml/2006/main">
            <a:off x="720000" y="540000"/>
            <a:ext cx="107532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latin typeface="Georgia"/>
                <a:ea typeface="Georgia"/>
              </a:rPr>
              <a:t>THE QUANTUM CRYPTOGRAPHIC THREAT</a:t>
            </a:r>
          </a:p>
        </p:txBody>
      </p:sp>
      <p:sp>
        <p:nvSpPr>
          <p:cNvPr id="100004" name="S2_Col1"/>
          <p:cNvSpPr txBox="1"/>
          <p:nvPr/>
        </p:nvSpPr>
        <p:spPr>
          <a:xfrm xmlns:a="http://schemas.openxmlformats.org/drawingml/2006/main">
            <a:off x="720000" y="1368000"/>
            <a:ext cx="504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0E0E0"/>
                </a:solidFill>
                <a:latin typeface="Calibri"/>
                <a:ea typeface="Calibri"/>
              </a:rPr>
              <a:t>1. Shor's Algorithm (Exponential Threat)</a:t>
            </a:r>
          </a:p>
          <a:p xmlns:a="http://schemas.openxmlformats.org/drawingml/2006/main">
            <a:r>
              <a:rPr lang="en-US" sz="1500">
                <a:solidFill>
                  <a:srgbClr val="E0E0E0"/>
                </a:solidFill>
                <a:latin typeface="Calibri"/>
                <a:ea typeface="Calibri"/>
              </a:rPr>
              <a:t>• Solves prime factorization &amp; discrete logarithms.</a:t>
            </a:r>
          </a:p>
          <a:p xmlns:a="http://schemas.openxmlformats.org/drawingml/2006/main">
            <a:r>
              <a:rPr lang="en-US" sz="1500">
                <a:solidFill>
                  <a:srgbClr val="E0E0E0"/>
                </a:solidFill>
                <a:latin typeface="Calibri"/>
                <a:ea typeface="Calibri"/>
              </a:rPr>
              <a:t>• Breaks RSA, Diffie-Hellman, ECDH, and ECDSA.</a:t>
            </a:r>
          </a:p>
          <a:p xmlns:a="http://schemas.openxmlformats.org/drawingml/2006/main">
            <a:r>
              <a:rPr lang="en-US" sz="1500">
                <a:solidFill>
                  <a:srgbClr val="E0E0E0"/>
                </a:solidFill>
                <a:latin typeface="Calibri"/>
                <a:ea typeface="Calibri"/>
              </a:rPr>
              <a:t>• Threatens SSL/TLS, VPNs, SSH, PKI, and Blockchain.</a:t>
            </a:r>
          </a:p>
          <a:p xmlns:a="http://schemas.openxmlformats.org/drawingml/2006/main">
            <a:r>
              <a:rPr lang="en-US" sz="1500">
                <a:solidFill>
                  <a:srgbClr val="E0E0E0"/>
                </a:solidFill>
                <a:latin typeface="Calibri"/>
                <a:ea typeface="Calibri"/>
              </a:rPr>
              <a:t/>
            </a:r>
          </a:p>
          <a:p xmlns:a="http://schemas.openxmlformats.org/drawingml/2006/main">
            <a:r>
              <a:rPr lang="en-US" sz="1500">
                <a:solidFill>
                  <a:srgbClr val="E0E0E0"/>
                </a:solidFill>
                <a:latin typeface="Calibri"/>
                <a:ea typeface="Calibri"/>
              </a:rPr>
              <a:t>2. Grover's Algorithm (Quadratic Threat)</a:t>
            </a:r>
          </a:p>
          <a:p xmlns:a="http://schemas.openxmlformats.org/drawingml/2006/main">
            <a:r>
              <a:rPr lang="en-US" sz="1500">
                <a:solidFill>
                  <a:srgbClr val="E0E0E0"/>
                </a:solidFill>
                <a:latin typeface="Calibri"/>
                <a:ea typeface="Calibri"/>
              </a:rPr>
              <a:t>• Speeds up unstructured database searches.</a:t>
            </a:r>
          </a:p>
          <a:p xmlns:a="http://schemas.openxmlformats.org/drawingml/2006/main">
            <a:r>
              <a:rPr lang="en-US" sz="1500">
                <a:solidFill>
                  <a:srgbClr val="E0E0E0"/>
                </a:solidFill>
                <a:latin typeface="Calibri"/>
                <a:ea typeface="Calibri"/>
              </a:rPr>
              <a:t>• Reduces effective symmetric key strength from N to N/2.</a:t>
            </a:r>
          </a:p>
          <a:p xmlns:a="http://schemas.openxmlformats.org/drawingml/2006/main">
            <a:r>
              <a:rPr lang="en-US" sz="1500">
                <a:solidFill>
                  <a:srgbClr val="E0E0E0"/>
                </a:solidFill>
                <a:latin typeface="Calibri"/>
                <a:ea typeface="Calibri"/>
              </a:rPr>
              <a:t>• AES-128 drops to 64-bit strength (vulnerable).</a:t>
            </a:r>
          </a:p>
          <a:p xmlns:a="http://schemas.openxmlformats.org/drawingml/2006/main">
            <a:r>
              <a:rPr lang="en-US" sz="1500">
                <a:solidFill>
                  <a:srgbClr val="E0E0E0"/>
                </a:solidFill>
                <a:latin typeface="Calibri"/>
                <a:ea typeface="Calibri"/>
              </a:rPr>
              <a:t>• AES-256 remains safe (retains 128-bit quantum security).</a:t>
            </a:r>
          </a:p>
        </p:txBody>
      </p:sp>
      <p:sp>
        <p:nvSpPr>
          <p:cNvPr id="100005" name="S2_Col2"/>
          <p:cNvSpPr txBox="1"/>
          <p:nvPr/>
        </p:nvSpPr>
        <p:spPr>
          <a:xfrm xmlns:a="http://schemas.openxmlformats.org/drawingml/2006/main">
            <a:off x="6433200" y="1368000"/>
            <a:ext cx="504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FF6B9D"/>
                </a:solidFill>
                <a:latin typeface="Calibri"/>
                <a:ea typeface="Calibri"/>
              </a:rPr>
              <a:t>3. Harvest Now, Decrypt Later (HNDL)</a:t>
            </a:r>
          </a:p>
          <a:p xmlns:a="http://schemas.openxmlformats.org/drawingml/2006/main">
            <a:r>
              <a:rPr lang="en-US" sz="1500">
                <a:solidFill>
                  <a:srgbClr val="FF6B9D"/>
                </a:solidFill>
                <a:latin typeface="Calibri"/>
                <a:ea typeface="Calibri"/>
              </a:rPr>
              <a:t>• Adversaries are actively intercepting and storing encrypted network traffic today.</a:t>
            </a:r>
          </a:p>
          <a:p xmlns:a="http://schemas.openxmlformats.org/drawingml/2006/main">
            <a:r>
              <a:rPr lang="en-US" sz="1500">
                <a:solidFill>
                  <a:srgbClr val="FF6B9D"/>
                </a:solidFill>
                <a:latin typeface="Calibri"/>
                <a:ea typeface="Calibri"/>
              </a:rPr>
              <a:t>• Once Cryptanalytically Relevant Quantum Computers (CRQCs) arrive, they will decrypt it.</a:t>
            </a:r>
          </a:p>
          <a:p xmlns:a="http://schemas.openxmlformats.org/drawingml/2006/main">
            <a:r>
              <a:rPr lang="en-US" sz="1500">
                <a:solidFill>
                  <a:srgbClr val="FF6B9D"/>
                </a:solidFill>
                <a:latin typeface="Calibri"/>
                <a:ea typeface="Calibri"/>
              </a:rPr>
              <a:t>• Any data with a high shelf life (&gt;10 years) is at extreme risk right now (IP, military, health).</a:t>
            </a:r>
          </a:p>
          <a:p xmlns:a="http://schemas.openxmlformats.org/drawingml/2006/main">
            <a:r>
              <a:rPr lang="en-US" sz="1500">
                <a:solidFill>
                  <a:srgbClr val="FF6B9D"/>
                </a:solidFill>
                <a:latin typeface="Calibri"/>
                <a:ea typeface="Calibri"/>
              </a:rPr>
              <a:t/>
            </a:r>
          </a:p>
          <a:p xmlns:a="http://schemas.openxmlformats.org/drawingml/2006/main">
            <a:r>
              <a:rPr lang="en-US" sz="1500">
                <a:solidFill>
                  <a:srgbClr val="FF6B9D"/>
                </a:solidFill>
                <a:latin typeface="Calibri"/>
                <a:ea typeface="Calibri"/>
              </a:rPr>
              <a:t>4. Enterprise Modernization Mandate</a:t>
            </a:r>
          </a:p>
          <a:p xmlns:a="http://schemas.openxmlformats.org/drawingml/2006/main">
            <a:r>
              <a:rPr lang="en-US" sz="1500">
                <a:solidFill>
                  <a:srgbClr val="FF6B9D"/>
                </a:solidFill>
                <a:latin typeface="Calibri"/>
                <a:ea typeface="Calibri"/>
              </a:rPr>
              <a:t>• Post-quantum transition is a multi-year engineering challenge.</a:t>
            </a:r>
          </a:p>
          <a:p xmlns:a="http://schemas.openxmlformats.org/drawingml/2006/main">
            <a:r>
              <a:rPr lang="en-US" sz="1500">
                <a:solidFill>
                  <a:srgbClr val="FF6B9D"/>
                </a:solidFill>
                <a:latin typeface="Calibri"/>
                <a:ea typeface="Calibri"/>
              </a:rPr>
              <a:t>• Organizations must baseline their cryptographic posture immediately.</a:t>
            </a:r>
          </a:p>
        </p:txBody>
      </p:sp>
    </p:spTree>
  </p:cSld>
</p:sld>
</file>

<file path=ppt/slides/slide3.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p:sp>
        <p:nvSpPr>
          <p:cNvPr id="100006" name="S3_Title"/>
          <p:cNvSpPr txBox="1"/>
          <p:nvPr/>
        </p:nvSpPr>
        <p:spPr>
          <a:xfrm xmlns:a="http://schemas.openxmlformats.org/drawingml/2006/main">
            <a:off x="720000" y="540000"/>
            <a:ext cx="107532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latin typeface="Georgia"/>
                <a:ea typeface="Georgia"/>
              </a:rPr>
              <a:t>NIST POST-QUANTUM CRYPTOGRAPHY STANDARDS</a:t>
            </a:r>
          </a:p>
        </p:txBody>
      </p:sp>
      <p:sp>
        <p:nvSpPr>
          <p:cNvPr id="100007" name="S3_Body"/>
          <p:cNvSpPr txBox="1"/>
          <p:nvPr/>
        </p:nvSpPr>
        <p:spPr>
          <a:xfrm xmlns:a="http://schemas.openxmlformats.org/drawingml/2006/main">
            <a:off x="720000" y="1368000"/>
            <a:ext cx="107532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E0E0E0"/>
                </a:solidFill>
                <a:latin typeface="Calibri"/>
                <a:ea typeface="Calibri"/>
              </a:rPr>
              <a:t>The finalized NIST Post-Quantum Cryptography standards (August 2024):</a:t>
            </a:r>
          </a:p>
          <a:p xmlns:a="http://schemas.openxmlformats.org/drawingml/2006/main">
            <a:r>
              <a:rPr lang="en-US" sz="1600">
                <a:solidFill>
                  <a:srgbClr val="E0E0E0"/>
                </a:solidFill>
                <a:latin typeface="Calibri"/>
                <a:ea typeface="Calibri"/>
              </a:rPr>
              <a:t/>
            </a:r>
          </a:p>
          <a:p xmlns:a="http://schemas.openxmlformats.org/drawingml/2006/main">
            <a:r>
              <a:rPr lang="en-US" sz="1600">
                <a:solidFill>
                  <a:srgbClr val="E0E0E0"/>
                </a:solidFill>
                <a:latin typeface="Calibri"/>
                <a:ea typeface="Calibri"/>
              </a:rPr>
              <a:t>• FIPS 203: ML-KEM (Module-Lattice-Based Key-Encapsulation Mechanism)</a:t>
            </a:r>
          </a:p>
          <a:p xmlns:a="http://schemas.openxmlformats.org/drawingml/2006/main">
            <a:r>
              <a:rPr lang="en-US" sz="1600">
                <a:solidFill>
                  <a:srgbClr val="E0E0E0"/>
                </a:solidFill>
                <a:latin typeface="Calibri"/>
                <a:ea typeface="Calibri"/>
              </a:rPr>
              <a:t>  - Primary use: General encryption, key exchanges, SSL/TLS connections.</a:t>
            </a:r>
          </a:p>
          <a:p xmlns:a="http://schemas.openxmlformats.org/drawingml/2006/main">
            <a:r>
              <a:rPr lang="en-US" sz="1600">
                <a:solidFill>
                  <a:srgbClr val="E0E0E0"/>
                </a:solidFill>
                <a:latin typeface="Calibri"/>
                <a:ea typeface="Calibri"/>
              </a:rPr>
              <a:t>  - Core configuration: ML-KEM-768 provides Level 3 security (equivalent to AES-192).</a:t>
            </a:r>
          </a:p>
          <a:p xmlns:a="http://schemas.openxmlformats.org/drawingml/2006/main">
            <a:r>
              <a:rPr lang="en-US" sz="1600">
                <a:solidFill>
                  <a:srgbClr val="E0E0E0"/>
                </a:solidFill>
                <a:latin typeface="Calibri"/>
                <a:ea typeface="Calibri"/>
              </a:rPr>
              <a:t/>
            </a:r>
          </a:p>
          <a:p xmlns:a="http://schemas.openxmlformats.org/drawingml/2006/main">
            <a:r>
              <a:rPr lang="en-US" sz="1600">
                <a:solidFill>
                  <a:srgbClr val="E0E0E0"/>
                </a:solidFill>
                <a:latin typeface="Calibri"/>
                <a:ea typeface="Calibri"/>
              </a:rPr>
              <a:t>• FIPS 204: ML-DSA (Module-Lattice-Based Digital Signature Standard)</a:t>
            </a:r>
          </a:p>
          <a:p xmlns:a="http://schemas.openxmlformats.org/drawingml/2006/main">
            <a:r>
              <a:rPr lang="en-US" sz="1600">
                <a:solidFill>
                  <a:srgbClr val="E0E0E0"/>
                </a:solidFill>
                <a:latin typeface="Calibri"/>
                <a:ea typeface="Calibri"/>
              </a:rPr>
              <a:t>  - Primary use: Digital signatures, PKI certificate authorities, code-signing.</a:t>
            </a:r>
          </a:p>
          <a:p xmlns:a="http://schemas.openxmlformats.org/drawingml/2006/main">
            <a:r>
              <a:rPr lang="en-US" sz="1600">
                <a:solidFill>
                  <a:srgbClr val="E0E0E0"/>
                </a:solidFill>
                <a:latin typeface="Calibri"/>
                <a:ea typeface="Calibri"/>
              </a:rPr>
              <a:t>  - Core configuration: ML-DSA-65 provides Level 3 signature security.</a:t>
            </a:r>
          </a:p>
          <a:p xmlns:a="http://schemas.openxmlformats.org/drawingml/2006/main">
            <a:r>
              <a:rPr lang="en-US" sz="1600">
                <a:solidFill>
                  <a:srgbClr val="E0E0E0"/>
                </a:solidFill>
                <a:latin typeface="Calibri"/>
                <a:ea typeface="Calibri"/>
              </a:rPr>
              <a:t/>
            </a:r>
          </a:p>
          <a:p xmlns:a="http://schemas.openxmlformats.org/drawingml/2006/main">
            <a:r>
              <a:rPr lang="en-US" sz="1600">
                <a:solidFill>
                  <a:srgbClr val="E0E0E0"/>
                </a:solidFill>
                <a:latin typeface="Calibri"/>
                <a:ea typeface="Calibri"/>
              </a:rPr>
              <a:t>• FIPS 205: SLH-DSA (Stateless Hash-Based Digital Signature Standard)</a:t>
            </a:r>
          </a:p>
          <a:p xmlns:a="http://schemas.openxmlformats.org/drawingml/2006/main">
            <a:r>
              <a:rPr lang="en-US" sz="1600">
                <a:solidFill>
                  <a:srgbClr val="E0E0E0"/>
                </a:solidFill>
                <a:latin typeface="Calibri"/>
                <a:ea typeface="Calibri"/>
              </a:rPr>
              <a:t>  - Primary use: Secondary signature scheme, high-security code-signing, firmware updates.</a:t>
            </a:r>
          </a:p>
          <a:p xmlns:a="http://schemas.openxmlformats.org/drawingml/2006/main">
            <a:r>
              <a:rPr lang="en-US" sz="1600">
                <a:solidFill>
                  <a:srgbClr val="E0E0E0"/>
                </a:solidFill>
                <a:latin typeface="Calibri"/>
                <a:ea typeface="Calibri"/>
              </a:rPr>
              <a:t>  - Benefit: Extremely robust, completely independent of lattice mathematics.</a:t>
            </a:r>
          </a:p>
          <a:p xmlns:a="http://schemas.openxmlformats.org/drawingml/2006/main">
            <a:r>
              <a:rPr lang="en-US" sz="1600">
                <a:solidFill>
                  <a:srgbClr val="E0E0E0"/>
                </a:solidFill>
                <a:latin typeface="Calibri"/>
                <a:ea typeface="Calibri"/>
              </a:rPr>
              <a:t/>
            </a:r>
          </a:p>
          <a:p xmlns:a="http://schemas.openxmlformats.org/drawingml/2006/main">
            <a:r>
              <a:rPr lang="en-US" sz="1600">
                <a:solidFill>
                  <a:srgbClr val="E0E0E0"/>
                </a:solidFill>
                <a:latin typeface="Calibri"/>
                <a:ea typeface="Calibri"/>
              </a:rPr>
              <a:t>• FIPS 206: FN-DSA (FALCON)</a:t>
            </a:r>
          </a:p>
          <a:p xmlns:a="http://schemas.openxmlformats.org/drawingml/2006/main">
            <a:r>
              <a:rPr lang="en-US" sz="1600">
                <a:solidFill>
                  <a:srgbClr val="E0E0E0"/>
                </a:solidFill>
                <a:latin typeface="Calibri"/>
                <a:ea typeface="Calibri"/>
              </a:rPr>
              <a:t>  - Primary use: NTRU lattice-based signature scheme with highly compact signature footprint.</a:t>
            </a:r>
          </a:p>
        </p:txBody>
      </p:sp>
    </p:spTree>
  </p:cSld>
</p:sld>
</file>

<file path=ppt/slides/slide4.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p:sp>
        <p:nvSpPr>
          <p:cNvPr id="100008" name="S4_Title"/>
          <p:cNvSpPr txBox="1"/>
          <p:nvPr/>
        </p:nvSpPr>
        <p:spPr>
          <a:xfrm xmlns:a="http://schemas.openxmlformats.org/drawingml/2006/main">
            <a:off x="720000" y="540000"/>
            <a:ext cx="107532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latin typeface="Georgia"/>
                <a:ea typeface="Georgia"/>
              </a:rPr>
              <a:t>IBM TRANSFORMATION FRAMEWORK &amp; CBOM</a:t>
            </a:r>
          </a:p>
        </p:txBody>
      </p:sp>
      <p:sp>
        <p:nvSpPr>
          <p:cNvPr id="100009" name="S4_Col1"/>
          <p:cNvSpPr txBox="1"/>
          <p:nvPr/>
        </p:nvSpPr>
        <p:spPr>
          <a:xfrm xmlns:a="http://schemas.openxmlformats.org/drawingml/2006/main">
            <a:off x="720000" y="1368000"/>
            <a:ext cx="504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E0E0E0"/>
                </a:solidFill>
                <a:latin typeface="Calibri"/>
                <a:ea typeface="Calibri"/>
              </a:rPr>
              <a:t>IBM TRANSFORMATION METHODOLOGY</a:t>
            </a:r>
          </a:p>
          <a:p xmlns:a="http://schemas.openxmlformats.org/drawingml/2006/main">
            <a:r>
              <a:rPr lang="en-US" sz="1500">
                <a:solidFill>
                  <a:srgbClr val="E0E0E0"/>
                </a:solidFill>
                <a:latin typeface="Calibri"/>
                <a:ea typeface="Calibri"/>
              </a:rPr>
              <a:t/>
            </a:r>
          </a:p>
          <a:p xmlns:a="http://schemas.openxmlformats.org/drawingml/2006/main">
            <a:r>
              <a:rPr lang="en-US" sz="1500">
                <a:solidFill>
                  <a:srgbClr val="E0E0E0"/>
                </a:solidFill>
                <a:latin typeface="Calibri"/>
                <a:ea typeface="Calibri"/>
              </a:rPr>
              <a:t>1. DISCOVER — Catalog &amp; Inventory</a:t>
            </a:r>
          </a:p>
          <a:p xmlns:a="http://schemas.openxmlformats.org/drawingml/2006/main">
            <a:r>
              <a:rPr lang="en-US" sz="1500">
                <a:solidFill>
                  <a:srgbClr val="E0E0E0"/>
                </a:solidFill>
                <a:latin typeface="Calibri"/>
                <a:ea typeface="Calibri"/>
              </a:rPr>
              <a:t>• Scan source code, binaries, networks, and HSMs.</a:t>
            </a:r>
          </a:p>
          <a:p xmlns:a="http://schemas.openxmlformats.org/drawingml/2006/main">
            <a:r>
              <a:rPr lang="en-US" sz="1500">
                <a:solidFill>
                  <a:srgbClr val="E0E0E0"/>
                </a:solidFill>
                <a:latin typeface="Calibri"/>
                <a:ea typeface="Calibri"/>
              </a:rPr>
              <a:t>• Map cryptographic dependencies &amp; keys.</a:t>
            </a:r>
          </a:p>
          <a:p xmlns:a="http://schemas.openxmlformats.org/drawingml/2006/main">
            <a:r>
              <a:rPr lang="en-US" sz="1500">
                <a:solidFill>
                  <a:srgbClr val="E0E0E0"/>
                </a:solidFill>
                <a:latin typeface="Calibri"/>
                <a:ea typeface="Calibri"/>
              </a:rPr>
              <a:t>• Tool: IBM Quantum Safe Explorer, zCDI.</a:t>
            </a:r>
          </a:p>
          <a:p xmlns:a="http://schemas.openxmlformats.org/drawingml/2006/main">
            <a:r>
              <a:rPr lang="en-US" sz="1500">
                <a:solidFill>
                  <a:srgbClr val="E0E0E0"/>
                </a:solidFill>
                <a:latin typeface="Calibri"/>
                <a:ea typeface="Calibri"/>
              </a:rPr>
              <a:t/>
            </a:r>
          </a:p>
          <a:p xmlns:a="http://schemas.openxmlformats.org/drawingml/2006/main">
            <a:r>
              <a:rPr lang="en-US" sz="1500">
                <a:solidFill>
                  <a:srgbClr val="E0E0E0"/>
                </a:solidFill>
                <a:latin typeface="Calibri"/>
                <a:ea typeface="Calibri"/>
              </a:rPr>
              <a:t>2. OBSERVE — Assess Posture &amp; Risk</a:t>
            </a:r>
          </a:p>
          <a:p xmlns:a="http://schemas.openxmlformats.org/drawingml/2006/main">
            <a:r>
              <a:rPr lang="en-US" sz="1500">
                <a:solidFill>
                  <a:srgbClr val="E0E0E0"/>
                </a:solidFill>
                <a:latin typeface="Calibri"/>
                <a:ea typeface="Calibri"/>
              </a:rPr>
              <a:t>• Map assets against NIST &amp; CNSA 2.0 policies.</a:t>
            </a:r>
          </a:p>
          <a:p xmlns:a="http://schemas.openxmlformats.org/drawingml/2006/main">
            <a:r>
              <a:rPr lang="en-US" sz="1500">
                <a:solidFill>
                  <a:srgbClr val="E0E0E0"/>
                </a:solidFill>
                <a:latin typeface="Calibri"/>
                <a:ea typeface="Calibri"/>
              </a:rPr>
              <a:t>• Calculate Risk Exposure Index (vulnerability × data life).</a:t>
            </a:r>
          </a:p>
          <a:p xmlns:a="http://schemas.openxmlformats.org/drawingml/2006/main">
            <a:r>
              <a:rPr lang="en-US" sz="1500">
                <a:solidFill>
                  <a:srgbClr val="E0E0E0"/>
                </a:solidFill>
                <a:latin typeface="Calibri"/>
                <a:ea typeface="Calibri"/>
              </a:rPr>
              <a:t>• Tool: IBM Quantum Safe Advisor.</a:t>
            </a:r>
          </a:p>
          <a:p xmlns:a="http://schemas.openxmlformats.org/drawingml/2006/main">
            <a:r>
              <a:rPr lang="en-US" sz="1500">
                <a:solidFill>
                  <a:srgbClr val="E0E0E0"/>
                </a:solidFill>
                <a:latin typeface="Calibri"/>
                <a:ea typeface="Calibri"/>
              </a:rPr>
              <a:t/>
            </a:r>
          </a:p>
          <a:p xmlns:a="http://schemas.openxmlformats.org/drawingml/2006/main">
            <a:r>
              <a:rPr lang="en-US" sz="1500">
                <a:solidFill>
                  <a:srgbClr val="E0E0E0"/>
                </a:solidFill>
                <a:latin typeface="Calibri"/>
                <a:ea typeface="Calibri"/>
              </a:rPr>
              <a:t>3. TRANSFORM — Agile Remediation</a:t>
            </a:r>
          </a:p>
          <a:p xmlns:a="http://schemas.openxmlformats.org/drawingml/2006/main">
            <a:r>
              <a:rPr lang="en-US" sz="1500">
                <a:solidFill>
                  <a:srgbClr val="E0E0E0"/>
                </a:solidFill>
                <a:latin typeface="Calibri"/>
                <a:ea typeface="Calibri"/>
              </a:rPr>
              <a:t>• Deploy hybrid post-quantum schemes.</a:t>
            </a:r>
          </a:p>
          <a:p xmlns:a="http://schemas.openxmlformats.org/drawingml/2006/main">
            <a:r>
              <a:rPr lang="en-US" sz="1500">
                <a:solidFill>
                  <a:srgbClr val="E0E0E0"/>
                </a:solidFill>
                <a:latin typeface="Calibri"/>
                <a:ea typeface="Calibri"/>
              </a:rPr>
              <a:t>• Dynamic zero-downtime gate key exchanges.</a:t>
            </a:r>
          </a:p>
          <a:p xmlns:a="http://schemas.openxmlformats.org/drawingml/2006/main">
            <a:r>
              <a:rPr lang="en-US" sz="1500">
                <a:solidFill>
                  <a:srgbClr val="E0E0E0"/>
                </a:solidFill>
                <a:latin typeface="Calibri"/>
                <a:ea typeface="Calibri"/>
              </a:rPr>
              <a:t>• Tool: IBM Quantum Safe Remediator.</a:t>
            </a:r>
          </a:p>
        </p:txBody>
      </p:sp>
      <p:sp>
        <p:nvSpPr>
          <p:cNvPr id="100010" name="S4_Col2"/>
          <p:cNvSpPr txBox="1"/>
          <p:nvPr/>
        </p:nvSpPr>
        <p:spPr>
          <a:xfrm xmlns:a="http://schemas.openxmlformats.org/drawingml/2006/main">
            <a:off x="6433200" y="1368000"/>
            <a:ext cx="504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8B5CF6"/>
                </a:solidFill>
                <a:latin typeface="Calibri"/>
                <a:ea typeface="Calibri"/>
              </a:rPr>
              <a:t>THE OWASP CYCLONEDX CBOM STANDARD</a:t>
            </a:r>
          </a:p>
          <a:p xmlns:a="http://schemas.openxmlformats.org/drawingml/2006/main">
            <a:r>
              <a:rPr lang="en-US" sz="1500">
                <a:solidFill>
                  <a:srgbClr val="8B5CF6"/>
                </a:solidFill>
                <a:latin typeface="Calibri"/>
                <a:ea typeface="Calibri"/>
              </a:rPr>
              <a:t/>
            </a:r>
          </a:p>
          <a:p xmlns:a="http://schemas.openxmlformats.org/drawingml/2006/main">
            <a:r>
              <a:rPr lang="en-US" sz="1500">
                <a:solidFill>
                  <a:srgbClr val="8B5CF6"/>
                </a:solidFill>
                <a:latin typeface="Calibri"/>
                <a:ea typeface="Calibri"/>
              </a:rPr>
              <a:t>• What is a CBOM?</a:t>
            </a:r>
          </a:p>
          <a:p xmlns:a="http://schemas.openxmlformats.org/drawingml/2006/main">
            <a:r>
              <a:rPr lang="en-US" sz="1500">
                <a:solidFill>
                  <a:srgbClr val="8B5CF6"/>
                </a:solidFill>
                <a:latin typeface="Calibri"/>
                <a:ea typeface="Calibri"/>
              </a:rPr>
              <a:t>  - Cryptographic Bill of Materials.</a:t>
            </a:r>
          </a:p>
          <a:p xmlns:a="http://schemas.openxmlformats.org/drawingml/2006/main">
            <a:r>
              <a:rPr lang="en-US" sz="1500">
                <a:solidFill>
                  <a:srgbClr val="8B5CF6"/>
                </a:solidFill>
                <a:latin typeface="Calibri"/>
                <a:ea typeface="Calibri"/>
              </a:rPr>
              <a:t>  - An extension of SBOM to map crypto assets.</a:t>
            </a:r>
          </a:p>
          <a:p xmlns:a="http://schemas.openxmlformats.org/drawingml/2006/main">
            <a:r>
              <a:rPr lang="en-US" sz="1500">
                <a:solidFill>
                  <a:srgbClr val="8B5CF6"/>
                </a:solidFill>
                <a:latin typeface="Calibri"/>
                <a:ea typeface="Calibri"/>
              </a:rPr>
              <a:t>  - Structured JSON detailing algorithms and locations.</a:t>
            </a:r>
          </a:p>
          <a:p xmlns:a="http://schemas.openxmlformats.org/drawingml/2006/main">
            <a:r>
              <a:rPr lang="en-US" sz="1500">
                <a:solidFill>
                  <a:srgbClr val="8B5CF6"/>
                </a:solidFill>
                <a:latin typeface="Calibri"/>
                <a:ea typeface="Calibri"/>
              </a:rPr>
              <a:t/>
            </a:r>
          </a:p>
          <a:p xmlns:a="http://schemas.openxmlformats.org/drawingml/2006/main">
            <a:r>
              <a:rPr lang="en-US" sz="1500">
                <a:solidFill>
                  <a:srgbClr val="8B5CF6"/>
                </a:solidFill>
                <a:latin typeface="Calibri"/>
                <a:ea typeface="Calibri"/>
              </a:rPr>
              <a:t>• Key CBOM Fields:</a:t>
            </a:r>
          </a:p>
          <a:p xmlns:a="http://schemas.openxmlformats.org/drawingml/2006/main">
            <a:r>
              <a:rPr lang="en-US" sz="1500">
                <a:solidFill>
                  <a:srgbClr val="8B5CF6"/>
                </a:solidFill>
                <a:latin typeface="Calibri"/>
                <a:ea typeface="Calibri"/>
              </a:rPr>
              <a:t>  - Asset Details: Algorithm Name, OID, Key Size, Mode.</a:t>
            </a:r>
          </a:p>
          <a:p xmlns:a="http://schemas.openxmlformats.org/drawingml/2006/main">
            <a:r>
              <a:rPr lang="en-US" sz="1500">
                <a:solidFill>
                  <a:srgbClr val="8B5CF6"/>
                </a:solidFill>
                <a:latin typeface="Calibri"/>
                <a:ea typeface="Calibri"/>
              </a:rPr>
              <a:t>  - Location Details: Source file path, line numbers.</a:t>
            </a:r>
          </a:p>
          <a:p xmlns:a="http://schemas.openxmlformats.org/drawingml/2006/main">
            <a:r>
              <a:rPr lang="en-US" sz="1500">
                <a:solidFill>
                  <a:srgbClr val="8B5CF6"/>
                </a:solidFill>
                <a:latin typeface="Calibri"/>
                <a:ea typeface="Calibri"/>
              </a:rPr>
              <a:t>  - Compliance Check: Flags if standard-compliant.</a:t>
            </a:r>
          </a:p>
          <a:p xmlns:a="http://schemas.openxmlformats.org/drawingml/2006/main">
            <a:r>
              <a:rPr lang="en-US" sz="1500">
                <a:solidFill>
                  <a:srgbClr val="8B5CF6"/>
                </a:solidFill>
                <a:latin typeface="Calibri"/>
                <a:ea typeface="Calibri"/>
              </a:rPr>
              <a:t/>
            </a:r>
          </a:p>
          <a:p xmlns:a="http://schemas.openxmlformats.org/drawingml/2006/main">
            <a:r>
              <a:rPr lang="en-US" sz="1500">
                <a:solidFill>
                  <a:srgbClr val="8B5CF6"/>
                </a:solidFill>
                <a:latin typeface="Calibri"/>
                <a:ea typeface="Calibri"/>
              </a:rPr>
              <a:t>• Mainframe Integration (IBM zCDI):</a:t>
            </a:r>
          </a:p>
          <a:p xmlns:a="http://schemas.openxmlformats.org/drawingml/2006/main">
            <a:r>
              <a:rPr lang="en-US" sz="1500">
                <a:solidFill>
                  <a:srgbClr val="8B5CF6"/>
                </a:solidFill>
                <a:latin typeface="Calibri"/>
                <a:ea typeface="Calibri"/>
              </a:rPr>
              <a:t>  - Automatically intercepts SMF records &amp; logs.</a:t>
            </a:r>
          </a:p>
          <a:p xmlns:a="http://schemas.openxmlformats.org/drawingml/2006/main">
            <a:r>
              <a:rPr lang="en-US" sz="1500">
                <a:solidFill>
                  <a:srgbClr val="8B5CF6"/>
                </a:solidFill>
                <a:latin typeface="Calibri"/>
                <a:ea typeface="Calibri"/>
              </a:rPr>
              <a:t>  - Generates real-time compliance dashboards on IBM Z.</a:t>
            </a:r>
          </a:p>
        </p:txBody>
      </p:sp>
    </p:spTree>
  </p:cSld>
</p:sld>
</file>

<file path=ppt/slides/slide5.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p:sp>
        <p:nvSpPr>
          <p:cNvPr id="100011" name="S5_Title"/>
          <p:cNvSpPr txBox="1"/>
          <p:nvPr/>
        </p:nvSpPr>
        <p:spPr>
          <a:xfrm xmlns:a="http://schemas.openxmlformats.org/drawingml/2006/main">
            <a:off x="720000" y="540000"/>
            <a:ext cx="107532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latin typeface="Georgia"/>
                <a:ea typeface="Georgia"/>
              </a:rPr>
              <a:t>ONE-DAY EVENT AGENDA &amp; LABORATORY PIPELINE</a:t>
            </a:r>
          </a:p>
        </p:txBody>
      </p:sp>
      <p:sp>
        <p:nvSpPr>
          <p:cNvPr id="100012" name="S5_Col1"/>
          <p:cNvSpPr txBox="1"/>
          <p:nvPr/>
        </p:nvSpPr>
        <p:spPr>
          <a:xfrm xmlns:a="http://schemas.openxmlformats.org/drawingml/2006/main">
            <a:off x="720000" y="1368000"/>
            <a:ext cx="522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0E0E0"/>
                </a:solidFill>
                <a:latin typeface="Calibri"/>
                <a:ea typeface="Calibri"/>
              </a:rPr>
              <a:t>HOUR-BY-HOUR WORKSHOP AGENDA</a:t>
            </a:r>
          </a:p>
          <a:p xmlns:a="http://schemas.openxmlformats.org/drawingml/2006/main">
            <a:r>
              <a:rPr lang="en-US" sz="1400">
                <a:solidFill>
                  <a:srgbClr val="E0E0E0"/>
                </a:solidFill>
                <a:latin typeface="Calibri"/>
                <a:ea typeface="Calibri"/>
              </a:rPr>
              <a:t/>
            </a:r>
          </a:p>
          <a:p xmlns:a="http://schemas.openxmlformats.org/drawingml/2006/main">
            <a:r>
              <a:rPr lang="en-US" sz="1400">
                <a:solidFill>
                  <a:srgbClr val="E0E0E0"/>
                </a:solidFill>
                <a:latin typeface="Calibri"/>
                <a:ea typeface="Calibri"/>
              </a:rPr>
              <a:t>• 09:00 – 10:00 | Executive Opening &amp; Threat Briefing</a:t>
            </a:r>
          </a:p>
          <a:p xmlns:a="http://schemas.openxmlformats.org/drawingml/2006/main">
            <a:r>
              <a:rPr lang="en-US" sz="1400">
                <a:solidFill>
                  <a:srgbClr val="E0E0E0"/>
                </a:solidFill>
                <a:latin typeface="Calibri"/>
                <a:ea typeface="Calibri"/>
              </a:rPr>
              <a:t>• 10:00 – 11:15 | Lecture: NIST FIPS PQC Standards</a:t>
            </a:r>
          </a:p>
          <a:p xmlns:a="http://schemas.openxmlformats.org/drawingml/2006/main">
            <a:r>
              <a:rPr lang="en-US" sz="1400">
                <a:solidFill>
                  <a:srgbClr val="E0E0E0"/>
                </a:solidFill>
                <a:latin typeface="Calibri"/>
                <a:ea typeface="Calibri"/>
              </a:rPr>
              <a:t>• 11:15 – 11:30 | Coffee Break &amp; Peer Networking</a:t>
            </a:r>
          </a:p>
          <a:p xmlns:a="http://schemas.openxmlformats.org/drawingml/2006/main">
            <a:r>
              <a:rPr lang="en-US" sz="1400">
                <a:solidFill>
                  <a:srgbClr val="E0E0E0"/>
                </a:solidFill>
                <a:latin typeface="Calibri"/>
                <a:ea typeface="Calibri"/>
              </a:rPr>
              <a:t>• 11:30 – 12:30 | Strategy: Transformation &amp; CBOM</a:t>
            </a:r>
          </a:p>
          <a:p xmlns:a="http://schemas.openxmlformats.org/drawingml/2006/main">
            <a:r>
              <a:rPr lang="en-US" sz="1400">
                <a:solidFill>
                  <a:srgbClr val="E0E0E0"/>
                </a:solidFill>
                <a:latin typeface="Calibri"/>
                <a:ea typeface="Calibri"/>
              </a:rPr>
              <a:t>• 12:30 – 13:30 | Lunch Break &amp; Structured Discussions</a:t>
            </a:r>
          </a:p>
          <a:p xmlns:a="http://schemas.openxmlformats.org/drawingml/2006/main">
            <a:r>
              <a:rPr lang="en-US" sz="1400">
                <a:solidFill>
                  <a:srgbClr val="E0E0E0"/>
                </a:solidFill>
                <a:latin typeface="Calibri"/>
                <a:ea typeface="Calibri"/>
              </a:rPr>
              <a:t>• 13:30 – 14:30 | Lab 1: CBOM Code Discovery Scan</a:t>
            </a:r>
          </a:p>
          <a:p xmlns:a="http://schemas.openxmlformats.org/drawingml/2006/main">
            <a:r>
              <a:rPr lang="en-US" sz="1400">
                <a:solidFill>
                  <a:srgbClr val="E0E0E0"/>
                </a:solidFill>
                <a:latin typeface="Calibri"/>
                <a:ea typeface="Calibri"/>
              </a:rPr>
              <a:t>• 14:30 – 15:30 | Lab 2: Hybrid KEM (ML-KEM) &amp; ML-DSA</a:t>
            </a:r>
          </a:p>
          <a:p xmlns:a="http://schemas.openxmlformats.org/drawingml/2006/main">
            <a:r>
              <a:rPr lang="en-US" sz="1400">
                <a:solidFill>
                  <a:srgbClr val="E0E0E0"/>
                </a:solidFill>
                <a:latin typeface="Calibri"/>
                <a:ea typeface="Calibri"/>
              </a:rPr>
              <a:t>• 15:30 – 16:30 | Lab 3: Crypto-Agile Microservice Gateway</a:t>
            </a:r>
          </a:p>
          <a:p xmlns:a="http://schemas.openxmlformats.org/drawingml/2006/main">
            <a:r>
              <a:rPr lang="en-US" sz="1400">
                <a:solidFill>
                  <a:srgbClr val="E0E0E0"/>
                </a:solidFill>
                <a:latin typeface="Calibri"/>
                <a:ea typeface="Calibri"/>
              </a:rPr>
              <a:t>• 16:30 – 17:00 | Automated Assessment &amp; Graduation</a:t>
            </a:r>
          </a:p>
        </p:txBody>
      </p:sp>
      <p:sp>
        <p:nvSpPr>
          <p:cNvPr id="100013" name="S5_Col2"/>
          <p:cNvSpPr txBox="1"/>
          <p:nvPr/>
        </p:nvSpPr>
        <p:spPr>
          <a:xfrm xmlns:a="http://schemas.openxmlformats.org/drawingml/2006/main">
            <a:off x="6253200" y="1368000"/>
            <a:ext cx="522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FF6B9D"/>
                </a:solidFill>
                <a:latin typeface="Calibri"/>
                <a:ea typeface="Calibri"/>
              </a:rPr>
              <a:t>HANDS-ON LABORATORY PIPELINE</a:t>
            </a:r>
          </a:p>
          <a:p xmlns:a="http://schemas.openxmlformats.org/drawingml/2006/main">
            <a:r>
              <a:rPr lang="en-US" sz="1400">
                <a:solidFill>
                  <a:srgbClr val="FF6B9D"/>
                </a:solidFill>
                <a:latin typeface="Calibri"/>
                <a:ea typeface="Calibri"/>
              </a:rPr>
              <a:t/>
            </a:r>
          </a:p>
          <a:p xmlns:a="http://schemas.openxmlformats.org/drawingml/2006/main">
            <a:r>
              <a:rPr lang="en-US" sz="1400">
                <a:solidFill>
                  <a:srgbClr val="FF6B9D"/>
                </a:solidFill>
                <a:latin typeface="Calibri"/>
                <a:ea typeface="Calibri"/>
              </a:rPr>
              <a:t>• Lab 1: Cryptographic Discovery Scan</a:t>
            </a:r>
          </a:p>
          <a:p xmlns:a="http://schemas.openxmlformats.org/drawingml/2006/main">
            <a:r>
              <a:rPr lang="en-US" sz="1400">
                <a:solidFill>
                  <a:srgbClr val="FF6B9D"/>
                </a:solidFill>
                <a:latin typeface="Calibri"/>
                <a:ea typeface="Calibri"/>
              </a:rPr>
              <a:t>  - Scan codebase using automated Python engine.</a:t>
            </a:r>
          </a:p>
          <a:p xmlns:a="http://schemas.openxmlformats.org/drawingml/2006/main">
            <a:r>
              <a:rPr lang="en-US" sz="1400">
                <a:solidFill>
                  <a:srgbClr val="FF6B9D"/>
                </a:solidFill>
                <a:latin typeface="Calibri"/>
                <a:ea typeface="Calibri"/>
              </a:rPr>
              <a:t>  - Map weak ciphers and export CycloneDX CBOM JSON.</a:t>
            </a:r>
          </a:p>
          <a:p xmlns:a="http://schemas.openxmlformats.org/drawingml/2006/main">
            <a:r>
              <a:rPr lang="en-US" sz="1400">
                <a:solidFill>
                  <a:srgbClr val="FF6B9D"/>
                </a:solidFill>
                <a:latin typeface="Calibri"/>
                <a:ea typeface="Calibri"/>
              </a:rPr>
              <a:t/>
            </a:r>
          </a:p>
          <a:p xmlns:a="http://schemas.openxmlformats.org/drawingml/2006/main">
            <a:r>
              <a:rPr lang="en-US" sz="1400">
                <a:solidFill>
                  <a:srgbClr val="FF6B9D"/>
                </a:solidFill>
                <a:latin typeface="Calibri"/>
                <a:ea typeface="Calibri"/>
              </a:rPr>
              <a:t>• Lab 2: Post-Quantum Cryptography &amp; Hybrid KEM</a:t>
            </a:r>
          </a:p>
          <a:p xmlns:a="http://schemas.openxmlformats.org/drawingml/2006/main">
            <a:r>
              <a:rPr lang="en-US" sz="1400">
                <a:solidFill>
                  <a:srgbClr val="FF6B9D"/>
                </a:solidFill>
                <a:latin typeface="Calibri"/>
                <a:ea typeface="Calibri"/>
              </a:rPr>
              <a:t>  - Code hybrid key derivation (ECDH P-256 + ML-KEM-768).</a:t>
            </a:r>
          </a:p>
          <a:p xmlns:a="http://schemas.openxmlformats.org/drawingml/2006/main">
            <a:r>
              <a:rPr lang="en-US" sz="1400">
                <a:solidFill>
                  <a:srgbClr val="FF6B9D"/>
                </a:solidFill>
                <a:latin typeface="Calibri"/>
                <a:ea typeface="Calibri"/>
              </a:rPr>
              <a:t>  - Derive high-entropy symmetric session keys via HKDF.</a:t>
            </a:r>
          </a:p>
          <a:p xmlns:a="http://schemas.openxmlformats.org/drawingml/2006/main">
            <a:r>
              <a:rPr lang="en-US" sz="1400">
                <a:solidFill>
                  <a:srgbClr val="FF6B9D"/>
                </a:solidFill>
                <a:latin typeface="Calibri"/>
                <a:ea typeface="Calibri"/>
              </a:rPr>
              <a:t>  - Implement ML-DSA-65 digital signature validation.</a:t>
            </a:r>
          </a:p>
          <a:p xmlns:a="http://schemas.openxmlformats.org/drawingml/2006/main">
            <a:r>
              <a:rPr lang="en-US" sz="1400">
                <a:solidFill>
                  <a:srgbClr val="FF6B9D"/>
                </a:solidFill>
                <a:latin typeface="Calibri"/>
                <a:ea typeface="Calibri"/>
              </a:rPr>
              <a:t/>
            </a:r>
          </a:p>
          <a:p xmlns:a="http://schemas.openxmlformats.org/drawingml/2006/main">
            <a:r>
              <a:rPr lang="en-US" sz="1400">
                <a:solidFill>
                  <a:srgbClr val="FF6B9D"/>
                </a:solidFill>
                <a:latin typeface="Calibri"/>
                <a:ea typeface="Calibri"/>
              </a:rPr>
              <a:t>• Lab 3: Dynamic Crypto-Agility Engine</a:t>
            </a:r>
          </a:p>
          <a:p xmlns:a="http://schemas.openxmlformats.org/drawingml/2006/main">
            <a:r>
              <a:rPr lang="en-US" sz="1400">
                <a:solidFill>
                  <a:srgbClr val="FF6B9D"/>
                </a:solidFill>
                <a:latin typeface="Calibri"/>
                <a:ea typeface="Calibri"/>
              </a:rPr>
              <a:t>  - Build dynamic stateful microservice security gateway.</a:t>
            </a:r>
          </a:p>
          <a:p xmlns:a="http://schemas.openxmlformats.org/drawingml/2006/main">
            <a:r>
              <a:rPr lang="en-US" sz="1400">
                <a:solidFill>
                  <a:srgbClr val="FF6B9D"/>
                </a:solidFill>
                <a:latin typeface="Calibri"/>
                <a:ea typeface="Calibri"/>
              </a:rPr>
              <a:t>  - Switch policies on-the-fly (Classical/Hybrid/Pure-PQ).</a:t>
            </a:r>
          </a:p>
        </p:txBody>
      </p:sp>
    </p:spTree>
  </p:cSld>
</p:sld>
</file>

<file path=ppt/slides/slide6.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p:sp>
        <p:nvSpPr>
          <p:cNvPr id="100014" name="S6_Title"/>
          <p:cNvSpPr txBox="1"/>
          <p:nvPr/>
        </p:nvSpPr>
        <p:spPr>
          <a:xfrm xmlns:a="http://schemas.openxmlformats.org/drawingml/2006/main">
            <a:off x="720000" y="540000"/>
            <a:ext cx="107532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latin typeface="Georgia"/>
                <a:ea typeface="Georgia"/>
              </a:rPr>
              <a:t>STUDENT ASSESSMENT &amp; ENTERPRISE SYSTEMS</a:t>
            </a:r>
          </a:p>
        </p:txBody>
      </p:sp>
      <p:sp>
        <p:nvSpPr>
          <p:cNvPr id="100015" name="S6_Col1"/>
          <p:cNvSpPr txBox="1"/>
          <p:nvPr/>
        </p:nvSpPr>
        <p:spPr>
          <a:xfrm xmlns:a="http://schemas.openxmlformats.org/drawingml/2006/main">
            <a:off x="720000" y="1368000"/>
            <a:ext cx="504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E0E0E0"/>
                </a:solidFill>
                <a:latin typeface="Calibri"/>
                <a:ea typeface="Calibri"/>
              </a:rPr>
              <a:t>AUTOMATED GRADING RUBRIC (100 PTS)</a:t>
            </a:r>
          </a:p>
          <a:p xmlns:a="http://schemas.openxmlformats.org/drawingml/2006/main">
            <a:r>
              <a:rPr lang="en-US" sz="1400">
                <a:solidFill>
                  <a:srgbClr val="E0E0E0"/>
                </a:solidFill>
                <a:latin typeface="Calibri"/>
                <a:ea typeface="Calibri"/>
              </a:rPr>
              <a:t/>
            </a:r>
          </a:p>
          <a:p xmlns:a="http://schemas.openxmlformats.org/drawingml/2006/main">
            <a:r>
              <a:rPr lang="en-US" sz="1400">
                <a:solidFill>
                  <a:srgbClr val="E0E0E0"/>
                </a:solidFill>
                <a:latin typeface="Calibri"/>
                <a:ea typeface="Calibri"/>
              </a:rPr>
              <a:t>• Task 1: CBOM Classifier (25 pts)</a:t>
            </a:r>
          </a:p>
          <a:p xmlns:a="http://schemas.openxmlformats.org/drawingml/2006/main">
            <a:r>
              <a:rPr lang="en-US" sz="1400">
                <a:solidFill>
                  <a:srgbClr val="E0E0E0"/>
                </a:solidFill>
                <a:latin typeface="Calibri"/>
                <a:ea typeface="Calibri"/>
              </a:rPr>
              <a:t>  - Identify RSA, DH, ECDSA, and 3DES as vulnerable.</a:t>
            </a:r>
          </a:p>
          <a:p xmlns:a="http://schemas.openxmlformats.org/drawingml/2006/main">
            <a:r>
              <a:rPr lang="en-US" sz="1400">
                <a:solidFill>
                  <a:srgbClr val="E0E0E0"/>
                </a:solidFill>
                <a:latin typeface="Calibri"/>
                <a:ea typeface="Calibri"/>
              </a:rPr>
              <a:t>  - Set appropriate remediation targets (ML-KEM/ML-DSA).</a:t>
            </a:r>
          </a:p>
          <a:p xmlns:a="http://schemas.openxmlformats.org/drawingml/2006/main">
            <a:r>
              <a:rPr lang="en-US" sz="1400">
                <a:solidFill>
                  <a:srgbClr val="E0E0E0"/>
                </a:solidFill>
                <a:latin typeface="Calibri"/>
                <a:ea typeface="Calibri"/>
              </a:rPr>
              <a:t/>
            </a:r>
          </a:p>
          <a:p xmlns:a="http://schemas.openxmlformats.org/drawingml/2006/main">
            <a:r>
              <a:rPr lang="en-US" sz="1400">
                <a:solidFill>
                  <a:srgbClr val="E0E0E0"/>
                </a:solidFill>
                <a:latin typeface="Calibri"/>
                <a:ea typeface="Calibri"/>
              </a:rPr>
              <a:t>• Task 2: Hybrid Key Derivation (25 pts)</a:t>
            </a:r>
          </a:p>
          <a:p xmlns:a="http://schemas.openxmlformats.org/drawingml/2006/main">
            <a:r>
              <a:rPr lang="en-US" sz="1400">
                <a:solidFill>
                  <a:srgbClr val="E0E0E0"/>
                </a:solidFill>
                <a:latin typeface="Calibri"/>
                <a:ea typeface="Calibri"/>
              </a:rPr>
              <a:t>  - Use HMAC-SHA256 to execute HKDF-Extract-and-Expand.</a:t>
            </a:r>
          </a:p>
          <a:p xmlns:a="http://schemas.openxmlformats.org/drawingml/2006/main">
            <a:r>
              <a:rPr lang="en-US" sz="1400">
                <a:solidFill>
                  <a:srgbClr val="E0E0E0"/>
                </a:solidFill>
                <a:latin typeface="Calibri"/>
                <a:ea typeface="Calibri"/>
              </a:rPr>
              <a:t/>
            </a:r>
          </a:p>
          <a:p xmlns:a="http://schemas.openxmlformats.org/drawingml/2006/main">
            <a:r>
              <a:rPr lang="en-US" sz="1400">
                <a:solidFill>
                  <a:srgbClr val="E0E0E0"/>
                </a:solidFill>
                <a:latin typeface="Calibri"/>
                <a:ea typeface="Calibri"/>
              </a:rPr>
              <a:t>• Task 3: ML-DSA Signature Validator (25 pts)</a:t>
            </a:r>
          </a:p>
          <a:p xmlns:a="http://schemas.openxmlformats.org/drawingml/2006/main">
            <a:r>
              <a:rPr lang="en-US" sz="1400">
                <a:solidFill>
                  <a:srgbClr val="E0E0E0"/>
                </a:solidFill>
                <a:latin typeface="Calibri"/>
                <a:ea typeface="Calibri"/>
              </a:rPr>
              <a:t>  - Validate ML-DSA-65 signatures (3,293-byte bounds).</a:t>
            </a:r>
          </a:p>
          <a:p xmlns:a="http://schemas.openxmlformats.org/drawingml/2006/main">
            <a:r>
              <a:rPr lang="en-US" sz="1400">
                <a:solidFill>
                  <a:srgbClr val="E0E0E0"/>
                </a:solidFill>
                <a:latin typeface="Calibri"/>
                <a:ea typeface="Calibri"/>
              </a:rPr>
              <a:t/>
            </a:r>
          </a:p>
          <a:p xmlns:a="http://schemas.openxmlformats.org/drawingml/2006/main">
            <a:r>
              <a:rPr lang="en-US" sz="1400">
                <a:solidFill>
                  <a:srgbClr val="E0E0E0"/>
                </a:solidFill>
                <a:latin typeface="Calibri"/>
                <a:ea typeface="Calibri"/>
              </a:rPr>
              <a:t>• Task 4: Crypto-Agility Engine (25 pts)</a:t>
            </a:r>
          </a:p>
          <a:p xmlns:a="http://schemas.openxmlformats.org/drawingml/2006/main">
            <a:r>
              <a:rPr lang="en-US" sz="1400">
                <a:solidFill>
                  <a:srgbClr val="E0E0E0"/>
                </a:solidFill>
                <a:latin typeface="Calibri"/>
                <a:ea typeface="Calibri"/>
              </a:rPr>
              <a:t>  - Build real-time, stateful hot-swappable cipher suites.</a:t>
            </a:r>
          </a:p>
          <a:p xmlns:a="http://schemas.openxmlformats.org/drawingml/2006/main">
            <a:r>
              <a:rPr lang="en-US" sz="1400">
                <a:solidFill>
                  <a:srgbClr val="E0E0E0"/>
                </a:solidFill>
                <a:latin typeface="Calibri"/>
                <a:ea typeface="Calibri"/>
              </a:rPr>
              <a:t/>
            </a:r>
          </a:p>
          <a:p xmlns:a="http://schemas.openxmlformats.org/drawingml/2006/main">
            <a:r>
              <a:rPr lang="en-US" sz="1400">
                <a:solidFill>
                  <a:srgbClr val="E0E0E0"/>
                </a:solidFill>
                <a:latin typeface="Calibri"/>
                <a:ea typeface="Calibri"/>
              </a:rPr>
              <a:t>Run grader script:</a:t>
            </a:r>
          </a:p>
          <a:p xmlns:a="http://schemas.openxmlformats.org/drawingml/2006/main">
            <a:r>
              <a:rPr lang="en-US" sz="1400">
                <a:solidFill>
                  <a:srgbClr val="E0E0E0"/>
                </a:solidFill>
                <a:latin typeface="Calibri"/>
                <a:ea typeface="Calibri"/>
              </a:rPr>
              <a:t>python lab_grader.py</a:t>
            </a:r>
          </a:p>
        </p:txBody>
      </p:sp>
      <p:sp>
        <p:nvSpPr>
          <p:cNvPr id="100016" name="S6_Col2"/>
          <p:cNvSpPr txBox="1"/>
          <p:nvPr/>
        </p:nvSpPr>
        <p:spPr>
          <a:xfrm xmlns:a="http://schemas.openxmlformats.org/drawingml/2006/main">
            <a:off x="6433200" y="1368000"/>
            <a:ext cx="504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8B5CF6"/>
                </a:solidFill>
                <a:latin typeface="Calibri"/>
                <a:ea typeface="Calibri"/>
              </a:rPr>
              <a:t>IBM ENTERPRISE QUANTUM SAFE HARDWARE</a:t>
            </a:r>
          </a:p>
          <a:p xmlns:a="http://schemas.openxmlformats.org/drawingml/2006/main">
            <a:r>
              <a:rPr lang="en-US" sz="1400">
                <a:solidFill>
                  <a:srgbClr val="8B5CF6"/>
                </a:solidFill>
                <a:latin typeface="Calibri"/>
                <a:ea typeface="Calibri"/>
              </a:rPr>
              <a:t/>
            </a:r>
          </a:p>
          <a:p xmlns:a="http://schemas.openxmlformats.org/drawingml/2006/main">
            <a:r>
              <a:rPr lang="en-US" sz="1400">
                <a:solidFill>
                  <a:srgbClr val="8B5CF6"/>
                </a:solidFill>
                <a:latin typeface="Calibri"/>
                <a:ea typeface="Calibri"/>
              </a:rPr>
              <a:t>• IBM z16 &amp; LinuxONE 4 Platform:</a:t>
            </a:r>
          </a:p>
          <a:p xmlns:a="http://schemas.openxmlformats.org/drawingml/2006/main">
            <a:r>
              <a:rPr lang="en-US" sz="1400">
                <a:solidFill>
                  <a:srgbClr val="8B5CF6"/>
                </a:solidFill>
                <a:latin typeface="Calibri"/>
                <a:ea typeface="Calibri"/>
              </a:rPr>
              <a:t>  - Features Crypto Express 8S (CEX8S) coprocessor.</a:t>
            </a:r>
          </a:p>
          <a:p xmlns:a="http://schemas.openxmlformats.org/drawingml/2006/main">
            <a:r>
              <a:rPr lang="en-US" sz="1400">
                <a:solidFill>
                  <a:srgbClr val="8B5CF6"/>
                </a:solidFill>
                <a:latin typeface="Calibri"/>
                <a:ea typeface="Calibri"/>
              </a:rPr>
              <a:t>  - Hardware-accelerated Kyber and Dilithium execution.</a:t>
            </a:r>
          </a:p>
          <a:p xmlns:a="http://schemas.openxmlformats.org/drawingml/2006/main">
            <a:r>
              <a:rPr lang="en-US" sz="1400">
                <a:solidFill>
                  <a:srgbClr val="8B5CF6"/>
                </a:solidFill>
                <a:latin typeface="Calibri"/>
                <a:ea typeface="Calibri"/>
              </a:rPr>
              <a:t>  - Quantum-safe secure boot and dual-signed firmware.</a:t>
            </a:r>
          </a:p>
          <a:p xmlns:a="http://schemas.openxmlformats.org/drawingml/2006/main">
            <a:r>
              <a:rPr lang="en-US" sz="1400">
                <a:solidFill>
                  <a:srgbClr val="8B5CF6"/>
                </a:solidFill>
                <a:latin typeface="Calibri"/>
                <a:ea typeface="Calibri"/>
              </a:rPr>
              <a:t/>
            </a:r>
          </a:p>
          <a:p xmlns:a="http://schemas.openxmlformats.org/drawingml/2006/main">
            <a:r>
              <a:rPr lang="en-US" sz="1400">
                <a:solidFill>
                  <a:srgbClr val="8B5CF6"/>
                </a:solidFill>
                <a:latin typeface="Calibri"/>
                <a:ea typeface="Calibri"/>
              </a:rPr>
              <a:t>• IBM Cloud Security Services:</a:t>
            </a:r>
          </a:p>
          <a:p xmlns:a="http://schemas.openxmlformats.org/drawingml/2006/main">
            <a:r>
              <a:rPr lang="en-US" sz="1400">
                <a:solidFill>
                  <a:srgbClr val="8B5CF6"/>
                </a:solidFill>
                <a:latin typeface="Calibri"/>
                <a:ea typeface="Calibri"/>
              </a:rPr>
              <a:t>  - Secrets Manager: Automated rotation of PQ certificates.</a:t>
            </a:r>
          </a:p>
          <a:p xmlns:a="http://schemas.openxmlformats.org/drawingml/2006/main">
            <a:r>
              <a:rPr lang="en-US" sz="1400">
                <a:solidFill>
                  <a:srgbClr val="8B5CF6"/>
                </a:solidFill>
                <a:latin typeface="Calibri"/>
                <a:ea typeface="Calibri"/>
              </a:rPr>
              <a:t>  - HPCS: FIPS 140-2 Level 4 HSM protecting root keys.</a:t>
            </a:r>
          </a:p>
          <a:p xmlns:a="http://schemas.openxmlformats.org/drawingml/2006/main">
            <a:r>
              <a:rPr lang="en-US" sz="1400">
                <a:solidFill>
                  <a:srgbClr val="8B5CF6"/>
                </a:solidFill>
                <a:latin typeface="Calibri"/>
                <a:ea typeface="Calibri"/>
              </a:rPr>
              <a:t>  - Security Verify: PQ-resistant MFA and SSO federation.</a:t>
            </a:r>
          </a:p>
          <a:p xmlns:a="http://schemas.openxmlformats.org/drawingml/2006/main">
            <a:r>
              <a:rPr lang="en-US" sz="1400">
                <a:solidFill>
                  <a:srgbClr val="8B5CF6"/>
                </a:solidFill>
                <a:latin typeface="Calibri"/>
                <a:ea typeface="Calibri"/>
              </a:rPr>
              <a:t/>
            </a:r>
          </a:p>
          <a:p xmlns:a="http://schemas.openxmlformats.org/drawingml/2006/main">
            <a:r>
              <a:rPr lang="en-US" sz="1400">
                <a:solidFill>
                  <a:srgbClr val="8B5CF6"/>
                </a:solidFill>
                <a:latin typeface="Calibri"/>
                <a:ea typeface="Calibri"/>
              </a:rPr>
              <a:t>Start your journey today: ibm.com/quantum/quantum-safe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OfficeCLI/1.0.152</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2026-09-29T17:49:36Z</dcterms:created>
  <cp:lastModifiedBy>OfficeCLI</cp:lastModifiedBy>
  <dcterms:modified xsi:type="dcterms:W3CDTF">2026-09-29T17:49:36Z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1.0.152</vt:lpwstr>
  </op:property>
  <op:property fmtid="{D5CDD505-2E9C-101B-9397-08002B2CF9AE}" pid="3" name="OfficeCLI.LastModified">
    <vt:lpwstr xmlns:vt="http://schemas.openxmlformats.org/officeDocument/2006/docPropsVTypes">2026-09-29T17:49:38Z</vt:lpwstr>
  </op:property>
</op:Properties>
</file>