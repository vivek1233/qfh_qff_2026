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40fe4a43dae04671" /><Relationship Type="http://schemas.openxmlformats.org/package/2006/relationships/metadata/core-properties" Target="/docProps/core.xml" Id="Rdc109448e4fa4bd1" /><Relationship Type="http://schemas.openxmlformats.org/officeDocument/2006/relationships/extended-properties" Target="/docProps/app.xml" Id="R50fc393cfac94327" /><Relationship Type="http://schemas.openxmlformats.org/officeDocument/2006/relationships/custom-properties" Target="/docProps/custom.xml" Id="Ra1e3b570b00645fb"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3f5ca0a1f893440a"/>
  </p:notesMasterIdLst>
  <p:sldIdLst>
    <p:sldId id="256" r:id="R60c2aedeb7d34417"/>
    <p:sldId id="257" r:id="Rae319d09310f4e4c"/>
    <p:sldId id="258" r:id="R879fc8f9e9494caf"/>
    <p:sldId id="259" r:id="Rf26f01e0d97c4c40"/>
    <p:sldId id="260" r:id="Rf21c6f3c4bea4372"/>
    <p:sldId id="261" r:id="R87bbed8005d84e2c"/>
    <p:sldId id="262" r:id="R98bab73a8bc04ee3"/>
    <p:sldId id="263" r:id="R2c793e74d7ed4f06"/>
    <p:sldId id="264" r:id="Rffa9501f1bf74e0a"/>
    <p:sldId id="265" r:id="Rb26047f3a85e481c"/>
    <p:sldId id="266" r:id="R447b82d90f314fd6"/>
    <p:sldId id="267" r:id="R312244d935ef4709"/>
    <p:sldId id="268" r:id="R93e1366aa631484d"/>
    <p:sldId id="269" r:id="R931f2f7353134f61"/>
    <p:sldId id="270" r:id="R703650cc2d194830"/>
    <p:sldId id="271" r:id="R0856bfc30b1045ff"/>
    <p:sldId id="272" r:id="R0cc2a5bb09514303"/>
    <p:sldId id="273" r:id="Rd04ca0e5c7504d2a"/>
    <p:sldId id="274" r:id="R4c63b7fe40384876"/>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60c2aedeb7d34417" /><Relationship Type="http://schemas.openxmlformats.org/officeDocument/2006/relationships/notesMaster" Target="/ppt/notesMasters/notesMaster1.xml" Id="R3f5ca0a1f893440a" /><Relationship Type="http://schemas.openxmlformats.org/officeDocument/2006/relationships/slide" Target="/ppt/slides/slide2.xml" Id="Rae319d09310f4e4c" /><Relationship Type="http://schemas.openxmlformats.org/officeDocument/2006/relationships/slide" Target="/ppt/slides/slide3.xml" Id="R879fc8f9e9494caf" /><Relationship Type="http://schemas.openxmlformats.org/officeDocument/2006/relationships/slide" Target="/ppt/slides/slide4.xml" Id="Rf26f01e0d97c4c40" /><Relationship Type="http://schemas.openxmlformats.org/officeDocument/2006/relationships/slide" Target="/ppt/slides/slide5.xml" Id="Rf21c6f3c4bea4372" /><Relationship Type="http://schemas.openxmlformats.org/officeDocument/2006/relationships/slide" Target="/ppt/slides/slide6.xml" Id="R87bbed8005d84e2c" /><Relationship Type="http://schemas.openxmlformats.org/officeDocument/2006/relationships/slide" Target="/ppt/slides/slide7.xml" Id="R98bab73a8bc04ee3" /><Relationship Type="http://schemas.openxmlformats.org/officeDocument/2006/relationships/slide" Target="/ppt/slides/slide8.xml" Id="R2c793e74d7ed4f06" /><Relationship Type="http://schemas.openxmlformats.org/officeDocument/2006/relationships/slide" Target="/ppt/slides/slide9.xml" Id="Rffa9501f1bf74e0a" /><Relationship Type="http://schemas.openxmlformats.org/officeDocument/2006/relationships/slide" Target="/ppt/slides/slide10.xml" Id="Rb26047f3a85e481c" /><Relationship Type="http://schemas.openxmlformats.org/officeDocument/2006/relationships/slide" Target="/ppt/slides/slide11.xml" Id="R447b82d90f314fd6" /><Relationship Type="http://schemas.openxmlformats.org/officeDocument/2006/relationships/slide" Target="/ppt/slides/slide12.xml" Id="R312244d935ef4709" /><Relationship Type="http://schemas.openxmlformats.org/officeDocument/2006/relationships/slide" Target="/ppt/slides/slide13.xml" Id="R93e1366aa631484d" /><Relationship Type="http://schemas.openxmlformats.org/officeDocument/2006/relationships/slide" Target="/ppt/slides/slide14.xml" Id="R931f2f7353134f61" /><Relationship Type="http://schemas.openxmlformats.org/officeDocument/2006/relationships/slide" Target="/ppt/slides/slide15.xml" Id="R703650cc2d194830" /><Relationship Type="http://schemas.openxmlformats.org/officeDocument/2006/relationships/slide" Target="/ppt/slides/slide16.xml" Id="R0856bfc30b1045ff" /><Relationship Type="http://schemas.openxmlformats.org/officeDocument/2006/relationships/slide" Target="/ppt/slides/slide17.xml" Id="R0cc2a5bb09514303" /><Relationship Type="http://schemas.openxmlformats.org/officeDocument/2006/relationships/slide" Target="/ppt/slides/slide18.xml" Id="Rd04ca0e5c7504d2a" /><Relationship Type="http://schemas.openxmlformats.org/officeDocument/2006/relationships/slide" Target="/ppt/slides/slide19.xml" Id="R4c63b7fe403848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c7c712827d50418f"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c7da29f622064c20" /><Relationship Type="http://schemas.openxmlformats.org/officeDocument/2006/relationships/slide" Target="/ppt/slides/slide1.xml" Id="Rfe6cca4125674e76"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6f32747869004cef" /><Relationship Type="http://schemas.openxmlformats.org/officeDocument/2006/relationships/slide" Target="/ppt/slides/slide2.xml" Id="R451da32bbf88478a"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736c17f02ce5403b" /><Relationship Type="http://schemas.openxmlformats.org/officeDocument/2006/relationships/slide" Target="/ppt/slides/slide3.xml" Id="Rad793eb5eb554849"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1ab66527521c41f5" /><Relationship Type="http://schemas.openxmlformats.org/officeDocument/2006/relationships/slide" Target="/ppt/slides/slide4.xml" Id="R373a79501fba431f"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b606a3cdc77f4d8d" /><Relationship Type="http://schemas.openxmlformats.org/officeDocument/2006/relationships/slide" Target="/ppt/slides/slide5.xml" Id="Rdd190221f80c4ad6"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a0f2ee8b59554bc3" /><Relationship Type="http://schemas.openxmlformats.org/officeDocument/2006/relationships/slide" Target="/ppt/slides/slide6.xml" Id="R90cb193150e74e81"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739f16f487544bab" /><Relationship Type="http://schemas.openxmlformats.org/officeDocument/2006/relationships/slide" Target="/ppt/slides/slide7.xml" Id="Rc3a4992dd2a545c6"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74e0dd05c96544b9" /><Relationship Type="http://schemas.openxmlformats.org/officeDocument/2006/relationships/slide" Target="/ppt/slides/slide8.xml" Id="R1cb2352fa5c142ed"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abf0a1564d5c4284" /><Relationship Type="http://schemas.openxmlformats.org/officeDocument/2006/relationships/slide" Target="/ppt/slides/slide9.xml" Id="R138fe97a54714472"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3f3e1302770341e7" /><Relationship Type="http://schemas.openxmlformats.org/officeDocument/2006/relationships/slide" Target="/ppt/slides/slide10.xml" Id="R2e1a2f216def47e5"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0cc81e5cc70e4d99" /><Relationship Type="http://schemas.openxmlformats.org/officeDocument/2006/relationships/slide" Target="/ppt/slides/slide11.xml" Id="R3e913bb77a4847cb"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f9c063e37af54289" /><Relationship Type="http://schemas.openxmlformats.org/officeDocument/2006/relationships/slide" Target="/ppt/slides/slide12.xml" Id="Rd485ee4772d44451"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3f4192328eab4383" /><Relationship Type="http://schemas.openxmlformats.org/officeDocument/2006/relationships/slide" Target="/ppt/slides/slide13.xml" Id="R0b1b251de8874895"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aad7a65b04704826" /><Relationship Type="http://schemas.openxmlformats.org/officeDocument/2006/relationships/slide" Target="/ppt/slides/slide14.xml" Id="R761b4a3dcf0042ea"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f7e497e2fa4d46e4" /><Relationship Type="http://schemas.openxmlformats.org/officeDocument/2006/relationships/slide" Target="/ppt/slides/slide15.xml" Id="R7a39bbcae6af4ae6"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938991df9d3541a5" /><Relationship Type="http://schemas.openxmlformats.org/officeDocument/2006/relationships/slide" Target="/ppt/slides/slide16.xml" Id="Re5526a3a1e4641b1"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632b8f69323f4826" /><Relationship Type="http://schemas.openxmlformats.org/officeDocument/2006/relationships/slide" Target="/ppt/slides/slide17.xml" Id="R2e34e9daa3434eb5"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7a394bca605b482e" /><Relationship Type="http://schemas.openxmlformats.org/officeDocument/2006/relationships/slide" Target="/ppt/slides/slide18.xml" Id="R4e4208dd0931408d" /></Relationships>
</file>

<file path=ppt/notesSlides/_rels/notesSlide19.xml.rels>&#65279;<?xml version="1.0" encoding="utf-8"?><Relationships xmlns="http://schemas.openxmlformats.org/package/2006/relationships"><Relationship Type="http://schemas.openxmlformats.org/officeDocument/2006/relationships/notesMaster" Target="/ppt/notesMasters/notesMaster1.xml" Id="R83794f4ff9644ca0" /><Relationship Type="http://schemas.openxmlformats.org/officeDocument/2006/relationships/slide" Target="/ppt/slides/slide19.xml" Id="Ra9ceb2b556654b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This tutorial series is based on the IBM Research Tokyo 'Quantum Computing in Practice' course (2024), the IBM Quantum Learning platform at quantum.cloud.ibm.com, and the landmark PDF 'Invitation to the Utility Era' by Tamiya Onodera.</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agenda covers 12 modules drawn from the IBM Research Tokyo course and IBM Quantum Learning platform. Each module builds on the previous to guide learners from basics through to utility-scale quantum computing.</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Section divider for Module 1. This module traces the historic milestones that led to today's quantum utility era, from Feynman's 1981 conjecture to the 2023 Nature paper by Kim et al.</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Timeline of key milestones. Feynman 1981 was the conceptual birth. Shor 1994 proved quantum computers could break cryptography. IBM's 2016 cloud launch democratised access. The 2023 Nature paper by Kim et al. showed quantum computers can outperform classical brute-force simulation at scale — marking the Utility Era.</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 classical bit is binary. A qubit lives in a 2D complex vector space. The state α|0⟩ + β|1⟩ satisfies |α|² + |β|² = 1. The normalization condition ensures probabilities sum to 1. With N qubits, the Hilbert space has dimension 2^N — for 127 qubits this is 2^127, a number astronomically larger than classical simulation can handle.</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 single qubit state lives in C^2, a 2D complex vector space. The Bloch sphere provides geometric intuition. θ is the polar angle (0 = |0⟩, π = |1⟩), φ is the azimuthal phase angle. The |+⟩ and |−⟩ states are produced by applying the Hadamard gate to |0⟩ and |1⟩ respectively, and they are the eigenstates of the Pauli-X operator.</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Multi-qubit states use tensor products. The state space grows exponentially: n qubits require 2^n complex numbers to fully describe the state. This exponential scaling means classical computers cannot efficiently simulate large quantum systems — which is Feynman's original insight from 1981. The 127-qubit Eagle processor used in the 2023 Nature experiment operates in a Hilbert space of dimension 2^127.</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quantum gates are represented by unitary matrices. The Hadamard gate is fundamental — it creates superposition. Pauli gates are single-qubit rotations. The T gate is critical: {H, T, CNOT} forms a universal gate set, meaning any quantum computation can be decomposed into these three gates. The CNOT gate is the primary entangling gate in IBM Quantum hardware.</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Quantum circuits are the standard model for quantum computation. Qubits flow left to right as horizontal wires. Gates are boxes on those wires. The double vertical line on the right represents measurement into a classical register. Circuit depth and width are critical metrics for NISQ devices — deeper circuits accumulate more noise. IBM's 127-qubit Eagle processor achieved 60 layers of entangling gates in the 2023 Nature experiment.</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Entanglement cannot be explained classically. Once two qubits are entangled, measuring one instantly determines the correlated outcome of the other — regardless of distance. The four Bell states are the maximally entangled 2-qubit states. They are used in quantum teleportation (which allows quantum state transfer), superdense coding (2 classical bits via 1 qubit), and quantum error correction. IBM hardware uses entanglement across its lattice of qubits.</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Measurement is the interface between the quantum and classical worlds. It projects the state onto the computational basis. The Born rule gives the probability as the squared modulus of the amplitude. Once measured, superposition collapses — this is why we cannot simply 'read' a quantum state without disturbing it. The no-cloning theorem (which follows from unitarity) means we also cannot copy an unknown quantum state. Running many shots builds up a histogram of measurement outcomes.</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Two classes of algorithms. Fault-tolerant algorithms (Shor, Grover, HHL) require error-corrected qubits and are not yet practical on today's hardware. NISQ algorithms (VQE, QAOA) are designed for noisy hardware and use hybrid quantum-classical loops. VQE was published in Nature Communications 2014 by Peruzzo et al. QAOA was published in 2014 by Farhi, Goldstone, and Gutmann. These are the workhorses of near-term quantum advantage research.</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VQE and QAOA are both variational algorithms that use a parameterised quantum circuit as an ansatz. The key insight is that quantum hardware evaluates the cost function efficiently, while classical computers optimise the parameters. VQE targets eigenvalue problems (quantum chemistry). QAOA targets combinatorial optimization. Both are in IBM's Qiskit Runtime as Estimator and Sampler primitives. The number of QAOA layers p determines quality vs. circuit depth tradeoff.</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Noise is the primary challenge for today's NISQ devices. T₁ is the energy relaxation time (qubit decays from |1⟩ to |0⟩). T₂ is the dephasing time (qubit loses phase coherence). ZNE works by deliberately amplifying noise (e.g. by gate folding: U → U†UU), then extrapolating to zero noise. PEC uses quasi-probability decomposition — highly accurate but exponentially expensive. The IBM 2023 experiment reduced model complexity from ~4^127 to ~1700 parameters using scalable noise characterization, making ZNE feasible at 127 qubits.</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Qiskit 1.x is a breaking change from 0.x — never upgrade in-place, always create a fresh virtual environment. The key packages are: qiskit (core), qiskit-ibm-runtime (for IBM Quantum hardware access via cloud), qiskit-aer (local simulator), qiskit[visualization] (for circuit drawing and plots). The Hello World circuit creates a Bell state |Φ+⟩ and should show approximately equal counts of '00' and '11' with no '01' or '10' states — demonstrating entanglement.</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IBM Quantum provides free tier access to multiple quantum backends. Get your API token from quantum.cloud.ibm.com. The QiskitRuntimeService connects your code to IBM's quantum cloud. Always transpile to the native gate set of the chosen backend (ECR + single-qubit gates on Eagle). Use optimization_level=3 for best circuit depth reduction. The Sampler primitive returns bitstring distributions, while Estimator returns expectation values of observables (used for VQE).</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IBM has followed a consistent doubling roadmap. The Eagle processor (127Q) was used in the 2023 Nature experiment. Condor at 1121 qubits is the largest superconducting quantum processor ever built. The Heron processor introduces tunable couplers to reduce ZZ crosstalk — a major source of errors. The 100×100 land refers to 100 qubits with 100 layers of entangling gates, where IBM predicts quantum advantage for practical applications.</a:t>
            </a: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references are from peer-reviewed publications, IBM Research, or official IBM Quantum documentation. The Nature 2023 paper is the landmark utility-era result. The IBM Quantum Learning platform course 'Quantum Computing in Practice' is freely accessible and forms the backbone of this tutorial series.</a:t>
            </a:r>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Closing slide. Quantum Tutorials Part 2 will cover: Quantum Gates Deep Dive, Grover's Algorithm, Phase Estimation, Quantum Teleportation, and Superdense Coding. Encourage participants to register at quantum.cloud.ibm.com and try running their first circuit on real IBM Quantum hardware.</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7e863cae8d4f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1db7ea448c4a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a2697584f249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ac551a93e64c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7ed6650b914a3a"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64c6b5415e6d498d"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af238107aee841eb" /><Relationship Type="http://schemas.openxmlformats.org/officeDocument/2006/relationships/notesSlide" Target="/ppt/notesSlides/notesSlide1.xml" Id="R7ead05e0e3b64c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86979b8b6c47e6" /><Relationship Type="http://schemas.openxmlformats.org/officeDocument/2006/relationships/notesSlide" Target="/ppt/notesSlides/notesSlide2.xml" Id="Rc51350bda50c46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e79ec377e8457d" /><Relationship Type="http://schemas.openxmlformats.org/officeDocument/2006/relationships/notesSlide" Target="/ppt/notesSlides/notesSlide3.xml" Id="R458d01f2538943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f1cfeca754413a" /><Relationship Type="http://schemas.openxmlformats.org/officeDocument/2006/relationships/notesSlide" Target="/ppt/notesSlides/notesSlide4.xml" Id="R40426d7fe8104d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c31064fba84693" /><Relationship Type="http://schemas.openxmlformats.org/officeDocument/2006/relationships/notesSlide" Target="/ppt/notesSlides/notesSlide5.xml" Id="R9c9f00039fc244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d5526ac2d0486b" /><Relationship Type="http://schemas.openxmlformats.org/officeDocument/2006/relationships/notesSlide" Target="/ppt/notesSlides/notesSlide6.xml" Id="R54d8640408a842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34fb6c9bd648ec" /><Relationship Type="http://schemas.openxmlformats.org/officeDocument/2006/relationships/notesSlide" Target="/ppt/notesSlides/notesSlide7.xml" Id="R8dc4cf4dd3b143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4308db47ba44bb" /><Relationship Type="http://schemas.openxmlformats.org/officeDocument/2006/relationships/notesSlide" Target="/ppt/notesSlides/notesSlide8.xml" Id="R9829f517d1e445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2089870e6a45fb" /><Relationship Type="http://schemas.openxmlformats.org/officeDocument/2006/relationships/notesSlide" Target="/ppt/notesSlides/notesSlide9.xml" Id="Rd0d0866ba91842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488581da8eb4ece" /><Relationship Type="http://schemas.openxmlformats.org/officeDocument/2006/relationships/notesSlide" Target="/ppt/notesSlides/notesSlide10.xml" Id="R745ba5d6f3da4d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3c22bcd1cc7456a" /><Relationship Type="http://schemas.openxmlformats.org/officeDocument/2006/relationships/notesSlide" Target="/ppt/notesSlides/notesSlide11.xml" Id="Rfec05656bfa74c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ec7490266c24b0d" /><Relationship Type="http://schemas.openxmlformats.org/officeDocument/2006/relationships/notesSlide" Target="/ppt/notesSlides/notesSlide12.xml" Id="R65a13459c25649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b0a0e531084de9" /><Relationship Type="http://schemas.openxmlformats.org/officeDocument/2006/relationships/notesSlide" Target="/ppt/notesSlides/notesSlide13.xml" Id="Ra2d5c626e7504b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4801eb1ec2d44bc" /><Relationship Type="http://schemas.openxmlformats.org/officeDocument/2006/relationships/notesSlide" Target="/ppt/notesSlides/notesSlide14.xml" Id="R53680c209ec0467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2df0af5baee46aa" /><Relationship Type="http://schemas.openxmlformats.org/officeDocument/2006/relationships/notesSlide" Target="/ppt/notesSlides/notesSlide15.xml" Id="R463e2c5a16da4d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5da364a86f47b7" /><Relationship Type="http://schemas.openxmlformats.org/officeDocument/2006/relationships/notesSlide" Target="/ppt/notesSlides/notesSlide16.xml" Id="R7d3497a2028e40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3e0ef61aea244b8" /><Relationship Type="http://schemas.openxmlformats.org/officeDocument/2006/relationships/notesSlide" Target="/ppt/notesSlides/notesSlide17.xml" Id="Rcb18db9779254fd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9aea3237a6b423a" /><Relationship Type="http://schemas.openxmlformats.org/officeDocument/2006/relationships/notesSlide" Target="/ppt/notesSlides/notesSlide18.xml" Id="Re0245083f2cb4b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7fe0b7d6fb448e6" /><Relationship Type="http://schemas.openxmlformats.org/officeDocument/2006/relationships/notesSlide" Target="/ppt/notesSlides/notesSlide19.xml" Id="Rbcc02c7e871c49fc"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00" name="TopBar"/>
          <p:cNvSpPr txBox="1"/>
          <p:nvPr/>
        </p:nvSpPr>
        <p:spPr>
          <a:xfrm xmlns:a="http://schemas.openxmlformats.org/drawingml/2006/main">
            <a:off x="0" y="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01" name="Title"/>
          <p:cNvSpPr txBox="1"/>
          <p:nvPr/>
        </p:nvSpPr>
        <p:spPr>
          <a:xfrm xmlns:a="http://schemas.openxmlformats.org/drawingml/2006/main">
            <a:off x="540000" y="1080000"/>
            <a:ext cx="10800000" cy="12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400" b="1">
                <a:solidFill>
                  <a:srgbClr val="FFFFFF"/>
                </a:solidFill>
                <a:latin typeface="Calibri"/>
                <a:ea typeface="Calibri"/>
              </a:rPr>
              <a:t>Quantum Tutorials Part 1</a:t>
            </a:r>
          </a:p>
        </p:txBody>
      </p:sp>
      <p:sp>
        <p:nvSpPr>
          <p:cNvPr id="100002" name="Subtitle"/>
          <p:cNvSpPr txBox="1"/>
          <p:nvPr/>
        </p:nvSpPr>
        <p:spPr>
          <a:xfrm xmlns:a="http://schemas.openxmlformats.org/drawingml/2006/main">
            <a:off x="540000" y="244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0">
                <a:solidFill>
                  <a:srgbClr val="00B0F0"/>
                </a:solidFill>
                <a:latin typeface="Calibri"/>
                <a:ea typeface="Calibri"/>
              </a:rPr>
              <a:t>Invitation to the Utility Era</a:t>
            </a:r>
          </a:p>
          <a:p xmlns:a="http://schemas.openxmlformats.org/drawingml/2006/main">
            <a:r>
              <a:rPr lang="en-US" sz="2400" b="0">
                <a:solidFill>
                  <a:srgbClr val="00B0F0"/>
                </a:solidFill>
                <a:latin typeface="Calibri"/>
                <a:ea typeface="Calibri"/>
              </a:rPr>
              <a:t>From Qubits to Quantum Advantage</a:t>
            </a:r>
          </a:p>
        </p:txBody>
      </p:sp>
      <p:sp>
        <p:nvSpPr>
          <p:cNvPr id="100003" name="Meta"/>
          <p:cNvSpPr txBox="1"/>
          <p:nvPr/>
        </p:nvSpPr>
        <p:spPr>
          <a:xfrm xmlns:a="http://schemas.openxmlformats.org/drawingml/2006/main">
            <a:off x="540000" y="576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0">
                <a:solidFill>
                  <a:srgbClr val="AAAAAA"/>
                </a:solidFill>
                <a:latin typeface="Calibri"/>
                <a:ea typeface="Calibri"/>
              </a:rPr>
              <a:t>Based on IBM Research Tokyo · IBM Quantum Learning Course</a:t>
            </a:r>
          </a:p>
          <a:p xmlns:a="http://schemas.openxmlformats.org/drawingml/2006/main">
            <a:r>
              <a:rPr lang="en-US" sz="1400" b="0">
                <a:solidFill>
                  <a:srgbClr val="AAAAAA"/>
                </a:solidFill>
                <a:latin typeface="Calibri"/>
                <a:ea typeface="Calibri"/>
              </a:rPr>
              <a:t>Tamiya Onodera, IBM Research | © 2024 IBM Corporation</a:t>
            </a:r>
          </a:p>
        </p:txBody>
      </p:sp>
      <p:sp>
        <p:nvSpPr>
          <p:cNvPr id="100004"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5"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Quantum Tutorials Part 1</a:t>
            </a:r>
          </a:p>
        </p:txBody>
      </p:sp>
      <p:sp>
        <p:nvSpPr>
          <p:cNvPr id="100006"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Agenda — What You Will Learn</a:t>
            </a:r>
          </a:p>
        </p:txBody>
      </p:sp>
      <p:sp>
        <p:nvSpPr>
          <p:cNvPr id="100007" name="Body"/>
          <p:cNvSpPr txBox="1"/>
          <p:nvPr/>
        </p:nvSpPr>
        <p:spPr>
          <a:xfrm xmlns:a="http://schemas.openxmlformats.org/drawingml/2006/main">
            <a:off x="540000" y="1008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b="0">
                <a:solidFill>
                  <a:srgbClr val="333333"/>
                </a:solidFill>
                <a:latin typeface="Calibri"/>
                <a:ea typeface="Calibri"/>
              </a:rPr>
              <a:t>Module 1: The Road to the Utility Era — Quantum History 1981–2023</a:t>
            </a:r>
          </a:p>
          <a:p xmlns:a="http://schemas.openxmlformats.org/drawingml/2006/main">
            <a:r>
              <a:rPr lang="en-US" sz="1700" b="0">
                <a:solidFill>
                  <a:srgbClr val="333333"/>
                </a:solidFill>
                <a:latin typeface="Calibri"/>
                <a:ea typeface="Calibri"/>
              </a:rPr>
              <a:t>Module 2: Quantum Fundamentals — Qubits, Superposition &amp; Bloch Sphere</a:t>
            </a:r>
          </a:p>
          <a:p xmlns:a="http://schemas.openxmlformats.org/drawingml/2006/main">
            <a:r>
              <a:rPr lang="en-US" sz="1700" b="0">
                <a:solidFill>
                  <a:srgbClr val="333333"/>
                </a:solidFill>
                <a:latin typeface="Calibri"/>
                <a:ea typeface="Calibri"/>
              </a:rPr>
              <a:t>Module 3: Quantum States — Single &amp; Multi-Qubit Systems</a:t>
            </a:r>
          </a:p>
          <a:p xmlns:a="http://schemas.openxmlformats.org/drawingml/2006/main">
            <a:r>
              <a:rPr lang="en-US" sz="1700" b="0">
                <a:solidFill>
                  <a:srgbClr val="333333"/>
                </a:solidFill>
                <a:latin typeface="Calibri"/>
                <a:ea typeface="Calibri"/>
              </a:rPr>
              <a:t>Module 4: Quantum Gates — Hadamard, CNOT, Pauli &amp; More</a:t>
            </a:r>
          </a:p>
          <a:p xmlns:a="http://schemas.openxmlformats.org/drawingml/2006/main">
            <a:r>
              <a:rPr lang="en-US" sz="1700" b="0">
                <a:solidFill>
                  <a:srgbClr val="333333"/>
                </a:solidFill>
                <a:latin typeface="Calibri"/>
                <a:ea typeface="Calibri"/>
              </a:rPr>
              <a:t>Module 5: Quantum Circuits — Building Your First Circuit</a:t>
            </a:r>
          </a:p>
          <a:p xmlns:a="http://schemas.openxmlformats.org/drawingml/2006/main">
            <a:r>
              <a:rPr lang="en-US" sz="1700" b="0">
                <a:solidFill>
                  <a:srgbClr val="333333"/>
                </a:solidFill>
                <a:latin typeface="Calibri"/>
                <a:ea typeface="Calibri"/>
              </a:rPr>
              <a:t>Module 6: Entanglement — Bell States &amp; Computational Power</a:t>
            </a:r>
          </a:p>
          <a:p xmlns:a="http://schemas.openxmlformats.org/drawingml/2006/main">
            <a:r>
              <a:rPr lang="en-US" sz="1700" b="0">
                <a:solidFill>
                  <a:srgbClr val="333333"/>
                </a:solidFill>
                <a:latin typeface="Calibri"/>
                <a:ea typeface="Calibri"/>
              </a:rPr>
              <a:t>Module 7: Measurement — Probabilities &amp; Collapse</a:t>
            </a:r>
          </a:p>
          <a:p xmlns:a="http://schemas.openxmlformats.org/drawingml/2006/main">
            <a:r>
              <a:rPr lang="en-US" sz="1700" b="0">
                <a:solidFill>
                  <a:srgbClr val="333333"/>
                </a:solidFill>
                <a:latin typeface="Calibri"/>
                <a:ea typeface="Calibri"/>
              </a:rPr>
              <a:t>Module 8: Key Quantum Algorithms Overview</a:t>
            </a:r>
          </a:p>
          <a:p xmlns:a="http://schemas.openxmlformats.org/drawingml/2006/main">
            <a:r>
              <a:rPr lang="en-US" sz="1700" b="0">
                <a:solidFill>
                  <a:srgbClr val="333333"/>
                </a:solidFill>
                <a:latin typeface="Calibri"/>
                <a:ea typeface="Calibri"/>
              </a:rPr>
              <a:t>Module 9: Variational Quantum Algorithms (VQE &amp; QAOA)</a:t>
            </a:r>
          </a:p>
          <a:p xmlns:a="http://schemas.openxmlformats.org/drawingml/2006/main">
            <a:r>
              <a:rPr lang="en-US" sz="1700" b="0">
                <a:solidFill>
                  <a:srgbClr val="333333"/>
                </a:solidFill>
                <a:latin typeface="Calibri"/>
                <a:ea typeface="Calibri"/>
              </a:rPr>
              <a:t>Module 10: Quantum Noise, Error Mitigation &amp; Utility Scale</a:t>
            </a:r>
          </a:p>
          <a:p xmlns:a="http://schemas.openxmlformats.org/drawingml/2006/main">
            <a:r>
              <a:rPr lang="en-US" sz="1700" b="0">
                <a:solidFill>
                  <a:srgbClr val="333333"/>
                </a:solidFill>
                <a:latin typeface="Calibri"/>
                <a:ea typeface="Calibri"/>
              </a:rPr>
              <a:t>Module 11: Getting Started with Qiskit 1.x</a:t>
            </a:r>
          </a:p>
          <a:p xmlns:a="http://schemas.openxmlformats.org/drawingml/2006/main">
            <a:r>
              <a:rPr lang="en-US" sz="1700" b="0">
                <a:solidFill>
                  <a:srgbClr val="333333"/>
                </a:solidFill>
                <a:latin typeface="Calibri"/>
                <a:ea typeface="Calibri"/>
              </a:rPr>
              <a:t>Module 12: Quantum Roadmap &amp; Next Steps</a:t>
            </a:r>
          </a:p>
        </p:txBody>
      </p:sp>
      <p:sp>
        <p:nvSpPr>
          <p:cNvPr id="100008"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3.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09" name="SectionLabel"/>
          <p:cNvSpPr txBox="1"/>
          <p:nvPr/>
        </p:nvSpPr>
        <p:spPr>
          <a:xfrm xmlns:a="http://schemas.openxmlformats.org/drawingml/2006/main">
            <a:off x="540000" y="1080000"/>
            <a:ext cx="54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00B0F0"/>
                </a:solidFill>
                <a:latin typeface="Calibri"/>
                <a:ea typeface="Calibri"/>
              </a:rPr>
              <a:t>MODULE 1</a:t>
            </a:r>
          </a:p>
        </p:txBody>
      </p:sp>
      <p:sp>
        <p:nvSpPr>
          <p:cNvPr id="100010" name="Title"/>
          <p:cNvSpPr txBox="1"/>
          <p:nvPr/>
        </p:nvSpPr>
        <p:spPr>
          <a:xfrm xmlns:a="http://schemas.openxmlformats.org/drawingml/2006/main">
            <a:off x="540000" y="1512000"/>
            <a:ext cx="1080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FFFFFF"/>
                </a:solidFill>
                <a:latin typeface="Calibri"/>
                <a:ea typeface="Calibri"/>
              </a:rPr>
              <a:t>The Road to the Utility Era</a:t>
            </a:r>
          </a:p>
        </p:txBody>
      </p:sp>
      <p:sp>
        <p:nvSpPr>
          <p:cNvPr id="100011" name="Subtitle"/>
          <p:cNvSpPr txBox="1"/>
          <p:nvPr/>
        </p:nvSpPr>
        <p:spPr>
          <a:xfrm xmlns:a="http://schemas.openxmlformats.org/drawingml/2006/main">
            <a:off x="540000" y="252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0">
                <a:solidFill>
                  <a:srgbClr val="AACCFF"/>
                </a:solidFill>
                <a:latin typeface="Calibri"/>
                <a:ea typeface="Calibri"/>
              </a:rPr>
              <a:t>From Feynman's Vision to IBM Quantum Utility (1981–2023)</a:t>
            </a:r>
          </a:p>
        </p:txBody>
      </p:sp>
      <p:sp>
        <p:nvSpPr>
          <p:cNvPr id="100012"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3"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1 · The Road to the Utility Era</a:t>
            </a:r>
          </a:p>
        </p:txBody>
      </p:sp>
      <p:sp>
        <p:nvSpPr>
          <p:cNvPr id="100014"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1E2761"/>
                </a:solidFill>
                <a:latin typeface="Calibri"/>
                <a:ea typeface="Calibri"/>
              </a:rPr>
              <a:t>Key Milestones in Quantum Computing History</a:t>
            </a:r>
          </a:p>
        </p:txBody>
      </p:sp>
      <p:sp>
        <p:nvSpPr>
          <p:cNvPr id="100015" name="Year1"/>
          <p:cNvSpPr txBox="1"/>
          <p:nvPr/>
        </p:nvSpPr>
        <p:spPr>
          <a:xfrm xmlns:a="http://schemas.openxmlformats.org/drawingml/2006/main">
            <a:off x="360000" y="1152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1">
                <a:solidFill>
                  <a:srgbClr val="1E2761"/>
                </a:solidFill>
                <a:latin typeface="Calibri"/>
                <a:ea typeface="Calibri"/>
              </a:rPr>
              <a:t>1981</a:t>
            </a:r>
          </a:p>
        </p:txBody>
      </p:sp>
      <p:sp>
        <p:nvSpPr>
          <p:cNvPr id="100016" name="Event1"/>
          <p:cNvSpPr txBox="1"/>
          <p:nvPr/>
        </p:nvSpPr>
        <p:spPr>
          <a:xfrm xmlns:a="http://schemas.openxmlformats.org/drawingml/2006/main">
            <a:off x="1620000" y="1152000"/>
            <a:ext cx="972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Richard Feynman at IBM/MIT Physics of Computation Conference:</a:t>
            </a:r>
          </a:p>
          <a:p xmlns:a="http://schemas.openxmlformats.org/drawingml/2006/main">
            <a:r>
              <a:rPr lang="en-US" sz="1600" b="0">
                <a:solidFill>
                  <a:srgbClr val="333333"/>
                </a:solidFill>
                <a:latin typeface="Calibri"/>
                <a:ea typeface="Calibri"/>
              </a:rPr>
              <a:t>"Nature isn't classical, dammit... you'd better make it quantum mechanical."</a:t>
            </a:r>
          </a:p>
        </p:txBody>
      </p:sp>
      <p:sp>
        <p:nvSpPr>
          <p:cNvPr id="100017" name="Year2"/>
          <p:cNvSpPr txBox="1"/>
          <p:nvPr/>
        </p:nvSpPr>
        <p:spPr>
          <a:xfrm xmlns:a="http://schemas.openxmlformats.org/drawingml/2006/main">
            <a:off x="360000" y="1872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1">
                <a:solidFill>
                  <a:srgbClr val="1E2761"/>
                </a:solidFill>
                <a:latin typeface="Calibri"/>
                <a:ea typeface="Calibri"/>
              </a:rPr>
              <a:t>1994</a:t>
            </a:r>
          </a:p>
        </p:txBody>
      </p:sp>
      <p:sp>
        <p:nvSpPr>
          <p:cNvPr id="100018" name="Event2"/>
          <p:cNvSpPr txBox="1"/>
          <p:nvPr/>
        </p:nvSpPr>
        <p:spPr>
          <a:xfrm xmlns:a="http://schemas.openxmlformats.org/drawingml/2006/main">
            <a:off x="1620000" y="1872000"/>
            <a:ext cx="972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Peter Shor publishes quantum algorithm for prime factorization — polynomial time on a quantum computer (FOCS 1994). Breaks RSA encryption.</a:t>
            </a:r>
          </a:p>
        </p:txBody>
      </p:sp>
      <p:sp>
        <p:nvSpPr>
          <p:cNvPr id="100019" name="Year3"/>
          <p:cNvSpPr txBox="1"/>
          <p:nvPr/>
        </p:nvSpPr>
        <p:spPr>
          <a:xfrm xmlns:a="http://schemas.openxmlformats.org/drawingml/2006/main">
            <a:off x="360000" y="2592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1">
                <a:solidFill>
                  <a:srgbClr val="1E2761"/>
                </a:solidFill>
                <a:latin typeface="Calibri"/>
                <a:ea typeface="Calibri"/>
              </a:rPr>
              <a:t>1996</a:t>
            </a:r>
          </a:p>
        </p:txBody>
      </p:sp>
      <p:sp>
        <p:nvSpPr>
          <p:cNvPr id="100020" name="Event3"/>
          <p:cNvSpPr txBox="1"/>
          <p:nvPr/>
        </p:nvSpPr>
        <p:spPr>
          <a:xfrm xmlns:a="http://schemas.openxmlformats.org/drawingml/2006/main">
            <a:off x="1620000" y="2592000"/>
            <a:ext cx="972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Grover's quantum search algorithm — quadratic speedup for unstructured search (STOC 1996).</a:t>
            </a:r>
          </a:p>
        </p:txBody>
      </p:sp>
      <p:sp>
        <p:nvSpPr>
          <p:cNvPr id="100021" name="Year4"/>
          <p:cNvSpPr txBox="1"/>
          <p:nvPr/>
        </p:nvSpPr>
        <p:spPr>
          <a:xfrm xmlns:a="http://schemas.openxmlformats.org/drawingml/2006/main">
            <a:off x="360000" y="324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1">
                <a:solidFill>
                  <a:srgbClr val="00B0F0"/>
                </a:solidFill>
                <a:latin typeface="Calibri"/>
                <a:ea typeface="Calibri"/>
              </a:rPr>
              <a:t>2016</a:t>
            </a:r>
          </a:p>
        </p:txBody>
      </p:sp>
      <p:sp>
        <p:nvSpPr>
          <p:cNvPr id="100022" name="Event4"/>
          <p:cNvSpPr txBox="1"/>
          <p:nvPr/>
        </p:nvSpPr>
        <p:spPr>
          <a:xfrm xmlns:a="http://schemas.openxmlformats.org/drawingml/2006/main">
            <a:off x="1620000" y="3240000"/>
            <a:ext cx="972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IBM Quantum Experience launched — first cloud-accessible quantum computer (quantum-computing.ibm.com). Public access to real hardware.</a:t>
            </a:r>
          </a:p>
        </p:txBody>
      </p:sp>
      <p:sp>
        <p:nvSpPr>
          <p:cNvPr id="100023" name="Year5"/>
          <p:cNvSpPr txBox="1"/>
          <p:nvPr/>
        </p:nvSpPr>
        <p:spPr>
          <a:xfrm xmlns:a="http://schemas.openxmlformats.org/drawingml/2006/main">
            <a:off x="360000" y="396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1">
                <a:solidFill>
                  <a:srgbClr val="00B0F0"/>
                </a:solidFill>
                <a:latin typeface="Calibri"/>
                <a:ea typeface="Calibri"/>
              </a:rPr>
              <a:t>2023</a:t>
            </a:r>
          </a:p>
        </p:txBody>
      </p:sp>
      <p:sp>
        <p:nvSpPr>
          <p:cNvPr id="100024" name="Event5"/>
          <p:cNvSpPr txBox="1"/>
          <p:nvPr/>
        </p:nvSpPr>
        <p:spPr>
          <a:xfrm xmlns:a="http://schemas.openxmlformats.org/drawingml/2006/main">
            <a:off x="1620000" y="3960000"/>
            <a:ext cx="972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Kim et al., Nature 618 — 127-qubit Eagle processor demonstrates results beyond exact classical simulation. A new era: Quantum Utility.</a:t>
            </a:r>
          </a:p>
        </p:txBody>
      </p:sp>
      <p:sp>
        <p:nvSpPr>
          <p:cNvPr id="100025"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6"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2 · Quantum Fundamentals</a:t>
            </a:r>
          </a:p>
        </p:txBody>
      </p:sp>
      <p:sp>
        <p:nvSpPr>
          <p:cNvPr id="100027"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What is a Qubit?</a:t>
            </a:r>
          </a:p>
        </p:txBody>
      </p:sp>
      <p:sp>
        <p:nvSpPr>
          <p:cNvPr id="100028" name="Col1Title"/>
          <p:cNvSpPr txBox="1"/>
          <p:nvPr/>
        </p:nvSpPr>
        <p:spPr>
          <a:xfrm xmlns:a="http://schemas.openxmlformats.org/drawingml/2006/main">
            <a:off x="540000" y="1080000"/>
            <a:ext cx="468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1">
                <a:solidFill>
                  <a:srgbClr val="1E2761"/>
                </a:solidFill>
                <a:latin typeface="Calibri"/>
                <a:ea typeface="Calibri"/>
              </a:rPr>
              <a:t>Classical Bit</a:t>
            </a:r>
          </a:p>
        </p:txBody>
      </p:sp>
      <p:sp>
        <p:nvSpPr>
          <p:cNvPr id="100029" name="Col1Body"/>
          <p:cNvSpPr txBox="1"/>
          <p:nvPr/>
        </p:nvSpPr>
        <p:spPr>
          <a:xfrm xmlns:a="http://schemas.openxmlformats.org/drawingml/2006/main">
            <a:off x="540000" y="1404000"/>
            <a:ext cx="4680000" cy="28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 Can be 0 or 1 — never both</a:t>
            </a:r>
          </a:p>
          <a:p xmlns:a="http://schemas.openxmlformats.org/drawingml/2006/main">
            <a:r>
              <a:rPr lang="en-US" sz="1600" b="0">
                <a:solidFill>
                  <a:srgbClr val="333333"/>
                </a:solidFill>
                <a:latin typeface="Calibri"/>
                <a:ea typeface="Calibri"/>
              </a:rPr>
              <a:t>• Deterministic</a:t>
            </a:r>
          </a:p>
          <a:p xmlns:a="http://schemas.openxmlformats.org/drawingml/2006/main">
            <a:r>
              <a:rPr lang="en-US" sz="1600" b="0">
                <a:solidFill>
                  <a:srgbClr val="333333"/>
                </a:solidFill>
                <a:latin typeface="Calibri"/>
                <a:ea typeface="Calibri"/>
              </a:rPr>
              <a:t>• Represented physically by voltage high/low</a:t>
            </a:r>
          </a:p>
          <a:p xmlns:a="http://schemas.openxmlformats.org/drawingml/2006/main">
            <a:r>
              <a:rPr lang="en-US" sz="1600" b="0">
                <a:solidFill>
                  <a:srgbClr val="333333"/>
                </a:solidFill>
                <a:latin typeface="Calibri"/>
                <a:ea typeface="Calibri"/>
              </a:rPr>
              <a:t>• N bits = 2^N possible states, but only ONE state at a time</a:t>
            </a:r>
          </a:p>
          <a:p xmlns:a="http://schemas.openxmlformats.org/drawingml/2006/main">
            <a:r>
              <a:rPr lang="en-US" sz="1600" b="0">
                <a:solidFill>
                  <a:srgbClr val="333333"/>
                </a:solidFill>
                <a:latin typeface="Calibri"/>
                <a:ea typeface="Calibri"/>
              </a:rPr>
              <a:t>• Example: 3 bits can hold 000, 001, 010 ... but only one value</a:t>
            </a:r>
          </a:p>
        </p:txBody>
      </p:sp>
      <p:sp>
        <p:nvSpPr>
          <p:cNvPr id="100030" name="Divider"/>
          <p:cNvSpPr txBox="1"/>
          <p:nvPr/>
        </p:nvSpPr>
        <p:spPr>
          <a:xfrm xmlns:a="http://schemas.openxmlformats.org/drawingml/2006/main">
            <a:off x="5580000" y="1080000"/>
            <a:ext cx="360000" cy="28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0">
                <a:solidFill>
                  <a:srgbClr val="CCCCCC"/>
                </a:solidFill>
                <a:latin typeface="Calibri"/>
                <a:ea typeface="Calibri"/>
              </a:rPr>
              <a:t>|</a:t>
            </a:r>
          </a:p>
        </p:txBody>
      </p:sp>
      <p:sp>
        <p:nvSpPr>
          <p:cNvPr id="100031" name="Col2Title"/>
          <p:cNvSpPr txBox="1"/>
          <p:nvPr/>
        </p:nvSpPr>
        <p:spPr>
          <a:xfrm xmlns:a="http://schemas.openxmlformats.org/drawingml/2006/main">
            <a:off x="6120000" y="1080000"/>
            <a:ext cx="54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1">
                <a:solidFill>
                  <a:srgbClr val="00B0F0"/>
                </a:solidFill>
                <a:latin typeface="Calibri"/>
                <a:ea typeface="Calibri"/>
              </a:rPr>
              <a:t>Qubit</a:t>
            </a:r>
          </a:p>
        </p:txBody>
      </p:sp>
      <p:sp>
        <p:nvSpPr>
          <p:cNvPr id="100032" name="Col2Body"/>
          <p:cNvSpPr txBox="1"/>
          <p:nvPr/>
        </p:nvSpPr>
        <p:spPr>
          <a:xfrm xmlns:a="http://schemas.openxmlformats.org/drawingml/2006/main">
            <a:off x="6120000" y="1404000"/>
            <a:ext cx="5400000" cy="28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 Can be |0⟩, |1⟩, or any superposition α|0⟩ + β|1⟩</a:t>
            </a:r>
          </a:p>
          <a:p xmlns:a="http://schemas.openxmlformats.org/drawingml/2006/main">
            <a:r>
              <a:rPr lang="en-US" sz="1600" b="0">
                <a:solidFill>
                  <a:srgbClr val="333333"/>
                </a:solidFill>
                <a:latin typeface="Calibri"/>
                <a:ea typeface="Calibri"/>
              </a:rPr>
              <a:t>• Probabilistic — outcomes governed by |α|² and |β|²</a:t>
            </a:r>
          </a:p>
          <a:p xmlns:a="http://schemas.openxmlformats.org/drawingml/2006/main">
            <a:r>
              <a:rPr lang="en-US" sz="1600" b="0">
                <a:solidFill>
                  <a:srgbClr val="333333"/>
                </a:solidFill>
                <a:latin typeface="Calibri"/>
                <a:ea typeface="Calibri"/>
              </a:rPr>
              <a:t>• Physical realisations: superconducting circuits, ions, photons</a:t>
            </a:r>
          </a:p>
          <a:p xmlns:a="http://schemas.openxmlformats.org/drawingml/2006/main">
            <a:r>
              <a:rPr lang="en-US" sz="1600" b="0">
                <a:solidFill>
                  <a:srgbClr val="333333"/>
                </a:solidFill>
                <a:latin typeface="Calibri"/>
                <a:ea typeface="Calibri"/>
              </a:rPr>
              <a:t>• N qubits = 2^N amplitudes encoded SIMULTANEOUSLY</a:t>
            </a:r>
          </a:p>
          <a:p xmlns:a="http://schemas.openxmlformats.org/drawingml/2006/main">
            <a:r>
              <a:rPr lang="en-US" sz="1600" b="0">
                <a:solidFill>
                  <a:srgbClr val="333333"/>
                </a:solidFill>
                <a:latin typeface="Calibri"/>
                <a:ea typeface="Calibri"/>
              </a:rPr>
              <a:t>• Example: 127 qubits → more states than atoms in the observable universe</a:t>
            </a:r>
          </a:p>
        </p:txBody>
      </p:sp>
      <p:sp>
        <p:nvSpPr>
          <p:cNvPr id="100033" name="KeyBox"/>
          <p:cNvSpPr txBox="1"/>
          <p:nvPr/>
        </p:nvSpPr>
        <p:spPr>
          <a:xfrm xmlns:a="http://schemas.openxmlformats.org/drawingml/2006/main">
            <a:off x="540000" y="5220000"/>
            <a:ext cx="10800000" cy="900000"/>
          </a:xfrm>
          <a:prstGeom xmlns:a="http://schemas.openxmlformats.org/drawingml/2006/main" prst="rect">
            <a:avLst/>
          </a:prstGeom>
          <a:solidFill xmlns:a="http://schemas.openxmlformats.org/drawingml/2006/main">
            <a:srgbClr val="E8F4FF"/>
          </a:solidFill>
        </p:spPr>
        <p:txBody>
          <a:bodyPr xmlns:a="http://schemas.openxmlformats.org/drawingml/2006/main"/>
          <a:lstStyle xmlns:a="http://schemas.openxmlformats.org/drawingml/2006/main"/>
          <a:p xmlns:a="http://schemas.openxmlformats.org/drawingml/2006/main">
            <a:r>
              <a:rPr lang="en-US" sz="1600" b="0">
                <a:solidFill>
                  <a:srgbClr val="1E2761"/>
                </a:solidFill>
                <a:latin typeface="Calibri"/>
                <a:ea typeface="Calibri"/>
              </a:rPr>
              <a:t>Key Insight: Superposition allows a quantum computer to process an exponential number of states in parallel — this is the source of quantum speedup.</a:t>
            </a:r>
          </a:p>
        </p:txBody>
      </p:sp>
      <p:sp>
        <p:nvSpPr>
          <p:cNvPr id="100034"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5"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3 · Quantum States</a:t>
            </a:r>
          </a:p>
        </p:txBody>
      </p:sp>
      <p:sp>
        <p:nvSpPr>
          <p:cNvPr id="100036"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Single-Qubit Quantum State</a:t>
            </a:r>
          </a:p>
        </p:txBody>
      </p:sp>
      <p:sp>
        <p:nvSpPr>
          <p:cNvPr id="100037" name="MathBox"/>
          <p:cNvSpPr txBox="1"/>
          <p:nvPr/>
        </p:nvSpPr>
        <p:spPr>
          <a:xfrm xmlns:a="http://schemas.openxmlformats.org/drawingml/2006/main">
            <a:off x="540000" y="1008000"/>
            <a:ext cx="6480000" cy="252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800" b="0">
                <a:solidFill>
                  <a:srgbClr val="1E2761"/>
                </a:solidFill>
                <a:latin typeface="Courier New"/>
                <a:ea typeface="Courier New"/>
              </a:rPr>
              <a:t>Mathematical Representation:</a:t>
            </a:r>
          </a:p>
          <a:p xmlns:a="http://schemas.openxmlformats.org/drawingml/2006/main">
            <a:r>
              <a:rPr lang="en-US" sz="1800" b="0">
                <a:solidFill>
                  <a:srgbClr val="1E2761"/>
                </a:solidFill>
                <a:latin typeface="Courier New"/>
                <a:ea typeface="Courier New"/>
              </a:rPr>
              <a:t>|ψ⟩ = α|0⟩ + β|1⟩</a:t>
            </a:r>
          </a:p>
          <a:p xmlns:a="http://schemas.openxmlformats.org/drawingml/2006/main">
            <a:r>
              <a:rPr lang="en-US" sz="1800" b="0">
                <a:solidFill>
                  <a:srgbClr val="1E2761"/>
                </a:solidFill>
                <a:latin typeface="Courier New"/>
                <a:ea typeface="Courier New"/>
              </a:rPr>
              <a:t/>
            </a:r>
          </a:p>
          <a:p xmlns:a="http://schemas.openxmlformats.org/drawingml/2006/main">
            <a:r>
              <a:rPr lang="en-US" sz="1800" b="0">
                <a:solidFill>
                  <a:srgbClr val="1E2761"/>
                </a:solidFill>
                <a:latin typeface="Courier New"/>
                <a:ea typeface="Courier New"/>
              </a:rPr>
              <a:t>where  |α|² + |β|² = 1  (normalization)</a:t>
            </a:r>
          </a:p>
          <a:p xmlns:a="http://schemas.openxmlformats.org/drawingml/2006/main">
            <a:r>
              <a:rPr lang="en-US" sz="1800" b="0">
                <a:solidFill>
                  <a:srgbClr val="1E2761"/>
                </a:solidFill>
                <a:latin typeface="Courier New"/>
                <a:ea typeface="Courier New"/>
              </a:rPr>
              <a:t/>
            </a:r>
          </a:p>
          <a:p xmlns:a="http://schemas.openxmlformats.org/drawingml/2006/main">
            <a:r>
              <a:rPr lang="en-US" sz="1800" b="0">
                <a:solidFill>
                  <a:srgbClr val="1E2761"/>
                </a:solidFill>
                <a:latin typeface="Courier New"/>
                <a:ea typeface="Courier New"/>
              </a:rPr>
              <a:t>Computational basis states:</a:t>
            </a:r>
          </a:p>
          <a:p xmlns:a="http://schemas.openxmlformats.org/drawingml/2006/main">
            <a:r>
              <a:rPr lang="en-US" sz="1800" b="0">
                <a:solidFill>
                  <a:srgbClr val="1E2761"/>
                </a:solidFill>
                <a:latin typeface="Courier New"/>
                <a:ea typeface="Courier New"/>
              </a:rPr>
              <a:t>|0⟩ = [1, 0]ᵀ      |1⟩ = [0, 1]ᵀ</a:t>
            </a:r>
          </a:p>
        </p:txBody>
      </p:sp>
      <p:sp>
        <p:nvSpPr>
          <p:cNvPr id="100038" name="BlochSphere"/>
          <p:cNvSpPr txBox="1"/>
          <p:nvPr/>
        </p:nvSpPr>
        <p:spPr>
          <a:xfrm xmlns:a="http://schemas.openxmlformats.org/drawingml/2006/main">
            <a:off x="7380000" y="1008000"/>
            <a:ext cx="4320000" cy="252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500" b="0">
                <a:solidFill>
                  <a:srgbClr val="333333"/>
                </a:solidFill>
                <a:latin typeface="Calibri"/>
                <a:ea typeface="Calibri"/>
              </a:rPr>
              <a:t>Bloch Sphere Representation:</a:t>
            </a:r>
          </a:p>
          <a:p xmlns:a="http://schemas.openxmlformats.org/drawingml/2006/main">
            <a:r>
              <a:rPr lang="en-US" sz="1500" b="0">
                <a:solidFill>
                  <a:srgbClr val="333333"/>
                </a:solidFill>
                <a:latin typeface="Calibri"/>
                <a:ea typeface="Calibri"/>
              </a:rPr>
              <a:t/>
            </a:r>
          </a:p>
          <a:p xmlns:a="http://schemas.openxmlformats.org/drawingml/2006/main">
            <a:r>
              <a:rPr lang="en-US" sz="1500" b="0">
                <a:solidFill>
                  <a:srgbClr val="333333"/>
                </a:solidFill>
                <a:latin typeface="Calibri"/>
                <a:ea typeface="Calibri"/>
              </a:rPr>
              <a:t>|ψ⟩ = cos(θ/2)|0⟩ + e^(iφ)sin(θ/2)|1⟩</a:t>
            </a:r>
          </a:p>
          <a:p xmlns:a="http://schemas.openxmlformats.org/drawingml/2006/main">
            <a:r>
              <a:rPr lang="en-US" sz="1500" b="0">
                <a:solidFill>
                  <a:srgbClr val="333333"/>
                </a:solidFill>
                <a:latin typeface="Calibri"/>
                <a:ea typeface="Calibri"/>
              </a:rPr>
              <a:t/>
            </a:r>
          </a:p>
          <a:p xmlns:a="http://schemas.openxmlformats.org/drawingml/2006/main">
            <a:r>
              <a:rPr lang="en-US" sz="1500" b="0">
                <a:solidFill>
                  <a:srgbClr val="333333"/>
                </a:solidFill>
                <a:latin typeface="Calibri"/>
                <a:ea typeface="Calibri"/>
              </a:rPr>
              <a:t>• North pole = |0⟩</a:t>
            </a:r>
          </a:p>
          <a:p xmlns:a="http://schemas.openxmlformats.org/drawingml/2006/main">
            <a:r>
              <a:rPr lang="en-US" sz="1500" b="0">
                <a:solidFill>
                  <a:srgbClr val="333333"/>
                </a:solidFill>
                <a:latin typeface="Calibri"/>
                <a:ea typeface="Calibri"/>
              </a:rPr>
              <a:t>• South pole = |1⟩</a:t>
            </a:r>
          </a:p>
          <a:p xmlns:a="http://schemas.openxmlformats.org/drawingml/2006/main">
            <a:r>
              <a:rPr lang="en-US" sz="1500" b="0">
                <a:solidFill>
                  <a:srgbClr val="333333"/>
                </a:solidFill>
                <a:latin typeface="Calibri"/>
                <a:ea typeface="Calibri"/>
              </a:rPr>
              <a:t>• Equator = equal superpositions</a:t>
            </a:r>
          </a:p>
          <a:p xmlns:a="http://schemas.openxmlformats.org/drawingml/2006/main">
            <a:r>
              <a:rPr lang="en-US" sz="1500" b="0">
                <a:solidFill>
                  <a:srgbClr val="333333"/>
                </a:solidFill>
                <a:latin typeface="Calibri"/>
                <a:ea typeface="Calibri"/>
              </a:rPr>
              <a:t>• Any point on the sphere is a valid qubit state</a:t>
            </a:r>
          </a:p>
        </p:txBody>
      </p:sp>
      <p:sp>
        <p:nvSpPr>
          <p:cNvPr id="100039" name="Examples"/>
          <p:cNvSpPr txBox="1"/>
          <p:nvPr/>
        </p:nvSpPr>
        <p:spPr>
          <a:xfrm xmlns:a="http://schemas.openxmlformats.org/drawingml/2006/main">
            <a:off x="540000" y="3708000"/>
            <a:ext cx="10800000" cy="1440000"/>
          </a:xfrm>
          <a:prstGeom xmlns:a="http://schemas.openxmlformats.org/drawingml/2006/main" prst="rect">
            <a:avLst/>
          </a:prstGeom>
          <a:solidFill xmlns:a="http://schemas.openxmlformats.org/drawingml/2006/main">
            <a:srgbClr val="E8FFE8"/>
          </a:solidFill>
        </p:spPr>
        <p:txBody>
          <a:bodyPr xmlns:a="http://schemas.openxmlformats.org/drawingml/2006/main"/>
          <a:lstStyle xmlns:a="http://schemas.openxmlformats.org/drawingml/2006/main"/>
          <a:p xmlns:a="http://schemas.openxmlformats.org/drawingml/2006/main">
            <a:r>
              <a:rPr lang="en-US" sz="1500" b="0">
                <a:solidFill>
                  <a:srgbClr val="1E2761"/>
                </a:solidFill>
                <a:latin typeface="Calibri"/>
                <a:ea typeface="Calibri"/>
              </a:rPr>
              <a:t>Important States:</a:t>
            </a:r>
          </a:p>
          <a:p xmlns:a="http://schemas.openxmlformats.org/drawingml/2006/main">
            <a:r>
              <a:rPr lang="en-US" sz="1500" b="0">
                <a:solidFill>
                  <a:srgbClr val="1E2761"/>
                </a:solidFill>
                <a:latin typeface="Calibri"/>
                <a:ea typeface="Calibri"/>
              </a:rPr>
              <a:t>|+⟩ = (1/√2)(|0⟩ + |1⟩)  — equal superposition, Hadamard of |0⟩</a:t>
            </a:r>
          </a:p>
          <a:p xmlns:a="http://schemas.openxmlformats.org/drawingml/2006/main">
            <a:r>
              <a:rPr lang="en-US" sz="1500" b="0">
                <a:solidFill>
                  <a:srgbClr val="1E2761"/>
                </a:solidFill>
                <a:latin typeface="Calibri"/>
                <a:ea typeface="Calibri"/>
              </a:rPr>
              <a:t>|−⟩ = (1/√2)(|0⟩ − |1⟩)  — equal superposition, Hadamard of |1⟩</a:t>
            </a:r>
          </a:p>
          <a:p xmlns:a="http://schemas.openxmlformats.org/drawingml/2006/main">
            <a:r>
              <a:rPr lang="en-US" sz="1500" b="0">
                <a:solidFill>
                  <a:srgbClr val="1E2761"/>
                </a:solidFill>
                <a:latin typeface="Calibri"/>
                <a:ea typeface="Calibri"/>
              </a:rPr>
              <a:t>|i⟩ = (1/√2)(|0⟩ + i|1⟩)  — Y-axis state</a:t>
            </a:r>
          </a:p>
          <a:p xmlns:a="http://schemas.openxmlformats.org/drawingml/2006/main">
            <a:r>
              <a:rPr lang="en-US" sz="1500" b="0">
                <a:solidFill>
                  <a:srgbClr val="1E2761"/>
                </a:solidFill>
                <a:latin typeface="Calibri"/>
                <a:ea typeface="Calibri"/>
              </a:rPr>
              <a:t>|T⟩ = (1/√2)(|0⟩ + e^(iπ/4)|1⟩)  — T-gate state (magic state)</a:t>
            </a:r>
          </a:p>
        </p:txBody>
      </p:sp>
      <p:sp>
        <p:nvSpPr>
          <p:cNvPr id="100040"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1"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3 · Quantum States</a:t>
            </a:r>
          </a:p>
        </p:txBody>
      </p:sp>
      <p:sp>
        <p:nvSpPr>
          <p:cNvPr id="100042"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Multi-Qubit Quantum States</a:t>
            </a:r>
          </a:p>
        </p:txBody>
      </p:sp>
      <p:sp>
        <p:nvSpPr>
          <p:cNvPr id="100043" name="Body"/>
          <p:cNvSpPr txBox="1"/>
          <p:nvPr/>
        </p:nvSpPr>
        <p:spPr>
          <a:xfrm xmlns:a="http://schemas.openxmlformats.org/drawingml/2006/main">
            <a:off x="540000" y="1008000"/>
            <a:ext cx="10800000" cy="432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600" b="0">
                <a:solidFill>
                  <a:srgbClr val="1E2761"/>
                </a:solidFill>
                <a:latin typeface="Calibri"/>
                <a:ea typeface="Calibri"/>
              </a:rPr>
              <a:t>An n-qubit state lives in a 2^n-dimensional complex vector space (Hilbert space).</a:t>
            </a:r>
          </a:p>
          <a:p xmlns:a="http://schemas.openxmlformats.org/drawingml/2006/main">
            <a:r>
              <a:rPr lang="en-US" sz="1600" b="0">
                <a:solidFill>
                  <a:srgbClr val="1E2761"/>
                </a:solidFill>
                <a:latin typeface="Calibri"/>
                <a:ea typeface="Calibri"/>
              </a:rPr>
              <a:t/>
            </a:r>
          </a:p>
          <a:p xmlns:a="http://schemas.openxmlformats.org/drawingml/2006/main">
            <a:r>
              <a:rPr lang="en-US" sz="1600" b="0">
                <a:solidFill>
                  <a:srgbClr val="1E2761"/>
                </a:solidFill>
                <a:latin typeface="Calibri"/>
                <a:ea typeface="Calibri"/>
              </a:rPr>
              <a:t>For n = 3 qubits, the basis states are:</a:t>
            </a:r>
          </a:p>
          <a:p xmlns:a="http://schemas.openxmlformats.org/drawingml/2006/main">
            <a:r>
              <a:rPr lang="en-US" sz="1600" b="0">
                <a:solidFill>
                  <a:srgbClr val="1E2761"/>
                </a:solidFill>
                <a:latin typeface="Calibri"/>
                <a:ea typeface="Calibri"/>
              </a:rPr>
              <a:t>|000⟩, |001⟩, |010⟩, |011⟩, |100⟩, |101⟩, |110⟩, |111⟩</a:t>
            </a:r>
          </a:p>
          <a:p xmlns:a="http://schemas.openxmlformats.org/drawingml/2006/main">
            <a:r>
              <a:rPr lang="en-US" sz="1600" b="0">
                <a:solidFill>
                  <a:srgbClr val="1E2761"/>
                </a:solidFill>
                <a:latin typeface="Calibri"/>
                <a:ea typeface="Calibri"/>
              </a:rPr>
              <a:t/>
            </a:r>
          </a:p>
          <a:p xmlns:a="http://schemas.openxmlformats.org/drawingml/2006/main">
            <a:r>
              <a:rPr lang="en-US" sz="1600" b="0">
                <a:solidFill>
                  <a:srgbClr val="1E2761"/>
                </a:solidFill>
                <a:latin typeface="Calibri"/>
                <a:ea typeface="Calibri"/>
              </a:rPr>
              <a:t>General 3-qubit state:</a:t>
            </a:r>
          </a:p>
          <a:p xmlns:a="http://schemas.openxmlformats.org/drawingml/2006/main">
            <a:r>
              <a:rPr lang="en-US" sz="1600" b="0">
                <a:solidFill>
                  <a:srgbClr val="1E2761"/>
                </a:solidFill>
                <a:latin typeface="Calibri"/>
                <a:ea typeface="Calibri"/>
              </a:rPr>
              <a:t>|ψ⟩ = α₀|000⟩ + α₁|001⟩ + α₂|010⟩ + ... + α₇|111⟩</a:t>
            </a:r>
          </a:p>
          <a:p xmlns:a="http://schemas.openxmlformats.org/drawingml/2006/main">
            <a:r>
              <a:rPr lang="en-US" sz="1600" b="0">
                <a:solidFill>
                  <a:srgbClr val="1E2761"/>
                </a:solidFill>
                <a:latin typeface="Calibri"/>
                <a:ea typeface="Calibri"/>
              </a:rPr>
              <a:t/>
            </a:r>
          </a:p>
          <a:p xmlns:a="http://schemas.openxmlformats.org/drawingml/2006/main">
            <a:r>
              <a:rPr lang="en-US" sz="1600" b="0">
                <a:solidFill>
                  <a:srgbClr val="1E2761"/>
                </a:solidFill>
                <a:latin typeface="Calibri"/>
                <a:ea typeface="Calibri"/>
              </a:rPr>
              <a:t>Tensor product of individual qubit states:</a:t>
            </a:r>
          </a:p>
          <a:p xmlns:a="http://schemas.openxmlformats.org/drawingml/2006/main">
            <a:r>
              <a:rPr lang="en-US" sz="1600" b="0">
                <a:solidFill>
                  <a:srgbClr val="1E2761"/>
                </a:solidFill>
                <a:latin typeface="Calibri"/>
                <a:ea typeface="Calibri"/>
              </a:rPr>
              <a:t>|0⟩ ⊗ |0⟩ ⊗ |0⟩ = |000⟩</a:t>
            </a:r>
          </a:p>
          <a:p xmlns:a="http://schemas.openxmlformats.org/drawingml/2006/main">
            <a:r>
              <a:rPr lang="en-US" sz="1600" b="0">
                <a:solidFill>
                  <a:srgbClr val="1E2761"/>
                </a:solidFill>
                <a:latin typeface="Calibri"/>
                <a:ea typeface="Calibri"/>
              </a:rPr>
              <a:t/>
            </a:r>
          </a:p>
          <a:p xmlns:a="http://schemas.openxmlformats.org/drawingml/2006/main">
            <a:r>
              <a:rPr lang="en-US" sz="1600" b="0">
                <a:solidFill>
                  <a:srgbClr val="1E2761"/>
                </a:solidFill>
                <a:latin typeface="Calibri"/>
                <a:ea typeface="Calibri"/>
              </a:rPr>
              <a:t>For each qubit in state (1/√2)(|0⟩ + |1⟩), the 3-qubit state becomes:</a:t>
            </a:r>
          </a:p>
          <a:p xmlns:a="http://schemas.openxmlformats.org/drawingml/2006/main">
            <a:r>
              <a:rPr lang="en-US" sz="1600" b="0">
                <a:solidFill>
                  <a:srgbClr val="1E2761"/>
                </a:solidFill>
                <a:latin typeface="Calibri"/>
                <a:ea typeface="Calibri"/>
              </a:rPr>
              <a:t>(1/√2)^3 × (|000⟩ + |001⟩ + |010⟩ + |011⟩ + |100⟩ + |101⟩ + |110⟩ + |111⟩)</a:t>
            </a:r>
          </a:p>
          <a:p xmlns:a="http://schemas.openxmlformats.org/drawingml/2006/main">
            <a:r>
              <a:rPr lang="en-US" sz="1600" b="0">
                <a:solidFill>
                  <a:srgbClr val="1E2761"/>
                </a:solidFill>
                <a:latin typeface="Calibri"/>
                <a:ea typeface="Calibri"/>
              </a:rPr>
              <a:t>= equal superposition of ALL 8 states simultaneously!</a:t>
            </a:r>
          </a:p>
        </p:txBody>
      </p:sp>
      <p:sp>
        <p:nvSpPr>
          <p:cNvPr id="100044" name="ScaleBox"/>
          <p:cNvSpPr txBox="1"/>
          <p:nvPr/>
        </p:nvSpPr>
        <p:spPr>
          <a:xfrm xmlns:a="http://schemas.openxmlformats.org/drawingml/2006/main">
            <a:off x="540000" y="5508000"/>
            <a:ext cx="10800000" cy="720000"/>
          </a:xfrm>
          <a:prstGeom xmlns:a="http://schemas.openxmlformats.org/drawingml/2006/main" prst="rect">
            <a:avLst/>
          </a:prstGeom>
          <a:solidFill xmlns:a="http://schemas.openxmlformats.org/drawingml/2006/main">
            <a:srgbClr val="FFE8E8"/>
          </a:solidFill>
        </p:spPr>
        <p:txBody>
          <a:bodyPr xmlns:a="http://schemas.openxmlformats.org/drawingml/2006/main"/>
          <a:lstStyle xmlns:a="http://schemas.openxmlformats.org/drawingml/2006/main"/>
          <a:p xmlns:a="http://schemas.openxmlformats.org/drawingml/2006/main">
            <a:r>
              <a:rPr lang="en-US" sz="1500" b="0">
                <a:solidFill>
                  <a:srgbClr val="990000"/>
                </a:solidFill>
                <a:latin typeface="Calibri"/>
                <a:ea typeface="Calibri"/>
              </a:rPr>
              <a:t>Exponential Growth: 127 qubits → 2^127 ≈ 1.7 × 10^38 amplitudes</a:t>
            </a:r>
          </a:p>
          <a:p xmlns:a="http://schemas.openxmlformats.org/drawingml/2006/main">
            <a:r>
              <a:rPr lang="en-US" sz="1500" b="0">
                <a:solidFill>
                  <a:srgbClr val="990000"/>
                </a:solidFill>
                <a:latin typeface="Calibri"/>
                <a:ea typeface="Calibri"/>
              </a:rPr>
              <a:t>This exceeds the number of atoms in the observable universe (~10^80 atoms, but only ~10^23 per cm³ of silicon)</a:t>
            </a:r>
          </a:p>
        </p:txBody>
      </p:sp>
      <p:sp>
        <p:nvSpPr>
          <p:cNvPr id="100045"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6"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4 · Quantum Gates</a:t>
            </a:r>
          </a:p>
        </p:txBody>
      </p:sp>
      <p:sp>
        <p:nvSpPr>
          <p:cNvPr id="100047"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Quantum Gates — The Building Blocks</a:t>
            </a:r>
          </a:p>
        </p:txBody>
      </p:sp>
      <p:sp>
        <p:nvSpPr>
          <p:cNvPr id="100048" name="IntroText"/>
          <p:cNvSpPr txBox="1"/>
          <p:nvPr/>
        </p:nvSpPr>
        <p:spPr>
          <a:xfrm xmlns:a="http://schemas.openxmlformats.org/drawingml/2006/main">
            <a:off x="540000" y="1008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555555"/>
                </a:solidFill>
                <a:latin typeface="Calibri"/>
                <a:ea typeface="Calibri"/>
              </a:rPr>
              <a:t>Quantum gates are unitary matrices (U†U = I) applied to qubit states. Unlike classical logic gates, all quantum gates are reversible.</a:t>
            </a:r>
          </a:p>
        </p:txBody>
      </p:sp>
      <p:sp>
        <p:nvSpPr>
          <p:cNvPr id="100049" name="GateH"/>
          <p:cNvSpPr txBox="1"/>
          <p:nvPr/>
        </p:nvSpPr>
        <p:spPr>
          <a:xfrm xmlns:a="http://schemas.openxmlformats.org/drawingml/2006/main">
            <a:off x="540000" y="1512000"/>
            <a:ext cx="3420000" cy="2520000"/>
          </a:xfrm>
          <a:prstGeom xmlns:a="http://schemas.openxmlformats.org/drawingml/2006/main" prst="rect">
            <a:avLst/>
          </a:prstGeom>
          <a:solidFill xmlns:a="http://schemas.openxmlformats.org/drawingml/2006/main">
            <a:srgbClr val="E8F4FF"/>
          </a:solidFill>
        </p:spPr>
        <p:txBody>
          <a:bodyPr xmlns:a="http://schemas.openxmlformats.org/drawingml/2006/main"/>
          <a:lstStyle xmlns:a="http://schemas.openxmlformats.org/drawingml/2006/main"/>
          <a:p xmlns:a="http://schemas.openxmlformats.org/drawingml/2006/main">
            <a:r>
              <a:rPr lang="en-US" sz="1300" b="0">
                <a:solidFill>
                  <a:srgbClr val="1E2761"/>
                </a:solidFill>
                <a:latin typeface="Courier New"/>
                <a:ea typeface="Courier New"/>
              </a:rPr>
              <a:t>Hadamard (H)</a:t>
            </a:r>
          </a:p>
          <a:p xmlns:a="http://schemas.openxmlformats.org/drawingml/2006/main">
            <a:r>
              <a:rPr lang="en-US" sz="1300" b="0">
                <a:solidFill>
                  <a:srgbClr val="1E2761"/>
                </a:solidFill>
                <a:latin typeface="Courier New"/>
                <a:ea typeface="Courier New"/>
              </a:rPr>
              <a:t/>
            </a:r>
          </a:p>
          <a:p xmlns:a="http://schemas.openxmlformats.org/drawingml/2006/main">
            <a:r>
              <a:rPr lang="en-US" sz="1300" b="0">
                <a:solidFill>
                  <a:srgbClr val="1E2761"/>
                </a:solidFill>
                <a:latin typeface="Courier New"/>
                <a:ea typeface="Courier New"/>
              </a:rPr>
              <a:t>H = (1/√2)[[1,1],[1,−1]]</a:t>
            </a:r>
          </a:p>
          <a:p xmlns:a="http://schemas.openxmlformats.org/drawingml/2006/main">
            <a:r>
              <a:rPr lang="en-US" sz="1300" b="0">
                <a:solidFill>
                  <a:srgbClr val="1E2761"/>
                </a:solidFill>
                <a:latin typeface="Courier New"/>
                <a:ea typeface="Courier New"/>
              </a:rPr>
              <a:t/>
            </a:r>
          </a:p>
          <a:p xmlns:a="http://schemas.openxmlformats.org/drawingml/2006/main">
            <a:r>
              <a:rPr lang="en-US" sz="1300" b="0">
                <a:solidFill>
                  <a:srgbClr val="1E2761"/>
                </a:solidFill>
                <a:latin typeface="Courier New"/>
                <a:ea typeface="Courier New"/>
              </a:rPr>
              <a:t>H|0⟩ = |+⟩ = (|0⟩+|1⟩)/√2</a:t>
            </a:r>
          </a:p>
          <a:p xmlns:a="http://schemas.openxmlformats.org/drawingml/2006/main">
            <a:r>
              <a:rPr lang="en-US" sz="1300" b="0">
                <a:solidFill>
                  <a:srgbClr val="1E2761"/>
                </a:solidFill>
                <a:latin typeface="Courier New"/>
                <a:ea typeface="Courier New"/>
              </a:rPr>
              <a:t>H|1⟩ = |−⟩ = (|0⟩−|1⟩)/√2</a:t>
            </a:r>
          </a:p>
          <a:p xmlns:a="http://schemas.openxmlformats.org/drawingml/2006/main">
            <a:r>
              <a:rPr lang="en-US" sz="1300" b="0">
                <a:solidFill>
                  <a:srgbClr val="1E2761"/>
                </a:solidFill>
                <a:latin typeface="Courier New"/>
                <a:ea typeface="Courier New"/>
              </a:rPr>
              <a:t/>
            </a:r>
          </a:p>
          <a:p xmlns:a="http://schemas.openxmlformats.org/drawingml/2006/main">
            <a:r>
              <a:rPr lang="en-US" sz="1300" b="0">
                <a:solidFill>
                  <a:srgbClr val="1E2761"/>
                </a:solidFill>
                <a:latin typeface="Courier New"/>
                <a:ea typeface="Courier New"/>
              </a:rPr>
              <a:t>Creates equal superposition</a:t>
            </a:r>
          </a:p>
        </p:txBody>
      </p:sp>
      <p:sp>
        <p:nvSpPr>
          <p:cNvPr id="100050" name="GatePauli"/>
          <p:cNvSpPr txBox="1"/>
          <p:nvPr/>
        </p:nvSpPr>
        <p:spPr>
          <a:xfrm xmlns:a="http://schemas.openxmlformats.org/drawingml/2006/main">
            <a:off x="4320000" y="1512000"/>
            <a:ext cx="3420000" cy="252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300" b="0">
                <a:solidFill>
                  <a:srgbClr val="333300"/>
                </a:solidFill>
                <a:latin typeface="Courier New"/>
                <a:ea typeface="Courier New"/>
              </a:rPr>
              <a:t>Pauli Gates (X, Y, Z)</a:t>
            </a:r>
          </a:p>
          <a:p xmlns:a="http://schemas.openxmlformats.org/drawingml/2006/main">
            <a:r>
              <a:rPr lang="en-US" sz="1300" b="0">
                <a:solidFill>
                  <a:srgbClr val="333300"/>
                </a:solidFill>
                <a:latin typeface="Courier New"/>
                <a:ea typeface="Courier New"/>
              </a:rPr>
              <a:t/>
            </a:r>
          </a:p>
          <a:p xmlns:a="http://schemas.openxmlformats.org/drawingml/2006/main">
            <a:r>
              <a:rPr lang="en-US" sz="1300" b="0">
                <a:solidFill>
                  <a:srgbClr val="333300"/>
                </a:solidFill>
                <a:latin typeface="Courier New"/>
                <a:ea typeface="Courier New"/>
              </a:rPr>
              <a:t>X = [[0,1],[1,0]]   (NOT gate)</a:t>
            </a:r>
          </a:p>
          <a:p xmlns:a="http://schemas.openxmlformats.org/drawingml/2006/main">
            <a:r>
              <a:rPr lang="en-US" sz="1300" b="0">
                <a:solidFill>
                  <a:srgbClr val="333300"/>
                </a:solidFill>
                <a:latin typeface="Courier New"/>
                <a:ea typeface="Courier New"/>
              </a:rPr>
              <a:t>Y = [[0,−i],[i,0]]</a:t>
            </a:r>
          </a:p>
          <a:p xmlns:a="http://schemas.openxmlformats.org/drawingml/2006/main">
            <a:r>
              <a:rPr lang="en-US" sz="1300" b="0">
                <a:solidFill>
                  <a:srgbClr val="333300"/>
                </a:solidFill>
                <a:latin typeface="Courier New"/>
                <a:ea typeface="Courier New"/>
              </a:rPr>
              <a:t>Z = [[1,0],[0,−1]]  (phase flip)</a:t>
            </a:r>
          </a:p>
          <a:p xmlns:a="http://schemas.openxmlformats.org/drawingml/2006/main">
            <a:r>
              <a:rPr lang="en-US" sz="1300" b="0">
                <a:solidFill>
                  <a:srgbClr val="333300"/>
                </a:solidFill>
                <a:latin typeface="Courier New"/>
                <a:ea typeface="Courier New"/>
              </a:rPr>
              <a:t/>
            </a:r>
          </a:p>
          <a:p xmlns:a="http://schemas.openxmlformats.org/drawingml/2006/main">
            <a:r>
              <a:rPr lang="en-US" sz="1300" b="0">
                <a:solidFill>
                  <a:srgbClr val="333300"/>
                </a:solidFill>
                <a:latin typeface="Courier New"/>
                <a:ea typeface="Courier New"/>
              </a:rPr>
              <a:t>X|0⟩=|1⟩, X|1⟩=|0⟩</a:t>
            </a:r>
          </a:p>
          <a:p xmlns:a="http://schemas.openxmlformats.org/drawingml/2006/main">
            <a:r>
              <a:rPr lang="en-US" sz="1300" b="0">
                <a:solidFill>
                  <a:srgbClr val="333300"/>
                </a:solidFill>
                <a:latin typeface="Courier New"/>
                <a:ea typeface="Courier New"/>
              </a:rPr>
              <a:t>Z|0⟩=|0⟩, Z|1⟩=−|1⟩</a:t>
            </a:r>
          </a:p>
        </p:txBody>
      </p:sp>
      <p:sp>
        <p:nvSpPr>
          <p:cNvPr id="100051" name="GatePhase"/>
          <p:cNvSpPr txBox="1"/>
          <p:nvPr/>
        </p:nvSpPr>
        <p:spPr>
          <a:xfrm xmlns:a="http://schemas.openxmlformats.org/drawingml/2006/main">
            <a:off x="8100000" y="1512000"/>
            <a:ext cx="3600000" cy="2520000"/>
          </a:xfrm>
          <a:prstGeom xmlns:a="http://schemas.openxmlformats.org/drawingml/2006/main" prst="rect">
            <a:avLst/>
          </a:prstGeom>
          <a:solidFill xmlns:a="http://schemas.openxmlformats.org/drawingml/2006/main">
            <a:srgbClr val="E8FFE8"/>
          </a:solidFill>
        </p:spPr>
        <p:txBody>
          <a:bodyPr xmlns:a="http://schemas.openxmlformats.org/drawingml/2006/main"/>
          <a:lstStyle xmlns:a="http://schemas.openxmlformats.org/drawingml/2006/main"/>
          <a:p xmlns:a="http://schemas.openxmlformats.org/drawingml/2006/main">
            <a:r>
              <a:rPr lang="en-US" sz="1300" b="0">
                <a:solidFill>
                  <a:srgbClr val="003300"/>
                </a:solidFill>
                <a:latin typeface="Courier New"/>
                <a:ea typeface="Courier New"/>
              </a:rPr>
              <a:t>Phase Gates (S, T)</a:t>
            </a:r>
          </a:p>
          <a:p xmlns:a="http://schemas.openxmlformats.org/drawingml/2006/main">
            <a:r>
              <a:rPr lang="en-US" sz="1300" b="0">
                <a:solidFill>
                  <a:srgbClr val="003300"/>
                </a:solidFill>
                <a:latin typeface="Courier New"/>
                <a:ea typeface="Courier New"/>
              </a:rPr>
              <a:t/>
            </a:r>
          </a:p>
          <a:p xmlns:a="http://schemas.openxmlformats.org/drawingml/2006/main">
            <a:r>
              <a:rPr lang="en-US" sz="1300" b="0">
                <a:solidFill>
                  <a:srgbClr val="003300"/>
                </a:solidFill>
                <a:latin typeface="Courier New"/>
                <a:ea typeface="Courier New"/>
              </a:rPr>
              <a:t>S = [[1,0],[0,i]]   (π/2 phase)</a:t>
            </a:r>
          </a:p>
          <a:p xmlns:a="http://schemas.openxmlformats.org/drawingml/2006/main">
            <a:r>
              <a:rPr lang="en-US" sz="1300" b="0">
                <a:solidFill>
                  <a:srgbClr val="003300"/>
                </a:solidFill>
                <a:latin typeface="Courier New"/>
                <a:ea typeface="Courier New"/>
              </a:rPr>
              <a:t>T = [[1,0],[0,e^(iπ/4)]]   (π/4 phase)</a:t>
            </a:r>
          </a:p>
          <a:p xmlns:a="http://schemas.openxmlformats.org/drawingml/2006/main">
            <a:r>
              <a:rPr lang="en-US" sz="1300" b="0">
                <a:solidFill>
                  <a:srgbClr val="003300"/>
                </a:solidFill>
                <a:latin typeface="Courier New"/>
                <a:ea typeface="Courier New"/>
              </a:rPr>
              <a:t/>
            </a:r>
          </a:p>
          <a:p xmlns:a="http://schemas.openxmlformats.org/drawingml/2006/main">
            <a:r>
              <a:rPr lang="en-US" sz="1300" b="0">
                <a:solidFill>
                  <a:srgbClr val="003300"/>
                </a:solidFill>
                <a:latin typeface="Courier New"/>
                <a:ea typeface="Courier New"/>
              </a:rPr>
              <a:t>S|0⟩=|0⟩, S|1⟩=i|1⟩</a:t>
            </a:r>
          </a:p>
          <a:p xmlns:a="http://schemas.openxmlformats.org/drawingml/2006/main">
            <a:r>
              <a:rPr lang="en-US" sz="1300" b="0">
                <a:solidFill>
                  <a:srgbClr val="003300"/>
                </a:solidFill>
                <a:latin typeface="Courier New"/>
                <a:ea typeface="Courier New"/>
              </a:rPr>
              <a:t>T|0⟩=|0⟩, T|1⟩=e^(iπ/4)|1⟩</a:t>
            </a:r>
          </a:p>
          <a:p xmlns:a="http://schemas.openxmlformats.org/drawingml/2006/main">
            <a:r>
              <a:rPr lang="en-US" sz="1300" b="0">
                <a:solidFill>
                  <a:srgbClr val="003300"/>
                </a:solidFill>
                <a:latin typeface="Courier New"/>
                <a:ea typeface="Courier New"/>
              </a:rPr>
              <a:t/>
            </a:r>
          </a:p>
          <a:p xmlns:a="http://schemas.openxmlformats.org/drawingml/2006/main">
            <a:r>
              <a:rPr lang="en-US" sz="1300" b="0">
                <a:solidFill>
                  <a:srgbClr val="003300"/>
                </a:solidFill>
                <a:latin typeface="Courier New"/>
                <a:ea typeface="Courier New"/>
              </a:rPr>
              <a:t>T gate enables universal quantum computation</a:t>
            </a:r>
          </a:p>
        </p:txBody>
      </p:sp>
      <p:sp>
        <p:nvSpPr>
          <p:cNvPr id="100052" name="CNOTBox"/>
          <p:cNvSpPr txBox="1"/>
          <p:nvPr/>
        </p:nvSpPr>
        <p:spPr>
          <a:xfrm xmlns:a="http://schemas.openxmlformats.org/drawingml/2006/main">
            <a:off x="540000" y="4320000"/>
            <a:ext cx="10800000" cy="1260000"/>
          </a:xfrm>
          <a:prstGeom xmlns:a="http://schemas.openxmlformats.org/drawingml/2006/main" prst="rect">
            <a:avLst/>
          </a:prstGeom>
          <a:solidFill xmlns:a="http://schemas.openxmlformats.org/drawingml/2006/main">
            <a:srgbClr val="F0E8FF"/>
          </a:solidFill>
        </p:spPr>
        <p:txBody>
          <a:bodyPr xmlns:a="http://schemas.openxmlformats.org/drawingml/2006/main"/>
          <a:lstStyle xmlns:a="http://schemas.openxmlformats.org/drawingml/2006/main"/>
          <a:p xmlns:a="http://schemas.openxmlformats.org/drawingml/2006/main">
            <a:r>
              <a:rPr lang="en-US" sz="1400" b="0">
                <a:solidFill>
                  <a:srgbClr val="330066"/>
                </a:solidFill>
                <a:latin typeface="Calibri"/>
                <a:ea typeface="Calibri"/>
              </a:rPr>
              <a:t>CNOT (Controlled-NOT) — 2-Qubit Gate</a:t>
            </a:r>
          </a:p>
          <a:p xmlns:a="http://schemas.openxmlformats.org/drawingml/2006/main">
            <a:r>
              <a:rPr lang="en-US" sz="1400" b="0">
                <a:solidFill>
                  <a:srgbClr val="330066"/>
                </a:solidFill>
                <a:latin typeface="Calibri"/>
                <a:ea typeface="Calibri"/>
              </a:rPr>
              <a:t/>
            </a:r>
          </a:p>
          <a:p xmlns:a="http://schemas.openxmlformats.org/drawingml/2006/main">
            <a:r>
              <a:rPr lang="en-US" sz="1400" b="0">
                <a:solidFill>
                  <a:srgbClr val="330066"/>
                </a:solidFill>
                <a:latin typeface="Calibri"/>
                <a:ea typeface="Calibri"/>
              </a:rPr>
              <a:t>CNOT = [[1,0,0,0],[0,1,0,0],[0,0,0,1],[0,0,1,0]]</a:t>
            </a:r>
          </a:p>
          <a:p xmlns:a="http://schemas.openxmlformats.org/drawingml/2006/main">
            <a:r>
              <a:rPr lang="en-US" sz="1400" b="0">
                <a:solidFill>
                  <a:srgbClr val="330066"/>
                </a:solidFill>
                <a:latin typeface="Calibri"/>
                <a:ea typeface="Calibri"/>
              </a:rPr>
              <a:t/>
            </a:r>
          </a:p>
          <a:p xmlns:a="http://schemas.openxmlformats.org/drawingml/2006/main">
            <a:r>
              <a:rPr lang="en-US" sz="1400" b="0">
                <a:solidFill>
                  <a:srgbClr val="330066"/>
                </a:solidFill>
                <a:latin typeface="Calibri"/>
                <a:ea typeface="Calibri"/>
              </a:rPr>
              <a:t>CNOT|00⟩=|00⟩  CNOT|01⟩=|01⟩  CNOT|10⟩=|11⟩  CNOT|11⟩=|10⟩</a:t>
            </a:r>
          </a:p>
          <a:p xmlns:a="http://schemas.openxmlformats.org/drawingml/2006/main">
            <a:r>
              <a:rPr lang="en-US" sz="1400" b="0">
                <a:solidFill>
                  <a:srgbClr val="330066"/>
                </a:solidFill>
                <a:latin typeface="Calibri"/>
                <a:ea typeface="Calibri"/>
              </a:rPr>
              <a:t/>
            </a:r>
          </a:p>
          <a:p xmlns:a="http://schemas.openxmlformats.org/drawingml/2006/main">
            <a:r>
              <a:rPr lang="en-US" sz="1400" b="0">
                <a:solidFill>
                  <a:srgbClr val="330066"/>
                </a:solidFill>
                <a:latin typeface="Calibri"/>
                <a:ea typeface="Calibri"/>
              </a:rPr>
              <a:t>Flips the target qubit if and only if the control qubit is |1⟩. Key gate for creating entanglement.</a:t>
            </a:r>
          </a:p>
        </p:txBody>
      </p:sp>
      <p:sp>
        <p:nvSpPr>
          <p:cNvPr id="100053"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4"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5 · Quantum Circuits</a:t>
            </a:r>
          </a:p>
        </p:txBody>
      </p:sp>
      <p:sp>
        <p:nvSpPr>
          <p:cNvPr id="100055"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Quantum Circuits — Structure &amp; Reading</a:t>
            </a:r>
          </a:p>
        </p:txBody>
      </p:sp>
      <p:sp>
        <p:nvSpPr>
          <p:cNvPr id="100056" name="StructureBox"/>
          <p:cNvSpPr txBox="1"/>
          <p:nvPr/>
        </p:nvSpPr>
        <p:spPr>
          <a:xfrm xmlns:a="http://schemas.openxmlformats.org/drawingml/2006/main">
            <a:off x="540000" y="1008000"/>
            <a:ext cx="10800000" cy="1440000"/>
          </a:xfrm>
          <a:prstGeom xmlns:a="http://schemas.openxmlformats.org/drawingml/2006/main" prst="rect">
            <a:avLst/>
          </a:prstGeom>
          <a:solidFill xmlns:a="http://schemas.openxmlformats.org/drawingml/2006/main">
            <a:srgbClr val="E8F4FF"/>
          </a:solidFill>
        </p:spPr>
        <p:txBody>
          <a:bodyPr xmlns:a="http://schemas.openxmlformats.org/drawingml/2006/main"/>
          <a:lstStyle xmlns:a="http://schemas.openxmlformats.org/drawingml/2006/main"/>
          <a:p xmlns:a="http://schemas.openxmlformats.org/drawingml/2006/main">
            <a:r>
              <a:rPr lang="en-US" sz="1700" b="0">
                <a:solidFill>
                  <a:srgbClr val="1E2761"/>
                </a:solidFill>
                <a:latin typeface="Calibri"/>
                <a:ea typeface="Calibri"/>
              </a:rPr>
              <a:t>A quantum circuit has three components:</a:t>
            </a:r>
          </a:p>
          <a:p xmlns:a="http://schemas.openxmlformats.org/drawingml/2006/main">
            <a:r>
              <a:rPr lang="en-US" sz="1700" b="0">
                <a:solidFill>
                  <a:srgbClr val="1E2761"/>
                </a:solidFill>
                <a:latin typeface="Calibri"/>
                <a:ea typeface="Calibri"/>
              </a:rPr>
              <a:t/>
            </a:r>
          </a:p>
          <a:p xmlns:a="http://schemas.openxmlformats.org/drawingml/2006/main">
            <a:r>
              <a:rPr lang="en-US" sz="1700" b="0">
                <a:solidFill>
                  <a:srgbClr val="1E2761"/>
                </a:solidFill>
                <a:latin typeface="Calibri"/>
                <a:ea typeface="Calibri"/>
              </a:rPr>
              <a:t>1. QUANTUM STATE — Initial qubit registers (typically all |0⟩)</a:t>
            </a:r>
          </a:p>
          <a:p xmlns:a="http://schemas.openxmlformats.org/drawingml/2006/main">
            <a:r>
              <a:rPr lang="en-US" sz="1700" b="0">
                <a:solidFill>
                  <a:srgbClr val="1E2761"/>
                </a:solidFill>
                <a:latin typeface="Calibri"/>
                <a:ea typeface="Calibri"/>
              </a:rPr>
              <a:t>2. QUANTUM GATES — Operations applied left-to-right in time order</a:t>
            </a:r>
          </a:p>
          <a:p xmlns:a="http://schemas.openxmlformats.org/drawingml/2006/main">
            <a:r>
              <a:rPr lang="en-US" sz="1700" b="0">
                <a:solidFill>
                  <a:srgbClr val="1E2761"/>
                </a:solidFill>
                <a:latin typeface="Calibri"/>
                <a:ea typeface="Calibri"/>
              </a:rPr>
              <a:t>3. MEASUREMENTS — Collapse quantum state to classical bits (read right to left for circuit depth)</a:t>
            </a:r>
          </a:p>
        </p:txBody>
      </p:sp>
      <p:sp>
        <p:nvSpPr>
          <p:cNvPr id="100057" name="CircuitDiagram"/>
          <p:cNvSpPr txBox="1"/>
          <p:nvPr/>
        </p:nvSpPr>
        <p:spPr>
          <a:xfrm xmlns:a="http://schemas.openxmlformats.org/drawingml/2006/main">
            <a:off x="540000" y="2628000"/>
            <a:ext cx="6480000" cy="234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500" b="0">
                <a:solidFill>
                  <a:srgbClr val="00FF88"/>
                </a:solidFill>
                <a:latin typeface="Courier New"/>
                <a:ea typeface="Courier New"/>
              </a:rPr>
              <a:t>Circuit Notation (ASCII representation):</a:t>
            </a:r>
          </a:p>
          <a:p xmlns:a="http://schemas.openxmlformats.org/drawingml/2006/main">
            <a:r>
              <a:rPr lang="en-US" sz="1500" b="0">
                <a:solidFill>
                  <a:srgbClr val="00FF88"/>
                </a:solidFill>
                <a:latin typeface="Courier New"/>
                <a:ea typeface="Courier New"/>
              </a:rPr>
              <a:t/>
            </a:r>
          </a:p>
          <a:p xmlns:a="http://schemas.openxmlformats.org/drawingml/2006/main">
            <a:r>
              <a:rPr lang="en-US" sz="1500" b="0">
                <a:solidFill>
                  <a:srgbClr val="00FF88"/>
                </a:solidFill>
                <a:latin typeface="Courier New"/>
                <a:ea typeface="Courier New"/>
              </a:rPr>
              <a:t>  q₀: ─[H]──────●──── M ──</a:t>
            </a:r>
          </a:p>
          <a:p xmlns:a="http://schemas.openxmlformats.org/drawingml/2006/main">
            <a:r>
              <a:rPr lang="en-US" sz="1500" b="0">
                <a:solidFill>
                  <a:srgbClr val="00FF88"/>
                </a:solidFill>
                <a:latin typeface="Courier New"/>
                <a:ea typeface="Courier New"/>
              </a:rPr>
              <a:t>                  │</a:t>
            </a:r>
          </a:p>
          <a:p xmlns:a="http://schemas.openxmlformats.org/drawingml/2006/main">
            <a:r>
              <a:rPr lang="en-US" sz="1500" b="0">
                <a:solidFill>
                  <a:srgbClr val="00FF88"/>
                </a:solidFill>
                <a:latin typeface="Courier New"/>
                <a:ea typeface="Courier New"/>
              </a:rPr>
              <a:t>  q₁: ──────────[X]── M ──</a:t>
            </a:r>
          </a:p>
          <a:p xmlns:a="http://schemas.openxmlformats.org/drawingml/2006/main">
            <a:r>
              <a:rPr lang="en-US" sz="1500" b="0">
                <a:solidFill>
                  <a:srgbClr val="00FF88"/>
                </a:solidFill>
                <a:latin typeface="Courier New"/>
                <a:ea typeface="Courier New"/>
              </a:rPr>
              <a:t/>
            </a:r>
          </a:p>
          <a:p xmlns:a="http://schemas.openxmlformats.org/drawingml/2006/main">
            <a:r>
              <a:rPr lang="en-US" sz="1500" b="0">
                <a:solidFill>
                  <a:srgbClr val="00FF88"/>
                </a:solidFill>
                <a:latin typeface="Courier New"/>
                <a:ea typeface="Courier New"/>
              </a:rPr>
              <a:t>  → Apply H gate to q₀</a:t>
            </a:r>
          </a:p>
          <a:p xmlns:a="http://schemas.openxmlformats.org/drawingml/2006/main">
            <a:r>
              <a:rPr lang="en-US" sz="1500" b="0">
                <a:solidFill>
                  <a:srgbClr val="00FF88"/>
                </a:solidFill>
                <a:latin typeface="Courier New"/>
                <a:ea typeface="Courier New"/>
              </a:rPr>
              <a:t>  → Apply CNOT (control: q₀, target: q₁)</a:t>
            </a:r>
          </a:p>
          <a:p xmlns:a="http://schemas.openxmlformats.org/drawingml/2006/main">
            <a:r>
              <a:rPr lang="en-US" sz="1500" b="0">
                <a:solidFill>
                  <a:srgbClr val="00FF88"/>
                </a:solidFill>
                <a:latin typeface="Courier New"/>
                <a:ea typeface="Courier New"/>
              </a:rPr>
              <a:t>  → Measure both qubits</a:t>
            </a:r>
          </a:p>
          <a:p xmlns:a="http://schemas.openxmlformats.org/drawingml/2006/main">
            <a:r>
              <a:rPr lang="en-US" sz="1500" b="0">
                <a:solidFill>
                  <a:srgbClr val="00FF88"/>
                </a:solidFill>
                <a:latin typeface="Courier New"/>
                <a:ea typeface="Courier New"/>
              </a:rPr>
              <a:t>  → Result: Bell state |Φ+⟩ = (|00⟩ + |11⟩)/√2</a:t>
            </a:r>
          </a:p>
        </p:txBody>
      </p:sp>
      <p:sp>
        <p:nvSpPr>
          <p:cNvPr id="100058" name="CircuitTerms"/>
          <p:cNvSpPr txBox="1"/>
          <p:nvPr/>
        </p:nvSpPr>
        <p:spPr>
          <a:xfrm xmlns:a="http://schemas.openxmlformats.org/drawingml/2006/main">
            <a:off x="7380000" y="2628000"/>
            <a:ext cx="4320000" cy="234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Key Terms:</a:t>
            </a:r>
          </a:p>
          <a:p xmlns:a="http://schemas.openxmlformats.org/drawingml/2006/main">
            <a:r>
              <a:rPr lang="en-US" sz="1400" b="0">
                <a:solidFill>
                  <a:srgbClr val="333333"/>
                </a:solidFill>
                <a:latin typeface="Calibri"/>
                <a:ea typeface="Calibri"/>
              </a:rPr>
              <a:t/>
            </a:r>
          </a:p>
          <a:p xmlns:a="http://schemas.openxmlformats.org/drawingml/2006/main">
            <a:r>
              <a:rPr lang="en-US" sz="1400" b="0">
                <a:solidFill>
                  <a:srgbClr val="333333"/>
                </a:solidFill>
                <a:latin typeface="Calibri"/>
                <a:ea typeface="Calibri"/>
              </a:rPr>
              <a:t>• Circuit Width = number of qubits</a:t>
            </a:r>
          </a:p>
          <a:p xmlns:a="http://schemas.openxmlformats.org/drawingml/2006/main">
            <a:r>
              <a:rPr lang="en-US" sz="1400" b="0">
                <a:solidFill>
                  <a:srgbClr val="333333"/>
                </a:solidFill>
                <a:latin typeface="Calibri"/>
                <a:ea typeface="Calibri"/>
              </a:rPr>
              <a:t>• Circuit Depth = length of critical path (longest gate sequence)</a:t>
            </a:r>
          </a:p>
          <a:p xmlns:a="http://schemas.openxmlformats.org/drawingml/2006/main">
            <a:r>
              <a:rPr lang="en-US" sz="1400" b="0">
                <a:solidFill>
                  <a:srgbClr val="333333"/>
                </a:solidFill>
                <a:latin typeface="Calibri"/>
                <a:ea typeface="Calibri"/>
              </a:rPr>
              <a:t>• Gate Fidelity = accuracy of each operation (~99.5% for best IBM gates)</a:t>
            </a:r>
          </a:p>
          <a:p xmlns:a="http://schemas.openxmlformats.org/drawingml/2006/main">
            <a:r>
              <a:rPr lang="en-US" sz="1400" b="0">
                <a:solidFill>
                  <a:srgbClr val="333333"/>
                </a:solidFill>
                <a:latin typeface="Calibri"/>
                <a:ea typeface="Calibri"/>
              </a:rPr>
              <a:t>• Circuit Layers = groups of gates that can execute in parallel</a:t>
            </a:r>
          </a:p>
          <a:p xmlns:a="http://schemas.openxmlformats.org/drawingml/2006/main">
            <a:r>
              <a:rPr lang="en-US" sz="1400" b="0">
                <a:solidFill>
                  <a:srgbClr val="333333"/>
                </a:solidFill>
                <a:latin typeface="Calibri"/>
                <a:ea typeface="Calibri"/>
              </a:rPr>
              <a:t>• Transpilation = compiling circuit to native hardware gate set</a:t>
            </a:r>
          </a:p>
        </p:txBody>
      </p:sp>
      <p:sp>
        <p:nvSpPr>
          <p:cNvPr id="100059"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0"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6 · Entanglement</a:t>
            </a:r>
          </a:p>
        </p:txBody>
      </p:sp>
      <p:sp>
        <p:nvSpPr>
          <p:cNvPr id="100061"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Quantum Entanglement &amp; Bell States</a:t>
            </a:r>
          </a:p>
        </p:txBody>
      </p:sp>
      <p:sp>
        <p:nvSpPr>
          <p:cNvPr id="100062" name="DefBox"/>
          <p:cNvSpPr txBox="1"/>
          <p:nvPr/>
        </p:nvSpPr>
        <p:spPr>
          <a:xfrm xmlns:a="http://schemas.openxmlformats.org/drawingml/2006/main">
            <a:off x="540000" y="1008000"/>
            <a:ext cx="10800000" cy="648000"/>
          </a:xfrm>
          <a:prstGeom xmlns:a="http://schemas.openxmlformats.org/drawingml/2006/main" prst="rect">
            <a:avLst/>
          </a:prstGeom>
          <a:solidFill xmlns:a="http://schemas.openxmlformats.org/drawingml/2006/main">
            <a:srgbClr val="FFE8E8"/>
          </a:solidFill>
        </p:spPr>
        <p:txBody>
          <a:bodyPr xmlns:a="http://schemas.openxmlformats.org/drawingml/2006/main"/>
          <a:lstStyle xmlns:a="http://schemas.openxmlformats.org/drawingml/2006/main"/>
          <a:p xmlns:a="http://schemas.openxmlformats.org/drawingml/2006/main">
            <a:r>
              <a:rPr lang="en-US" sz="1600" b="0">
                <a:solidFill>
                  <a:srgbClr val="990000"/>
                </a:solidFill>
                <a:latin typeface="Calibri"/>
                <a:ea typeface="Calibri"/>
              </a:rPr>
              <a:t>Definition: An entangled state CANNOT be written as a tensor product of individual qubit states.</a:t>
            </a:r>
          </a:p>
          <a:p xmlns:a="http://schemas.openxmlformats.org/drawingml/2006/main">
            <a:r>
              <a:rPr lang="en-US" sz="1600" b="0">
                <a:solidFill>
                  <a:srgbClr val="990000"/>
                </a:solidFill>
                <a:latin typeface="Calibri"/>
                <a:ea typeface="Calibri"/>
              </a:rPr>
              <a:t>Entanglement is the source of quantum computation's tremendous power.</a:t>
            </a:r>
          </a:p>
        </p:txBody>
      </p:sp>
      <p:sp>
        <p:nvSpPr>
          <p:cNvPr id="100063" name="BellTitle"/>
          <p:cNvSpPr txBox="1"/>
          <p:nvPr/>
        </p:nvSpPr>
        <p:spPr>
          <a:xfrm xmlns:a="http://schemas.openxmlformats.org/drawingml/2006/main">
            <a:off x="540000" y="1800000"/>
            <a:ext cx="10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1E2761"/>
                </a:solidFill>
                <a:latin typeface="Calibri"/>
                <a:ea typeface="Calibri"/>
              </a:rPr>
              <a:t>The Four Bell States (Maximally Entangled):</a:t>
            </a:r>
          </a:p>
        </p:txBody>
      </p:sp>
      <p:sp>
        <p:nvSpPr>
          <p:cNvPr id="100064" name="BellStates"/>
          <p:cNvSpPr txBox="1"/>
          <p:nvPr/>
        </p:nvSpPr>
        <p:spPr>
          <a:xfrm xmlns:a="http://schemas.openxmlformats.org/drawingml/2006/main">
            <a:off x="540000" y="2196000"/>
            <a:ext cx="10800000" cy="162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600" b="0">
                <a:solidFill>
                  <a:srgbClr val="1E2761"/>
                </a:solidFill>
                <a:latin typeface="Courier New"/>
                <a:ea typeface="Courier New"/>
              </a:rPr>
              <a:t>|Φ+⟩ = (|00⟩ + |11⟩) / √2   — Created by H⊗I then CNOT</a:t>
            </a:r>
          </a:p>
          <a:p xmlns:a="http://schemas.openxmlformats.org/drawingml/2006/main">
            <a:r>
              <a:rPr lang="en-US" sz="1600" b="0">
                <a:solidFill>
                  <a:srgbClr val="1E2761"/>
                </a:solidFill>
                <a:latin typeface="Courier New"/>
                <a:ea typeface="Courier New"/>
              </a:rPr>
              <a:t>|Φ−⟩ = (|00⟩ − |11⟩) / √2   — Created by H⊗I then CNOT, then Z</a:t>
            </a:r>
          </a:p>
          <a:p xmlns:a="http://schemas.openxmlformats.org/drawingml/2006/main">
            <a:r>
              <a:rPr lang="en-US" sz="1600" b="0">
                <a:solidFill>
                  <a:srgbClr val="1E2761"/>
                </a:solidFill>
                <a:latin typeface="Courier New"/>
                <a:ea typeface="Courier New"/>
              </a:rPr>
              <a:t>|Ψ+⟩ = (|01⟩ + |10⟩) / √2   — Created by H⊗I then CNOT, then X on q₁</a:t>
            </a:r>
          </a:p>
          <a:p xmlns:a="http://schemas.openxmlformats.org/drawingml/2006/main">
            <a:r>
              <a:rPr lang="en-US" sz="1600" b="0">
                <a:solidFill>
                  <a:srgbClr val="1E2761"/>
                </a:solidFill>
                <a:latin typeface="Courier New"/>
                <a:ea typeface="Courier New"/>
              </a:rPr>
              <a:t>|Ψ−⟩ = (|01⟩ − |10⟩) / √2   — Created by H⊗I then CNOT, then X and Z on q₁</a:t>
            </a:r>
          </a:p>
        </p:txBody>
      </p:sp>
      <p:sp>
        <p:nvSpPr>
          <p:cNvPr id="100065" name="ExampleCalc"/>
          <p:cNvSpPr txBox="1"/>
          <p:nvPr/>
        </p:nvSpPr>
        <p:spPr>
          <a:xfrm xmlns:a="http://schemas.openxmlformats.org/drawingml/2006/main">
            <a:off x="540000" y="3960000"/>
            <a:ext cx="10800000" cy="1980000"/>
          </a:xfrm>
          <a:prstGeom xmlns:a="http://schemas.openxmlformats.org/drawingml/2006/main" prst="rect">
            <a:avLst/>
          </a:prstGeom>
          <a:solidFill xmlns:a="http://schemas.openxmlformats.org/drawingml/2006/main">
            <a:srgbClr val="E8FFE8"/>
          </a:solidFill>
        </p:spPr>
        <p:txBody>
          <a:bodyPr xmlns:a="http://schemas.openxmlformats.org/drawingml/2006/main"/>
          <a:lstStyle xmlns:a="http://schemas.openxmlformats.org/drawingml/2006/main"/>
          <a:p xmlns:a="http://schemas.openxmlformats.org/drawingml/2006/main">
            <a:r>
              <a:rPr lang="en-US" sz="1500" b="0">
                <a:solidFill>
                  <a:srgbClr val="003300"/>
                </a:solidFill>
                <a:latin typeface="Calibri"/>
                <a:ea typeface="Calibri"/>
              </a:rPr>
              <a:t>Creating |Φ+⟩ Step-by-Step:</a:t>
            </a:r>
          </a:p>
          <a:p xmlns:a="http://schemas.openxmlformats.org/drawingml/2006/main">
            <a:r>
              <a:rPr lang="en-US" sz="1500" b="0">
                <a:solidFill>
                  <a:srgbClr val="003300"/>
                </a:solidFill>
                <a:latin typeface="Calibri"/>
                <a:ea typeface="Calibri"/>
              </a:rPr>
              <a:t/>
            </a:r>
          </a:p>
          <a:p xmlns:a="http://schemas.openxmlformats.org/drawingml/2006/main">
            <a:r>
              <a:rPr lang="en-US" sz="1500" b="0">
                <a:solidFill>
                  <a:srgbClr val="003300"/>
                </a:solidFill>
                <a:latin typeface="Calibri"/>
                <a:ea typeface="Calibri"/>
              </a:rPr>
              <a:t>Step 1: Start with |00⟩</a:t>
            </a:r>
          </a:p>
          <a:p xmlns:a="http://schemas.openxmlformats.org/drawingml/2006/main">
            <a:r>
              <a:rPr lang="en-US" sz="1500" b="0">
                <a:solidFill>
                  <a:srgbClr val="003300"/>
                </a:solidFill>
                <a:latin typeface="Calibri"/>
                <a:ea typeface="Calibri"/>
              </a:rPr>
              <a:t>Step 2: Apply H to q₀:  → (1/√2)(|0⟩ + |1⟩) ⊗ |0⟩ = (1/√2)(|00⟩ + |10⟩)</a:t>
            </a:r>
          </a:p>
          <a:p xmlns:a="http://schemas.openxmlformats.org/drawingml/2006/main">
            <a:r>
              <a:rPr lang="en-US" sz="1500" b="0">
                <a:solidFill>
                  <a:srgbClr val="003300"/>
                </a:solidFill>
                <a:latin typeface="Calibri"/>
                <a:ea typeface="Calibri"/>
              </a:rPr>
              <a:t>Step 3: Apply CNOT (ctrl=q₀, tgt=q₁):</a:t>
            </a:r>
          </a:p>
          <a:p xmlns:a="http://schemas.openxmlformats.org/drawingml/2006/main">
            <a:r>
              <a:rPr lang="en-US" sz="1500" b="0">
                <a:solidFill>
                  <a:srgbClr val="003300"/>
                </a:solidFill>
                <a:latin typeface="Calibri"/>
                <a:ea typeface="Calibri"/>
              </a:rPr>
              <a:t>           CNOT|00⟩ = |00⟩   and   CNOT|10⟩ = |11⟩</a:t>
            </a:r>
          </a:p>
          <a:p xmlns:a="http://schemas.openxmlformats.org/drawingml/2006/main">
            <a:r>
              <a:rPr lang="en-US" sz="1500" b="0">
                <a:solidFill>
                  <a:srgbClr val="003300"/>
                </a:solidFill>
                <a:latin typeface="Calibri"/>
                <a:ea typeface="Calibri"/>
              </a:rPr>
              <a:t>Step 4: Final state: (1/√2)(|00⟩ + |11⟩) = |Φ+⟩  ✓</a:t>
            </a:r>
          </a:p>
        </p:txBody>
      </p:sp>
      <p:sp>
        <p:nvSpPr>
          <p:cNvPr id="100066"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7"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7 · Measurement</a:t>
            </a:r>
          </a:p>
        </p:txBody>
      </p:sp>
      <p:sp>
        <p:nvSpPr>
          <p:cNvPr id="100068"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Quantum Measurement — Probabilities &amp; Collapse</a:t>
            </a:r>
          </a:p>
        </p:txBody>
      </p:sp>
      <p:sp>
        <p:nvSpPr>
          <p:cNvPr id="100069" name="RulesBox"/>
          <p:cNvSpPr txBox="1"/>
          <p:nvPr/>
        </p:nvSpPr>
        <p:spPr>
          <a:xfrm xmlns:a="http://schemas.openxmlformats.org/drawingml/2006/main">
            <a:off x="540000" y="1008000"/>
            <a:ext cx="10800000" cy="2160000"/>
          </a:xfrm>
          <a:prstGeom xmlns:a="http://schemas.openxmlformats.org/drawingml/2006/main" prst="rect">
            <a:avLst/>
          </a:prstGeom>
          <a:solidFill xmlns:a="http://schemas.openxmlformats.org/drawingml/2006/main">
            <a:srgbClr val="E8F4FF"/>
          </a:solidFill>
        </p:spPr>
        <p:txBody>
          <a:bodyPr xmlns:a="http://schemas.openxmlformats.org/drawingml/2006/main"/>
          <a:lstStyle xmlns:a="http://schemas.openxmlformats.org/drawingml/2006/main"/>
          <a:p xmlns:a="http://schemas.openxmlformats.org/drawingml/2006/main">
            <a:r>
              <a:rPr lang="en-US" sz="1600" b="0">
                <a:solidFill>
                  <a:srgbClr val="1E2761"/>
                </a:solidFill>
                <a:latin typeface="Calibri"/>
                <a:ea typeface="Calibri"/>
              </a:rPr>
              <a:t>Measurement Rules (Born Rule):</a:t>
            </a:r>
          </a:p>
          <a:p xmlns:a="http://schemas.openxmlformats.org/drawingml/2006/main">
            <a:r>
              <a:rPr lang="en-US" sz="1600" b="0">
                <a:solidFill>
                  <a:srgbClr val="1E2761"/>
                </a:solidFill>
                <a:latin typeface="Calibri"/>
                <a:ea typeface="Calibri"/>
              </a:rPr>
              <a:t/>
            </a:r>
          </a:p>
          <a:p xmlns:a="http://schemas.openxmlformats.org/drawingml/2006/main">
            <a:r>
              <a:rPr lang="en-US" sz="1600" b="0">
                <a:solidFill>
                  <a:srgbClr val="1E2761"/>
                </a:solidFill>
                <a:latin typeface="Calibri"/>
                <a:ea typeface="Calibri"/>
              </a:rPr>
              <a:t>For state |ψ⟩ = α|0⟩ + β|1⟩  where |α|² + |β|² = 1:</a:t>
            </a:r>
          </a:p>
          <a:p xmlns:a="http://schemas.openxmlformats.org/drawingml/2006/main">
            <a:r>
              <a:rPr lang="en-US" sz="1600" b="0">
                <a:solidFill>
                  <a:srgbClr val="1E2761"/>
                </a:solidFill>
                <a:latin typeface="Calibri"/>
                <a:ea typeface="Calibri"/>
              </a:rPr>
              <a:t/>
            </a:r>
          </a:p>
          <a:p xmlns:a="http://schemas.openxmlformats.org/drawingml/2006/main">
            <a:r>
              <a:rPr lang="en-US" sz="1600" b="0">
                <a:solidFill>
                  <a:srgbClr val="1E2761"/>
                </a:solidFill>
                <a:latin typeface="Calibri"/>
                <a:ea typeface="Calibri"/>
              </a:rPr>
              <a:t>• Probability of measuring 0  =  |α|²</a:t>
            </a:r>
          </a:p>
          <a:p xmlns:a="http://schemas.openxmlformats.org/drawingml/2006/main">
            <a:r>
              <a:rPr lang="en-US" sz="1600" b="0">
                <a:solidFill>
                  <a:srgbClr val="1E2761"/>
                </a:solidFill>
                <a:latin typeface="Calibri"/>
                <a:ea typeface="Calibri"/>
              </a:rPr>
              <a:t>• Probability of measuring 1  =  |β|²</a:t>
            </a:r>
          </a:p>
          <a:p xmlns:a="http://schemas.openxmlformats.org/drawingml/2006/main">
            <a:r>
              <a:rPr lang="en-US" sz="1600" b="0">
                <a:solidFill>
                  <a:srgbClr val="1E2761"/>
                </a:solidFill>
                <a:latin typeface="Calibri"/>
                <a:ea typeface="Calibri"/>
              </a:rPr>
              <a:t>• After measuring, state COLLAPSES to |0⟩ or |1⟩ (superposition destroyed)</a:t>
            </a:r>
          </a:p>
          <a:p xmlns:a="http://schemas.openxmlformats.org/drawingml/2006/main">
            <a:r>
              <a:rPr lang="en-US" sz="1600" b="0">
                <a:solidFill>
                  <a:srgbClr val="1E2761"/>
                </a:solidFill>
                <a:latin typeface="Calibri"/>
                <a:ea typeface="Calibri"/>
              </a:rPr>
              <a:t>• Measurement is IRREVERSIBLE — the quantum information is lost</a:t>
            </a:r>
          </a:p>
          <a:p xmlns:a="http://schemas.openxmlformats.org/drawingml/2006/main">
            <a:r>
              <a:rPr lang="en-US" sz="1600" b="0">
                <a:solidFill>
                  <a:srgbClr val="1E2761"/>
                </a:solidFill>
                <a:latin typeface="Calibri"/>
                <a:ea typeface="Calibri"/>
              </a:rPr>
              <a:t>• ONLY way to extract information from a qubit</a:t>
            </a:r>
          </a:p>
        </p:txBody>
      </p:sp>
      <p:sp>
        <p:nvSpPr>
          <p:cNvPr id="100070" name="ExamplesTitle"/>
          <p:cNvSpPr txBox="1"/>
          <p:nvPr/>
        </p:nvSpPr>
        <p:spPr>
          <a:xfrm xmlns:a="http://schemas.openxmlformats.org/drawingml/2006/main">
            <a:off x="540000" y="3348000"/>
            <a:ext cx="108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1E2761"/>
                </a:solidFill>
                <a:latin typeface="Calibri"/>
                <a:ea typeface="Calibri"/>
              </a:rPr>
              <a:t>Examples:</a:t>
            </a:r>
          </a:p>
        </p:txBody>
      </p:sp>
      <p:sp>
        <p:nvSpPr>
          <p:cNvPr id="100071" name="Ex1"/>
          <p:cNvSpPr txBox="1"/>
          <p:nvPr/>
        </p:nvSpPr>
        <p:spPr>
          <a:xfrm xmlns:a="http://schemas.openxmlformats.org/drawingml/2006/main">
            <a:off x="540000" y="3672000"/>
            <a:ext cx="5040000" cy="72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500" b="0">
                <a:solidFill>
                  <a:srgbClr val="1E2761"/>
                </a:solidFill>
                <a:latin typeface="Courier New"/>
                <a:ea typeface="Courier New"/>
              </a:rPr>
              <a:t>|0⟩ measured → always get 0 (probability 1)</a:t>
            </a:r>
          </a:p>
          <a:p xmlns:a="http://schemas.openxmlformats.org/drawingml/2006/main">
            <a:r>
              <a:rPr lang="en-US" sz="1500" b="0">
                <a:solidFill>
                  <a:srgbClr val="1E2761"/>
                </a:solidFill>
                <a:latin typeface="Courier New"/>
                <a:ea typeface="Courier New"/>
              </a:rPr>
              <a:t>|1⟩ measured → always get 1 (probability 1)</a:t>
            </a:r>
          </a:p>
        </p:txBody>
      </p:sp>
      <p:sp>
        <p:nvSpPr>
          <p:cNvPr id="100072" name="Ex2"/>
          <p:cNvSpPr txBox="1"/>
          <p:nvPr/>
        </p:nvSpPr>
        <p:spPr>
          <a:xfrm xmlns:a="http://schemas.openxmlformats.org/drawingml/2006/main">
            <a:off x="6120000" y="3672000"/>
            <a:ext cx="5400000" cy="90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400" b="0">
                <a:solidFill>
                  <a:srgbClr val="333300"/>
                </a:solidFill>
                <a:latin typeface="Calibri"/>
                <a:ea typeface="Calibri"/>
              </a:rPr>
              <a:t>|+⟩ = (|0⟩+|1⟩)/√2 → get 0 with prob 50%, get 1 with prob 50%</a:t>
            </a:r>
          </a:p>
          <a:p xmlns:a="http://schemas.openxmlformats.org/drawingml/2006/main">
            <a:r>
              <a:rPr lang="en-US" sz="1400" b="0">
                <a:solidFill>
                  <a:srgbClr val="333300"/>
                </a:solidFill>
                <a:latin typeface="Calibri"/>
                <a:ea typeface="Calibri"/>
              </a:rPr>
              <a:t>|Φ+⟩ = (|00⟩+|11⟩)/√2 → measuring q₀ as 0 forces q₁ = 0; measuring q₀ as 1 forces q₁ = 1</a:t>
            </a:r>
          </a:p>
        </p:txBody>
      </p:sp>
      <p:sp>
        <p:nvSpPr>
          <p:cNvPr id="100073" name="RunsNote"/>
          <p:cNvSpPr txBox="1"/>
          <p:nvPr/>
        </p:nvSpPr>
        <p:spPr>
          <a:xfrm xmlns:a="http://schemas.openxmlformats.org/drawingml/2006/main">
            <a:off x="540000" y="4860000"/>
            <a:ext cx="10800000" cy="900000"/>
          </a:xfrm>
          <a:prstGeom xmlns:a="http://schemas.openxmlformats.org/drawingml/2006/main" prst="rect">
            <a:avLst/>
          </a:prstGeom>
          <a:solidFill xmlns:a="http://schemas.openxmlformats.org/drawingml/2006/main">
            <a:srgbClr val="FFE8E8"/>
          </a:solidFill>
        </p:spPr>
        <p:txBody>
          <a:bodyPr xmlns:a="http://schemas.openxmlformats.org/drawingml/2006/main"/>
          <a:lstStyle xmlns:a="http://schemas.openxmlformats.org/drawingml/2006/main"/>
          <a:p xmlns:a="http://schemas.openxmlformats.org/drawingml/2006/main">
            <a:r>
              <a:rPr lang="en-US" sz="1500" b="0">
                <a:solidFill>
                  <a:srgbClr val="990000"/>
                </a:solidFill>
                <a:latin typeface="Calibri"/>
                <a:ea typeface="Calibri"/>
              </a:rPr>
              <a:t>Important: Quantum circuits must be run many times (shots) to estimate probability distributions.</a:t>
            </a:r>
          </a:p>
          <a:p xmlns:a="http://schemas.openxmlformats.org/drawingml/2006/main">
            <a:r>
              <a:rPr lang="en-US" sz="1500" b="0">
                <a:solidFill>
                  <a:srgbClr val="990000"/>
                </a:solidFill>
                <a:latin typeface="Calibri"/>
                <a:ea typeface="Calibri"/>
              </a:rPr>
              <a:t>IBM hardware default: 1024 shots. Statistical accuracy improves as √N with N shots.</a:t>
            </a:r>
          </a:p>
        </p:txBody>
      </p:sp>
      <p:sp>
        <p:nvSpPr>
          <p:cNvPr id="100074"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5"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8 · Key Quantum Algorithms</a:t>
            </a:r>
          </a:p>
        </p:txBody>
      </p:sp>
      <p:sp>
        <p:nvSpPr>
          <p:cNvPr id="100076"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Landmark Quantum Algorithms</a:t>
            </a:r>
          </a:p>
        </p:txBody>
      </p:sp>
      <p:sp>
        <p:nvSpPr>
          <p:cNvPr id="100077" name="FTCol"/>
          <p:cNvSpPr txBox="1"/>
          <p:nvPr/>
        </p:nvSpPr>
        <p:spPr>
          <a:xfrm xmlns:a="http://schemas.openxmlformats.org/drawingml/2006/main">
            <a:off x="540000" y="1008000"/>
            <a:ext cx="5040000" cy="5040000"/>
          </a:xfrm>
          <a:prstGeom xmlns:a="http://schemas.openxmlformats.org/drawingml/2006/main" prst="rect">
            <a:avLst/>
          </a:prstGeom>
          <a:solidFill xmlns:a="http://schemas.openxmlformats.org/drawingml/2006/main">
            <a:srgbClr val="E8F4FF"/>
          </a:solidFill>
        </p:spPr>
        <p:txBody>
          <a:bodyPr xmlns:a="http://schemas.openxmlformats.org/drawingml/2006/main"/>
          <a:lstStyle xmlns:a="http://schemas.openxmlformats.org/drawingml/2006/main"/>
          <a:p xmlns:a="http://schemas.openxmlformats.org/drawingml/2006/main">
            <a:r>
              <a:rPr lang="en-US" sz="1400" b="0">
                <a:solidFill>
                  <a:srgbClr val="1E2761"/>
                </a:solidFill>
                <a:latin typeface="Calibri"/>
                <a:ea typeface="Calibri"/>
              </a:rPr>
              <a:t>FAULT-TOLERANT ERA</a:t>
            </a:r>
          </a:p>
          <a:p xmlns:a="http://schemas.openxmlformats.org/drawingml/2006/main">
            <a:r>
              <a:rPr lang="en-US" sz="1400" b="0">
                <a:solidFill>
                  <a:srgbClr val="1E2761"/>
                </a:solidFill>
                <a:latin typeface="Calibri"/>
                <a:ea typeface="Calibri"/>
              </a:rPr>
              <a:t>(Future Hardware)</a:t>
            </a:r>
          </a:p>
          <a:p xmlns:a="http://schemas.openxmlformats.org/drawingml/2006/main">
            <a:r>
              <a:rPr lang="en-US" sz="1400" b="0">
                <a:solidFill>
                  <a:srgbClr val="1E2761"/>
                </a:solidFill>
                <a:latin typeface="Calibri"/>
                <a:ea typeface="Calibri"/>
              </a:rPr>
              <a:t/>
            </a:r>
          </a:p>
          <a:p xmlns:a="http://schemas.openxmlformats.org/drawingml/2006/main">
            <a:r>
              <a:rPr lang="en-US" sz="1400" b="0">
                <a:solidFill>
                  <a:srgbClr val="1E2761"/>
                </a:solidFill>
                <a:latin typeface="Calibri"/>
                <a:ea typeface="Calibri"/>
              </a:rPr>
              <a:t>Shor's Algorithm (1994)</a:t>
            </a:r>
          </a:p>
          <a:p xmlns:a="http://schemas.openxmlformats.org/drawingml/2006/main">
            <a:r>
              <a:rPr lang="en-US" sz="1400" b="0">
                <a:solidFill>
                  <a:srgbClr val="1E2761"/>
                </a:solidFill>
                <a:latin typeface="Calibri"/>
                <a:ea typeface="Calibri"/>
              </a:rPr>
              <a:t>Factors N-digit integers in O(n³) quantum time vs O(exp(n)) classical time. Threatens RSA/ECC encryption.</a:t>
            </a:r>
          </a:p>
          <a:p xmlns:a="http://schemas.openxmlformats.org/drawingml/2006/main">
            <a:r>
              <a:rPr lang="en-US" sz="1400" b="0">
                <a:solidFill>
                  <a:srgbClr val="1E2761"/>
                </a:solidFill>
                <a:latin typeface="Calibri"/>
                <a:ea typeface="Calibri"/>
              </a:rPr>
              <a:t/>
            </a:r>
          </a:p>
          <a:p xmlns:a="http://schemas.openxmlformats.org/drawingml/2006/main">
            <a:r>
              <a:rPr lang="en-US" sz="1400" b="0">
                <a:solidFill>
                  <a:srgbClr val="1E2761"/>
                </a:solidFill>
                <a:latin typeface="Calibri"/>
                <a:ea typeface="Calibri"/>
              </a:rPr>
              <a:t>Grover's Search (1996)</a:t>
            </a:r>
          </a:p>
          <a:p xmlns:a="http://schemas.openxmlformats.org/drawingml/2006/main">
            <a:r>
              <a:rPr lang="en-US" sz="1400" b="0">
                <a:solidFill>
                  <a:srgbClr val="1E2761"/>
                </a:solidFill>
                <a:latin typeface="Calibri"/>
                <a:ea typeface="Calibri"/>
              </a:rPr>
              <a:t>Searches N items in O(√N) time vs O(N) classical. Quadratic speedup. Universal for any search problem.</a:t>
            </a:r>
          </a:p>
          <a:p xmlns:a="http://schemas.openxmlformats.org/drawingml/2006/main">
            <a:r>
              <a:rPr lang="en-US" sz="1400" b="0">
                <a:solidFill>
                  <a:srgbClr val="1E2761"/>
                </a:solidFill>
                <a:latin typeface="Calibri"/>
                <a:ea typeface="Calibri"/>
              </a:rPr>
              <a:t/>
            </a:r>
          </a:p>
          <a:p xmlns:a="http://schemas.openxmlformats.org/drawingml/2006/main">
            <a:r>
              <a:rPr lang="en-US" sz="1400" b="0">
                <a:solidFill>
                  <a:srgbClr val="1E2761"/>
                </a:solidFill>
                <a:latin typeface="Calibri"/>
                <a:ea typeface="Calibri"/>
              </a:rPr>
              <a:t>HHL Algorithm (2009)</a:t>
            </a:r>
          </a:p>
          <a:p xmlns:a="http://schemas.openxmlformats.org/drawingml/2006/main">
            <a:r>
              <a:rPr lang="en-US" sz="1400" b="0">
                <a:solidFill>
                  <a:srgbClr val="1E2761"/>
                </a:solidFill>
                <a:latin typeface="Calibri"/>
                <a:ea typeface="Calibri"/>
              </a:rPr>
              <a:t>Solves linear systems Ax=b in O(log N) under certain conditions vs O(N²) classical. Used in machine learning and simulation.</a:t>
            </a:r>
          </a:p>
        </p:txBody>
      </p:sp>
      <p:sp>
        <p:nvSpPr>
          <p:cNvPr id="100078" name="NISQCol"/>
          <p:cNvSpPr txBox="1"/>
          <p:nvPr/>
        </p:nvSpPr>
        <p:spPr>
          <a:xfrm xmlns:a="http://schemas.openxmlformats.org/drawingml/2006/main">
            <a:off x="6120000" y="1008000"/>
            <a:ext cx="5400000" cy="5040000"/>
          </a:xfrm>
          <a:prstGeom xmlns:a="http://schemas.openxmlformats.org/drawingml/2006/main" prst="rect">
            <a:avLst/>
          </a:prstGeom>
          <a:solidFill xmlns:a="http://schemas.openxmlformats.org/drawingml/2006/main">
            <a:srgbClr val="FFF0F8"/>
          </a:solidFill>
        </p:spPr>
        <p:txBody>
          <a:bodyPr xmlns:a="http://schemas.openxmlformats.org/drawingml/2006/main"/>
          <a:lstStyle xmlns:a="http://schemas.openxmlformats.org/drawingml/2006/main"/>
          <a:p xmlns:a="http://schemas.openxmlformats.org/drawingml/2006/main">
            <a:r>
              <a:rPr lang="en-US" sz="1400" b="0">
                <a:solidFill>
                  <a:srgbClr val="660033"/>
                </a:solidFill>
                <a:latin typeface="Calibri"/>
                <a:ea typeface="Calibri"/>
              </a:rPr>
              <a:t>NOISY ERA (TODAY)</a:t>
            </a:r>
          </a:p>
          <a:p xmlns:a="http://schemas.openxmlformats.org/drawingml/2006/main">
            <a:r>
              <a:rPr lang="en-US" sz="1400" b="0">
                <a:solidFill>
                  <a:srgbClr val="660033"/>
                </a:solidFill>
                <a:latin typeface="Calibri"/>
                <a:ea typeface="Calibri"/>
              </a:rPr>
              <a:t>(NISQ Devices)</a:t>
            </a:r>
          </a:p>
          <a:p xmlns:a="http://schemas.openxmlformats.org/drawingml/2006/main">
            <a:r>
              <a:rPr lang="en-US" sz="1400" b="0">
                <a:solidFill>
                  <a:srgbClr val="660033"/>
                </a:solidFill>
                <a:latin typeface="Calibri"/>
                <a:ea typeface="Calibri"/>
              </a:rPr>
              <a:t/>
            </a:r>
          </a:p>
          <a:p xmlns:a="http://schemas.openxmlformats.org/drawingml/2006/main">
            <a:r>
              <a:rPr lang="en-US" sz="1400" b="0">
                <a:solidFill>
                  <a:srgbClr val="660033"/>
                </a:solidFill>
                <a:latin typeface="Calibri"/>
                <a:ea typeface="Calibri"/>
              </a:rPr>
              <a:t>VQE — Variational Quantum Eigensolver (2014)</a:t>
            </a:r>
          </a:p>
          <a:p xmlns:a="http://schemas.openxmlformats.org/drawingml/2006/main">
            <a:r>
              <a:rPr lang="en-US" sz="1400" b="0">
                <a:solidFill>
                  <a:srgbClr val="660033"/>
                </a:solidFill>
                <a:latin typeface="Calibri"/>
                <a:ea typeface="Calibri"/>
              </a:rPr>
              <a:t>Finds ground state energies of molecules. Uses classical optimizer + quantum circuit. Key for quantum chemistry.</a:t>
            </a:r>
          </a:p>
          <a:p xmlns:a="http://schemas.openxmlformats.org/drawingml/2006/main">
            <a:r>
              <a:rPr lang="en-US" sz="1400" b="0">
                <a:solidFill>
                  <a:srgbClr val="660033"/>
                </a:solidFill>
                <a:latin typeface="Calibri"/>
                <a:ea typeface="Calibri"/>
              </a:rPr>
              <a:t/>
            </a:r>
          </a:p>
          <a:p xmlns:a="http://schemas.openxmlformats.org/drawingml/2006/main">
            <a:r>
              <a:rPr lang="en-US" sz="1400" b="0">
                <a:solidFill>
                  <a:srgbClr val="660033"/>
                </a:solidFill>
                <a:latin typeface="Calibri"/>
                <a:ea typeface="Calibri"/>
              </a:rPr>
              <a:t>QAOA — Quantum Approx. Optimization (2014)</a:t>
            </a:r>
          </a:p>
          <a:p xmlns:a="http://schemas.openxmlformats.org/drawingml/2006/main">
            <a:r>
              <a:rPr lang="en-US" sz="1400" b="0">
                <a:solidFill>
                  <a:srgbClr val="660033"/>
                </a:solidFill>
                <a:latin typeface="Calibri"/>
                <a:ea typeface="Calibri"/>
              </a:rPr>
              <a:t>Solves combinatorial optimization. Parameterised circuits + classical optimization. Used for scheduling, logistics.</a:t>
            </a:r>
          </a:p>
          <a:p xmlns:a="http://schemas.openxmlformats.org/drawingml/2006/main">
            <a:r>
              <a:rPr lang="en-US" sz="1400" b="0">
                <a:solidFill>
                  <a:srgbClr val="660033"/>
                </a:solidFill>
                <a:latin typeface="Calibri"/>
                <a:ea typeface="Calibri"/>
              </a:rPr>
              <a:t/>
            </a:r>
          </a:p>
          <a:p xmlns:a="http://schemas.openxmlformats.org/drawingml/2006/main">
            <a:r>
              <a:rPr lang="en-US" sz="1400" b="0">
                <a:solidFill>
                  <a:srgbClr val="660033"/>
                </a:solidFill>
                <a:latin typeface="Calibri"/>
                <a:ea typeface="Calibri"/>
              </a:rPr>
              <a:t>Quantum Simulation</a:t>
            </a:r>
          </a:p>
          <a:p xmlns:a="http://schemas.openxmlformats.org/drawingml/2006/main">
            <a:r>
              <a:rPr lang="en-US" sz="1400" b="0">
                <a:solidFill>
                  <a:srgbClr val="660033"/>
                </a:solidFill>
                <a:latin typeface="Calibri"/>
                <a:ea typeface="Calibri"/>
              </a:rPr>
              <a:t>Simulates quantum physics (Ising model, Heisenberg, time evolution). Directly maps onto qubit topology.</a:t>
            </a:r>
          </a:p>
        </p:txBody>
      </p:sp>
      <p:sp>
        <p:nvSpPr>
          <p:cNvPr id="100079"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80"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9 · Variational Quantum Algorithms</a:t>
            </a:r>
          </a:p>
        </p:txBody>
      </p:sp>
      <p:sp>
        <p:nvSpPr>
          <p:cNvPr id="100081"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VQE &amp; QAOA — Hybrid Quantum-Classical</a:t>
            </a:r>
          </a:p>
        </p:txBody>
      </p:sp>
      <p:sp>
        <p:nvSpPr>
          <p:cNvPr id="100082" name="VQEBox"/>
          <p:cNvSpPr txBox="1"/>
          <p:nvPr/>
        </p:nvSpPr>
        <p:spPr>
          <a:xfrm xmlns:a="http://schemas.openxmlformats.org/drawingml/2006/main">
            <a:off x="540000" y="1008000"/>
            <a:ext cx="6660000" cy="2880000"/>
          </a:xfrm>
          <a:prstGeom xmlns:a="http://schemas.openxmlformats.org/drawingml/2006/main" prst="rect">
            <a:avLst/>
          </a:prstGeom>
          <a:solidFill xmlns:a="http://schemas.openxmlformats.org/drawingml/2006/main">
            <a:srgbClr val="E8F4FF"/>
          </a:solidFill>
        </p:spPr>
        <p:txBody>
          <a:bodyPr xmlns:a="http://schemas.openxmlformats.org/drawingml/2006/main"/>
          <a:lstStyle xmlns:a="http://schemas.openxmlformats.org/drawingml/2006/main"/>
          <a:p xmlns:a="http://schemas.openxmlformats.org/drawingml/2006/main">
            <a:r>
              <a:rPr lang="en-US" sz="1400" b="0">
                <a:solidFill>
                  <a:srgbClr val="1E2761"/>
                </a:solidFill>
                <a:latin typeface="Calibri"/>
                <a:ea typeface="Calibri"/>
              </a:rPr>
              <a:t>VQE — Variational Quantum Eigensolver</a:t>
            </a:r>
          </a:p>
          <a:p xmlns:a="http://schemas.openxmlformats.org/drawingml/2006/main">
            <a:r>
              <a:rPr lang="en-US" sz="1400" b="0">
                <a:solidFill>
                  <a:srgbClr val="1E2761"/>
                </a:solidFill>
                <a:latin typeface="Calibri"/>
                <a:ea typeface="Calibri"/>
              </a:rPr>
              <a:t/>
            </a:r>
          </a:p>
          <a:p xmlns:a="http://schemas.openxmlformats.org/drawingml/2006/main">
            <a:r>
              <a:rPr lang="en-US" sz="1400" b="0">
                <a:solidFill>
                  <a:srgbClr val="1E2761"/>
                </a:solidFill>
                <a:latin typeface="Calibri"/>
                <a:ea typeface="Calibri"/>
              </a:rPr>
              <a:t>Goal: Find the minimum eigenvalue (ground state energy) of a Hamiltonian H</a:t>
            </a:r>
          </a:p>
          <a:p xmlns:a="http://schemas.openxmlformats.org/drawingml/2006/main">
            <a:r>
              <a:rPr lang="en-US" sz="1400" b="0">
                <a:solidFill>
                  <a:srgbClr val="1E2761"/>
                </a:solidFill>
                <a:latin typeface="Calibri"/>
                <a:ea typeface="Calibri"/>
              </a:rPr>
              <a:t/>
            </a:r>
          </a:p>
          <a:p xmlns:a="http://schemas.openxmlformats.org/drawingml/2006/main">
            <a:r>
              <a:rPr lang="en-US" sz="1400" b="0">
                <a:solidFill>
                  <a:srgbClr val="1E2761"/>
                </a:solidFill>
                <a:latin typeface="Calibri"/>
                <a:ea typeface="Calibri"/>
              </a:rPr>
              <a:t>Loop:</a:t>
            </a:r>
          </a:p>
          <a:p xmlns:a="http://schemas.openxmlformats.org/drawingml/2006/main">
            <a:r>
              <a:rPr lang="en-US" sz="1400" b="0">
                <a:solidFill>
                  <a:srgbClr val="1E2761"/>
                </a:solidFill>
                <a:latin typeface="Calibri"/>
                <a:ea typeface="Calibri"/>
              </a:rPr>
              <a:t>  1. Prepare parameterised state |ψ(θ)⟩ on quantum hardware</a:t>
            </a:r>
          </a:p>
          <a:p xmlns:a="http://schemas.openxmlformats.org/drawingml/2006/main">
            <a:r>
              <a:rPr lang="en-US" sz="1400" b="0">
                <a:solidFill>
                  <a:srgbClr val="1E2761"/>
                </a:solidFill>
                <a:latin typeface="Calibri"/>
                <a:ea typeface="Calibri"/>
              </a:rPr>
              <a:t>  2. Measure energy ⟨ψ(θ)|H|ψ(θ)⟩ using Pauli decomposition</a:t>
            </a:r>
          </a:p>
          <a:p xmlns:a="http://schemas.openxmlformats.org/drawingml/2006/main">
            <a:r>
              <a:rPr lang="en-US" sz="1400" b="0">
                <a:solidFill>
                  <a:srgbClr val="1E2761"/>
                </a:solidFill>
                <a:latin typeface="Calibri"/>
                <a:ea typeface="Calibri"/>
              </a:rPr>
              <a:t>  3. Classical optimizer (COBYLA, SPSA, Adam) updates θ to minimize energy</a:t>
            </a:r>
          </a:p>
          <a:p xmlns:a="http://schemas.openxmlformats.org/drawingml/2006/main">
            <a:r>
              <a:rPr lang="en-US" sz="1400" b="0">
                <a:solidFill>
                  <a:srgbClr val="1E2761"/>
                </a:solidFill>
                <a:latin typeface="Calibri"/>
                <a:ea typeface="Calibri"/>
              </a:rPr>
              <a:t>  4. Repeat until convergence</a:t>
            </a:r>
          </a:p>
          <a:p xmlns:a="http://schemas.openxmlformats.org/drawingml/2006/main">
            <a:r>
              <a:rPr lang="en-US" sz="1400" b="0">
                <a:solidFill>
                  <a:srgbClr val="1E2761"/>
                </a:solidFill>
                <a:latin typeface="Calibri"/>
                <a:ea typeface="Calibri"/>
              </a:rPr>
              <a:t/>
            </a:r>
          </a:p>
          <a:p xmlns:a="http://schemas.openxmlformats.org/drawingml/2006/main">
            <a:r>
              <a:rPr lang="en-US" sz="1400" b="0">
                <a:solidFill>
                  <a:srgbClr val="1E2761"/>
                </a:solidFill>
                <a:latin typeface="Calibri"/>
                <a:ea typeface="Calibri"/>
              </a:rPr>
              <a:t>Applications: Quantum chemistry (H₂, LiH, BeH₂), drug discovery, materials design</a:t>
            </a:r>
          </a:p>
        </p:txBody>
      </p:sp>
      <p:sp>
        <p:nvSpPr>
          <p:cNvPr id="100083" name="QAOABox"/>
          <p:cNvSpPr txBox="1"/>
          <p:nvPr/>
        </p:nvSpPr>
        <p:spPr>
          <a:xfrm xmlns:a="http://schemas.openxmlformats.org/drawingml/2006/main">
            <a:off x="7560000" y="1008000"/>
            <a:ext cx="4140000" cy="288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300" b="0">
                <a:solidFill>
                  <a:srgbClr val="333300"/>
                </a:solidFill>
                <a:latin typeface="Calibri"/>
                <a:ea typeface="Calibri"/>
              </a:rPr>
              <a:t>QAOA — Quantum Approx. Optimization</a:t>
            </a:r>
          </a:p>
          <a:p xmlns:a="http://schemas.openxmlformats.org/drawingml/2006/main">
            <a:r>
              <a:rPr lang="en-US" sz="1300" b="0">
                <a:solidFill>
                  <a:srgbClr val="333300"/>
                </a:solidFill>
                <a:latin typeface="Calibri"/>
                <a:ea typeface="Calibri"/>
              </a:rPr>
              <a:t/>
            </a:r>
          </a:p>
          <a:p xmlns:a="http://schemas.openxmlformats.org/drawingml/2006/main">
            <a:r>
              <a:rPr lang="en-US" sz="1300" b="0">
                <a:solidFill>
                  <a:srgbClr val="333300"/>
                </a:solidFill>
                <a:latin typeface="Calibri"/>
                <a:ea typeface="Calibri"/>
              </a:rPr>
              <a:t>Goal: Solve combinatorial optimization (e.g. MaxCut, scheduling)</a:t>
            </a:r>
          </a:p>
          <a:p xmlns:a="http://schemas.openxmlformats.org/drawingml/2006/main">
            <a:r>
              <a:rPr lang="en-US" sz="1300" b="0">
                <a:solidFill>
                  <a:srgbClr val="333300"/>
                </a:solidFill>
                <a:latin typeface="Calibri"/>
                <a:ea typeface="Calibri"/>
              </a:rPr>
              <a:t/>
            </a:r>
          </a:p>
          <a:p xmlns:a="http://schemas.openxmlformats.org/drawingml/2006/main">
            <a:r>
              <a:rPr lang="en-US" sz="1300" b="0">
                <a:solidFill>
                  <a:srgbClr val="333300"/>
                </a:solidFill>
                <a:latin typeface="Calibri"/>
                <a:ea typeface="Calibri"/>
              </a:rPr>
              <a:t>Structure:</a:t>
            </a:r>
          </a:p>
          <a:p xmlns:a="http://schemas.openxmlformats.org/drawingml/2006/main">
            <a:r>
              <a:rPr lang="en-US" sz="1300" b="0">
                <a:solidFill>
                  <a:srgbClr val="333300"/>
                </a:solidFill>
                <a:latin typeface="Calibri"/>
                <a:ea typeface="Calibri"/>
              </a:rPr>
              <a:t>  |ψ(γ,β)⟩ = ∏ₖ e^(−iβₖBₖ) e^(−iγₖCₖ) |+⟩^n</a:t>
            </a:r>
          </a:p>
          <a:p xmlns:a="http://schemas.openxmlformats.org/drawingml/2006/main">
            <a:r>
              <a:rPr lang="en-US" sz="1300" b="0">
                <a:solidFill>
                  <a:srgbClr val="333300"/>
                </a:solidFill>
                <a:latin typeface="Calibri"/>
                <a:ea typeface="Calibri"/>
              </a:rPr>
              <a:t/>
            </a:r>
          </a:p>
          <a:p xmlns:a="http://schemas.openxmlformats.org/drawingml/2006/main">
            <a:r>
              <a:rPr lang="en-US" sz="1300" b="0">
                <a:solidFill>
                  <a:srgbClr val="333300"/>
                </a:solidFill>
                <a:latin typeface="Calibri"/>
                <a:ea typeface="Calibri"/>
              </a:rPr>
              <a:t>  • C = cost Hamiltonian (encodes the problem)</a:t>
            </a:r>
          </a:p>
          <a:p xmlns:a="http://schemas.openxmlformats.org/drawingml/2006/main">
            <a:r>
              <a:rPr lang="en-US" sz="1300" b="0">
                <a:solidFill>
                  <a:srgbClr val="333300"/>
                </a:solidFill>
                <a:latin typeface="Calibri"/>
                <a:ea typeface="Calibri"/>
              </a:rPr>
              <a:t>  • B = mixing Hamiltonian (typically sum of X gates)</a:t>
            </a:r>
          </a:p>
          <a:p xmlns:a="http://schemas.openxmlformats.org/drawingml/2006/main">
            <a:r>
              <a:rPr lang="en-US" sz="1300" b="0">
                <a:solidFill>
                  <a:srgbClr val="333300"/>
                </a:solidFill>
                <a:latin typeface="Calibri"/>
                <a:ea typeface="Calibri"/>
              </a:rPr>
              <a:t>  • p layers → better approximation ratio</a:t>
            </a:r>
          </a:p>
          <a:p xmlns:a="http://schemas.openxmlformats.org/drawingml/2006/main">
            <a:r>
              <a:rPr lang="en-US" sz="1300" b="0">
                <a:solidFill>
                  <a:srgbClr val="333300"/>
                </a:solidFill>
                <a:latin typeface="Calibri"/>
                <a:ea typeface="Calibri"/>
              </a:rPr>
              <a:t>  • Classical optimizer tunes γ and β</a:t>
            </a:r>
          </a:p>
          <a:p xmlns:a="http://schemas.openxmlformats.org/drawingml/2006/main">
            <a:r>
              <a:rPr lang="en-US" sz="1300" b="0">
                <a:solidFill>
                  <a:srgbClr val="333300"/>
                </a:solidFill>
                <a:latin typeface="Calibri"/>
                <a:ea typeface="Calibri"/>
              </a:rPr>
              <a:t/>
            </a:r>
          </a:p>
          <a:p xmlns:a="http://schemas.openxmlformats.org/drawingml/2006/main">
            <a:r>
              <a:rPr lang="en-US" sz="1300" b="0">
                <a:solidFill>
                  <a:srgbClr val="333300"/>
                </a:solidFill>
                <a:latin typeface="Calibri"/>
                <a:ea typeface="Calibri"/>
              </a:rPr>
              <a:t>Applications: Portfolio optimization, traffic routing, MaxCut</a:t>
            </a:r>
          </a:p>
        </p:txBody>
      </p:sp>
      <p:sp>
        <p:nvSpPr>
          <p:cNvPr id="100084" name="LoopDiagram"/>
          <p:cNvSpPr txBox="1"/>
          <p:nvPr/>
        </p:nvSpPr>
        <p:spPr>
          <a:xfrm xmlns:a="http://schemas.openxmlformats.org/drawingml/2006/main">
            <a:off x="540000" y="4140000"/>
            <a:ext cx="10800000" cy="144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300" b="0">
                <a:solidFill>
                  <a:srgbClr val="00FF88"/>
                </a:solidFill>
                <a:latin typeface="Courier New"/>
                <a:ea typeface="Courier New"/>
              </a:rPr>
              <a:t>Hybrid Quantum-Classical Loop:</a:t>
            </a:r>
          </a:p>
          <a:p xmlns:a="http://schemas.openxmlformats.org/drawingml/2006/main">
            <a:r>
              <a:rPr lang="en-US" sz="1300" b="0">
                <a:solidFill>
                  <a:srgbClr val="00FF88"/>
                </a:solidFill>
                <a:latin typeface="Courier New"/>
                <a:ea typeface="Courier New"/>
              </a:rPr>
              <a:t/>
            </a:r>
          </a:p>
          <a:p xmlns:a="http://schemas.openxmlformats.org/drawingml/2006/main">
            <a:r>
              <a:rPr lang="en-US" sz="1300" b="0">
                <a:solidFill>
                  <a:srgbClr val="00FF88"/>
                </a:solidFill>
                <a:latin typeface="Courier New"/>
                <a:ea typeface="Courier New"/>
              </a:rPr>
              <a:t>  Classical Computer                    Quantum Hardware</a:t>
            </a:r>
          </a:p>
          <a:p xmlns:a="http://schemas.openxmlformats.org/drawingml/2006/main">
            <a:r>
              <a:rPr lang="en-US" sz="1300" b="0">
                <a:solidFill>
                  <a:srgbClr val="00FF88"/>
                </a:solidFill>
                <a:latin typeface="Courier New"/>
                <a:ea typeface="Courier New"/>
              </a:rPr>
              <a:t>  ┌────────────────┐                   ┌──────────────────┐</a:t>
            </a:r>
          </a:p>
          <a:p xmlns:a="http://schemas.openxmlformats.org/drawingml/2006/main">
            <a:r>
              <a:rPr lang="en-US" sz="1300" b="0">
                <a:solidFill>
                  <a:srgbClr val="00FF88"/>
                </a:solidFill>
                <a:latin typeface="Courier New"/>
                <a:ea typeface="Courier New"/>
              </a:rPr>
              <a:t>  │  Optimizer     │ ──── θ params ──► │  Parameterised   │</a:t>
            </a:r>
          </a:p>
          <a:p xmlns:a="http://schemas.openxmlformats.org/drawingml/2006/main">
            <a:r>
              <a:rPr lang="en-US" sz="1300" b="0">
                <a:solidFill>
                  <a:srgbClr val="00FF88"/>
                </a:solidFill>
                <a:latin typeface="Courier New"/>
                <a:ea typeface="Courier New"/>
              </a:rPr>
              <a:t>  │  (COBYLA/Adam) │                   │  Circuit |ψ(θ)⟩  │</a:t>
            </a:r>
          </a:p>
          <a:p xmlns:a="http://schemas.openxmlformats.org/drawingml/2006/main">
            <a:r>
              <a:rPr lang="en-US" sz="1300" b="0">
                <a:solidFill>
                  <a:srgbClr val="00FF88"/>
                </a:solidFill>
                <a:latin typeface="Courier New"/>
                <a:ea typeface="Courier New"/>
              </a:rPr>
              <a:t>  │                │ ◄── expectation── │  + Measurement   │</a:t>
            </a:r>
          </a:p>
          <a:p xmlns:a="http://schemas.openxmlformats.org/drawingml/2006/main">
            <a:r>
              <a:rPr lang="en-US" sz="1300" b="0">
                <a:solidFill>
                  <a:srgbClr val="00FF88"/>
                </a:solidFill>
                <a:latin typeface="Courier New"/>
                <a:ea typeface="Courier New"/>
              </a:rPr>
              <a:t>  └────────────────┘      values       └──────────────────┘</a:t>
            </a:r>
          </a:p>
        </p:txBody>
      </p:sp>
      <p:sp>
        <p:nvSpPr>
          <p:cNvPr id="100085"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86"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10 · Quantum Noise &amp; Error Mitigation</a:t>
            </a:r>
          </a:p>
        </p:txBody>
      </p:sp>
      <p:sp>
        <p:nvSpPr>
          <p:cNvPr id="100087"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Quantum Noise &amp; Error Mitigation</a:t>
            </a:r>
          </a:p>
        </p:txBody>
      </p:sp>
      <p:sp>
        <p:nvSpPr>
          <p:cNvPr id="100088" name="NoiseBox"/>
          <p:cNvSpPr txBox="1"/>
          <p:nvPr/>
        </p:nvSpPr>
        <p:spPr>
          <a:xfrm xmlns:a="http://schemas.openxmlformats.org/drawingml/2006/main">
            <a:off x="540000" y="1008000"/>
            <a:ext cx="10800000" cy="1980000"/>
          </a:xfrm>
          <a:prstGeom xmlns:a="http://schemas.openxmlformats.org/drawingml/2006/main" prst="rect">
            <a:avLst/>
          </a:prstGeom>
          <a:solidFill xmlns:a="http://schemas.openxmlformats.org/drawingml/2006/main">
            <a:srgbClr val="FFE8E8"/>
          </a:solidFill>
        </p:spPr>
        <p:txBody>
          <a:bodyPr xmlns:a="http://schemas.openxmlformats.org/drawingml/2006/main"/>
          <a:lstStyle xmlns:a="http://schemas.openxmlformats.org/drawingml/2006/main"/>
          <a:p xmlns:a="http://schemas.openxmlformats.org/drawingml/2006/main">
            <a:r>
              <a:rPr lang="en-US" sz="1500" b="0">
                <a:solidFill>
                  <a:srgbClr val="990000"/>
                </a:solidFill>
                <a:latin typeface="Calibri"/>
                <a:ea typeface="Calibri"/>
              </a:rPr>
              <a:t>Sources of Quantum Noise:</a:t>
            </a:r>
          </a:p>
          <a:p xmlns:a="http://schemas.openxmlformats.org/drawingml/2006/main">
            <a:r>
              <a:rPr lang="en-US" sz="1500" b="0">
                <a:solidFill>
                  <a:srgbClr val="990000"/>
                </a:solidFill>
                <a:latin typeface="Calibri"/>
                <a:ea typeface="Calibri"/>
              </a:rPr>
              <a:t>• Decoherence (T₁, T₂ relaxation) — qubit loses its quantum state over time</a:t>
            </a:r>
          </a:p>
          <a:p xmlns:a="http://schemas.openxmlformats.org/drawingml/2006/main">
            <a:r>
              <a:rPr lang="en-US" sz="1500" b="0">
                <a:solidFill>
                  <a:srgbClr val="990000"/>
                </a:solidFill>
                <a:latin typeface="Calibri"/>
                <a:ea typeface="Calibri"/>
              </a:rPr>
              <a:t>• Gate errors — imperfect control pulses (~0.1–0.5% per gate on IBM hardware)</a:t>
            </a:r>
          </a:p>
          <a:p xmlns:a="http://schemas.openxmlformats.org/drawingml/2006/main">
            <a:r>
              <a:rPr lang="en-US" sz="1500" b="0">
                <a:solidFill>
                  <a:srgbClr val="990000"/>
                </a:solidFill>
                <a:latin typeface="Calibri"/>
                <a:ea typeface="Calibri"/>
              </a:rPr>
              <a:t>• Readout errors — measurement mis-classifies state (~1–3%)</a:t>
            </a:r>
          </a:p>
          <a:p xmlns:a="http://schemas.openxmlformats.org/drawingml/2006/main">
            <a:r>
              <a:rPr lang="en-US" sz="1500" b="0">
                <a:solidFill>
                  <a:srgbClr val="990000"/>
                </a:solidFill>
                <a:latin typeface="Calibri"/>
                <a:ea typeface="Calibri"/>
              </a:rPr>
              <a:t>• Crosstalk — neighbouring qubits interfere with each other</a:t>
            </a:r>
          </a:p>
          <a:p xmlns:a="http://schemas.openxmlformats.org/drawingml/2006/main">
            <a:r>
              <a:rPr lang="en-US" sz="1500" b="0">
                <a:solidFill>
                  <a:srgbClr val="990000"/>
                </a:solidFill>
                <a:latin typeface="Calibri"/>
                <a:ea typeface="Calibri"/>
              </a:rPr>
              <a:t>• Leakage — qubit leaves the computational subspace</a:t>
            </a:r>
          </a:p>
          <a:p xmlns:a="http://schemas.openxmlformats.org/drawingml/2006/main">
            <a:r>
              <a:rPr lang="en-US" sz="1500" b="0">
                <a:solidFill>
                  <a:srgbClr val="990000"/>
                </a:solidFill>
                <a:latin typeface="Calibri"/>
                <a:ea typeface="Calibri"/>
              </a:rPr>
              <a:t/>
            </a:r>
          </a:p>
          <a:p xmlns:a="http://schemas.openxmlformats.org/drawingml/2006/main">
            <a:r>
              <a:rPr lang="en-US" sz="1500" b="0">
                <a:solidFill>
                  <a:srgbClr val="990000"/>
                </a:solidFill>
                <a:latin typeface="Calibri"/>
                <a:ea typeface="Calibri"/>
              </a:rPr>
              <a:t>Typical IBM Eagle coherence times: T₁ ~ 300–500 µs, T₂ ~ 100–200 µs</a:t>
            </a:r>
          </a:p>
        </p:txBody>
      </p:sp>
      <p:sp>
        <p:nvSpPr>
          <p:cNvPr id="100089" name="MitigationTitle"/>
          <p:cNvSpPr txBox="1"/>
          <p:nvPr/>
        </p:nvSpPr>
        <p:spPr>
          <a:xfrm xmlns:a="http://schemas.openxmlformats.org/drawingml/2006/main">
            <a:off x="540000" y="3168000"/>
            <a:ext cx="10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1E2761"/>
                </a:solidFill>
                <a:latin typeface="Calibri"/>
                <a:ea typeface="Calibri"/>
              </a:rPr>
              <a:t>Error Mitigation Techniques (used in IBM 2023 Nature Experiment):</a:t>
            </a:r>
          </a:p>
        </p:txBody>
      </p:sp>
      <p:sp>
        <p:nvSpPr>
          <p:cNvPr id="100090" name="ZNEBox"/>
          <p:cNvSpPr txBox="1"/>
          <p:nvPr/>
        </p:nvSpPr>
        <p:spPr>
          <a:xfrm xmlns:a="http://schemas.openxmlformats.org/drawingml/2006/main">
            <a:off x="540000" y="3564000"/>
            <a:ext cx="5040000" cy="1440000"/>
          </a:xfrm>
          <a:prstGeom xmlns:a="http://schemas.openxmlformats.org/drawingml/2006/main" prst="rect">
            <a:avLst/>
          </a:prstGeom>
          <a:solidFill xmlns:a="http://schemas.openxmlformats.org/drawingml/2006/main">
            <a:srgbClr val="E8F4FF"/>
          </a:solidFill>
        </p:spPr>
        <p:txBody>
          <a:bodyPr xmlns:a="http://schemas.openxmlformats.org/drawingml/2006/main"/>
          <a:lstStyle xmlns:a="http://schemas.openxmlformats.org/drawingml/2006/main"/>
          <a:p xmlns:a="http://schemas.openxmlformats.org/drawingml/2006/main">
            <a:r>
              <a:rPr lang="en-US" sz="1400" b="0">
                <a:solidFill>
                  <a:srgbClr val="1E2761"/>
                </a:solidFill>
                <a:latin typeface="Calibri"/>
                <a:ea typeface="Calibri"/>
              </a:rPr>
              <a:t>ZNE — Zero Noise Extrapolation</a:t>
            </a:r>
          </a:p>
          <a:p xmlns:a="http://schemas.openxmlformats.org/drawingml/2006/main">
            <a:r>
              <a:rPr lang="en-US" sz="1400" b="0">
                <a:solidFill>
                  <a:srgbClr val="1E2761"/>
                </a:solidFill>
                <a:latin typeface="Calibri"/>
                <a:ea typeface="Calibri"/>
              </a:rPr>
              <a:t>Run circuit at multiple noise levels (1×, 2×, 3× amplification), then extrapolate back to 0 noise. Uses polynomial or exponential fit. Implemented in Qiskit Runtime.</a:t>
            </a:r>
          </a:p>
        </p:txBody>
      </p:sp>
      <p:sp>
        <p:nvSpPr>
          <p:cNvPr id="100091" name="PECBox"/>
          <p:cNvSpPr txBox="1"/>
          <p:nvPr/>
        </p:nvSpPr>
        <p:spPr>
          <a:xfrm xmlns:a="http://schemas.openxmlformats.org/drawingml/2006/main">
            <a:off x="6120000" y="3564000"/>
            <a:ext cx="5400000" cy="144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400" b="0">
                <a:solidFill>
                  <a:srgbClr val="333300"/>
                </a:solidFill>
                <a:latin typeface="Calibri"/>
                <a:ea typeface="Calibri"/>
              </a:rPr>
              <a:t>PEC — Probabilistic Error Cancellation</a:t>
            </a:r>
          </a:p>
          <a:p xmlns:a="http://schemas.openxmlformats.org/drawingml/2006/main">
            <a:r>
              <a:rPr lang="en-US" sz="1400" b="0">
                <a:solidFill>
                  <a:srgbClr val="333300"/>
                </a:solidFill>
                <a:latin typeface="Calibri"/>
                <a:ea typeface="Calibri"/>
              </a:rPr>
              <a:t>Represents noisy gates as quasiprobability distributions over ideal gates. More accurate but exponential sampling overhead. Used for deeper circuits on IBM hardware.</a:t>
            </a:r>
          </a:p>
        </p:txBody>
      </p:sp>
      <p:sp>
        <p:nvSpPr>
          <p:cNvPr id="100092" name="UtilityNote"/>
          <p:cNvSpPr txBox="1"/>
          <p:nvPr/>
        </p:nvSpPr>
        <p:spPr>
          <a:xfrm xmlns:a="http://schemas.openxmlformats.org/drawingml/2006/main">
            <a:off x="540000" y="5220000"/>
            <a:ext cx="10800000" cy="900000"/>
          </a:xfrm>
          <a:prstGeom xmlns:a="http://schemas.openxmlformats.org/drawingml/2006/main" prst="rect">
            <a:avLst/>
          </a:prstGeom>
          <a:solidFill xmlns:a="http://schemas.openxmlformats.org/drawingml/2006/main">
            <a:srgbClr val="E8FFE8"/>
          </a:solidFill>
        </p:spPr>
        <p:txBody>
          <a:bodyPr xmlns:a="http://schemas.openxmlformats.org/drawingml/2006/main"/>
          <a:lstStyle xmlns:a="http://schemas.openxmlformats.org/drawingml/2006/main"/>
          <a:p xmlns:a="http://schemas.openxmlformats.org/drawingml/2006/main">
            <a:r>
              <a:rPr lang="en-US" sz="1500" b="0">
                <a:solidFill>
                  <a:srgbClr val="003300"/>
                </a:solidFill>
                <a:latin typeface="Calibri"/>
                <a:ea typeface="Calibri"/>
              </a:rPr>
              <a:t>The 127-qubit Eagle experiment (Kim et al., Nature 2023) applied ZNE to 60-layer circuits. Results exceeded what classical tensor network methods could verify exactly — marking the Utility Era.</a:t>
            </a:r>
          </a:p>
        </p:txBody>
      </p:sp>
      <p:sp>
        <p:nvSpPr>
          <p:cNvPr id="100093"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4"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11 · Getting Started with Qiskit 1.x</a:t>
            </a:r>
          </a:p>
        </p:txBody>
      </p:sp>
      <p:sp>
        <p:nvSpPr>
          <p:cNvPr id="100095"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Setting Up Qiskit 1.x — Step by Step</a:t>
            </a:r>
          </a:p>
        </p:txBody>
      </p:sp>
      <p:sp>
        <p:nvSpPr>
          <p:cNvPr id="100096" name="SetupSteps"/>
          <p:cNvSpPr txBox="1"/>
          <p:nvPr/>
        </p:nvSpPr>
        <p:spPr>
          <a:xfrm xmlns:a="http://schemas.openxmlformats.org/drawingml/2006/main">
            <a:off x="540000" y="1008000"/>
            <a:ext cx="6480000" cy="468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0">
                <a:solidFill>
                  <a:srgbClr val="00FF88"/>
                </a:solidFill>
                <a:latin typeface="Courier New"/>
                <a:ea typeface="Courier New"/>
              </a:rPr>
              <a:t>1. Create a virtual environment (Python 3.8+)</a:t>
            </a:r>
          </a:p>
          <a:p xmlns:a="http://schemas.openxmlformats.org/drawingml/2006/main">
            <a:r>
              <a:rPr lang="en-US" sz="1400" b="0">
                <a:solidFill>
                  <a:srgbClr val="00FF88"/>
                </a:solidFill>
                <a:latin typeface="Courier New"/>
                <a:ea typeface="Courier New"/>
              </a:rPr>
              <a:t>   python3 -m venv qiskit-1.x-venv</a:t>
            </a:r>
          </a:p>
          <a:p xmlns:a="http://schemas.openxmlformats.org/drawingml/2006/main">
            <a:r>
              <a:rPr lang="en-US" sz="1400" b="0">
                <a:solidFill>
                  <a:srgbClr val="00FF88"/>
                </a:solidFill>
                <a:latin typeface="Courier New"/>
                <a:ea typeface="Courier New"/>
              </a:rPr>
              <a:t/>
            </a:r>
          </a:p>
          <a:p xmlns:a="http://schemas.openxmlformats.org/drawingml/2006/main">
            <a:r>
              <a:rPr lang="en-US" sz="1400" b="0">
                <a:solidFill>
                  <a:srgbClr val="00FF88"/>
                </a:solidFill>
                <a:latin typeface="Courier New"/>
                <a:ea typeface="Courier New"/>
              </a:rPr>
              <a:t>2. Activate the environment</a:t>
            </a:r>
          </a:p>
          <a:p xmlns:a="http://schemas.openxmlformats.org/drawingml/2006/main">
            <a:r>
              <a:rPr lang="en-US" sz="1400" b="0">
                <a:solidFill>
                  <a:srgbClr val="00FF88"/>
                </a:solidFill>
                <a:latin typeface="Courier New"/>
                <a:ea typeface="Courier New"/>
              </a:rPr>
              <a:t>   source qiskit-1.x-venv/bin/activate        (macOS/Linux)</a:t>
            </a:r>
          </a:p>
          <a:p xmlns:a="http://schemas.openxmlformats.org/drawingml/2006/main">
            <a:r>
              <a:rPr lang="en-US" sz="1400" b="0">
                <a:solidFill>
                  <a:srgbClr val="00FF88"/>
                </a:solidFill>
                <a:latin typeface="Courier New"/>
                <a:ea typeface="Courier New"/>
              </a:rPr>
              <a:t>   .\qiskit-1.x-venv\Scripts\activate.bat    (Windows)</a:t>
            </a:r>
          </a:p>
          <a:p xmlns:a="http://schemas.openxmlformats.org/drawingml/2006/main">
            <a:r>
              <a:rPr lang="en-US" sz="1400" b="0">
                <a:solidFill>
                  <a:srgbClr val="00FF88"/>
                </a:solidFill>
                <a:latin typeface="Courier New"/>
                <a:ea typeface="Courier New"/>
              </a:rPr>
              <a:t/>
            </a:r>
          </a:p>
          <a:p xmlns:a="http://schemas.openxmlformats.org/drawingml/2006/main">
            <a:r>
              <a:rPr lang="en-US" sz="1400" b="0">
                <a:solidFill>
                  <a:srgbClr val="00FF88"/>
                </a:solidFill>
                <a:latin typeface="Courier New"/>
                <a:ea typeface="Courier New"/>
              </a:rPr>
              <a:t>3. Install Qiskit 1.x</a:t>
            </a:r>
          </a:p>
          <a:p xmlns:a="http://schemas.openxmlformats.org/drawingml/2006/main">
            <a:r>
              <a:rPr lang="en-US" sz="1400" b="0">
                <a:solidFill>
                  <a:srgbClr val="00FF88"/>
                </a:solidFill>
                <a:latin typeface="Courier New"/>
                <a:ea typeface="Courier New"/>
              </a:rPr>
              <a:t>   pip install qiskit</a:t>
            </a:r>
          </a:p>
          <a:p xmlns:a="http://schemas.openxmlformats.org/drawingml/2006/main">
            <a:r>
              <a:rPr lang="en-US" sz="1400" b="0">
                <a:solidFill>
                  <a:srgbClr val="00FF88"/>
                </a:solidFill>
                <a:latin typeface="Courier New"/>
                <a:ea typeface="Courier New"/>
              </a:rPr>
              <a:t/>
            </a:r>
          </a:p>
          <a:p xmlns:a="http://schemas.openxmlformats.org/drawingml/2006/main">
            <a:r>
              <a:rPr lang="en-US" sz="1400" b="0">
                <a:solidFill>
                  <a:srgbClr val="00FF88"/>
                </a:solidFill>
                <a:latin typeface="Courier New"/>
                <a:ea typeface="Courier New"/>
              </a:rPr>
              <a:t>4. Install IBM Runtime &amp; visualisation tools</a:t>
            </a:r>
          </a:p>
          <a:p xmlns:a="http://schemas.openxmlformats.org/drawingml/2006/main">
            <a:r>
              <a:rPr lang="en-US" sz="1400" b="0">
                <a:solidFill>
                  <a:srgbClr val="00FF88"/>
                </a:solidFill>
                <a:latin typeface="Courier New"/>
                <a:ea typeface="Courier New"/>
              </a:rPr>
              <a:t>   pip install qiskit-ibm-runtime</a:t>
            </a:r>
          </a:p>
          <a:p xmlns:a="http://schemas.openxmlformats.org/drawingml/2006/main">
            <a:r>
              <a:rPr lang="en-US" sz="1400" b="0">
                <a:solidFill>
                  <a:srgbClr val="00FF88"/>
                </a:solidFill>
                <a:latin typeface="Courier New"/>
                <a:ea typeface="Courier New"/>
              </a:rPr>
              <a:t>   pip install qiskit[visualization]</a:t>
            </a:r>
          </a:p>
          <a:p xmlns:a="http://schemas.openxmlformats.org/drawingml/2006/main">
            <a:r>
              <a:rPr lang="en-US" sz="1400" b="0">
                <a:solidFill>
                  <a:srgbClr val="00FF88"/>
                </a:solidFill>
                <a:latin typeface="Courier New"/>
                <a:ea typeface="Courier New"/>
              </a:rPr>
              <a:t>   pip install jupyter</a:t>
            </a:r>
          </a:p>
          <a:p xmlns:a="http://schemas.openxmlformats.org/drawingml/2006/main">
            <a:r>
              <a:rPr lang="en-US" sz="1400" b="0">
                <a:solidFill>
                  <a:srgbClr val="00FF88"/>
                </a:solidFill>
                <a:latin typeface="Courier New"/>
                <a:ea typeface="Courier New"/>
              </a:rPr>
              <a:t>   pip install qiskit-aer</a:t>
            </a:r>
          </a:p>
          <a:p xmlns:a="http://schemas.openxmlformats.org/drawingml/2006/main">
            <a:r>
              <a:rPr lang="en-US" sz="1400" b="0">
                <a:solidFill>
                  <a:srgbClr val="00FF88"/>
                </a:solidFill>
                <a:latin typeface="Courier New"/>
                <a:ea typeface="Courier New"/>
              </a:rPr>
              <a:t/>
            </a:r>
          </a:p>
          <a:p xmlns:a="http://schemas.openxmlformats.org/drawingml/2006/main">
            <a:r>
              <a:rPr lang="en-US" sz="1400" b="0">
                <a:solidFill>
                  <a:srgbClr val="00FF88"/>
                </a:solidFill>
                <a:latin typeface="Courier New"/>
                <a:ea typeface="Courier New"/>
              </a:rPr>
              <a:t>5. Launch Jupyter Notebook</a:t>
            </a:r>
          </a:p>
          <a:p xmlns:a="http://schemas.openxmlformats.org/drawingml/2006/main">
            <a:r>
              <a:rPr lang="en-US" sz="1400" b="0">
                <a:solidFill>
                  <a:srgbClr val="00FF88"/>
                </a:solidFill>
                <a:latin typeface="Courier New"/>
                <a:ea typeface="Courier New"/>
              </a:rPr>
              <a:t>   jupyter notebook</a:t>
            </a:r>
          </a:p>
        </p:txBody>
      </p:sp>
      <p:sp>
        <p:nvSpPr>
          <p:cNvPr id="100097" name="HelloWorld"/>
          <p:cNvSpPr txBox="1"/>
          <p:nvPr/>
        </p:nvSpPr>
        <p:spPr>
          <a:xfrm xmlns:a="http://schemas.openxmlformats.org/drawingml/2006/main">
            <a:off x="7380000" y="1008000"/>
            <a:ext cx="4320000" cy="4680000"/>
          </a:xfrm>
          <a:prstGeom xmlns:a="http://schemas.openxmlformats.org/drawingml/2006/main" prst="rect">
            <a:avLst/>
          </a:prstGeom>
          <a:solidFill xmlns:a="http://schemas.openxmlformats.org/drawingml/2006/main">
            <a:srgbClr val="222222"/>
          </a:solidFill>
        </p:spPr>
        <p:txBody>
          <a:bodyPr xmlns:a="http://schemas.openxmlformats.org/drawingml/2006/main"/>
          <a:lstStyle xmlns:a="http://schemas.openxmlformats.org/drawingml/2006/main"/>
          <a:p xmlns:a="http://schemas.openxmlformats.org/drawingml/2006/main">
            <a:r>
              <a:rPr lang="en-US" sz="1200" b="0">
                <a:solidFill>
                  <a:srgbClr val="00FF88"/>
                </a:solidFill>
                <a:latin typeface="Courier New"/>
                <a:ea typeface="Courier New"/>
              </a:rPr>
              <a:t>Hello World — First Qiskit Circuit:</a:t>
            </a:r>
          </a:p>
          <a:p xmlns:a="http://schemas.openxmlformats.org/drawingml/2006/main">
            <a:r>
              <a:rPr lang="en-US" sz="1200" b="0">
                <a:solidFill>
                  <a:srgbClr val="00FF88"/>
                </a:solidFill>
                <a:latin typeface="Courier New"/>
                <a:ea typeface="Courier New"/>
              </a:rPr>
              <a:t/>
            </a:r>
          </a:p>
          <a:p xmlns:a="http://schemas.openxmlformats.org/drawingml/2006/main">
            <a:r>
              <a:rPr lang="en-US" sz="1200" b="0">
                <a:solidFill>
                  <a:srgbClr val="00FF88"/>
                </a:solidFill>
                <a:latin typeface="Courier New"/>
                <a:ea typeface="Courier New"/>
              </a:rPr>
              <a:t>from qiskit import QuantumCircuit</a:t>
            </a:r>
          </a:p>
          <a:p xmlns:a="http://schemas.openxmlformats.org/drawingml/2006/main">
            <a:r>
              <a:rPr lang="en-US" sz="1200" b="0">
                <a:solidFill>
                  <a:srgbClr val="00FF88"/>
                </a:solidFill>
                <a:latin typeface="Courier New"/>
                <a:ea typeface="Courier New"/>
              </a:rPr>
              <a:t>from qiskit_aer import AerSimulator</a:t>
            </a:r>
          </a:p>
          <a:p xmlns:a="http://schemas.openxmlformats.org/drawingml/2006/main">
            <a:r>
              <a:rPr lang="en-US" sz="1200" b="0">
                <a:solidFill>
                  <a:srgbClr val="00FF88"/>
                </a:solidFill>
                <a:latin typeface="Courier New"/>
                <a:ea typeface="Courier New"/>
              </a:rPr>
              <a:t/>
            </a:r>
          </a:p>
          <a:p xmlns:a="http://schemas.openxmlformats.org/drawingml/2006/main">
            <a:r>
              <a:rPr lang="en-US" sz="1200" b="0">
                <a:solidFill>
                  <a:srgbClr val="00FF88"/>
                </a:solidFill>
                <a:latin typeface="Courier New"/>
                <a:ea typeface="Courier New"/>
              </a:rPr>
              <a:t># Create 2-qubit Bell state circuit</a:t>
            </a:r>
          </a:p>
          <a:p xmlns:a="http://schemas.openxmlformats.org/drawingml/2006/main">
            <a:r>
              <a:rPr lang="en-US" sz="1200" b="0">
                <a:solidFill>
                  <a:srgbClr val="00FF88"/>
                </a:solidFill>
                <a:latin typeface="Courier New"/>
                <a:ea typeface="Courier New"/>
              </a:rPr>
              <a:t>qc = QuantumCircuit(2, 2)</a:t>
            </a:r>
          </a:p>
          <a:p xmlns:a="http://schemas.openxmlformats.org/drawingml/2006/main">
            <a:r>
              <a:rPr lang="en-US" sz="1200" b="0">
                <a:solidFill>
                  <a:srgbClr val="00FF88"/>
                </a:solidFill>
                <a:latin typeface="Courier New"/>
                <a:ea typeface="Courier New"/>
              </a:rPr>
              <a:t>qc.h(0)          # Hadamard on qubit 0</a:t>
            </a:r>
          </a:p>
          <a:p xmlns:a="http://schemas.openxmlformats.org/drawingml/2006/main">
            <a:r>
              <a:rPr lang="en-US" sz="1200" b="0">
                <a:solidFill>
                  <a:srgbClr val="00FF88"/>
                </a:solidFill>
                <a:latin typeface="Courier New"/>
                <a:ea typeface="Courier New"/>
              </a:rPr>
              <a:t>qc.cx(0, 1)      # CNOT: control=0, target=1</a:t>
            </a:r>
          </a:p>
          <a:p xmlns:a="http://schemas.openxmlformats.org/drawingml/2006/main">
            <a:r>
              <a:rPr lang="en-US" sz="1200" b="0">
                <a:solidFill>
                  <a:srgbClr val="00FF88"/>
                </a:solidFill>
                <a:latin typeface="Courier New"/>
                <a:ea typeface="Courier New"/>
              </a:rPr>
              <a:t>qc.measure([0, 1], [0, 1])</a:t>
            </a:r>
          </a:p>
          <a:p xmlns:a="http://schemas.openxmlformats.org/drawingml/2006/main">
            <a:r>
              <a:rPr lang="en-US" sz="1200" b="0">
                <a:solidFill>
                  <a:srgbClr val="00FF88"/>
                </a:solidFill>
                <a:latin typeface="Courier New"/>
                <a:ea typeface="Courier New"/>
              </a:rPr>
              <a:t/>
            </a:r>
          </a:p>
          <a:p xmlns:a="http://schemas.openxmlformats.org/drawingml/2006/main">
            <a:r>
              <a:rPr lang="en-US" sz="1200" b="0">
                <a:solidFill>
                  <a:srgbClr val="00FF88"/>
                </a:solidFill>
                <a:latin typeface="Courier New"/>
                <a:ea typeface="Courier New"/>
              </a:rPr>
              <a:t># Simulate</a:t>
            </a:r>
          </a:p>
          <a:p xmlns:a="http://schemas.openxmlformats.org/drawingml/2006/main">
            <a:r>
              <a:rPr lang="en-US" sz="1200" b="0">
                <a:solidFill>
                  <a:srgbClr val="00FF88"/>
                </a:solidFill>
                <a:latin typeface="Courier New"/>
                <a:ea typeface="Courier New"/>
              </a:rPr>
              <a:t>sim = AerSimulator()</a:t>
            </a:r>
          </a:p>
          <a:p xmlns:a="http://schemas.openxmlformats.org/drawingml/2006/main">
            <a:r>
              <a:rPr lang="en-US" sz="1200" b="0">
                <a:solidFill>
                  <a:srgbClr val="00FF88"/>
                </a:solidFill>
                <a:latin typeface="Courier New"/>
                <a:ea typeface="Courier New"/>
              </a:rPr>
              <a:t>result = sim.run(qc, shots=1024).result()</a:t>
            </a:r>
          </a:p>
          <a:p xmlns:a="http://schemas.openxmlformats.org/drawingml/2006/main">
            <a:r>
              <a:rPr lang="en-US" sz="1200" b="0">
                <a:solidFill>
                  <a:srgbClr val="00FF88"/>
                </a:solidFill>
                <a:latin typeface="Courier New"/>
                <a:ea typeface="Courier New"/>
              </a:rPr>
              <a:t>print(result.get_counts())</a:t>
            </a:r>
          </a:p>
          <a:p xmlns:a="http://schemas.openxmlformats.org/drawingml/2006/main">
            <a:r>
              <a:rPr lang="en-US" sz="1200" b="0">
                <a:solidFill>
                  <a:srgbClr val="00FF88"/>
                </a:solidFill>
                <a:latin typeface="Courier New"/>
                <a:ea typeface="Courier New"/>
              </a:rPr>
              <a:t># Output: {'00': ~512, '11': ~512}</a:t>
            </a:r>
          </a:p>
        </p:txBody>
      </p:sp>
      <p:sp>
        <p:nvSpPr>
          <p:cNvPr id="100098"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Reference: https://docs.quantum.ibm.com/guides/install-qiskit</a:t>
            </a:r>
          </a:p>
        </p:txBody>
      </p:sp>
    </p:spTree>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9"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11 · Getting Started with Qiskit 1.x</a:t>
            </a:r>
          </a:p>
        </p:txBody>
      </p:sp>
      <p:sp>
        <p:nvSpPr>
          <p:cNvPr id="100100"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Running on IBM Quantum Hardware</a:t>
            </a:r>
          </a:p>
        </p:txBody>
      </p:sp>
      <p:sp>
        <p:nvSpPr>
          <p:cNvPr id="100101" name="Code"/>
          <p:cNvSpPr txBox="1"/>
          <p:nvPr/>
        </p:nvSpPr>
        <p:spPr>
          <a:xfrm xmlns:a="http://schemas.openxmlformats.org/drawingml/2006/main">
            <a:off x="540000" y="1008000"/>
            <a:ext cx="10800000" cy="4680000"/>
          </a:xfrm>
          <a:prstGeom xmlns:a="http://schemas.openxmlformats.org/drawingml/2006/main" prst="rect">
            <a:avLst/>
          </a:prstGeom>
          <a:solidFill xmlns:a="http://schemas.openxmlformats.org/drawingml/2006/main">
            <a:srgbClr val="111111"/>
          </a:solidFill>
        </p:spPr>
        <p:txBody>
          <a:bodyPr xmlns:a="http://schemas.openxmlformats.org/drawingml/2006/main"/>
          <a:lstStyle xmlns:a="http://schemas.openxmlformats.org/drawingml/2006/main"/>
          <a:p xmlns:a="http://schemas.openxmlformats.org/drawingml/2006/main">
            <a:r>
              <a:rPr lang="en-US" sz="1300" b="0">
                <a:solidFill>
                  <a:srgbClr val="00FF88"/>
                </a:solidFill>
                <a:latin typeface="Courier New"/>
                <a:ea typeface="Courier New"/>
              </a:rPr>
              <a:t># Connect to IBM Quantum Cloud</a:t>
            </a:r>
          </a:p>
          <a:p xmlns:a="http://schemas.openxmlformats.org/drawingml/2006/main">
            <a:r>
              <a:rPr lang="en-US" sz="1300" b="0">
                <a:solidFill>
                  <a:srgbClr val="00FF88"/>
                </a:solidFill>
                <a:latin typeface="Courier New"/>
                <a:ea typeface="Courier New"/>
              </a:rPr>
              <a:t>from qiskit_ibm_runtime import QiskitRuntimeService, SamplerV2 as Sampler</a:t>
            </a:r>
          </a:p>
          <a:p xmlns:a="http://schemas.openxmlformats.org/drawingml/2006/main">
            <a:r>
              <a:rPr lang="en-US" sz="1300" b="0">
                <a:solidFill>
                  <a:srgbClr val="00FF88"/>
                </a:solidFill>
                <a:latin typeface="Courier New"/>
                <a:ea typeface="Courier New"/>
              </a:rPr>
              <a:t>from qiskit import QuantumCircuit, transpile</a:t>
            </a:r>
          </a:p>
          <a:p xmlns:a="http://schemas.openxmlformats.org/drawingml/2006/main">
            <a:r>
              <a:rPr lang="en-US" sz="1300" b="0">
                <a:solidFill>
                  <a:srgbClr val="00FF88"/>
                </a:solidFill>
                <a:latin typeface="Courier New"/>
                <a:ea typeface="Courier New"/>
              </a:rPr>
              <a:t/>
            </a:r>
          </a:p>
          <a:p xmlns:a="http://schemas.openxmlformats.org/drawingml/2006/main">
            <a:r>
              <a:rPr lang="en-US" sz="1300" b="0">
                <a:solidFill>
                  <a:srgbClr val="00FF88"/>
                </a:solidFill>
                <a:latin typeface="Courier New"/>
                <a:ea typeface="Courier New"/>
              </a:rPr>
              <a:t># Save credentials (one-time setup)</a:t>
            </a:r>
          </a:p>
          <a:p xmlns:a="http://schemas.openxmlformats.org/drawingml/2006/main">
            <a:r>
              <a:rPr lang="en-US" sz="1300" b="0">
                <a:solidFill>
                  <a:srgbClr val="00FF88"/>
                </a:solidFill>
                <a:latin typeface="Courier New"/>
                <a:ea typeface="Courier New"/>
              </a:rPr>
              <a:t>QiskitRuntimeService.save_account(</a:t>
            </a:r>
          </a:p>
          <a:p xmlns:a="http://schemas.openxmlformats.org/drawingml/2006/main">
            <a:r>
              <a:rPr lang="en-US" sz="1300" b="0">
                <a:solidFill>
                  <a:srgbClr val="00FF88"/>
                </a:solidFill>
                <a:latin typeface="Courier New"/>
                <a:ea typeface="Courier New"/>
              </a:rPr>
              <a:t>    channel='ibm_quantum',</a:t>
            </a:r>
          </a:p>
          <a:p xmlns:a="http://schemas.openxmlformats.org/drawingml/2006/main">
            <a:r>
              <a:rPr lang="en-US" sz="1300" b="0">
                <a:solidFill>
                  <a:srgbClr val="00FF88"/>
                </a:solidFill>
                <a:latin typeface="Courier New"/>
                <a:ea typeface="Courier New"/>
              </a:rPr>
              <a:t>    token='YOUR_IBM_QUANTUM_API_TOKEN',  # from quantum.ibm.com</a:t>
            </a:r>
          </a:p>
          <a:p xmlns:a="http://schemas.openxmlformats.org/drawingml/2006/main">
            <a:r>
              <a:rPr lang="en-US" sz="1300" b="0">
                <a:solidFill>
                  <a:srgbClr val="00FF88"/>
                </a:solidFill>
                <a:latin typeface="Courier New"/>
                <a:ea typeface="Courier New"/>
              </a:rPr>
              <a:t>    overwrite=True</a:t>
            </a:r>
          </a:p>
          <a:p xmlns:a="http://schemas.openxmlformats.org/drawingml/2006/main">
            <a:r>
              <a:rPr lang="en-US" sz="1300" b="0">
                <a:solidFill>
                  <a:srgbClr val="00FF88"/>
                </a:solidFill>
                <a:latin typeface="Courier New"/>
                <a:ea typeface="Courier New"/>
              </a:rPr>
              <a:t>)</a:t>
            </a:r>
          </a:p>
          <a:p xmlns:a="http://schemas.openxmlformats.org/drawingml/2006/main">
            <a:r>
              <a:rPr lang="en-US" sz="1300" b="0">
                <a:solidFill>
                  <a:srgbClr val="00FF88"/>
                </a:solidFill>
                <a:latin typeface="Courier New"/>
                <a:ea typeface="Courier New"/>
              </a:rPr>
              <a:t/>
            </a:r>
          </a:p>
          <a:p xmlns:a="http://schemas.openxmlformats.org/drawingml/2006/main">
            <a:r>
              <a:rPr lang="en-US" sz="1300" b="0">
                <a:solidFill>
                  <a:srgbClr val="00FF88"/>
                </a:solidFill>
                <a:latin typeface="Courier New"/>
                <a:ea typeface="Courier New"/>
              </a:rPr>
              <a:t># Load saved account and select backend</a:t>
            </a:r>
          </a:p>
          <a:p xmlns:a="http://schemas.openxmlformats.org/drawingml/2006/main">
            <a:r>
              <a:rPr lang="en-US" sz="1300" b="0">
                <a:solidFill>
                  <a:srgbClr val="00FF88"/>
                </a:solidFill>
                <a:latin typeface="Courier New"/>
                <a:ea typeface="Courier New"/>
              </a:rPr>
              <a:t>service = QiskitRuntimeService()</a:t>
            </a:r>
          </a:p>
          <a:p xmlns:a="http://schemas.openxmlformats.org/drawingml/2006/main">
            <a:r>
              <a:rPr lang="en-US" sz="1300" b="0">
                <a:solidFill>
                  <a:srgbClr val="00FF88"/>
                </a:solidFill>
                <a:latin typeface="Courier New"/>
                <a:ea typeface="Courier New"/>
              </a:rPr>
              <a:t>backend = service.least_busy(operational=True, simulator=False)</a:t>
            </a:r>
          </a:p>
          <a:p xmlns:a="http://schemas.openxmlformats.org/drawingml/2006/main">
            <a:r>
              <a:rPr lang="en-US" sz="1300" b="0">
                <a:solidFill>
                  <a:srgbClr val="00FF88"/>
                </a:solidFill>
                <a:latin typeface="Courier New"/>
                <a:ea typeface="Courier New"/>
              </a:rPr>
              <a:t>print(f'Using: {backend.name}')</a:t>
            </a:r>
          </a:p>
          <a:p xmlns:a="http://schemas.openxmlformats.org/drawingml/2006/main">
            <a:r>
              <a:rPr lang="en-US" sz="1300" b="0">
                <a:solidFill>
                  <a:srgbClr val="00FF88"/>
                </a:solidFill>
                <a:latin typeface="Courier New"/>
                <a:ea typeface="Courier New"/>
              </a:rPr>
              <a:t/>
            </a:r>
          </a:p>
          <a:p xmlns:a="http://schemas.openxmlformats.org/drawingml/2006/main">
            <a:r>
              <a:rPr lang="en-US" sz="1300" b="0">
                <a:solidFill>
                  <a:srgbClr val="00FF88"/>
                </a:solidFill>
                <a:latin typeface="Courier New"/>
                <a:ea typeface="Courier New"/>
              </a:rPr>
              <a:t># Build circuit</a:t>
            </a:r>
          </a:p>
          <a:p xmlns:a="http://schemas.openxmlformats.org/drawingml/2006/main">
            <a:r>
              <a:rPr lang="en-US" sz="1300" b="0">
                <a:solidFill>
                  <a:srgbClr val="00FF88"/>
                </a:solidFill>
                <a:latin typeface="Courier New"/>
                <a:ea typeface="Courier New"/>
              </a:rPr>
              <a:t>qc = QuantumCircuit(2, 2)</a:t>
            </a:r>
          </a:p>
          <a:p xmlns:a="http://schemas.openxmlformats.org/drawingml/2006/main">
            <a:r>
              <a:rPr lang="en-US" sz="1300" b="0">
                <a:solidFill>
                  <a:srgbClr val="00FF88"/>
                </a:solidFill>
                <a:latin typeface="Courier New"/>
                <a:ea typeface="Courier New"/>
              </a:rPr>
              <a:t>qc.h(0); qc.cx(0, 1); qc.measure_all()</a:t>
            </a:r>
          </a:p>
          <a:p xmlns:a="http://schemas.openxmlformats.org/drawingml/2006/main">
            <a:r>
              <a:rPr lang="en-US" sz="1300" b="0">
                <a:solidFill>
                  <a:srgbClr val="00FF88"/>
                </a:solidFill>
                <a:latin typeface="Courier New"/>
                <a:ea typeface="Courier New"/>
              </a:rPr>
              <a:t/>
            </a:r>
          </a:p>
          <a:p xmlns:a="http://schemas.openxmlformats.org/drawingml/2006/main">
            <a:r>
              <a:rPr lang="en-US" sz="1300" b="0">
                <a:solidFill>
                  <a:srgbClr val="00FF88"/>
                </a:solidFill>
                <a:latin typeface="Courier New"/>
                <a:ea typeface="Courier New"/>
              </a:rPr>
              <a:t># Transpile to native gate set</a:t>
            </a:r>
          </a:p>
          <a:p xmlns:a="http://schemas.openxmlformats.org/drawingml/2006/main">
            <a:r>
              <a:rPr lang="en-US" sz="1300" b="0">
                <a:solidFill>
                  <a:srgbClr val="00FF88"/>
                </a:solidFill>
                <a:latin typeface="Courier New"/>
                <a:ea typeface="Courier New"/>
              </a:rPr>
              <a:t>tqc = transpile(qc, backend, optimization_level=3)</a:t>
            </a:r>
          </a:p>
          <a:p xmlns:a="http://schemas.openxmlformats.org/drawingml/2006/main">
            <a:r>
              <a:rPr lang="en-US" sz="1300" b="0">
                <a:solidFill>
                  <a:srgbClr val="00FF88"/>
                </a:solidFill>
                <a:latin typeface="Courier New"/>
                <a:ea typeface="Courier New"/>
              </a:rPr>
              <a:t/>
            </a:r>
          </a:p>
          <a:p xmlns:a="http://schemas.openxmlformats.org/drawingml/2006/main">
            <a:r>
              <a:rPr lang="en-US" sz="1300" b="0">
                <a:solidFill>
                  <a:srgbClr val="00FF88"/>
                </a:solidFill>
                <a:latin typeface="Courier New"/>
                <a:ea typeface="Courier New"/>
              </a:rPr>
              <a:t># Run with Sampler primitive</a:t>
            </a:r>
          </a:p>
          <a:p xmlns:a="http://schemas.openxmlformats.org/drawingml/2006/main">
            <a:r>
              <a:rPr lang="en-US" sz="1300" b="0">
                <a:solidFill>
                  <a:srgbClr val="00FF88"/>
                </a:solidFill>
                <a:latin typeface="Courier New"/>
                <a:ea typeface="Courier New"/>
              </a:rPr>
              <a:t>sampler = Sampler(backend)</a:t>
            </a:r>
          </a:p>
          <a:p xmlns:a="http://schemas.openxmlformats.org/drawingml/2006/main">
            <a:r>
              <a:rPr lang="en-US" sz="1300" b="0">
                <a:solidFill>
                  <a:srgbClr val="00FF88"/>
                </a:solidFill>
                <a:latin typeface="Courier New"/>
                <a:ea typeface="Courier New"/>
              </a:rPr>
              <a:t>job = sampler.run([tqc], shots=1024)</a:t>
            </a:r>
          </a:p>
          <a:p xmlns:a="http://schemas.openxmlformats.org/drawingml/2006/main">
            <a:r>
              <a:rPr lang="en-US" sz="1300" b="0">
                <a:solidFill>
                  <a:srgbClr val="00FF88"/>
                </a:solidFill>
                <a:latin typeface="Courier New"/>
                <a:ea typeface="Courier New"/>
              </a:rPr>
              <a:t>result = job.result()</a:t>
            </a:r>
          </a:p>
          <a:p xmlns:a="http://schemas.openxmlformats.org/drawingml/2006/main">
            <a:r>
              <a:rPr lang="en-US" sz="1300" b="0">
                <a:solidFill>
                  <a:srgbClr val="00FF88"/>
                </a:solidFill>
                <a:latin typeface="Courier New"/>
                <a:ea typeface="Courier New"/>
              </a:rPr>
              <a:t>print(result[0].data.meas.get_counts())</a:t>
            </a:r>
          </a:p>
        </p:txBody>
      </p:sp>
      <p:sp>
        <p:nvSpPr>
          <p:cNvPr id="100102"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Get your API token at: quantum.cloud.ibm.com  ·  Free tier available</a:t>
            </a:r>
          </a:p>
        </p:txBody>
      </p:sp>
    </p:spTree>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03"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Module 12 · IBM Quantum Roadmap &amp; Next Steps</a:t>
            </a:r>
          </a:p>
        </p:txBody>
      </p:sp>
      <p:sp>
        <p:nvSpPr>
          <p:cNvPr id="100104"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IBM Quantum Hardware Roadmap</a:t>
            </a:r>
          </a:p>
        </p:txBody>
      </p:sp>
      <p:sp>
        <p:nvSpPr>
          <p:cNvPr id="100105" name="Timeline"/>
          <p:cNvSpPr txBox="1"/>
          <p:nvPr/>
        </p:nvSpPr>
        <p:spPr>
          <a:xfrm xmlns:a="http://schemas.openxmlformats.org/drawingml/2006/main">
            <a:off x="540000" y="1008000"/>
            <a:ext cx="10800000" cy="360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500" b="0">
                <a:solidFill>
                  <a:srgbClr val="1E2761"/>
                </a:solidFill>
                <a:latin typeface="Calibri"/>
                <a:ea typeface="Calibri"/>
              </a:rPr>
              <a:t>2019 — Falcon (27 qubits): First heavy-hex layout; improved connectivity</a:t>
            </a:r>
          </a:p>
          <a:p xmlns:a="http://schemas.openxmlformats.org/drawingml/2006/main">
            <a:r>
              <a:rPr lang="en-US" sz="1500" b="0">
                <a:solidFill>
                  <a:srgbClr val="1E2761"/>
                </a:solidFill>
                <a:latin typeface="Calibri"/>
                <a:ea typeface="Calibri"/>
              </a:rPr>
              <a:t>2020 — Hummingbird (65 qubits): Dual-layer coupling map; first 65Q system</a:t>
            </a:r>
          </a:p>
          <a:p xmlns:a="http://schemas.openxmlformats.org/drawingml/2006/main">
            <a:r>
              <a:rPr lang="en-US" sz="1500" b="0">
                <a:solidFill>
                  <a:srgbClr val="1E2761"/>
                </a:solidFill>
                <a:latin typeface="Calibri"/>
                <a:ea typeface="Calibri"/>
              </a:rPr>
              <a:t>2021 — Eagle (127 qubits): 3D integration; exceeded classical simulation threshold</a:t>
            </a:r>
          </a:p>
          <a:p xmlns:a="http://schemas.openxmlformats.org/drawingml/2006/main">
            <a:r>
              <a:rPr lang="en-US" sz="1500" b="0">
                <a:solidFill>
                  <a:srgbClr val="1E2761"/>
                </a:solidFill>
                <a:latin typeface="Calibri"/>
                <a:ea typeface="Calibri"/>
              </a:rPr>
              <a:t>2022 — Osprey (433 qubits): New wiring architecture; reduced crosstalk</a:t>
            </a:r>
          </a:p>
          <a:p xmlns:a="http://schemas.openxmlformats.org/drawingml/2006/main">
            <a:r>
              <a:rPr lang="en-US" sz="1500" b="0">
                <a:solidFill>
                  <a:srgbClr val="1E2761"/>
                </a:solidFill>
                <a:latin typeface="Calibri"/>
                <a:ea typeface="Calibri"/>
              </a:rPr>
              <a:t>2023 — Condor (1121 qubits): World's first 1000+ qubit processor</a:t>
            </a:r>
          </a:p>
          <a:p xmlns:a="http://schemas.openxmlformats.org/drawingml/2006/main">
            <a:r>
              <a:rPr lang="en-US" sz="1500" b="0">
                <a:solidFill>
                  <a:srgbClr val="1E2761"/>
                </a:solidFill>
                <a:latin typeface="Calibri"/>
                <a:ea typeface="Calibri"/>
              </a:rPr>
              <a:t>2024 — Heron (133 qubits, tunable couplers): Higher fidelity; reduced ZZ coupling</a:t>
            </a:r>
          </a:p>
          <a:p xmlns:a="http://schemas.openxmlformats.org/drawingml/2006/main">
            <a:r>
              <a:rPr lang="en-US" sz="1500" b="0">
                <a:solidFill>
                  <a:srgbClr val="1E2761"/>
                </a:solidFill>
                <a:latin typeface="Calibri"/>
                <a:ea typeface="Calibri"/>
              </a:rPr>
              <a:t>2025+ — Kookaburra / Flamingo: Modular architectures, quantum-classical integration</a:t>
            </a:r>
          </a:p>
          <a:p xmlns:a="http://schemas.openxmlformats.org/drawingml/2006/main">
            <a:r>
              <a:rPr lang="en-US" sz="1500" b="0">
                <a:solidFill>
                  <a:srgbClr val="1E2761"/>
                </a:solidFill>
                <a:latin typeface="Calibri"/>
                <a:ea typeface="Calibri"/>
              </a:rPr>
              <a:t>2033  — Fault-Tolerant Quantum Computer target: 100 logical qubits</a:t>
            </a:r>
          </a:p>
        </p:txBody>
      </p:sp>
      <p:sp>
        <p:nvSpPr>
          <p:cNvPr id="100106" name="AdvantageBox"/>
          <p:cNvSpPr txBox="1"/>
          <p:nvPr/>
        </p:nvSpPr>
        <p:spPr>
          <a:xfrm xmlns:a="http://schemas.openxmlformats.org/drawingml/2006/main">
            <a:off x="540000" y="4788000"/>
            <a:ext cx="10800000" cy="900000"/>
          </a:xfrm>
          <a:prstGeom xmlns:a="http://schemas.openxmlformats.org/drawingml/2006/main" prst="rect">
            <a:avLst/>
          </a:prstGeom>
          <a:solidFill xmlns:a="http://schemas.openxmlformats.org/drawingml/2006/main">
            <a:srgbClr val="E8FFE8"/>
          </a:solidFill>
        </p:spPr>
        <p:txBody>
          <a:bodyPr xmlns:a="http://schemas.openxmlformats.org/drawingml/2006/main"/>
          <a:lstStyle xmlns:a="http://schemas.openxmlformats.org/drawingml/2006/main"/>
          <a:p xmlns:a="http://schemas.openxmlformats.org/drawingml/2006/main">
            <a:r>
              <a:rPr lang="en-US" sz="1600" b="0">
                <a:solidFill>
                  <a:srgbClr val="003300"/>
                </a:solidFill>
                <a:latin typeface="Calibri"/>
                <a:ea typeface="Calibri"/>
              </a:rPr>
              <a:t>The 100×100 Land: IBM predicts quantum advantage becomes accessible when circuits reach 100 qubits × 100 depth with error mitigation. We are approaching this frontier.</a:t>
            </a:r>
          </a:p>
        </p:txBody>
      </p:sp>
      <p:sp>
        <p:nvSpPr>
          <p:cNvPr id="100107"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08" name="TopBar"/>
          <p:cNvSpPr txBox="1"/>
          <p:nvPr/>
        </p:nvSpPr>
        <p:spPr>
          <a:xfrm xmlns:a="http://schemas.openxmlformats.org/drawingml/2006/main">
            <a:off x="0" y="0"/>
            <a:ext cx="12193200" cy="36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References</a:t>
            </a:r>
          </a:p>
        </p:txBody>
      </p:sp>
      <p:sp>
        <p:nvSpPr>
          <p:cNvPr id="100109" name="Title"/>
          <p:cNvSpPr txBox="1"/>
          <p:nvPr/>
        </p:nvSpPr>
        <p:spPr>
          <a:xfrm xmlns:a="http://schemas.openxmlformats.org/drawingml/2006/main">
            <a:off x="540000" y="46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E2761"/>
                </a:solidFill>
                <a:latin typeface="Calibri"/>
                <a:ea typeface="Calibri"/>
              </a:rPr>
              <a:t>References &amp; Further Reading</a:t>
            </a:r>
          </a:p>
        </p:txBody>
      </p:sp>
      <p:sp>
        <p:nvSpPr>
          <p:cNvPr id="100110" name="RefList"/>
          <p:cNvSpPr txBox="1"/>
          <p:nvPr/>
        </p:nvSpPr>
        <p:spPr>
          <a:xfrm xmlns:a="http://schemas.openxmlformats.org/drawingml/2006/main">
            <a:off x="540000" y="1008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333333"/>
                </a:solidFill>
                <a:latin typeface="Calibri"/>
                <a:ea typeface="Calibri"/>
              </a:rPr>
              <a:t>[1] Kim, Y. et al., 'Evidence for the utility of quantum computing before fault tolerance,' Nature 618, 500–505 (2023). https://doi.org/10.1038/s41586-023-06096-3</a:t>
            </a:r>
          </a:p>
          <a:p xmlns:a="http://schemas.openxmlformats.org/drawingml/2006/main">
            <a:r>
              <a:rPr lang="en-US" sz="1300" b="0">
                <a:solidFill>
                  <a:srgbClr val="333333"/>
                </a:solidFill>
                <a:latin typeface="Calibri"/>
                <a:ea typeface="Calibri"/>
              </a:rPr>
              <a:t/>
            </a:r>
          </a:p>
          <a:p xmlns:a="http://schemas.openxmlformats.org/drawingml/2006/main">
            <a:r>
              <a:rPr lang="en-US" sz="1300" b="0">
                <a:solidFill>
                  <a:srgbClr val="333333"/>
                </a:solidFill>
                <a:latin typeface="Calibri"/>
                <a:ea typeface="Calibri"/>
              </a:rPr>
              <a:t>[2] Onodera, T., 'Invitation to the Utility Era,' IBM Research Tokyo, QC-in-Practice Course Lecture 1 (2024)</a:t>
            </a:r>
          </a:p>
          <a:p xmlns:a="http://schemas.openxmlformats.org/drawingml/2006/main">
            <a:r>
              <a:rPr lang="en-US" sz="1300" b="0">
                <a:solidFill>
                  <a:srgbClr val="333333"/>
                </a:solidFill>
                <a:latin typeface="Calibri"/>
                <a:ea typeface="Calibri"/>
              </a:rPr>
              <a:t/>
            </a:r>
          </a:p>
          <a:p xmlns:a="http://schemas.openxmlformats.org/drawingml/2006/main">
            <a:r>
              <a:rPr lang="en-US" sz="1300" b="0">
                <a:solidFill>
                  <a:srgbClr val="333333"/>
                </a:solidFill>
                <a:latin typeface="Calibri"/>
                <a:ea typeface="Calibri"/>
              </a:rPr>
              <a:t>[3] IBM Quantum Learning Platform — quantum.cloud.ibm.com/learning/en/courses/quantum-computing-in-practice</a:t>
            </a:r>
          </a:p>
          <a:p xmlns:a="http://schemas.openxmlformats.org/drawingml/2006/main">
            <a:r>
              <a:rPr lang="en-US" sz="1300" b="0">
                <a:solidFill>
                  <a:srgbClr val="333333"/>
                </a:solidFill>
                <a:latin typeface="Calibri"/>
                <a:ea typeface="Calibri"/>
              </a:rPr>
              <a:t/>
            </a:r>
          </a:p>
          <a:p xmlns:a="http://schemas.openxmlformats.org/drawingml/2006/main">
            <a:r>
              <a:rPr lang="en-US" sz="1300" b="0">
                <a:solidFill>
                  <a:srgbClr val="333333"/>
                </a:solidFill>
                <a:latin typeface="Calibri"/>
                <a:ea typeface="Calibri"/>
              </a:rPr>
              <a:t>[4] Peruzzo, A. et al., 'A variational eigenvalue solver on a photonic chip,' Nature Communications 5, 4213 (2014)</a:t>
            </a:r>
          </a:p>
          <a:p xmlns:a="http://schemas.openxmlformats.org/drawingml/2006/main">
            <a:r>
              <a:rPr lang="en-US" sz="1300" b="0">
                <a:solidFill>
                  <a:srgbClr val="333333"/>
                </a:solidFill>
                <a:latin typeface="Calibri"/>
                <a:ea typeface="Calibri"/>
              </a:rPr>
              <a:t/>
            </a:r>
          </a:p>
          <a:p xmlns:a="http://schemas.openxmlformats.org/drawingml/2006/main">
            <a:r>
              <a:rPr lang="en-US" sz="1300" b="0">
                <a:solidFill>
                  <a:srgbClr val="333333"/>
                </a:solidFill>
                <a:latin typeface="Calibri"/>
                <a:ea typeface="Calibri"/>
              </a:rPr>
              <a:t>[5] Farhi, E., Goldstone, J., Gutmann, S., 'A Quantum Approximate Optimization Algorithm,' arXiv:1411.4028 (2014)</a:t>
            </a:r>
          </a:p>
          <a:p xmlns:a="http://schemas.openxmlformats.org/drawingml/2006/main">
            <a:r>
              <a:rPr lang="en-US" sz="1300" b="0">
                <a:solidFill>
                  <a:srgbClr val="333333"/>
                </a:solidFill>
                <a:latin typeface="Calibri"/>
                <a:ea typeface="Calibri"/>
              </a:rPr>
              <a:t/>
            </a:r>
          </a:p>
          <a:p xmlns:a="http://schemas.openxmlformats.org/drawingml/2006/main">
            <a:r>
              <a:rPr lang="en-US" sz="1300" b="0">
                <a:solidFill>
                  <a:srgbClr val="333333"/>
                </a:solidFill>
                <a:latin typeface="Calibri"/>
                <a:ea typeface="Calibri"/>
              </a:rPr>
              <a:t>[6] Harrow, A., Hassidim, A., Lloyd, S., 'Quantum Algorithm for Linear Systems of Equations,' Phys. Rev. Lett. 103, 150502 (2009)</a:t>
            </a:r>
          </a:p>
          <a:p xmlns:a="http://schemas.openxmlformats.org/drawingml/2006/main">
            <a:r>
              <a:rPr lang="en-US" sz="1300" b="0">
                <a:solidFill>
                  <a:srgbClr val="333333"/>
                </a:solidFill>
                <a:latin typeface="Calibri"/>
                <a:ea typeface="Calibri"/>
              </a:rPr>
              <a:t/>
            </a:r>
          </a:p>
          <a:p xmlns:a="http://schemas.openxmlformats.org/drawingml/2006/main">
            <a:r>
              <a:rPr lang="en-US" sz="1300" b="0">
                <a:solidFill>
                  <a:srgbClr val="333333"/>
                </a:solidFill>
                <a:latin typeface="Calibri"/>
                <a:ea typeface="Calibri"/>
              </a:rPr>
              <a:t>[7] Shor, P.W., 'Algorithms for quantum computation: discrete logarithms and factoring,' FOCS 1994, pp. 124–134</a:t>
            </a:r>
          </a:p>
          <a:p xmlns:a="http://schemas.openxmlformats.org/drawingml/2006/main">
            <a:r>
              <a:rPr lang="en-US" sz="1300" b="0">
                <a:solidFill>
                  <a:srgbClr val="333333"/>
                </a:solidFill>
                <a:latin typeface="Calibri"/>
                <a:ea typeface="Calibri"/>
              </a:rPr>
              <a:t/>
            </a:r>
          </a:p>
          <a:p xmlns:a="http://schemas.openxmlformats.org/drawingml/2006/main">
            <a:r>
              <a:rPr lang="en-US" sz="1300" b="0">
                <a:solidFill>
                  <a:srgbClr val="333333"/>
                </a:solidFill>
                <a:latin typeface="Calibri"/>
                <a:ea typeface="Calibri"/>
              </a:rPr>
              <a:t>[8] Grover, L.K., 'A fast quantum mechanical algorithm for database search,' STOC 1996, pp. 212–219</a:t>
            </a:r>
          </a:p>
          <a:p xmlns:a="http://schemas.openxmlformats.org/drawingml/2006/main">
            <a:r>
              <a:rPr lang="en-US" sz="1300" b="0">
                <a:solidFill>
                  <a:srgbClr val="333333"/>
                </a:solidFill>
                <a:latin typeface="Calibri"/>
                <a:ea typeface="Calibri"/>
              </a:rPr>
              <a:t/>
            </a:r>
          </a:p>
          <a:p xmlns:a="http://schemas.openxmlformats.org/drawingml/2006/main">
            <a:r>
              <a:rPr lang="en-US" sz="1300" b="0">
                <a:solidFill>
                  <a:srgbClr val="333333"/>
                </a:solidFill>
                <a:latin typeface="Calibri"/>
                <a:ea typeface="Calibri"/>
              </a:rPr>
              <a:t>[9] Qiskit Documentation — https://docs.quantum.ibm.com</a:t>
            </a:r>
          </a:p>
          <a:p xmlns:a="http://schemas.openxmlformats.org/drawingml/2006/main">
            <a:r>
              <a:rPr lang="en-US" sz="1300" b="0">
                <a:solidFill>
                  <a:srgbClr val="333333"/>
                </a:solidFill>
                <a:latin typeface="Calibri"/>
                <a:ea typeface="Calibri"/>
              </a:rPr>
              <a:t/>
            </a:r>
          </a:p>
          <a:p xmlns:a="http://schemas.openxmlformats.org/drawingml/2006/main">
            <a:r>
              <a:rPr lang="en-US" sz="1300" b="0">
                <a:solidFill>
                  <a:srgbClr val="333333"/>
                </a:solidFill>
                <a:latin typeface="Calibri"/>
                <a:ea typeface="Calibri"/>
              </a:rPr>
              <a:t>[10] IBM Quantum Roadmap — https://research.ibm.com/blog/ibm-quantum-roadmap-2025</a:t>
            </a:r>
          </a:p>
        </p:txBody>
      </p:sp>
      <p:sp>
        <p:nvSpPr>
          <p:cNvPr id="100111"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r>
              <a:rPr lang="en-US" sz="1100" b="0">
                <a:solidFill>
                  <a:srgbClr val="FFFFFF"/>
                </a:solidFill>
                <a:latin typeface="Calibri"/>
                <a:ea typeface="Calibri"/>
              </a:rPr>
              <a:t>IBM Quantum Learning  ·  quantum.cloud.ibm.com</a:t>
            </a:r>
          </a:p>
        </p:txBody>
      </p:sp>
    </p:spTree>
  </p:cSld>
</p:sld>
</file>

<file path=ppt/slides/slide19.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112" name="TopBar"/>
          <p:cNvSpPr txBox="1"/>
          <p:nvPr/>
        </p:nvSpPr>
        <p:spPr>
          <a:xfrm xmlns:a="http://schemas.openxmlformats.org/drawingml/2006/main">
            <a:off x="0" y="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13" name="Title"/>
          <p:cNvSpPr txBox="1"/>
          <p:nvPr/>
        </p:nvSpPr>
        <p:spPr>
          <a:xfrm xmlns:a="http://schemas.openxmlformats.org/drawingml/2006/main">
            <a:off x="540000" y="1440000"/>
            <a:ext cx="108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5400" b="1">
                <a:solidFill>
                  <a:srgbClr val="FFFFFF"/>
                </a:solidFill>
                <a:latin typeface="Calibri"/>
                <a:ea typeface="Calibri"/>
              </a:rPr>
              <a:t>Thank You</a:t>
            </a:r>
          </a:p>
        </p:txBody>
      </p:sp>
      <p:sp>
        <p:nvSpPr>
          <p:cNvPr id="100114" name="Subtitle"/>
          <p:cNvSpPr txBox="1"/>
          <p:nvPr/>
        </p:nvSpPr>
        <p:spPr>
          <a:xfrm xmlns:a="http://schemas.openxmlformats.org/drawingml/2006/main">
            <a:off x="540000" y="270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0">
                <a:solidFill>
                  <a:srgbClr val="00B0F0"/>
                </a:solidFill>
                <a:latin typeface="Calibri"/>
                <a:ea typeface="Calibri"/>
              </a:rPr>
              <a:t>Quantum Tutorials Part 1 — Invitation to the Utility Era</a:t>
            </a:r>
          </a:p>
        </p:txBody>
      </p:sp>
      <p:sp>
        <p:nvSpPr>
          <p:cNvPr id="100115" name="Links"/>
          <p:cNvSpPr txBox="1"/>
          <p:nvPr/>
        </p:nvSpPr>
        <p:spPr>
          <a:xfrm xmlns:a="http://schemas.openxmlformats.org/drawingml/2006/main">
            <a:off x="540000" y="3600000"/>
            <a:ext cx="10800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AACCFF"/>
                </a:solidFill>
                <a:latin typeface="Calibri"/>
                <a:ea typeface="Calibri"/>
              </a:rPr>
              <a:t>IBM Quantum Learning:   quantum.cloud.ibm.com/learning</a:t>
            </a:r>
          </a:p>
          <a:p xmlns:a="http://schemas.openxmlformats.org/drawingml/2006/main">
            <a:r>
              <a:rPr lang="en-US" sz="1600" b="0">
                <a:solidFill>
                  <a:srgbClr val="AACCFF"/>
                </a:solidFill>
                <a:latin typeface="Calibri"/>
                <a:ea typeface="Calibri"/>
              </a:rPr>
              <a:t>Qiskit Documentation:   docs.quantum.ibm.com</a:t>
            </a:r>
          </a:p>
          <a:p xmlns:a="http://schemas.openxmlformats.org/drawingml/2006/main">
            <a:r>
              <a:rPr lang="en-US" sz="1600" b="0">
                <a:solidFill>
                  <a:srgbClr val="AACCFF"/>
                </a:solidFill>
                <a:latin typeface="Calibri"/>
                <a:ea typeface="Calibri"/>
              </a:rPr>
              <a:t>IBM Quantum Research:   research.ibm.com/quantum-computing</a:t>
            </a:r>
          </a:p>
          <a:p xmlns:a="http://schemas.openxmlformats.org/drawingml/2006/main">
            <a:r>
              <a:rPr lang="en-US" sz="1600" b="0">
                <a:solidFill>
                  <a:srgbClr val="AACCFF"/>
                </a:solidFill>
                <a:latin typeface="Calibri"/>
                <a:ea typeface="Calibri"/>
              </a:rPr>
              <a:t>Nature 2023 Paper:      doi.org/10.1038/s41586-023-06096-3</a:t>
            </a:r>
          </a:p>
        </p:txBody>
      </p:sp>
      <p:sp>
        <p:nvSpPr>
          <p:cNvPr id="100116" name="Footer"/>
          <p:cNvSpPr txBox="1"/>
          <p:nvPr/>
        </p:nvSpPr>
        <p:spPr>
          <a:xfrm xmlns:a="http://schemas.openxmlformats.org/drawingml/2006/main">
            <a:off x="540000" y="612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0">
                <a:solidFill>
                  <a:srgbClr val="888888"/>
                </a:solidFill>
                <a:latin typeface="Calibri"/>
                <a:ea typeface="Calibri"/>
              </a:rPr>
              <a:t>© 2024 IBM Corporation  |  Based on IBM Research Tokyo QC-in-Practice Course  |  Tamiya Onodera</a:t>
            </a:r>
          </a:p>
        </p:txBody>
      </p:sp>
      <p:sp>
        <p:nvSpPr>
          <p:cNvPr id="100117" name="BottomBar"/>
          <p:cNvSpPr txBox="1"/>
          <p:nvPr/>
        </p:nvSpPr>
        <p:spPr>
          <a:xfrm xmlns:a="http://schemas.openxmlformats.org/drawingml/2006/main">
            <a:off x="0" y="6660000"/>
            <a:ext cx="12193200" cy="180000"/>
          </a:xfrm>
          <a:prstGeom xmlns:a="http://schemas.openxmlformats.org/drawingml/2006/main" prst="rect">
            <a:avLst/>
          </a:prstGeom>
          <a:solidFill xmlns:a="http://schemas.openxmlformats.org/drawingml/2006/main">
            <a:srgbClr val="00B0F0"/>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OfficeCLI/1.0.151</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2026-09-24T11:05:55Z</dcterms:created>
  <cp:lastModifiedBy>OfficeCLI</cp:lastModifiedBy>
  <dcterms:modified xsi:type="dcterms:W3CDTF">2026-09-24T11:05:55Z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2026-09-24T11:10:17Z</vt:lpwstr>
  </op:property>
</op:Properties>
</file>