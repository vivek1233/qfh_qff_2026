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12593455f4a4d05" /><Relationship Type="http://schemas.openxmlformats.org/package/2006/relationships/metadata/core-properties" Target="/docProps/core.xml" Id="R98ddfe5e2e6d48d4" /><Relationship Type="http://schemas.openxmlformats.org/officeDocument/2006/relationships/extended-properties" Target="/docProps/app.xml" Id="R3a476546453e4fd5" /><Relationship Type="http://schemas.openxmlformats.org/officeDocument/2006/relationships/custom-properties" Target="/docProps/custom.xml" Id="R8cc5b79c160c4af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85e18eff3a74f41"/>
  </p:notesMasterIdLst>
  <p:sldIdLst>
    <p:sldId id="256" r:id="R596e22fa83c44ffa"/>
    <p:sldId id="257" r:id="R5eaec711281d4de5"/>
    <p:sldId id="258" r:id="R30d7d467761e4335"/>
    <p:sldId id="259" r:id="Rd1290a95b07844d3"/>
    <p:sldId id="260" r:id="R2c13a65566d7431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96e22fa83c44ffa" /><Relationship Type="http://schemas.openxmlformats.org/officeDocument/2006/relationships/notesMaster" Target="/ppt/notesMasters/notesMaster1.xml" Id="Rc85e18eff3a74f41" /><Relationship Type="http://schemas.openxmlformats.org/officeDocument/2006/relationships/slide" Target="/ppt/slides/slide2.xml" Id="R5eaec711281d4de5" /><Relationship Type="http://schemas.openxmlformats.org/officeDocument/2006/relationships/slide" Target="/ppt/slides/slide3.xml" Id="R30d7d467761e4335" /><Relationship Type="http://schemas.openxmlformats.org/officeDocument/2006/relationships/slide" Target="/ppt/slides/slide4.xml" Id="Rd1290a95b07844d3" /><Relationship Type="http://schemas.openxmlformats.org/officeDocument/2006/relationships/slide" Target="/ppt/slides/slide5.xml" Id="R2c13a65566d743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a4abb9eefe44eb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5f4c7f13dc54bf3" /><Relationship Type="http://schemas.openxmlformats.org/officeDocument/2006/relationships/slide" Target="/ppt/slides/slide1.xml" Id="R22ba4303884a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f51d7a7283647ff" /><Relationship Type="http://schemas.openxmlformats.org/officeDocument/2006/relationships/slide" Target="/ppt/slides/slide2.xml" Id="R7e2b0d45ec6d4e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7c7d10eb1af427c" /><Relationship Type="http://schemas.openxmlformats.org/officeDocument/2006/relationships/slide" Target="/ppt/slides/slide3.xml" Id="R7491b606bbda48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0b5b22cf5374642" /><Relationship Type="http://schemas.openxmlformats.org/officeDocument/2006/relationships/slide" Target="/ppt/slides/slide4.xml" Id="Rc91f7f64a45641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6d843d4d4654d7d" /><Relationship Type="http://schemas.openxmlformats.org/officeDocument/2006/relationships/slide" Target="/ppt/slides/slide5.xml" Id="R4a4d3c86dfbb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Day 3 is the heart of the Quantum for Humanity mission. This is where we connect quantum computing to the SDGs and show real pathways to humanitarian impact. Be honest about timelines — NISQ devices can contribute NOW to some problems, but the transformative applications (FeMo-co, climate modelling) need fault-tolerant quantum computers (2030+).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FeMo-cofactor of nitrogenase (nitrogen fixation enzyme) has 54 electrons in 54 orbitals — requires 2^54 classical parameters. This is THE canonical quantum chemistry problem that requires a fault-tolerant quantum computer. VQE on NISQ devices can simulate H2, LiH, H2O with chemical accuracy now. Reference: Reiher et al., PNAS 114, 2017. IBM Research collaboration: Robledo-Moreno et al., arXiv:2405.05068, 2024.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nitrogen fixation problem is one of the most compelling near-term targets for fault-tolerant quantum chemistry. The Haber-Bosch process for synthetic fertiliser currently consumes 1-2% of all global energy. Biological nitrogen fixation happens at room temperature and pressure using nitrogenase. If we can simulate the FeMo-co active site exactly, we can design synthetic catalysts that do the same — potentially eliminating industrial fertiliser production.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HNDL threat is real and urgent. Data encrypted with RSA/ECC today can be decrypted by future quantum computers. Healthcare records, financial data, and government communications are all at risk. US CISA and NIST both recommend organisations begin post-quantum migration NOW. The good news: NIST standardised four algorithms in 2024 — CRYSTALS-Kyber for key exchange, Dilithium and FALCON for signatures. Reference: NIST FIPS 203, 204, 205, 2024.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Tomorrow (Day 4) is the advanced research day — quantum error correction at scale, VQE/QAOA deep dive, fault-tolerant roadmaps, quantum networking, and QKD. Day 3 homework: simulate H2 dissociation curve with VQE. Formulate a simple water allocation problem as QUBO and solve with QAOA.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315f59b7949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9877f546647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60bd8ea634d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dc8f6d30c45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3c9517e9742f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ac64cd3ff9b44a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d36771aec47f0" /><Relationship Type="http://schemas.openxmlformats.org/officeDocument/2006/relationships/notesSlide" Target="/ppt/notesSlides/notesSlide1.xml" Id="R9d5b4b1d079f42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148029f8f4bdc" /><Relationship Type="http://schemas.openxmlformats.org/officeDocument/2006/relationships/notesSlide" Target="/ppt/notesSlides/notesSlide2.xml" Id="Ra1719e7123a748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fc6914ac4c33" /><Relationship Type="http://schemas.openxmlformats.org/officeDocument/2006/relationships/notesSlide" Target="/ppt/notesSlides/notesSlide3.xml" Id="R8f91dc52a022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39350ccfd4066" /><Relationship Type="http://schemas.openxmlformats.org/officeDocument/2006/relationships/notesSlide" Target="/ppt/notesSlides/notesSlide4.xml" Id="R29775b1066674c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aed9d20854b5f" /><Relationship Type="http://schemas.openxmlformats.org/officeDocument/2006/relationships/notesSlide" Target="/ppt/notesSlides/notesSlide5.xml" Id="R6157a7306e3e4e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A12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540000" y="18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IBM Qiskit Fall Fest 2026  ·  Quantum for Humanity Org</a:t>
            </a:r>
          </a:p>
        </p:txBody>
      </p:sp>
      <p:sp>
        <p:nvSpPr>
          <p:cNvPr id="100001" name="DayBadge"/>
          <p:cNvSpPr txBox="1"/>
          <p:nvPr/>
        </p:nvSpPr>
        <p:spPr>
          <a:xfrm xmlns:a="http://schemas.openxmlformats.org/drawingml/2006/main">
            <a:off x="540000" y="540000"/>
            <a:ext cx="1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6EE7B7"/>
                </a:solidFill>
              </a:rPr>
              <a:t>DAY 3 OF 5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828000"/>
            <a:ext cx="108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</a:rPr>
              <a:t>Quantum for Humanity</a:t>
            </a:r>
          </a:p>
          <a:p xmlns:a="http://schemas.openxmlformats.org/drawingml/2006/main">
            <a:r>
              <a:rPr lang="en-US" sz="3800" b="1">
                <a:solidFill>
                  <a:srgbClr val="FFFFFF"/>
                </a:solidFill>
              </a:rPr>
              <a:t>Impact Applications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540000" y="2448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6EE7B7"/>
                </a:solidFill>
              </a:rPr>
              <a:t>Drug discovery, agriculture &amp; water security, financial inclusion, climate, and responsible quantum innovation</a:t>
            </a:r>
          </a:p>
        </p:txBody>
      </p:sp>
      <p:sp>
        <p:nvSpPr>
          <p:cNvPr id="100004" name="Meta"/>
          <p:cNvSpPr txBox="1"/>
          <p:nvPr/>
        </p:nvSpPr>
        <p:spPr>
          <a:xfrm xmlns:a="http://schemas.openxmlformats.org/drawingml/2006/main">
            <a:off x="540000" y="313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888AA"/>
                </a:solidFill>
              </a:rPr>
              <a:t>📅 November 18, 2026   ·   Impact → Ethics   ·   Quantum for Humanity Org × IBM Quantum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05" name="SL"/>
          <p:cNvSpPr txBox="1"/>
          <p:nvPr/>
        </p:nvSpPr>
        <p:spPr>
          <a:xfrm xmlns:a="http://schemas.openxmlformats.org/drawingml/2006/main">
            <a:off x="540000" y="180000"/>
            <a:ext cx="504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4D399"/>
                </a:solidFill>
              </a:rPr>
              <a:t>SECTION 2  ·  DRUG DISCOVERY</a:t>
            </a:r>
          </a:p>
        </p:txBody>
      </p:sp>
      <p:sp>
        <p:nvSpPr>
          <p:cNvPr id="100006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Simulation for Drug Discovery</a:t>
            </a:r>
          </a:p>
        </p:txBody>
      </p:sp>
      <p:sp>
        <p:nvSpPr>
          <p:cNvPr id="100007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Why classical computers fail for molecular simulation: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Full CI wavefunction for N electrons → 2ᴺ complex numbers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50-electron system → 2⁵⁰ ≈ 10¹⁵ numbers (petabyte scale)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Classical method accuracy vs scaling: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Hartree-Fock: O(N⁴) — fast but poor correlation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DFT: O(N³) — medium accuracy, ~10,000 atoms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CCSD(T): O(N⁷) — gold standard, max ~50 atoms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Full CI: O(2ᴺ) — exact but exponential, max ~20 electrons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VQE (quantum): polynomial — chemical accuracy, ~100 orbitals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VQE variational principle: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⟨ψ(θ)|H|ψ(θ)⟩ ≥ E₀  (always an upper bound on ground state)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Minimise over θ → converges to ground state energy E₀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Targets: TB (InhA, DprE1 enzymes), Malaria (DHFR, heme degradation)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Quantum advantage timeline: McKinsey (2021) estimates 15-20% faster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drug development by 2030 → saving ~$2B per drug candidate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A12"/>
        </a:solidFill>
      </p:bgPr>
    </p:bg>
    <p:spTree>
      <p:nvGrpSpPr>
        <p:cNvPr id="1" name=""/>
        <p:cNvGrpSpPr/>
        <p:nvPr/>
      </p:nvGrpSpPr>
      <p:grpSpPr/>
      <p:sp>
        <p:nvSpPr>
          <p:cNvPr id="100008" name="SL"/>
          <p:cNvSpPr txBox="1"/>
          <p:nvPr/>
        </p:nvSpPr>
        <p:spPr>
          <a:xfrm xmlns:a="http://schemas.openxmlformats.org/drawingml/2006/main">
            <a:off x="540000" y="180000"/>
            <a:ext cx="504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4D399"/>
                </a:solidFill>
              </a:rPr>
              <a:t>SECTION 3  ·  AGRICULTURE &amp; WATER</a:t>
            </a:r>
          </a:p>
        </p:txBody>
      </p:sp>
      <p:sp>
        <p:nvSpPr>
          <p:cNvPr id="100009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for Agriculture &amp; Water Security</a:t>
            </a:r>
          </a:p>
        </p:txBody>
      </p:sp>
      <p:sp>
        <p:nvSpPr>
          <p:cNvPr id="100010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Nitrogen Fixation (SDG 2 — Zero Hunger):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Haber-Bosch process = 1-2% of global energy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Nitrogenase FeMo-co: 54 electrons in 54 orbitals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Quantum simulation could design ambient-condition catalysts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Impact: eliminate energy-intensive fertiliser → feed billions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N₂ + 8H⁺ + 8e⁻ + 16ATP → 2NH₃ + H₂ + 16ADP + 16Pᵢ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QAOA for Irrigation Optimisation: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Water allocation as QUBO (Quadratic Unconstrained Binary Optimisation)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QAOA alternates cost Hamiltonian U_C(γ) and mixer U_B(β)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Maximise crop yield subject to water budget constraints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Applicable to: urban water distribution, reservoir management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Quantum Sensing: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NV-centre magnetometry — soil nitrogen, groundwater contamination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Quantum gravimetry — detect aquifers with ±1 cm precision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Quantum LIDAR — crop stress detection via fluorescence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11" name="SL"/>
          <p:cNvSpPr txBox="1"/>
          <p:nvPr/>
        </p:nvSpPr>
        <p:spPr>
          <a:xfrm xmlns:a="http://schemas.openxmlformats.org/drawingml/2006/main">
            <a:off x="540000" y="180000"/>
            <a:ext cx="504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4D399"/>
                </a:solidFill>
              </a:rPr>
              <a:t>SECTION 7  ·  ETHICS &amp; POLICY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Responsible Quantum Innovation</a:t>
            </a:r>
          </a:p>
        </p:txBody>
      </p:sp>
      <p:sp>
        <p:nvSpPr>
          <p:cNvPr id="100013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The Quantum Divide — risks without deliberate policy intervention: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HNDL (Harvest Now, Decrypt Later)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  → Nation-states storing encrypted data to decrypt with future QC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  → Threatens health records, financial data, government comms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  → NIST PQC standards finalised 2024 — MIGRATE NOW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Pharmaceutical quantum advantage gap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  → Only wealthy nations access quantum drug discovery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  → TB, Malaria, NTDs remain underfunded without quantum equity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Algorithmic bias amplification in Quantum ML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  → Biased classical training data → biased quantum models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  → Mandatory ethical impact assessment required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Policy landscape: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US NQI: $1.8B investment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EU Quantum Flagship: €1B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India NQM: ₹6,000 Cr (~$730M)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UN ITU Focus Group on Quantum — developing nation standards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  Only 6 of 195 countries have national quantum strategies!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A12"/>
        </a:solidFill>
      </p:bgPr>
    </p:bg>
    <p:spTree>
      <p:nvGrpSpPr>
        <p:cNvPr id="1" name=""/>
        <p:cNvGrpSpPr/>
        <p:nvPr/>
      </p:nvGrpSpPr>
      <p:grpSpPr/>
      <p:sp>
        <p:nvSpPr>
          <p:cNvPr id="100014" name="SL"/>
          <p:cNvSpPr txBox="1"/>
          <p:nvPr/>
        </p:nvSpPr>
        <p:spPr>
          <a:xfrm xmlns:a="http://schemas.openxmlformats.org/drawingml/2006/main">
            <a:off x="540000" y="180000"/>
            <a:ext cx="43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B347"/>
                </a:solidFill>
              </a:rPr>
              <a:t>KEY TAKEAWAYS  ·  DAY 3</a:t>
            </a:r>
          </a:p>
        </p:txBody>
      </p:sp>
      <p:sp>
        <p:nvSpPr>
          <p:cNvPr id="100015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Day 3 Summary &amp; References</a:t>
            </a:r>
          </a:p>
        </p:txBody>
      </p:sp>
      <p:sp>
        <p:nvSpPr>
          <p:cNvPr id="100016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Today you learned: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VQE uses variational principle to find molecular ground state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CCSD(T) is limited to ~50 atoms; VQE targets ~100 orbitals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Nitrogen fixation FeMo-co needs ~200 logical qubits (~2030)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QAOA solves water/crop optimisation as QUBO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Quantum finance: O(1/ε) option pricing vs O(1/ε²) classical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HNDL threat: migrate to NIST PQC standards NOW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✅  Only 6/195 countries have quantum strategies — the divide is real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Key References: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[1] Kim et al. Quantum utility. Nature 618, 2023.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[2] Reiher et al. Quantum chemistry. PNAS 114, 2017.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[3] Robledo-Moreno et al. STD method. arXiv:2405.05068, 2024.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[4] Stamatopoulos et al. Quantum option pricing. Quantum 4, 2020.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[5] NIST PQC Standards. FIPS 203, 204, 205, 2024.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[6] India National Quantum Mission. DST, 2023.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[7] UN SDGs. sdgs.un.org, 2015.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[8] Broadbent et al. Blind quantum computation. FOCS 2009.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2026-09-09T15:08:51Z</dcterms:created>
  <cp:lastModifiedBy>OfficeCLI</cp:lastModifiedBy>
  <dcterms:modified xsi:type="dcterms:W3CDTF">2026-09-09T15:08:51Z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2026-09-09T15:08:53Z</vt:lpwstr>
  </op:property>
</op:Properties>
</file>