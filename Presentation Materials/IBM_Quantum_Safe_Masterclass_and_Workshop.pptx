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b8adbccfa542412e" /><Relationship Type="http://schemas.openxmlformats.org/package/2006/relationships/metadata/core-properties" Target="/docProps/core.xml" Id="Rfc41a009f40546e4" /><Relationship Type="http://schemas.openxmlformats.org/officeDocument/2006/relationships/extended-properties" Target="/docProps/app.xml" Id="Rfad653b6f03341f2" /><Relationship Type="http://schemas.openxmlformats.org/officeDocument/2006/relationships/custom-properties" Target="/docProps/custom.xml" Id="Rff01da956f054960"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513d523c50c04f53"/>
  </p:notesMasterIdLst>
  <p:sldIdLst>
    <p:sldId id="256" r:id="R065faf5b8c824de0"/>
    <p:sldId id="257" r:id="R8a1db04d105e45fb"/>
    <p:sldId id="258" r:id="Rdbef061e320c4a29"/>
    <p:sldId id="259" r:id="Rdda90117b0ef4ed9"/>
    <p:sldId id="260" r:id="Rec51e2b26e3b4f49"/>
    <p:sldId id="261" r:id="Ra5c28b8849734174"/>
    <p:sldId id="262" r:id="R8dd575d1154d465e"/>
    <p:sldId id="263" r:id="Rf8334a96d0244d01"/>
    <p:sldId id="264" r:id="R87bc6c69984f4f80"/>
    <p:sldId id="265" r:id="R0115f8084e7d4151"/>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065faf5b8c824de0" /><Relationship Type="http://schemas.openxmlformats.org/officeDocument/2006/relationships/notesMaster" Target="/ppt/notesMasters/notesMaster1.xml" Id="R513d523c50c04f53" /><Relationship Type="http://schemas.openxmlformats.org/officeDocument/2006/relationships/slide" Target="/ppt/slides/slide2.xml" Id="R8a1db04d105e45fb" /><Relationship Type="http://schemas.openxmlformats.org/officeDocument/2006/relationships/slide" Target="/ppt/slides/slide3.xml" Id="Rdbef061e320c4a29" /><Relationship Type="http://schemas.openxmlformats.org/officeDocument/2006/relationships/slide" Target="/ppt/slides/slide4.xml" Id="Rdda90117b0ef4ed9" /><Relationship Type="http://schemas.openxmlformats.org/officeDocument/2006/relationships/slide" Target="/ppt/slides/slide5.xml" Id="Rec51e2b26e3b4f49" /><Relationship Type="http://schemas.openxmlformats.org/officeDocument/2006/relationships/slide" Target="/ppt/slides/slide6.xml" Id="Ra5c28b8849734174" /><Relationship Type="http://schemas.openxmlformats.org/officeDocument/2006/relationships/slide" Target="/ppt/slides/slide7.xml" Id="R8dd575d1154d465e" /><Relationship Type="http://schemas.openxmlformats.org/officeDocument/2006/relationships/slide" Target="/ppt/slides/slide8.xml" Id="Rf8334a96d0244d01" /><Relationship Type="http://schemas.openxmlformats.org/officeDocument/2006/relationships/slide" Target="/ppt/slides/slide9.xml" Id="R87bc6c69984f4f80" /><Relationship Type="http://schemas.openxmlformats.org/officeDocument/2006/relationships/slide" Target="/ppt/slides/slide10.xml" Id="R0115f8084e7d41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c85abb040fb4cdf"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13f04809fb544e1e" /><Relationship Type="http://schemas.openxmlformats.org/officeDocument/2006/relationships/slide" Target="/ppt/slides/slide1.xml" Id="Rc44354f4788246b0"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f6d7807f38dc4d37" /><Relationship Type="http://schemas.openxmlformats.org/officeDocument/2006/relationships/slide" Target="/ppt/slides/slide2.xml" Id="R447cec14efa44189"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9e906621f4fd4413" /><Relationship Type="http://schemas.openxmlformats.org/officeDocument/2006/relationships/slide" Target="/ppt/slides/slide3.xml" Id="Ra56bfb94cb764cab"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85d22eebffa34388" /><Relationship Type="http://schemas.openxmlformats.org/officeDocument/2006/relationships/slide" Target="/ppt/slides/slide4.xml" Id="Rdc88925e5e564b09"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61edefa019844d88" /><Relationship Type="http://schemas.openxmlformats.org/officeDocument/2006/relationships/slide" Target="/ppt/slides/slide5.xml" Id="Re44ed0b5ec574e56"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004f87840bc14018" /><Relationship Type="http://schemas.openxmlformats.org/officeDocument/2006/relationships/slide" Target="/ppt/slides/slide6.xml" Id="R768e4d1d4c944c3f"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97ec120e414944da" /><Relationship Type="http://schemas.openxmlformats.org/officeDocument/2006/relationships/slide" Target="/ppt/slides/slide7.xml" Id="R28f3ee1c59b840ae"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dc60f7c48c3e41ee" /><Relationship Type="http://schemas.openxmlformats.org/officeDocument/2006/relationships/slide" Target="/ppt/slides/slide8.xml" Id="Rdea1b8de63e94122"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9ef30db06f814c36" /><Relationship Type="http://schemas.openxmlformats.org/officeDocument/2006/relationships/slide" Target="/ppt/slides/slide9.xml" Id="R36b973ffcbd54c19"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d9743605b47342ba" /><Relationship Type="http://schemas.openxmlformats.org/officeDocument/2006/relationships/slide" Target="/ppt/slides/slide10.xml" Id="Rf5b145aad46546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to the IBM Quantum Safe Masterclass and Workshop. Today's session covers the quantum threat to modern cryptography, the new NIST FIPS post-quantum standards, IBM's Discover-Observe-Transform methodology, CBOM generation, and a fully hands-on graded lab environment in Python.</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Emphasize that post-quantum migration cannot wait until a quantum computer is built because of the Harvest Now, Decrypt Later (HNDL) paradigm. Any encrypted communication that needs secrecy in 2035+ is already compromised if intercepted today. Cite White House NSM-10 and OMB M-23-02 mandates.</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Review the 4 NIST standards finalized in August 2024. Point out the significant increase in public key and signature sizes compared to RSA (256 bytes) and ECC (64 bytes). This requires network and packet MTU considerations in enterprise TLS pipelines. IBM researchers co-authored both primary standards.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Walk through the 3-phase journey. Note that discovery is the hardest step for most enterprises because cryptography is embedded across thousands of legacy microservices, third-party libraries, and hardware devices. A standardized CBOM is essential for continuous compliance.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In our hands-on workshop today, attendees will execute a Python CBOM discovery scanner that parses codebases, flags quantum vulnerabilities, and outputs CycloneDX-compliant CBOM JSON files.</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Stress that hybrid schemes are recommended by NIST, BSI (Germany), and ANSSI (France) for all initial deployments. It prevents any catastrophic failure if a new cryptanalytic technique breaks a specific lattice parameter set.</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Highlight IBM z16 as a production proof point. The hardware is deployed in Tier 1 banks processing billions of transactions daily with hardware-accelerated quantum-safe cryptography.</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Introduce the hands-on lab structure. Every participant runs the lab scripts locally or in Jupyter, and executes the lab_grader.py to get automated scores and instant diagnostic feedback.</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Emphasize that starting now is critical. A complete enterprise cryptographic migration takes 3 to 7 years. Organizations that delay will face regulatory penalties and heightened exposure to HNDL espionage.</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Speaker Notes: Transition attendees directly into the hands-on lab environment. Have everyone navigate to the Quantum_Safe_Workshop folder, review the student_assignment.py template, and prepare to run the auto-grader.</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ed8d96e1ff43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9d73b66d2b48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0713fb06e24a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08f7bd847945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de7729549d4fc5"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e22276e4d6a4937"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838bf5479d5f47ab" /><Relationship Type="http://schemas.openxmlformats.org/officeDocument/2006/relationships/notesSlide" Target="/ppt/notesSlides/notesSlide1.xml" Id="R4af810a8715a4c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3cdf7453f8430b" /><Relationship Type="http://schemas.openxmlformats.org/officeDocument/2006/relationships/notesSlide" Target="/ppt/notesSlides/notesSlide2.xml" Id="R0662c806f82248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04457e89d94575" /><Relationship Type="http://schemas.openxmlformats.org/officeDocument/2006/relationships/notesSlide" Target="/ppt/notesSlides/notesSlide3.xml" Id="Rb05f5569fdee40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a8059989eb49fd" /><Relationship Type="http://schemas.openxmlformats.org/officeDocument/2006/relationships/notesSlide" Target="/ppt/notesSlides/notesSlide4.xml" Id="R57c9267c67ab41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c3a6dc2bb04ea4" /><Relationship Type="http://schemas.openxmlformats.org/officeDocument/2006/relationships/notesSlide" Target="/ppt/notesSlides/notesSlide5.xml" Id="Ra619b768a7014a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eef8ffde964de9" /><Relationship Type="http://schemas.openxmlformats.org/officeDocument/2006/relationships/notesSlide" Target="/ppt/notesSlides/notesSlide6.xml" Id="R6bc5cc8257ef4e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5950346a2b4598" /><Relationship Type="http://schemas.openxmlformats.org/officeDocument/2006/relationships/notesSlide" Target="/ppt/notesSlides/notesSlide7.xml" Id="R11682247ab2646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9280f165cf402a" /><Relationship Type="http://schemas.openxmlformats.org/officeDocument/2006/relationships/notesSlide" Target="/ppt/notesSlides/notesSlide8.xml" Id="R3f545ae1d4ec4d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38e83ad7564b20" /><Relationship Type="http://schemas.openxmlformats.org/officeDocument/2006/relationships/notesSlide" Target="/ppt/notesSlides/notesSlide9.xml" Id="R237d49b9409448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da4ed5a52e4a4f" /><Relationship Type="http://schemas.openxmlformats.org/officeDocument/2006/relationships/notesSlide" Target="/ppt/notesSlides/notesSlide10.xml" Id="R19974e1e82094820" /></Relationships>
</file>

<file path=ppt/slides/slide1.xml><?xml version="1.0" encoding="utf-8"?>
<p:sld xmlns:p="http://schemas.openxmlformats.org/presentationml/2006/main">
  <p:cSld>
    <p:bg>
      <p:bgPr>
        <a:solidFill xmlns:a="http://schemas.openxmlformats.org/drawingml/2006/main">
          <a:srgbClr val="0A1026"/>
        </a:solidFill>
      </p:bgPr>
    </p:bg>
    <p:spTree>
      <p:nvGrpSpPr>
        <p:cNvPr id="1" name=""/>
        <p:cNvGrpSpPr/>
        <p:nvPr/>
      </p:nvGrpSpPr>
      <p:grpSpPr/>
      <p:sp>
        <p:nvSpPr>
          <p:cNvPr id="100000" name="EventTag"/>
          <p:cNvSpPr txBox="1"/>
          <p:nvPr/>
        </p:nvSpPr>
        <p:spPr>
          <a:xfrm xmlns:a="http://schemas.openxmlformats.org/drawingml/2006/main">
            <a:off x="540000" y="216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33B1FF"/>
                </a:solidFill>
              </a:rPr>
              <a:t>IBM QUANTUM SAFE MASTERCLASS &amp; EXECUTIVE WORKSHOP</a:t>
            </a:r>
          </a:p>
        </p:txBody>
      </p:sp>
      <p:sp>
        <p:nvSpPr>
          <p:cNvPr id="100001" name="Title"/>
          <p:cNvSpPr txBox="1"/>
          <p:nvPr/>
        </p:nvSpPr>
        <p:spPr>
          <a:xfrm xmlns:a="http://schemas.openxmlformats.org/drawingml/2006/main">
            <a:off x="540000" y="648000"/>
            <a:ext cx="10800000" cy="129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800" b="1">
                <a:solidFill>
                  <a:srgbClr val="FFFFFF"/>
                </a:solidFill>
              </a:rPr>
              <a:t>Enterprise Quantum Safe</a:t>
            </a:r>
          </a:p>
          <a:p xmlns:a="http://schemas.openxmlformats.org/drawingml/2006/main">
            <a:r>
              <a:rPr lang="en-US" sz="3800" b="1">
                <a:solidFill>
                  <a:srgbClr val="FFFFFF"/>
                </a:solidFill>
              </a:rPr>
              <a:t>Transformation &amp; Cryptographic Agility</a:t>
            </a:r>
          </a:p>
        </p:txBody>
      </p:sp>
      <p:sp>
        <p:nvSpPr>
          <p:cNvPr id="100002" name="Subtitle"/>
          <p:cNvSpPr txBox="1"/>
          <p:nvPr/>
        </p:nvSpPr>
        <p:spPr>
          <a:xfrm xmlns:a="http://schemas.openxmlformats.org/drawingml/2006/main">
            <a:off x="540000" y="2088000"/>
            <a:ext cx="1008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93C5FD"/>
                </a:solidFill>
              </a:rPr>
              <a:t>Preparing Cybersecurity, Identity &amp; Infrastructure for the Post-Quantum Era (FIPS 203, 204, 205)</a:t>
            </a:r>
          </a:p>
        </p:txBody>
      </p:sp>
      <p:sp>
        <p:nvSpPr>
          <p:cNvPr id="100003" name="Meta"/>
          <p:cNvSpPr txBox="1"/>
          <p:nvPr/>
        </p:nvSpPr>
        <p:spPr>
          <a:xfrm xmlns:a="http://schemas.openxmlformats.org/drawingml/2006/main">
            <a:off x="540000" y="2736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8888AA"/>
                </a:solidFill>
              </a:rPr>
              <a:t>Curriculum &amp; Hands-On Workshop  ·  IBM Quantum Safe &amp; Quantum for Humanity Org  ·  November 2026</a:t>
            </a:r>
          </a:p>
        </p:txBody>
      </p:sp>
    </p:spTree>
  </p:cSld>
</p:sld>
</file>

<file path=ppt/slides/slide2.xml><?xml version="1.0" encoding="utf-8"?>
<p:sld xmlns:p="http://schemas.openxmlformats.org/presentationml/2006/main">
  <p:cSld>
    <p:bg>
      <p:bgPr>
        <a:solidFill xmlns:a="http://schemas.openxmlformats.org/drawingml/2006/main">
          <a:srgbClr val="0D1424"/>
        </a:solidFill>
      </p:bgPr>
    </p:bg>
    <p:spTree>
      <p:nvGrpSpPr>
        <p:cNvPr id="1" name=""/>
        <p:cNvGrpSpPr/>
        <p:nvPr/>
      </p:nvGrpSpPr>
      <p:grpSpPr/>
      <p:sp>
        <p:nvSpPr>
          <p:cNvPr id="100004" name="SlideNum"/>
          <p:cNvSpPr txBox="1"/>
          <p:nvPr/>
        </p:nvSpPr>
        <p:spPr>
          <a:xfrm xmlns:a="http://schemas.openxmlformats.org/drawingml/2006/main">
            <a:off x="540000" y="180000"/>
            <a:ext cx="432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7EB6"/>
                </a:solidFill>
              </a:rPr>
              <a:t>MODULE 1  ·  THREAT LANDSCAPE</a:t>
            </a:r>
          </a:p>
        </p:txBody>
      </p:sp>
      <p:sp>
        <p:nvSpPr>
          <p:cNvPr id="100005"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The Quantum Cryptographic Threat</a:t>
            </a:r>
          </a:p>
        </p:txBody>
      </p:sp>
      <p:sp>
        <p:nvSpPr>
          <p:cNvPr id="100006"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CCCCE0"/>
                </a:solidFill>
              </a:rPr>
              <a:t>1. Shor's Algorithm (Exponential Speedup):</a:t>
            </a:r>
          </a:p>
          <a:p xmlns:a="http://schemas.openxmlformats.org/drawingml/2006/main">
            <a:r>
              <a:rPr lang="en-US" sz="1600">
                <a:solidFill>
                  <a:srgbClr val="CCCCE0"/>
                </a:solidFill>
              </a:rPr>
              <a:t>   • Solves integer factorisation and discrete logarithms in O((log N)³)</a:t>
            </a:r>
          </a:p>
          <a:p xmlns:a="http://schemas.openxmlformats.org/drawingml/2006/main">
            <a:r>
              <a:rPr lang="en-US" sz="1600">
                <a:solidFill>
                  <a:srgbClr val="CCCCE0"/>
                </a:solidFill>
              </a:rPr>
              <a:t>   • Completely breaks RSA-2048/4096, Diffie-Hellman, ECDH, and ECDSA</a:t>
            </a:r>
          </a:p>
          <a:p xmlns:a="http://schemas.openxmlformats.org/drawingml/2006/main">
            <a:r>
              <a:rPr lang="en-US" sz="1600">
                <a:solidFill>
                  <a:srgbClr val="CCCCE0"/>
                </a:solidFill>
              </a:rPr>
              <a:t>   • Threatens TLS/HTTPS, VPNs, SSH, PKI, digital identity, and blockchain</a:t>
            </a:r>
          </a:p>
          <a:p xmlns:a="http://schemas.openxmlformats.org/drawingml/2006/main">
            <a:r>
              <a:rPr lang="en-US" sz="1600">
                <a:solidFill>
                  <a:srgbClr val="CCCCE0"/>
                </a:solidFill>
              </a:rPr>
              <a:t/>
            </a:r>
          </a:p>
          <a:p xmlns:a="http://schemas.openxmlformats.org/drawingml/2006/main">
            <a:r>
              <a:rPr lang="en-US" sz="1600">
                <a:solidFill>
                  <a:srgbClr val="CCCCE0"/>
                </a:solidFill>
              </a:rPr>
              <a:t>2. Grover's Algorithm (Quadratic Speedup):</a:t>
            </a:r>
          </a:p>
          <a:p xmlns:a="http://schemas.openxmlformats.org/drawingml/2006/main">
            <a:r>
              <a:rPr lang="en-US" sz="1600">
                <a:solidFill>
                  <a:srgbClr val="CCCCE0"/>
                </a:solidFill>
              </a:rPr>
              <a:t>   • Reduces effective symmetric key strength from N to N/2 bits</a:t>
            </a:r>
          </a:p>
          <a:p xmlns:a="http://schemas.openxmlformats.org/drawingml/2006/main">
            <a:r>
              <a:rPr lang="en-US" sz="1600">
                <a:solidFill>
                  <a:srgbClr val="CCCCE0"/>
                </a:solidFill>
              </a:rPr>
              <a:t>   • AES-128 drops to 64-bit strength (vulnerable); AES-256 remains secure (128-bit)</a:t>
            </a:r>
          </a:p>
          <a:p xmlns:a="http://schemas.openxmlformats.org/drawingml/2006/main">
            <a:r>
              <a:rPr lang="en-US" sz="1600">
                <a:solidFill>
                  <a:srgbClr val="CCCCE0"/>
                </a:solidFill>
              </a:rPr>
              <a:t/>
            </a:r>
          </a:p>
          <a:p xmlns:a="http://schemas.openxmlformats.org/drawingml/2006/main">
            <a:r>
              <a:rPr lang="en-US" sz="1600">
                <a:solidFill>
                  <a:srgbClr val="CCCCE0"/>
                </a:solidFill>
              </a:rPr>
              <a:t>3. Harvest Now, Decrypt Later (HNDL):</a:t>
            </a:r>
          </a:p>
          <a:p xmlns:a="http://schemas.openxmlformats.org/drawingml/2006/main">
            <a:r>
              <a:rPr lang="en-US" sz="1600">
                <a:solidFill>
                  <a:srgbClr val="CCCCE0"/>
                </a:solidFill>
              </a:rPr>
              <a:t>   • Adversaries intercept and store encrypted data traffic today</a:t>
            </a:r>
          </a:p>
          <a:p xmlns:a="http://schemas.openxmlformats.org/drawingml/2006/main">
            <a:r>
              <a:rPr lang="en-US" sz="1600">
                <a:solidFill>
                  <a:srgbClr val="CCCCE0"/>
                </a:solidFill>
              </a:rPr>
              <a:t>   • Will decrypt once Cryptanalytically Relevant Quantum Computers (CRQCs) arrive</a:t>
            </a:r>
          </a:p>
          <a:p xmlns:a="http://schemas.openxmlformats.org/drawingml/2006/main">
            <a:r>
              <a:rPr lang="en-US" sz="1600">
                <a:solidFill>
                  <a:srgbClr val="CCCCE0"/>
                </a:solidFill>
              </a:rPr>
              <a:t>   • Data with &gt;10 year lifespan (medical, defense, IP, government) is at risk NOW!</a:t>
            </a:r>
          </a:p>
        </p:txBody>
      </p:sp>
    </p:spTree>
  </p:cSld>
</p:sld>
</file>

<file path=ppt/slides/slide3.xml><?xml version="1.0" encoding="utf-8"?>
<p:sld xmlns:p="http://schemas.openxmlformats.org/presentationml/2006/main">
  <p:cSld>
    <p:bg>
      <p:bgPr>
        <a:solidFill xmlns:a="http://schemas.openxmlformats.org/drawingml/2006/main">
          <a:srgbClr val="0A1026"/>
        </a:solidFill>
      </p:bgPr>
    </p:bg>
    <p:spTree>
      <p:nvGrpSpPr>
        <p:cNvPr id="1" name=""/>
        <p:cNvGrpSpPr/>
        <p:nvPr/>
      </p:nvGrpSpPr>
      <p:grpSpPr/>
      <p:sp>
        <p:nvSpPr>
          <p:cNvPr id="100007" name="SlideNum"/>
          <p:cNvSpPr txBox="1"/>
          <p:nvPr/>
        </p:nvSpPr>
        <p:spPr>
          <a:xfrm xmlns:a="http://schemas.openxmlformats.org/drawingml/2006/main">
            <a:off x="540000" y="180000"/>
            <a:ext cx="432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34D399"/>
                </a:solidFill>
              </a:rPr>
              <a:t>MODULE 2  ·  GLOBAL STANDARDS</a:t>
            </a:r>
          </a:p>
        </p:txBody>
      </p:sp>
      <p:sp>
        <p:nvSpPr>
          <p:cNvPr id="100008"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NIST Post-Quantum Cryptography Standards (2024)</a:t>
            </a:r>
          </a:p>
        </p:txBody>
      </p:sp>
      <p:sp>
        <p:nvSpPr>
          <p:cNvPr id="100009"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CCCCE0"/>
                </a:solidFill>
              </a:rPr>
              <a:t>Standard            Algorithm            Basis              Use Case</a:t>
            </a:r>
          </a:p>
          <a:p xmlns:a="http://schemas.openxmlformats.org/drawingml/2006/main">
            <a:r>
              <a:rPr lang="en-US" sz="1500">
                <a:solidFill>
                  <a:srgbClr val="CCCCE0"/>
                </a:solidFill>
              </a:rPr>
              <a:t>──────────────────────────────────────────────────────────────────────────</a:t>
            </a:r>
          </a:p>
          <a:p xmlns:a="http://schemas.openxmlformats.org/drawingml/2006/main">
            <a:r>
              <a:rPr lang="en-US" sz="1500">
                <a:solidFill>
                  <a:srgbClr val="CCCCE0"/>
                </a:solidFill>
              </a:rPr>
              <a:t>FIPS 203 (ML-KEM)   CRYSTALS-Kyber       Module-Lattice     General Encryption &amp; Key Exchange</a:t>
            </a:r>
          </a:p>
          <a:p xmlns:a="http://schemas.openxmlformats.org/drawingml/2006/main">
            <a:r>
              <a:rPr lang="en-US" sz="1500">
                <a:solidFill>
                  <a:srgbClr val="CCCCE0"/>
                </a:solidFill>
              </a:rPr>
              <a:t>FIPS 204 (ML-DSA)   CRYSTALS-Dilithium   Module-Lattice     Digital Signatures &amp; PKI</a:t>
            </a:r>
          </a:p>
          <a:p xmlns:a="http://schemas.openxmlformats.org/drawingml/2006/main">
            <a:r>
              <a:rPr lang="en-US" sz="1500">
                <a:solidFill>
                  <a:srgbClr val="CCCCE0"/>
                </a:solidFill>
              </a:rPr>
              <a:t>FIPS 205 (SLH-DSA)  SPHINCS+             Stateful Hash      Stateless Backup Signatures</a:t>
            </a:r>
          </a:p>
          <a:p xmlns:a="http://schemas.openxmlformats.org/drawingml/2006/main">
            <a:r>
              <a:rPr lang="en-US" sz="1500">
                <a:solidFill>
                  <a:srgbClr val="CCCCE0"/>
                </a:solidFill>
              </a:rPr>
              <a:t>FIPS 206 (FN-DSA)   FALCON               NTRU Lattice       Compact Signature Footprints</a:t>
            </a:r>
          </a:p>
          <a:p xmlns:a="http://schemas.openxmlformats.org/drawingml/2006/main">
            <a:r>
              <a:rPr lang="en-US" sz="1500">
                <a:solidFill>
                  <a:srgbClr val="CCCCE0"/>
                </a:solidFill>
              </a:rPr>
              <a:t>──────────────────────────────────────────────────────────────────────────</a:t>
            </a:r>
          </a:p>
          <a:p xmlns:a="http://schemas.openxmlformats.org/drawingml/2006/main">
            <a:r>
              <a:rPr lang="en-US" sz="1500">
                <a:solidFill>
                  <a:srgbClr val="CCCCE0"/>
                </a:solidFill>
              </a:rPr>
              <a:t>• ML-KEM-768 provides Level 3 security (equivalent to AES-192), Public Key: 1,184 bytes</a:t>
            </a:r>
          </a:p>
          <a:p xmlns:a="http://schemas.openxmlformats.org/drawingml/2006/main">
            <a:r>
              <a:rPr lang="en-US" sz="1500">
                <a:solidFill>
                  <a:srgbClr val="CCCCE0"/>
                </a:solidFill>
              </a:rPr>
              <a:t>• ML-DSA-65 provides Level 3 signature security, Signature size: 3,293 bytes</a:t>
            </a:r>
          </a:p>
          <a:p xmlns:a="http://schemas.openxmlformats.org/drawingml/2006/main">
            <a:r>
              <a:rPr lang="en-US" sz="1500">
                <a:solidFill>
                  <a:srgbClr val="CCCCE0"/>
                </a:solidFill>
              </a:rPr>
              <a:t>• IBM Research co-designed ML-KEM (Kyber) and ML-DSA (Dilithium)</a:t>
            </a:r>
          </a:p>
        </p:txBody>
      </p:sp>
    </p:spTree>
  </p:cSld>
</p:sld>
</file>

<file path=ppt/slides/slide4.xml><?xml version="1.0" encoding="utf-8"?>
<p:sld xmlns:p="http://schemas.openxmlformats.org/presentationml/2006/main">
  <p:cSld>
    <p:bg>
      <p:bgPr>
        <a:solidFill xmlns:a="http://schemas.openxmlformats.org/drawingml/2006/main">
          <a:srgbClr val="0D1424"/>
        </a:solidFill>
      </p:bgPr>
    </p:bg>
    <p:spTree>
      <p:nvGrpSpPr>
        <p:cNvPr id="1" name=""/>
        <p:cNvGrpSpPr/>
        <p:nvPr/>
      </p:nvGrpSpPr>
      <p:grpSpPr/>
      <p:sp>
        <p:nvSpPr>
          <p:cNvPr id="100010" name="SlideNum"/>
          <p:cNvSpPr txBox="1"/>
          <p:nvPr/>
        </p:nvSpPr>
        <p:spPr>
          <a:xfrm xmlns:a="http://schemas.openxmlformats.org/drawingml/2006/main">
            <a:off x="540000" y="180000"/>
            <a:ext cx="432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33B1FF"/>
                </a:solidFill>
              </a:rPr>
              <a:t>MODULE 3  ·  METHODOLOGY</a:t>
            </a:r>
          </a:p>
        </p:txBody>
      </p:sp>
      <p:sp>
        <p:nvSpPr>
          <p:cNvPr id="100011"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IBM Quantum Safe Transformation Framework</a:t>
            </a:r>
          </a:p>
        </p:txBody>
      </p:sp>
      <p:sp>
        <p:nvSpPr>
          <p:cNvPr id="100012"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CCCCE0"/>
                </a:solidFill>
              </a:rPr>
              <a:t>1. DISCOVER — Catalog &amp; Inventory Assets</a:t>
            </a:r>
          </a:p>
          <a:p xmlns:a="http://schemas.openxmlformats.org/drawingml/2006/main">
            <a:r>
              <a:rPr lang="en-US" sz="1600">
                <a:solidFill>
                  <a:srgbClr val="CCCCE0"/>
                </a:solidFill>
              </a:rPr>
              <a:t>   • Scan source code, binaries, runtime network traffic, and HSM configurations</a:t>
            </a:r>
          </a:p>
          <a:p xmlns:a="http://schemas.openxmlformats.org/drawingml/2006/main">
            <a:r>
              <a:rPr lang="en-US" sz="1600">
                <a:solidFill>
                  <a:srgbClr val="CCCCE0"/>
                </a:solidFill>
              </a:rPr>
              <a:t>   • Generate standardized Cryptographic Bill of Materials (CBOM)</a:t>
            </a:r>
          </a:p>
          <a:p xmlns:a="http://schemas.openxmlformats.org/drawingml/2006/main">
            <a:r>
              <a:rPr lang="en-US" sz="1600">
                <a:solidFill>
                  <a:srgbClr val="CCCCE0"/>
                </a:solidFill>
              </a:rPr>
              <a:t>   • Tools: IBM Quantum Safe Explorer, IBM zCDI for z/OS</a:t>
            </a:r>
          </a:p>
          <a:p xmlns:a="http://schemas.openxmlformats.org/drawingml/2006/main">
            <a:r>
              <a:rPr lang="en-US" sz="1600">
                <a:solidFill>
                  <a:srgbClr val="CCCCE0"/>
                </a:solidFill>
              </a:rPr>
              <a:t/>
            </a:r>
          </a:p>
          <a:p xmlns:a="http://schemas.openxmlformats.org/drawingml/2006/main">
            <a:r>
              <a:rPr lang="en-US" sz="1600">
                <a:solidFill>
                  <a:srgbClr val="CCCCE0"/>
                </a:solidFill>
              </a:rPr>
              <a:t>2. OBSERVE — Assess Posture &amp; Prioritize Risk</a:t>
            </a:r>
          </a:p>
          <a:p xmlns:a="http://schemas.openxmlformats.org/drawingml/2006/main">
            <a:r>
              <a:rPr lang="en-US" sz="1600">
                <a:solidFill>
                  <a:srgbClr val="CCCCE0"/>
                </a:solidFill>
              </a:rPr>
              <a:t>   • Map cryptographic dependencies against policies (NIST, NSA CNSA 2.0)</a:t>
            </a:r>
          </a:p>
          <a:p xmlns:a="http://schemas.openxmlformats.org/drawingml/2006/main">
            <a:r>
              <a:rPr lang="en-US" sz="1600">
                <a:solidFill>
                  <a:srgbClr val="CCCCE0"/>
                </a:solidFill>
              </a:rPr>
              <a:t>   • Calculate Risk Exposure Index: Algorithm Vulnerability × Data Lifespan</a:t>
            </a:r>
          </a:p>
          <a:p xmlns:a="http://schemas.openxmlformats.org/drawingml/2006/main">
            <a:r>
              <a:rPr lang="en-US" sz="1600">
                <a:solidFill>
                  <a:srgbClr val="CCCCE0"/>
                </a:solidFill>
              </a:rPr>
              <a:t>   • Tools: IBM Quantum Safe Advisor</a:t>
            </a:r>
          </a:p>
          <a:p xmlns:a="http://schemas.openxmlformats.org/drawingml/2006/main">
            <a:r>
              <a:rPr lang="en-US" sz="1600">
                <a:solidFill>
                  <a:srgbClr val="CCCCE0"/>
                </a:solidFill>
              </a:rPr>
              <a:t/>
            </a:r>
          </a:p>
          <a:p xmlns:a="http://schemas.openxmlformats.org/drawingml/2006/main">
            <a:r>
              <a:rPr lang="en-US" sz="1600">
                <a:solidFill>
                  <a:srgbClr val="CCCCE0"/>
                </a:solidFill>
              </a:rPr>
              <a:t>3. TRANSFORM — Remediate with Crypto-Agility</a:t>
            </a:r>
          </a:p>
          <a:p xmlns:a="http://schemas.openxmlformats.org/drawingml/2006/main">
            <a:r>
              <a:rPr lang="en-US" sz="1600">
                <a:solidFill>
                  <a:srgbClr val="CCCCE0"/>
                </a:solidFill>
              </a:rPr>
              <a:t>   • Deploy hybrid post-quantum schemes (X25519 + ML-KEM-768)</a:t>
            </a:r>
          </a:p>
          <a:p xmlns:a="http://schemas.openxmlformats.org/drawingml/2006/main">
            <a:r>
              <a:rPr lang="en-US" sz="1600">
                <a:solidFill>
                  <a:srgbClr val="CCCCE0"/>
                </a:solidFill>
              </a:rPr>
              <a:t>   • Modernize TLS 1.3, PKI roots, and API gateways</a:t>
            </a:r>
          </a:p>
          <a:p xmlns:a="http://schemas.openxmlformats.org/drawingml/2006/main">
            <a:r>
              <a:rPr lang="en-US" sz="1600">
                <a:solidFill>
                  <a:srgbClr val="CCCCE0"/>
                </a:solidFill>
              </a:rPr>
              <a:t>   • Tools: IBM Quantum Safe Remediator, Crypto Express 8S on IBM z16</a:t>
            </a:r>
          </a:p>
        </p:txBody>
      </p:sp>
    </p:spTree>
  </p:cSld>
</p:sld>
</file>

<file path=ppt/slides/slide5.xml><?xml version="1.0" encoding="utf-8"?>
<p:sld xmlns:p="http://schemas.openxmlformats.org/presentationml/2006/main">
  <p:cSld>
    <p:bg>
      <p:bgPr>
        <a:solidFill xmlns:a="http://schemas.openxmlformats.org/drawingml/2006/main">
          <a:srgbClr val="0A1026"/>
        </a:solidFill>
      </p:bgPr>
    </p:bg>
    <p:spTree>
      <p:nvGrpSpPr>
        <p:cNvPr id="1" name=""/>
        <p:cNvGrpSpPr/>
        <p:nvPr/>
      </p:nvGrpSpPr>
      <p:grpSpPr/>
      <p:sp>
        <p:nvSpPr>
          <p:cNvPr id="100013" name="SlideNum"/>
          <p:cNvSpPr txBox="1"/>
          <p:nvPr/>
        </p:nvSpPr>
        <p:spPr>
          <a:xfrm xmlns:a="http://schemas.openxmlformats.org/drawingml/2006/main">
            <a:off x="540000" y="180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34D399"/>
                </a:solidFill>
              </a:rPr>
              <a:t>MODULE 4  ·  DISCOVERY &amp; CBOM</a:t>
            </a:r>
          </a:p>
        </p:txBody>
      </p:sp>
      <p:sp>
        <p:nvSpPr>
          <p:cNvPr id="100014"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Cryptographic Bill of Materials (CBOM)</a:t>
            </a:r>
          </a:p>
        </p:txBody>
      </p:sp>
      <p:sp>
        <p:nvSpPr>
          <p:cNvPr id="100015"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CCCCE0"/>
                </a:solidFill>
              </a:rPr>
              <a:t>What is a CBOM?</a:t>
            </a:r>
          </a:p>
          <a:p xmlns:a="http://schemas.openxmlformats.org/drawingml/2006/main">
            <a:r>
              <a:rPr lang="en-US" sz="1600">
                <a:solidFill>
                  <a:srgbClr val="CCCCE0"/>
                </a:solidFill>
              </a:rPr>
              <a:t>• An extension of the Software Bill of Materials (SBOM) using OWASP CycloneDX</a:t>
            </a:r>
          </a:p>
          <a:p xmlns:a="http://schemas.openxmlformats.org/drawingml/2006/main">
            <a:r>
              <a:rPr lang="en-US" sz="1600">
                <a:solidFill>
                  <a:srgbClr val="CCCCE0"/>
                </a:solidFill>
              </a:rPr>
              <a:t>• Structured JSON document detailing all cryptographic assets in an enterprise</a:t>
            </a:r>
          </a:p>
          <a:p xmlns:a="http://schemas.openxmlformats.org/drawingml/2006/main">
            <a:r>
              <a:rPr lang="en-US" sz="1600">
                <a:solidFill>
                  <a:srgbClr val="CCCCE0"/>
                </a:solidFill>
              </a:rPr>
              <a:t/>
            </a:r>
          </a:p>
          <a:p xmlns:a="http://schemas.openxmlformats.org/drawingml/2006/main">
            <a:r>
              <a:rPr lang="en-US" sz="1600">
                <a:solidFill>
                  <a:srgbClr val="CCCCE0"/>
                </a:solidFill>
              </a:rPr>
              <a:t>Key CBOM Data Fields:</a:t>
            </a:r>
          </a:p>
          <a:p xmlns:a="http://schemas.openxmlformats.org/drawingml/2006/main">
            <a:r>
              <a:rPr lang="en-US" sz="1600">
                <a:solidFill>
                  <a:srgbClr val="CCCCE0"/>
                </a:solidFill>
              </a:rPr>
              <a:t>• Asset: Algorithm Name, OID, Key Size, Mode of Operation</a:t>
            </a:r>
          </a:p>
          <a:p xmlns:a="http://schemas.openxmlformats.org/drawingml/2006/main">
            <a:r>
              <a:rPr lang="en-US" sz="1600">
                <a:solidFill>
                  <a:srgbClr val="CCCCE0"/>
                </a:solidFill>
              </a:rPr>
              <a:t>• Location: Source File, Byte Offset, Line Number, Function Name</a:t>
            </a:r>
          </a:p>
          <a:p xmlns:a="http://schemas.openxmlformats.org/drawingml/2006/main">
            <a:r>
              <a:rPr lang="en-US" sz="1600">
                <a:solidFill>
                  <a:srgbClr val="CCCCE0"/>
                </a:solidFill>
              </a:rPr>
              <a:t>• Classification: Quantum Vulnerable (RSA, ECC), Quantum Safe (ML-KEM), Deprecated (3DES, SHA-1)</a:t>
            </a:r>
          </a:p>
          <a:p xmlns:a="http://schemas.openxmlformats.org/drawingml/2006/main">
            <a:r>
              <a:rPr lang="en-US" sz="1600">
                <a:solidFill>
                  <a:srgbClr val="CCCCE0"/>
                </a:solidFill>
              </a:rPr>
              <a:t>• Policy Compliance: NIST FIPS 203/204, NSA CNSA 2.0 compliance status</a:t>
            </a:r>
          </a:p>
          <a:p xmlns:a="http://schemas.openxmlformats.org/drawingml/2006/main">
            <a:r>
              <a:rPr lang="en-US" sz="1600">
                <a:solidFill>
                  <a:srgbClr val="CCCCE0"/>
                </a:solidFill>
              </a:rPr>
              <a:t/>
            </a:r>
          </a:p>
          <a:p xmlns:a="http://schemas.openxmlformats.org/drawingml/2006/main">
            <a:r>
              <a:rPr lang="en-US" sz="1600">
                <a:solidFill>
                  <a:srgbClr val="CCCCE0"/>
                </a:solidFill>
              </a:rPr>
              <a:t>IBM zCDI (z/OS Platform):</a:t>
            </a:r>
          </a:p>
          <a:p xmlns:a="http://schemas.openxmlformats.org/drawingml/2006/main">
            <a:r>
              <a:rPr lang="en-US" sz="1600">
                <a:solidFill>
                  <a:srgbClr val="CCCCE0"/>
                </a:solidFill>
              </a:rPr>
              <a:t>• Ingests SMF records and network telemetry from IBM Z mainframe workloads</a:t>
            </a:r>
          </a:p>
          <a:p xmlns:a="http://schemas.openxmlformats.org/drawingml/2006/main">
            <a:r>
              <a:rPr lang="en-US" sz="1600">
                <a:solidFill>
                  <a:srgbClr val="CCCCE0"/>
                </a:solidFill>
              </a:rPr>
              <a:t>• Maps cryptographic calls to z/OS jobs and generates real-time compliance dashboards</a:t>
            </a:r>
          </a:p>
        </p:txBody>
      </p:sp>
    </p:spTree>
  </p:cSld>
</p:sld>
</file>

<file path=ppt/slides/slide6.xml><?xml version="1.0" encoding="utf-8"?>
<p:sld xmlns:p="http://schemas.openxmlformats.org/presentationml/2006/main">
  <p:cSld>
    <p:bg>
      <p:bgPr>
        <a:solidFill xmlns:a="http://schemas.openxmlformats.org/drawingml/2006/main">
          <a:srgbClr val="0D1424"/>
        </a:solidFill>
      </p:bgPr>
    </p:bg>
    <p:spTree>
      <p:nvGrpSpPr>
        <p:cNvPr id="1" name=""/>
        <p:cNvGrpSpPr/>
        <p:nvPr/>
      </p:nvGrpSpPr>
      <p:grpSpPr/>
      <p:sp>
        <p:nvSpPr>
          <p:cNvPr id="100016" name="SlideNum"/>
          <p:cNvSpPr txBox="1"/>
          <p:nvPr/>
        </p:nvSpPr>
        <p:spPr>
          <a:xfrm xmlns:a="http://schemas.openxmlformats.org/drawingml/2006/main">
            <a:off x="540000" y="180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B347"/>
                </a:solidFill>
              </a:rPr>
              <a:t>MODULE 5  ·  IMPLEMENTATION</a:t>
            </a:r>
          </a:p>
        </p:txBody>
      </p:sp>
      <p:sp>
        <p:nvSpPr>
          <p:cNvPr id="100017"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Hybrid Cryptography &amp; Crypto-Agility</a:t>
            </a:r>
          </a:p>
        </p:txBody>
      </p:sp>
      <p:sp>
        <p:nvSpPr>
          <p:cNvPr id="100018"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CCCCE0"/>
                </a:solidFill>
              </a:rPr>
              <a:t>Why Hybrid Cryptography is the Gold Standard for Transition:</a:t>
            </a:r>
          </a:p>
          <a:p xmlns:a="http://schemas.openxmlformats.org/drawingml/2006/main">
            <a:r>
              <a:rPr lang="en-US" sz="1600">
                <a:solidFill>
                  <a:srgbClr val="CCCCE0"/>
                </a:solidFill>
              </a:rPr>
              <a:t>• Combines a classical algorithm (e.g., ECDH X25519) + a post-quantum algorithm (ML-KEM-768)</a:t>
            </a:r>
          </a:p>
          <a:p xmlns:a="http://schemas.openxmlformats.org/drawingml/2006/main">
            <a:r>
              <a:rPr lang="en-US" sz="1600">
                <a:solidFill>
                  <a:srgbClr val="CCCCE0"/>
                </a:solidFill>
              </a:rPr>
              <a:t>• Guarantees security even if a mathematical flaw is discovered in new lattice cryptography</a:t>
            </a:r>
          </a:p>
          <a:p xmlns:a="http://schemas.openxmlformats.org/drawingml/2006/main">
            <a:r>
              <a:rPr lang="en-US" sz="1600">
                <a:solidFill>
                  <a:srgbClr val="CCCCE0"/>
                </a:solidFill>
              </a:rPr>
              <a:t>• Shared Secret = KDF(Classical_Secret || PostQuantum_Secret)</a:t>
            </a:r>
          </a:p>
          <a:p xmlns:a="http://schemas.openxmlformats.org/drawingml/2006/main">
            <a:r>
              <a:rPr lang="en-US" sz="1600">
                <a:solidFill>
                  <a:srgbClr val="CCCCE0"/>
                </a:solidFill>
              </a:rPr>
              <a:t/>
            </a:r>
          </a:p>
          <a:p xmlns:a="http://schemas.openxmlformats.org/drawingml/2006/main">
            <a:r>
              <a:rPr lang="en-US" sz="1600">
                <a:solidFill>
                  <a:srgbClr val="CCCCE0"/>
                </a:solidFill>
              </a:rPr>
              <a:t>Principles of Crypto-Agility:</a:t>
            </a:r>
          </a:p>
          <a:p xmlns:a="http://schemas.openxmlformats.org/drawingml/2006/main">
            <a:r>
              <a:rPr lang="en-US" sz="1600">
                <a:solidFill>
                  <a:srgbClr val="CCCCE0"/>
                </a:solidFill>
              </a:rPr>
              <a:t>1. Decoupled Architecture: Applications call high-level crypto abstractions, never raw ciphers</a:t>
            </a:r>
          </a:p>
          <a:p xmlns:a="http://schemas.openxmlformats.org/drawingml/2006/main">
            <a:r>
              <a:rPr lang="en-US" sz="1600">
                <a:solidFill>
                  <a:srgbClr val="CCCCE0"/>
                </a:solidFill>
              </a:rPr>
              <a:t>2. Policy-Driven Configuration: Swap cipher suites via config/YAML without recompiling code</a:t>
            </a:r>
          </a:p>
          <a:p xmlns:a="http://schemas.openxmlformats.org/drawingml/2006/main">
            <a:r>
              <a:rPr lang="en-US" sz="1600">
                <a:solidFill>
                  <a:srgbClr val="CCCCE0"/>
                </a:solidFill>
              </a:rPr>
              <a:t>3. Multi-Algorithm Support: Support dual classical + PQ signatures during multi-year PKI rollouts</a:t>
            </a:r>
          </a:p>
          <a:p xmlns:a="http://schemas.openxmlformats.org/drawingml/2006/main">
            <a:r>
              <a:rPr lang="en-US" sz="1600">
                <a:solidFill>
                  <a:srgbClr val="CCCCE0"/>
                </a:solidFill>
              </a:rPr>
              <a:t>4. Buffer Elasticity: Ensure network buffers accommodate larger PQ keys and signatures</a:t>
            </a:r>
          </a:p>
        </p:txBody>
      </p:sp>
    </p:spTree>
  </p:cSld>
</p:sld>
</file>

<file path=ppt/slides/slide7.xml><?xml version="1.0" encoding="utf-8"?>
<p:sld xmlns:p="http://schemas.openxmlformats.org/presentationml/2006/main">
  <p:cSld>
    <p:bg>
      <p:bgPr>
        <a:solidFill xmlns:a="http://schemas.openxmlformats.org/drawingml/2006/main">
          <a:srgbClr val="0A1026"/>
        </a:solidFill>
      </p:bgPr>
    </p:bg>
    <p:spTree>
      <p:nvGrpSpPr>
        <p:cNvPr id="1" name=""/>
        <p:cNvGrpSpPr/>
        <p:nvPr/>
      </p:nvGrpSpPr>
      <p:grpSpPr/>
      <p:sp>
        <p:nvSpPr>
          <p:cNvPr id="100019" name="SlideNum"/>
          <p:cNvSpPr txBox="1"/>
          <p:nvPr/>
        </p:nvSpPr>
        <p:spPr>
          <a:xfrm xmlns:a="http://schemas.openxmlformats.org/drawingml/2006/main">
            <a:off x="540000" y="180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33B1FF"/>
                </a:solidFill>
              </a:rPr>
              <a:t>MODULE 6  ·  ENTERPRISE ARCHITECTURE</a:t>
            </a:r>
          </a:p>
        </p:txBody>
      </p:sp>
      <p:sp>
        <p:nvSpPr>
          <p:cNvPr id="100020"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IBM Quantum Safe Enterprise Systems</a:t>
            </a:r>
          </a:p>
        </p:txBody>
      </p:sp>
      <p:sp>
        <p:nvSpPr>
          <p:cNvPr id="100021"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CCCCE0"/>
                </a:solidFill>
              </a:rPr>
              <a:t>IBM z16 &amp; LinuxONE 4 — First Quantum-Safe Enterprise Server:</a:t>
            </a:r>
          </a:p>
          <a:p xmlns:a="http://schemas.openxmlformats.org/drawingml/2006/main">
            <a:r>
              <a:rPr lang="en-US" sz="1600">
                <a:solidFill>
                  <a:srgbClr val="CCCCE0"/>
                </a:solidFill>
              </a:rPr>
              <a:t>• Crypto Express 8S Hardware Security Module (HSM)</a:t>
            </a:r>
          </a:p>
          <a:p xmlns:a="http://schemas.openxmlformats.org/drawingml/2006/main">
            <a:r>
              <a:rPr lang="en-US" sz="1600">
                <a:solidFill>
                  <a:srgbClr val="CCCCE0"/>
                </a:solidFill>
              </a:rPr>
              <a:t>• Native hardware acceleration for Kyber and Dilithium algorithms</a:t>
            </a:r>
          </a:p>
          <a:p xmlns:a="http://schemas.openxmlformats.org/drawingml/2006/main">
            <a:r>
              <a:rPr lang="en-US" sz="1600">
                <a:solidFill>
                  <a:srgbClr val="CCCCE0"/>
                </a:solidFill>
              </a:rPr>
              <a:t>• Quantum-safe secure boot and dual-signature firmware validation</a:t>
            </a:r>
          </a:p>
          <a:p xmlns:a="http://schemas.openxmlformats.org/drawingml/2006/main">
            <a:r>
              <a:rPr lang="en-US" sz="1600">
                <a:solidFill>
                  <a:srgbClr val="CCCCE0"/>
                </a:solidFill>
              </a:rPr>
              <a:t/>
            </a:r>
          </a:p>
          <a:p xmlns:a="http://schemas.openxmlformats.org/drawingml/2006/main">
            <a:r>
              <a:rPr lang="en-US" sz="1600">
                <a:solidFill>
                  <a:srgbClr val="CCCCE0"/>
                </a:solidFill>
              </a:rPr>
              <a:t>IBM Cloud Security Portfolio:</a:t>
            </a:r>
          </a:p>
          <a:p xmlns:a="http://schemas.openxmlformats.org/drawingml/2006/main">
            <a:r>
              <a:rPr lang="en-US" sz="1600">
                <a:solidFill>
                  <a:srgbClr val="CCCCE0"/>
                </a:solidFill>
              </a:rPr>
              <a:t>• IBM Cloud Secrets Manager: Automated rotation for quantum-safe certificates and API tokens</a:t>
            </a:r>
          </a:p>
          <a:p xmlns:a="http://schemas.openxmlformats.org/drawingml/2006/main">
            <a:r>
              <a:rPr lang="en-US" sz="1600">
                <a:solidFill>
                  <a:srgbClr val="CCCCE0"/>
                </a:solidFill>
              </a:rPr>
              <a:t>• IBM Cloud Hyper Protect Crypto Services: FIPS 140-2 Level 4 HSM supporting post-quantum root keys</a:t>
            </a:r>
          </a:p>
          <a:p xmlns:a="http://schemas.openxmlformats.org/drawingml/2006/main">
            <a:r>
              <a:rPr lang="en-US" sz="1600">
                <a:solidFill>
                  <a:srgbClr val="CCCCE0"/>
                </a:solidFill>
              </a:rPr>
              <a:t>• IBM Security Verify: Quantum-resistant identity federation and multi-factor authentication (MFA)</a:t>
            </a:r>
          </a:p>
          <a:p xmlns:a="http://schemas.openxmlformats.org/drawingml/2006/main">
            <a:r>
              <a:rPr lang="en-US" sz="1600">
                <a:solidFill>
                  <a:srgbClr val="CCCCE0"/>
                </a:solidFill>
              </a:rPr>
              <a:t/>
            </a:r>
          </a:p>
          <a:p xmlns:a="http://schemas.openxmlformats.org/drawingml/2006/main">
            <a:r>
              <a:rPr lang="en-US" sz="1600">
                <a:solidFill>
                  <a:srgbClr val="CCCCE0"/>
                </a:solidFill>
              </a:rPr>
              <a:t>End-to-End Zero Trust:</a:t>
            </a:r>
          </a:p>
          <a:p xmlns:a="http://schemas.openxmlformats.org/drawingml/2006/main">
            <a:r>
              <a:rPr lang="en-US" sz="1600">
                <a:solidFill>
                  <a:srgbClr val="CCCCE0"/>
                </a:solidFill>
              </a:rPr>
              <a:t>• Securing data in-transit (Hybrid TLS 1.3), data at-rest (AES-256), and data in-use</a:t>
            </a:r>
          </a:p>
        </p:txBody>
      </p:sp>
    </p:spTree>
  </p:cSld>
</p:sld>
</file>

<file path=ppt/slides/slide8.xml><?xml version="1.0" encoding="utf-8"?>
<p:sld xmlns:p="http://schemas.openxmlformats.org/presentationml/2006/main">
  <p:cSld>
    <p:bg>
      <p:bgPr>
        <a:solidFill xmlns:a="http://schemas.openxmlformats.org/drawingml/2006/main">
          <a:srgbClr val="0D1424"/>
        </a:solidFill>
      </p:bgPr>
    </p:bg>
    <p:spTree>
      <p:nvGrpSpPr>
        <p:cNvPr id="1" name=""/>
        <p:cNvGrpSpPr/>
        <p:nvPr/>
      </p:nvGrpSpPr>
      <p:grpSpPr/>
      <p:sp>
        <p:nvSpPr>
          <p:cNvPr id="100022" name="SlideNum"/>
          <p:cNvSpPr txBox="1"/>
          <p:nvPr/>
        </p:nvSpPr>
        <p:spPr>
          <a:xfrm xmlns:a="http://schemas.openxmlformats.org/drawingml/2006/main">
            <a:off x="540000" y="180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34D399"/>
                </a:solidFill>
              </a:rPr>
              <a:t>MODULE 7  ·  WORKSHOP ROADMAP</a:t>
            </a:r>
          </a:p>
        </p:txBody>
      </p:sp>
      <p:sp>
        <p:nvSpPr>
          <p:cNvPr id="100023"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Hands-On Workshop Curriculum &amp; Agenda</a:t>
            </a:r>
          </a:p>
        </p:txBody>
      </p:sp>
      <p:sp>
        <p:nvSpPr>
          <p:cNvPr id="100024"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CCCCE0"/>
                </a:solidFill>
              </a:rPr>
              <a:t>Total Duration: 4 Hours (Interactive Labs + Automated Grader)</a:t>
            </a:r>
          </a:p>
          <a:p xmlns:a="http://schemas.openxmlformats.org/drawingml/2006/main">
            <a:r>
              <a:rPr lang="en-US" sz="1500">
                <a:solidFill>
                  <a:srgbClr val="CCCCE0"/>
                </a:solidFill>
              </a:rPr>
              <a:t/>
            </a:r>
          </a:p>
          <a:p xmlns:a="http://schemas.openxmlformats.org/drawingml/2006/main">
            <a:r>
              <a:rPr lang="en-US" sz="1500">
                <a:solidFill>
                  <a:srgbClr val="CCCCE0"/>
                </a:solidFill>
              </a:rPr>
              <a:t>• Session 1 (45m): Threat Briefing &amp; NIST Standard Walkthrough</a:t>
            </a:r>
          </a:p>
          <a:p xmlns:a="http://schemas.openxmlformats.org/drawingml/2006/main">
            <a:r>
              <a:rPr lang="en-US" sz="1500">
                <a:solidFill>
                  <a:srgbClr val="CCCCE0"/>
                </a:solidFill>
              </a:rPr>
              <a:t>• Session 2 (45m): Lab 1 — Static Code Analysis &amp; CBOM Generation (Python)</a:t>
            </a:r>
          </a:p>
          <a:p xmlns:a="http://schemas.openxmlformats.org/drawingml/2006/main">
            <a:r>
              <a:rPr lang="en-US" sz="1500">
                <a:solidFill>
                  <a:srgbClr val="CCCCE0"/>
                </a:solidFill>
              </a:rPr>
              <a:t>• Break (15m)</a:t>
            </a:r>
          </a:p>
          <a:p xmlns:a="http://schemas.openxmlformats.org/drawingml/2006/main">
            <a:r>
              <a:rPr lang="en-US" sz="1500">
                <a:solidFill>
                  <a:srgbClr val="CCCCE0"/>
                </a:solidFill>
              </a:rPr>
              <a:t>• Session 3 (50m): Lab 2 — Implementing ML-KEM &amp; Hybrid Key Encapsulation</a:t>
            </a:r>
          </a:p>
          <a:p xmlns:a="http://schemas.openxmlformats.org/drawingml/2006/main">
            <a:r>
              <a:rPr lang="en-US" sz="1500">
                <a:solidFill>
                  <a:srgbClr val="CCCCE0"/>
                </a:solidFill>
              </a:rPr>
              <a:t>• Session 4 (45m): Lab 3 — Building a Crypto-Agile Microservice Gateway</a:t>
            </a:r>
          </a:p>
          <a:p xmlns:a="http://schemas.openxmlformats.org/drawingml/2006/main">
            <a:r>
              <a:rPr lang="en-US" sz="1500">
                <a:solidFill>
                  <a:srgbClr val="CCCCE0"/>
                </a:solidFill>
              </a:rPr>
              <a:t>• Session 5 (40m): Graded Lab Challenge &amp; Automated Scoring Environment</a:t>
            </a:r>
          </a:p>
          <a:p xmlns:a="http://schemas.openxmlformats.org/drawingml/2006/main">
            <a:r>
              <a:rPr lang="en-US" sz="1500">
                <a:solidFill>
                  <a:srgbClr val="CCCCE0"/>
                </a:solidFill>
              </a:rPr>
              <a:t/>
            </a:r>
          </a:p>
          <a:p xmlns:a="http://schemas.openxmlformats.org/drawingml/2006/main">
            <a:r>
              <a:rPr lang="en-US" sz="1500">
                <a:solidFill>
                  <a:srgbClr val="CCCCE0"/>
                </a:solidFill>
              </a:rPr>
              <a:t>Grading Criteria:</a:t>
            </a:r>
          </a:p>
          <a:p xmlns:a="http://schemas.openxmlformats.org/drawingml/2006/main">
            <a:r>
              <a:rPr lang="en-US" sz="1500">
                <a:solidFill>
                  <a:srgbClr val="CCCCE0"/>
                </a:solidFill>
              </a:rPr>
              <a:t>✓ Task 1: Complete CBOM Extraction &amp; Vulnerability Scoring (25 pts)</a:t>
            </a:r>
          </a:p>
          <a:p xmlns:a="http://schemas.openxmlformats.org/drawingml/2006/main">
            <a:r>
              <a:rPr lang="en-US" sz="1500">
                <a:solidFill>
                  <a:srgbClr val="CCCCE0"/>
                </a:solidFill>
              </a:rPr>
              <a:t>✓ Task 2: Hybrid KEM Shared Secret Derivation (25 pts)</a:t>
            </a:r>
          </a:p>
          <a:p xmlns:a="http://schemas.openxmlformats.org/drawingml/2006/main">
            <a:r>
              <a:rPr lang="en-US" sz="1500">
                <a:solidFill>
                  <a:srgbClr val="CCCCE0"/>
                </a:solidFill>
              </a:rPr>
              <a:t>✓ Task 3: Post-Quantum Digital Signature Verification (25 pts)</a:t>
            </a:r>
          </a:p>
          <a:p xmlns:a="http://schemas.openxmlformats.org/drawingml/2006/main">
            <a:r>
              <a:rPr lang="en-US" sz="1500">
                <a:solidFill>
                  <a:srgbClr val="CCCCE0"/>
                </a:solidFill>
              </a:rPr>
              <a:t>✓ Task 4: Crypto-Agile Dynamic Cipher Switching (25 pts) — Total: 100 pts</a:t>
            </a:r>
          </a:p>
        </p:txBody>
      </p:sp>
    </p:spTree>
  </p:cSld>
</p:sld>
</file>

<file path=ppt/slides/slide9.xml><?xml version="1.0" encoding="utf-8"?>
<p:sld xmlns:p="http://schemas.openxmlformats.org/presentationml/2006/main">
  <p:cSld>
    <p:bg>
      <p:bgPr>
        <a:solidFill xmlns:a="http://schemas.openxmlformats.org/drawingml/2006/main">
          <a:srgbClr val="0A1026"/>
        </a:solidFill>
      </p:bgPr>
    </p:bg>
    <p:spTree>
      <p:nvGrpSpPr>
        <p:cNvPr id="1" name=""/>
        <p:cNvGrpSpPr/>
        <p:nvPr/>
      </p:nvGrpSpPr>
      <p:grpSpPr/>
      <p:sp>
        <p:nvSpPr>
          <p:cNvPr id="100025" name="SlideNum"/>
          <p:cNvSpPr txBox="1"/>
          <p:nvPr/>
        </p:nvSpPr>
        <p:spPr>
          <a:xfrm xmlns:a="http://schemas.openxmlformats.org/drawingml/2006/main">
            <a:off x="540000" y="180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B347"/>
                </a:solidFill>
              </a:rPr>
              <a:t>MODULE 8  ·  ROADMAP</a:t>
            </a:r>
          </a:p>
        </p:txBody>
      </p:sp>
      <p:sp>
        <p:nvSpPr>
          <p:cNvPr id="100026"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Enterprise 5-Year Migration Timeline (2024–2030)</a:t>
            </a:r>
          </a:p>
        </p:txBody>
      </p:sp>
      <p:sp>
        <p:nvSpPr>
          <p:cNvPr id="100027"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CCCCE0"/>
                </a:solidFill>
              </a:rPr>
              <a:t>Phase 1: Discover &amp; Baseline (Year 1 — 2024/2025)</a:t>
            </a:r>
          </a:p>
          <a:p xmlns:a="http://schemas.openxmlformats.org/drawingml/2006/main">
            <a:r>
              <a:rPr lang="en-US" sz="1500">
                <a:solidFill>
                  <a:srgbClr val="CCCCE0"/>
                </a:solidFill>
              </a:rPr>
              <a:t>• Inventory all internal and third-party cryptographic assets (generate CBOMs)</a:t>
            </a:r>
          </a:p>
          <a:p xmlns:a="http://schemas.openxmlformats.org/drawingml/2006/main">
            <a:r>
              <a:rPr lang="en-US" sz="1500">
                <a:solidFill>
                  <a:srgbClr val="CCCCE0"/>
                </a:solidFill>
              </a:rPr>
              <a:t>• Identify high-risk external data ingress/egress points and establish governance</a:t>
            </a:r>
          </a:p>
          <a:p xmlns:a="http://schemas.openxmlformats.org/drawingml/2006/main">
            <a:r>
              <a:rPr lang="en-US" sz="1500">
                <a:solidFill>
                  <a:srgbClr val="CCCCE0"/>
                </a:solidFill>
              </a:rPr>
              <a:t/>
            </a:r>
          </a:p>
          <a:p xmlns:a="http://schemas.openxmlformats.org/drawingml/2006/main">
            <a:r>
              <a:rPr lang="en-US" sz="1500">
                <a:solidFill>
                  <a:srgbClr val="CCCCE0"/>
                </a:solidFill>
              </a:rPr>
              <a:t>Phase 2: Hybrid Perimeter &amp; Cloud Modernization (Year 2–3 — 2026/2027)</a:t>
            </a:r>
          </a:p>
          <a:p xmlns:a="http://schemas.openxmlformats.org/drawingml/2006/main">
            <a:r>
              <a:rPr lang="en-US" sz="1500">
                <a:solidFill>
                  <a:srgbClr val="CCCCE0"/>
                </a:solidFill>
              </a:rPr>
              <a:t>• Enable Hybrid ML-KEM TLS 1.3 on external API gateways, edge load balancers, and VPNs</a:t>
            </a:r>
          </a:p>
          <a:p xmlns:a="http://schemas.openxmlformats.org/drawingml/2006/main">
            <a:r>
              <a:rPr lang="en-US" sz="1500">
                <a:solidFill>
                  <a:srgbClr val="CCCCE0"/>
                </a:solidFill>
              </a:rPr>
              <a:t>• Issue post-quantum root and intermediate Certificate Authorities (CAs)</a:t>
            </a:r>
          </a:p>
          <a:p xmlns:a="http://schemas.openxmlformats.org/drawingml/2006/main">
            <a:r>
              <a:rPr lang="en-US" sz="1500">
                <a:solidFill>
                  <a:srgbClr val="CCCCE0"/>
                </a:solidFill>
              </a:rPr>
              <a:t/>
            </a:r>
          </a:p>
          <a:p xmlns:a="http://schemas.openxmlformats.org/drawingml/2006/main">
            <a:r>
              <a:rPr lang="en-US" sz="1500">
                <a:solidFill>
                  <a:srgbClr val="CCCCE0"/>
                </a:solidFill>
              </a:rPr>
              <a:t>Phase 3: Core Application &amp; Database Remediation (Year 4 — 2028/2029)</a:t>
            </a:r>
          </a:p>
          <a:p xmlns:a="http://schemas.openxmlformats.org/drawingml/2006/main">
            <a:r>
              <a:rPr lang="en-US" sz="1500">
                <a:solidFill>
                  <a:srgbClr val="CCCCE0"/>
                </a:solidFill>
              </a:rPr>
              <a:t>• Migrate internal data-at-rest encryption to AES-256 with PQ key wrapping</a:t>
            </a:r>
          </a:p>
          <a:p xmlns:a="http://schemas.openxmlformats.org/drawingml/2006/main">
            <a:r>
              <a:rPr lang="en-US" sz="1500">
                <a:solidFill>
                  <a:srgbClr val="CCCCE0"/>
                </a:solidFill>
              </a:rPr>
              <a:t>• Update code signing, firmware verification, and authentication pipelines</a:t>
            </a:r>
          </a:p>
          <a:p xmlns:a="http://schemas.openxmlformats.org/drawingml/2006/main">
            <a:r>
              <a:rPr lang="en-US" sz="1500">
                <a:solidFill>
                  <a:srgbClr val="CCCCE0"/>
                </a:solidFill>
              </a:rPr>
              <a:t/>
            </a:r>
          </a:p>
          <a:p xmlns:a="http://schemas.openxmlformats.org/drawingml/2006/main">
            <a:r>
              <a:rPr lang="en-US" sz="1500">
                <a:solidFill>
                  <a:srgbClr val="CCCCE0"/>
                </a:solidFill>
              </a:rPr>
              <a:t>Phase 4: Full Quantum-Safe Ecosystem (Year 5 — 2030)</a:t>
            </a:r>
          </a:p>
          <a:p xmlns:a="http://schemas.openxmlformats.org/drawingml/2006/main">
            <a:r>
              <a:rPr lang="en-US" sz="1500">
                <a:solidFill>
                  <a:srgbClr val="CCCCE0"/>
                </a:solidFill>
              </a:rPr>
              <a:t>• Deprecate all standalone classical public-key algorithms across the entire enterprise</a:t>
            </a:r>
          </a:p>
        </p:txBody>
      </p:sp>
    </p:spTree>
  </p:cSld>
</p:sld>
</file>

<file path=ppt/slides/slide10.xml><?xml version="1.0" encoding="utf-8"?>
<p:sld xmlns:p="http://schemas.openxmlformats.org/presentationml/2006/main">
  <p:cSld>
    <p:bg>
      <p:bgPr>
        <a:solidFill xmlns:a="http://schemas.openxmlformats.org/drawingml/2006/main">
          <a:srgbClr val="0D1424"/>
        </a:solidFill>
      </p:bgPr>
    </p:bg>
    <p:spTree>
      <p:nvGrpSpPr>
        <p:cNvPr id="1" name=""/>
        <p:cNvGrpSpPr/>
        <p:nvPr/>
      </p:nvGrpSpPr>
      <p:grpSpPr/>
      <p:sp>
        <p:nvSpPr>
          <p:cNvPr id="100028" name="SlideNum"/>
          <p:cNvSpPr txBox="1"/>
          <p:nvPr/>
        </p:nvSpPr>
        <p:spPr>
          <a:xfrm xmlns:a="http://schemas.openxmlformats.org/drawingml/2006/main">
            <a:off x="540000" y="180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33B1FF"/>
                </a:solidFill>
              </a:rPr>
              <a:t>RESOURCES &amp; NEXT STEPS</a:t>
            </a:r>
          </a:p>
        </p:txBody>
      </p:sp>
      <p:sp>
        <p:nvSpPr>
          <p:cNvPr id="100029" name="Title"/>
          <p:cNvSpPr txBox="1"/>
          <p:nvPr/>
        </p:nvSpPr>
        <p:spPr>
          <a:xfrm xmlns:a="http://schemas.openxmlformats.org/drawingml/2006/main">
            <a:off x="540000" y="432000"/>
            <a:ext cx="10800000" cy="50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Resources &amp; Workshop Lab Setup</a:t>
            </a:r>
          </a:p>
        </p:txBody>
      </p:sp>
      <p:sp>
        <p:nvSpPr>
          <p:cNvPr id="100030" name="Body"/>
          <p:cNvSpPr txBox="1"/>
          <p:nvPr/>
        </p:nvSpPr>
        <p:spPr>
          <a:xfrm xmlns:a="http://schemas.openxmlformats.org/drawingml/2006/main">
            <a:off x="540000" y="1080000"/>
            <a:ext cx="1080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CCCCE0"/>
                </a:solidFill>
              </a:rPr>
              <a:t>Workshop Lab Package Location:</a:t>
            </a:r>
          </a:p>
          <a:p xmlns:a="http://schemas.openxmlformats.org/drawingml/2006/main">
            <a:r>
              <a:rPr lang="en-US" sz="1500">
                <a:solidFill>
                  <a:srgbClr val="CCCCE0"/>
                </a:solidFill>
              </a:rPr>
              <a:t>📁 Presentation Materials/Quantum_Safe_Workshop/</a:t>
            </a:r>
          </a:p>
          <a:p xmlns:a="http://schemas.openxmlformats.org/drawingml/2006/main">
            <a:r>
              <a:rPr lang="en-US" sz="1500">
                <a:solidFill>
                  <a:srgbClr val="CCCCE0"/>
                </a:solidFill>
              </a:rPr>
              <a:t>  • lab1_cbom_discovery.py — Static code scanner &amp; CBOM generator</a:t>
            </a:r>
          </a:p>
          <a:p xmlns:a="http://schemas.openxmlformats.org/drawingml/2006/main">
            <a:r>
              <a:rPr lang="en-US" sz="1500">
                <a:solidFill>
                  <a:srgbClr val="CCCCE0"/>
                </a:solidFill>
              </a:rPr>
              <a:t>  • lab2_hybrid_kem_mldsa.py — Hybrid ML-KEM-768 &amp; ML-DSA implementation</a:t>
            </a:r>
          </a:p>
          <a:p xmlns:a="http://schemas.openxmlformats.org/drawingml/2006/main">
            <a:r>
              <a:rPr lang="en-US" sz="1500">
                <a:solidFill>
                  <a:srgbClr val="CCCCE0"/>
                </a:solidFill>
              </a:rPr>
              <a:t>  • lab3_crypto_agile_api.py — Crypto-agile microservice gateway demo</a:t>
            </a:r>
          </a:p>
          <a:p xmlns:a="http://schemas.openxmlformats.org/drawingml/2006/main">
            <a:r>
              <a:rPr lang="en-US" sz="1500">
                <a:solidFill>
                  <a:srgbClr val="CCCCE0"/>
                </a:solidFill>
              </a:rPr>
              <a:t>  • student_assignment.py — Student hands-on challenge file with TODOs</a:t>
            </a:r>
          </a:p>
          <a:p xmlns:a="http://schemas.openxmlformats.org/drawingml/2006/main">
            <a:r>
              <a:rPr lang="en-US" sz="1500">
                <a:solidFill>
                  <a:srgbClr val="CCCCE0"/>
                </a:solidFill>
              </a:rPr>
              <a:t>  • lab_grader.py — Automated test harness &amp; grading engine (0–100 pts)</a:t>
            </a:r>
          </a:p>
          <a:p xmlns:a="http://schemas.openxmlformats.org/drawingml/2006/main">
            <a:r>
              <a:rPr lang="en-US" sz="1500">
                <a:solidFill>
                  <a:srgbClr val="CCCCE0"/>
                </a:solidFill>
              </a:rPr>
              <a:t/>
            </a:r>
          </a:p>
          <a:p xmlns:a="http://schemas.openxmlformats.org/drawingml/2006/main">
            <a:r>
              <a:rPr lang="en-US" sz="1500">
                <a:solidFill>
                  <a:srgbClr val="CCCCE0"/>
                </a:solidFill>
              </a:rPr>
              <a:t>Key References:</a:t>
            </a:r>
          </a:p>
          <a:p xmlns:a="http://schemas.openxmlformats.org/drawingml/2006/main">
            <a:r>
              <a:rPr lang="en-US" sz="1500">
                <a:solidFill>
                  <a:srgbClr val="CCCCE0"/>
                </a:solidFill>
              </a:rPr>
              <a:t>1. NIST FIPS 203, 204, 205 (August 2024) — csrc.nist.gov/pqc</a:t>
            </a:r>
          </a:p>
          <a:p xmlns:a="http://schemas.openxmlformats.org/drawingml/2006/main">
            <a:r>
              <a:rPr lang="en-US" sz="1500">
                <a:solidFill>
                  <a:srgbClr val="CCCCE0"/>
                </a:solidFill>
              </a:rPr>
              <a:t>2. IBM Quantum Safe Portfolio &amp; zCDI Documentation — ibm.com/quantum/quantum-safe</a:t>
            </a:r>
          </a:p>
          <a:p xmlns:a="http://schemas.openxmlformats.org/drawingml/2006/main">
            <a:r>
              <a:rPr lang="en-US" sz="1500">
                <a:solidFill>
                  <a:srgbClr val="CCCCE0"/>
                </a:solidFill>
              </a:rPr>
              <a:t>3. Open Quantum Safe (liboqs) Project — openquantumsafe.org</a:t>
            </a:r>
          </a:p>
          <a:p xmlns:a="http://schemas.openxmlformats.org/drawingml/2006/main">
            <a:r>
              <a:rPr lang="en-US" sz="1500">
                <a:solidFill>
                  <a:srgbClr val="CCCCE0"/>
                </a:solidFill>
              </a:rPr>
              <a:t>4. OWASP CycloneDX CBOM Specification — cyclonedx.org/capabilities/cbom</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OfficeCLI/1.0.148</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2026-09-17T16:26:39Z</dcterms:created>
  <cp:lastModifiedBy>OfficeCLI</cp:lastModifiedBy>
  <dcterms:modified xsi:type="dcterms:W3CDTF">2026-09-17T16:26:39Z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1.0.148</vt:lpwstr>
  </op:property>
  <op:property fmtid="{D5CDD505-2E9C-101B-9397-08002B2CF9AE}" pid="3" name="OfficeCLI.LastModified">
    <vt:lpwstr xmlns:vt="http://schemas.openxmlformats.org/officeDocument/2006/docPropsVTypes">2026-09-17T16:26:41Z</vt:lpwstr>
  </op:property>
</op:Properties>
</file>