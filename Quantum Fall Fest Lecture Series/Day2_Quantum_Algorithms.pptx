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747cd687211e465e" /><Relationship Type="http://schemas.openxmlformats.org/package/2006/relationships/metadata/core-properties" Target="/docProps/core.xml" Id="R107c7d66cd2247fe" /><Relationship Type="http://schemas.openxmlformats.org/officeDocument/2006/relationships/extended-properties" Target="/docProps/app.xml" Id="Rc3e40b43533b4f05" /><Relationship Type="http://schemas.openxmlformats.org/officeDocument/2006/relationships/custom-properties" Target="/docProps/custom.xml" Id="R40b0d659c1d54954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ddee255db055434a"/>
  </p:notesMasterIdLst>
  <p:sldIdLst>
    <p:sldId id="256" r:id="R2b122871c32748d5"/>
    <p:sldId id="257" r:id="Rd4b82b6aa5a049a6"/>
    <p:sldId id="258" r:id="R469a8a4433ec4a1c"/>
    <p:sldId id="259" r:id="Rd1d4e5ed446a4d96"/>
    <p:sldId id="260" r:id="R42955cbed2ee419a"/>
    <p:sldId id="261" r:id="R44315a0e438d41f4"/>
    <p:sldId id="262" r:id="Rdc81d7df36704cac"/>
    <p:sldId id="263" r:id="R3344c0ba82d84a85"/>
    <p:sldId id="264" r:id="Rd6fd3a678bb6435e"/>
    <p:sldId id="265" r:id="R5e180bee8ffb4a01"/>
    <p:sldId id="266" r:id="R286ceb4565cd4a80"/>
    <p:sldId id="267" r:id="R0c18cd23dd7d48de"/>
    <p:sldId id="268" r:id="Re776bf39a7a741a3"/>
    <p:sldId id="269" r:id="Ra7f389af958f47d6"/>
    <p:sldId id="270" r:id="R06ce858ef67b40c4"/>
    <p:sldId id="271" r:id="R7fe0cc4673794406"/>
    <p:sldId id="272" r:id="Rb63f527794804443"/>
    <p:sldId id="273" r:id="R5b6e73c776064e66"/>
    <p:sldId id="274" r:id="R454ecf1b3be74628"/>
    <p:sldId id="275" r:id="Rb11156d0107d435b"/>
    <p:sldId id="276" r:id="R5f72fe0050354324"/>
    <p:sldId id="277" r:id="R7146ad340dad46dd"/>
    <p:sldId id="278" r:id="R1c085099e96a4343"/>
    <p:sldId id="279" r:id="R9082fa13c7f14539"/>
    <p:sldId id="280" r:id="R888e79d8edab4300"/>
    <p:sldId id="281" r:id="R80d8126e28744f7b"/>
    <p:sldId id="282" r:id="R3a17fab4888b4074"/>
    <p:sldId id="283" r:id="R0827621f54ce46b1"/>
    <p:sldId id="284" r:id="R95ea7d2bd0fd4512"/>
    <p:sldId id="285" r:id="R9364dbdb1c584bf6"/>
    <p:sldId id="286" r:id="Rddc63a34b5f04a3e"/>
    <p:sldId id="287" r:id="R4a6daf6f78a040ee"/>
    <p:sldId id="288" r:id="R7575b13cf26f49d3"/>
    <p:sldId id="289" r:id="Rbec8e528b7174383"/>
    <p:sldId id="290" r:id="R49cb4aedaee44c48"/>
    <p:sldId id="291" r:id="R8a2c06cfd93d42e3"/>
    <p:sldId id="292" r:id="R99f1bcc3e0f84c82"/>
    <p:sldId id="293" r:id="Re64a9acfdd474f60"/>
    <p:sldId id="294" r:id="R8b426d85a3224e0d"/>
    <p:sldId id="295" r:id="Re43af2ca594f4cd9"/>
    <p:sldId id="296" r:id="Rbce90647f3394c8b"/>
    <p:sldId id="297" r:id="R331f02415b6e42fd"/>
    <p:sldId id="298" r:id="R59b14fd845da4059"/>
    <p:sldId id="299" r:id="Rfe7f99dc2aea4aa8"/>
    <p:sldId id="300" r:id="R79895e16580f4c41"/>
    <p:sldId id="301" r:id="Ra34f58ee38e94c54"/>
    <p:sldId id="302" r:id="R7e6d4e478d1942fd"/>
    <p:sldId id="303" r:id="R0e61389884034ffa"/>
    <p:sldId id="304" r:id="R72f82188c81c4eb4"/>
    <p:sldId id="305" r:id="R544f25b4a78a409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b122871c32748d5" /><Relationship Type="http://schemas.openxmlformats.org/officeDocument/2006/relationships/notesMaster" Target="/ppt/notesMasters/notesMaster1.xml" Id="Rddee255db055434a" /><Relationship Type="http://schemas.openxmlformats.org/officeDocument/2006/relationships/slide" Target="/ppt/slides/slide2.xml" Id="Rd4b82b6aa5a049a6" /><Relationship Type="http://schemas.openxmlformats.org/officeDocument/2006/relationships/slide" Target="/ppt/slides/slide3.xml" Id="R469a8a4433ec4a1c" /><Relationship Type="http://schemas.openxmlformats.org/officeDocument/2006/relationships/slide" Target="/ppt/slides/slide4.xml" Id="Rd1d4e5ed446a4d96" /><Relationship Type="http://schemas.openxmlformats.org/officeDocument/2006/relationships/slide" Target="/ppt/slides/slide5.xml" Id="R42955cbed2ee419a" /><Relationship Type="http://schemas.openxmlformats.org/officeDocument/2006/relationships/slide" Target="/ppt/slides/slide6.xml" Id="R44315a0e438d41f4" /><Relationship Type="http://schemas.openxmlformats.org/officeDocument/2006/relationships/slide" Target="/ppt/slides/slide7.xml" Id="Rdc81d7df36704cac" /><Relationship Type="http://schemas.openxmlformats.org/officeDocument/2006/relationships/slide" Target="/ppt/slides/slide8.xml" Id="R3344c0ba82d84a85" /><Relationship Type="http://schemas.openxmlformats.org/officeDocument/2006/relationships/slide" Target="/ppt/slides/slide9.xml" Id="Rd6fd3a678bb6435e" /><Relationship Type="http://schemas.openxmlformats.org/officeDocument/2006/relationships/slide" Target="/ppt/slides/slide10.xml" Id="R5e180bee8ffb4a01" /><Relationship Type="http://schemas.openxmlformats.org/officeDocument/2006/relationships/slide" Target="/ppt/slides/slide11.xml" Id="R286ceb4565cd4a80" /><Relationship Type="http://schemas.openxmlformats.org/officeDocument/2006/relationships/slide" Target="/ppt/slides/slide12.xml" Id="R0c18cd23dd7d48de" /><Relationship Type="http://schemas.openxmlformats.org/officeDocument/2006/relationships/slide" Target="/ppt/slides/slide13.xml" Id="Re776bf39a7a741a3" /><Relationship Type="http://schemas.openxmlformats.org/officeDocument/2006/relationships/slide" Target="/ppt/slides/slide14.xml" Id="Ra7f389af958f47d6" /><Relationship Type="http://schemas.openxmlformats.org/officeDocument/2006/relationships/slide" Target="/ppt/slides/slide15.xml" Id="R06ce858ef67b40c4" /><Relationship Type="http://schemas.openxmlformats.org/officeDocument/2006/relationships/slide" Target="/ppt/slides/slide16.xml" Id="R7fe0cc4673794406" /><Relationship Type="http://schemas.openxmlformats.org/officeDocument/2006/relationships/slide" Target="/ppt/slides/slide17.xml" Id="Rb63f527794804443" /><Relationship Type="http://schemas.openxmlformats.org/officeDocument/2006/relationships/slide" Target="/ppt/slides/slide18.xml" Id="R5b6e73c776064e66" /><Relationship Type="http://schemas.openxmlformats.org/officeDocument/2006/relationships/slide" Target="/ppt/slides/slide19.xml" Id="R454ecf1b3be74628" /><Relationship Type="http://schemas.openxmlformats.org/officeDocument/2006/relationships/slide" Target="/ppt/slides/slide20.xml" Id="Rb11156d0107d435b" /><Relationship Type="http://schemas.openxmlformats.org/officeDocument/2006/relationships/slide" Target="/ppt/slides/slide21.xml" Id="R5f72fe0050354324" /><Relationship Type="http://schemas.openxmlformats.org/officeDocument/2006/relationships/slide" Target="/ppt/slides/slide22.xml" Id="R7146ad340dad46dd" /><Relationship Type="http://schemas.openxmlformats.org/officeDocument/2006/relationships/slide" Target="/ppt/slides/slide23.xml" Id="R1c085099e96a4343" /><Relationship Type="http://schemas.openxmlformats.org/officeDocument/2006/relationships/slide" Target="/ppt/slides/slide24.xml" Id="R9082fa13c7f14539" /><Relationship Type="http://schemas.openxmlformats.org/officeDocument/2006/relationships/slide" Target="/ppt/slides/slide25.xml" Id="R888e79d8edab4300" /><Relationship Type="http://schemas.openxmlformats.org/officeDocument/2006/relationships/slide" Target="/ppt/slides/slide26.xml" Id="R80d8126e28744f7b" /><Relationship Type="http://schemas.openxmlformats.org/officeDocument/2006/relationships/slide" Target="/ppt/slides/slide27.xml" Id="R3a17fab4888b4074" /><Relationship Type="http://schemas.openxmlformats.org/officeDocument/2006/relationships/slide" Target="/ppt/slides/slide28.xml" Id="R0827621f54ce46b1" /><Relationship Type="http://schemas.openxmlformats.org/officeDocument/2006/relationships/slide" Target="/ppt/slides/slide29.xml" Id="R95ea7d2bd0fd4512" /><Relationship Type="http://schemas.openxmlformats.org/officeDocument/2006/relationships/slide" Target="/ppt/slides/slide30.xml" Id="R9364dbdb1c584bf6" /><Relationship Type="http://schemas.openxmlformats.org/officeDocument/2006/relationships/slide" Target="/ppt/slides/slide31.xml" Id="Rddc63a34b5f04a3e" /><Relationship Type="http://schemas.openxmlformats.org/officeDocument/2006/relationships/slide" Target="/ppt/slides/slide32.xml" Id="R4a6daf6f78a040ee" /><Relationship Type="http://schemas.openxmlformats.org/officeDocument/2006/relationships/slide" Target="/ppt/slides/slide33.xml" Id="R7575b13cf26f49d3" /><Relationship Type="http://schemas.openxmlformats.org/officeDocument/2006/relationships/slide" Target="/ppt/slides/slide34.xml" Id="Rbec8e528b7174383" /><Relationship Type="http://schemas.openxmlformats.org/officeDocument/2006/relationships/slide" Target="/ppt/slides/slide35.xml" Id="R49cb4aedaee44c48" /><Relationship Type="http://schemas.openxmlformats.org/officeDocument/2006/relationships/slide" Target="/ppt/slides/slide36.xml" Id="R8a2c06cfd93d42e3" /><Relationship Type="http://schemas.openxmlformats.org/officeDocument/2006/relationships/slide" Target="/ppt/slides/slide37.xml" Id="R99f1bcc3e0f84c82" /><Relationship Type="http://schemas.openxmlformats.org/officeDocument/2006/relationships/slide" Target="/ppt/slides/slide38.xml" Id="Re64a9acfdd474f60" /><Relationship Type="http://schemas.openxmlformats.org/officeDocument/2006/relationships/slide" Target="/ppt/slides/slide39.xml" Id="R8b426d85a3224e0d" /><Relationship Type="http://schemas.openxmlformats.org/officeDocument/2006/relationships/slide" Target="/ppt/slides/slide40.xml" Id="Re43af2ca594f4cd9" /><Relationship Type="http://schemas.openxmlformats.org/officeDocument/2006/relationships/slide" Target="/ppt/slides/slide41.xml" Id="Rbce90647f3394c8b" /><Relationship Type="http://schemas.openxmlformats.org/officeDocument/2006/relationships/slide" Target="/ppt/slides/slide42.xml" Id="R331f02415b6e42fd" /><Relationship Type="http://schemas.openxmlformats.org/officeDocument/2006/relationships/slide" Target="/ppt/slides/slide43.xml" Id="R59b14fd845da4059" /><Relationship Type="http://schemas.openxmlformats.org/officeDocument/2006/relationships/slide" Target="/ppt/slides/slide44.xml" Id="Rfe7f99dc2aea4aa8" /><Relationship Type="http://schemas.openxmlformats.org/officeDocument/2006/relationships/slide" Target="/ppt/slides/slide45.xml" Id="R79895e16580f4c41" /><Relationship Type="http://schemas.openxmlformats.org/officeDocument/2006/relationships/slide" Target="/ppt/slides/slide46.xml" Id="Ra34f58ee38e94c54" /><Relationship Type="http://schemas.openxmlformats.org/officeDocument/2006/relationships/slide" Target="/ppt/slides/slide47.xml" Id="R7e6d4e478d1942fd" /><Relationship Type="http://schemas.openxmlformats.org/officeDocument/2006/relationships/slide" Target="/ppt/slides/slide48.xml" Id="R0e61389884034ffa" /><Relationship Type="http://schemas.openxmlformats.org/officeDocument/2006/relationships/slide" Target="/ppt/slides/slide49.xml" Id="R72f82188c81c4eb4" /><Relationship Type="http://schemas.openxmlformats.org/officeDocument/2006/relationships/slide" Target="/ppt/slides/slide50.xml" Id="R544f25b4a78a40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7949b1c5c3c4b20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e4b22a8e90149ee" /><Relationship Type="http://schemas.openxmlformats.org/officeDocument/2006/relationships/slide" Target="/ppt/slides/slide1.xml" Id="Rb4c6192079634b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17be57e3dbf48c5" /><Relationship Type="http://schemas.openxmlformats.org/officeDocument/2006/relationships/slide" Target="/ppt/slides/slide2.xml" Id="R598c72680aea47a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f4f6a0a259748ae" /><Relationship Type="http://schemas.openxmlformats.org/officeDocument/2006/relationships/slide" Target="/ppt/slides/slide3.xml" Id="Rd6ef967f53c749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b96b3863a1e4eb9" /><Relationship Type="http://schemas.openxmlformats.org/officeDocument/2006/relationships/slide" Target="/ppt/slides/slide4.xml" Id="R3ffb242b4f1949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745282e804745e0" /><Relationship Type="http://schemas.openxmlformats.org/officeDocument/2006/relationships/slide" Target="/ppt/slides/slide5.xml" Id="Re84e5e6fd37a4a8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6514ed301c6499e" /><Relationship Type="http://schemas.openxmlformats.org/officeDocument/2006/relationships/slide" Target="/ppt/slides/slide6.xml" Id="Rb14921d4f19845f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3835347365a419d" /><Relationship Type="http://schemas.openxmlformats.org/officeDocument/2006/relationships/slide" Target="/ppt/slides/slide7.xml" Id="R7a7fe2c7653941c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80730d5263a4a80" /><Relationship Type="http://schemas.openxmlformats.org/officeDocument/2006/relationships/slide" Target="/ppt/slides/slide8.xml" Id="R7183d9dda4cf4f8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51ad97297504e59" /><Relationship Type="http://schemas.openxmlformats.org/officeDocument/2006/relationships/slide" Target="/ppt/slides/slide9.xml" Id="Redc91cbc22564c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14589704e964974" /><Relationship Type="http://schemas.openxmlformats.org/officeDocument/2006/relationships/slide" Target="/ppt/slides/slide10.xml" Id="Rbef98437a0a941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ea581b6751d4c54" /><Relationship Type="http://schemas.openxmlformats.org/officeDocument/2006/relationships/slide" Target="/ppt/slides/slide11.xml" Id="R916d129eb13c4a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e2f7fc201644fce" /><Relationship Type="http://schemas.openxmlformats.org/officeDocument/2006/relationships/slide" Target="/ppt/slides/slide12.xml" Id="Rb8aa5d6a28d242e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b00000dc1844068" /><Relationship Type="http://schemas.openxmlformats.org/officeDocument/2006/relationships/slide" Target="/ppt/slides/slide13.xml" Id="Rfa4efbf520c8430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79573e81b9440e2" /><Relationship Type="http://schemas.openxmlformats.org/officeDocument/2006/relationships/slide" Target="/ppt/slides/slide14.xml" Id="R4fae84d48470416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a35ca00c9c7493e" /><Relationship Type="http://schemas.openxmlformats.org/officeDocument/2006/relationships/slide" Target="/ppt/slides/slide15.xml" Id="R90540d4b7ff74c2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904e231d9db464c" /><Relationship Type="http://schemas.openxmlformats.org/officeDocument/2006/relationships/slide" Target="/ppt/slides/slide16.xml" Id="Rb823c9c77cc344e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6581e471ac54545" /><Relationship Type="http://schemas.openxmlformats.org/officeDocument/2006/relationships/slide" Target="/ppt/slides/slide17.xml" Id="R8f2e25f3c07b4be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97bc9bbe47e4f7e" /><Relationship Type="http://schemas.openxmlformats.org/officeDocument/2006/relationships/slide" Target="/ppt/slides/slide18.xml" Id="R63cc0a7d4eab458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6846194de9c4c39" /><Relationship Type="http://schemas.openxmlformats.org/officeDocument/2006/relationships/slide" Target="/ppt/slides/slide19.xml" Id="R95b67b549ccf405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2cb4eb36441421d" /><Relationship Type="http://schemas.openxmlformats.org/officeDocument/2006/relationships/slide" Target="/ppt/slides/slide20.xml" Id="R650d8e917c0a456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fcd8152f40341bb" /><Relationship Type="http://schemas.openxmlformats.org/officeDocument/2006/relationships/slide" Target="/ppt/slides/slide21.xml" Id="Rec832c624f4245c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ef362eba1bd479a" /><Relationship Type="http://schemas.openxmlformats.org/officeDocument/2006/relationships/slide" Target="/ppt/slides/slide22.xml" Id="R6a95c1fd9d154d0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cab49c17e324afc" /><Relationship Type="http://schemas.openxmlformats.org/officeDocument/2006/relationships/slide" Target="/ppt/slides/slide23.xml" Id="R2bf09533503a441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593198a4d154300" /><Relationship Type="http://schemas.openxmlformats.org/officeDocument/2006/relationships/slide" Target="/ppt/slides/slide24.xml" Id="Rab8a008048254a9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8d86762344d45be" /><Relationship Type="http://schemas.openxmlformats.org/officeDocument/2006/relationships/slide" Target="/ppt/slides/slide25.xml" Id="R7c7840ad23924ec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07b7454181d436f" /><Relationship Type="http://schemas.openxmlformats.org/officeDocument/2006/relationships/slide" Target="/ppt/slides/slide26.xml" Id="Rb93b638af3c64f4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c717f43b8d344f7" /><Relationship Type="http://schemas.openxmlformats.org/officeDocument/2006/relationships/slide" Target="/ppt/slides/slide27.xml" Id="Rf3cf07b98ad043c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202fde61a5444bb" /><Relationship Type="http://schemas.openxmlformats.org/officeDocument/2006/relationships/slide" Target="/ppt/slides/slide28.xml" Id="R933499d34cbf4b8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3b25f0282724aaf" /><Relationship Type="http://schemas.openxmlformats.org/officeDocument/2006/relationships/slide" Target="/ppt/slides/slide29.xml" Id="Rd9fb0321656d4d0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05e04e16c284f4d" /><Relationship Type="http://schemas.openxmlformats.org/officeDocument/2006/relationships/slide" Target="/ppt/slides/slide30.xml" Id="R1e3dff0fd8b845a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16d6b065bc04b4a" /><Relationship Type="http://schemas.openxmlformats.org/officeDocument/2006/relationships/slide" Target="/ppt/slides/slide31.xml" Id="R4f60ecdce94b4f6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7d5db1f89a44bec" /><Relationship Type="http://schemas.openxmlformats.org/officeDocument/2006/relationships/slide" Target="/ppt/slides/slide32.xml" Id="R78d640b9d754490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f3c5be016cc74a2c" /><Relationship Type="http://schemas.openxmlformats.org/officeDocument/2006/relationships/slide" Target="/ppt/slides/slide33.xml" Id="R863aab0fca4f4eb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5160c8c88b44fa8" /><Relationship Type="http://schemas.openxmlformats.org/officeDocument/2006/relationships/slide" Target="/ppt/slides/slide34.xml" Id="R0bb2e63cc2dd4882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43adb01cb0845c0" /><Relationship Type="http://schemas.openxmlformats.org/officeDocument/2006/relationships/slide" Target="/ppt/slides/slide35.xml" Id="Rdda77f376356449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87458a689f244cf" /><Relationship Type="http://schemas.openxmlformats.org/officeDocument/2006/relationships/slide" Target="/ppt/slides/slide36.xml" Id="R537ef0dac001452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2dd46f2bde241da" /><Relationship Type="http://schemas.openxmlformats.org/officeDocument/2006/relationships/slide" Target="/ppt/slides/slide37.xml" Id="Rddfa693eb06c4b7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1b0bd65881f4242" /><Relationship Type="http://schemas.openxmlformats.org/officeDocument/2006/relationships/slide" Target="/ppt/slides/slide38.xml" Id="Rc094345ed96d4978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e6312b92b9f4ea1" /><Relationship Type="http://schemas.openxmlformats.org/officeDocument/2006/relationships/slide" Target="/ppt/slides/slide39.xml" Id="R35caba106ef445a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b2ab18612f846ab" /><Relationship Type="http://schemas.openxmlformats.org/officeDocument/2006/relationships/slide" Target="/ppt/slides/slide40.xml" Id="R76613d2fad7b4668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27a336a7d5f46d3" /><Relationship Type="http://schemas.openxmlformats.org/officeDocument/2006/relationships/slide" Target="/ppt/slides/slide41.xml" Id="Rc76132c9b5cb481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e99b8fb5fd746e8" /><Relationship Type="http://schemas.openxmlformats.org/officeDocument/2006/relationships/slide" Target="/ppt/slides/slide42.xml" Id="R290cfd579dce467d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32b948e7f5c4f46" /><Relationship Type="http://schemas.openxmlformats.org/officeDocument/2006/relationships/slide" Target="/ppt/slides/slide43.xml" Id="R608d378a1e7e4384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e7eb22565834360" /><Relationship Type="http://schemas.openxmlformats.org/officeDocument/2006/relationships/slide" Target="/ppt/slides/slide44.xml" Id="Rdcb19444d3fb43eb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28644bc3eb74e92" /><Relationship Type="http://schemas.openxmlformats.org/officeDocument/2006/relationships/slide" Target="/ppt/slides/slide45.xml" Id="R8d8e041d92c6493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14d158871724576" /><Relationship Type="http://schemas.openxmlformats.org/officeDocument/2006/relationships/slide" Target="/ppt/slides/slide46.xml" Id="Rabefed5cf94b40e8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63d853e4f97c448a" /><Relationship Type="http://schemas.openxmlformats.org/officeDocument/2006/relationships/slide" Target="/ppt/slides/slide47.xml" Id="Ra099e31587ff403c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cfabafcafda44841" /><Relationship Type="http://schemas.openxmlformats.org/officeDocument/2006/relationships/slide" Target="/ppt/slides/slide48.xml" Id="Reb46e8c0eeab4b5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35b3fb966404fa7" /><Relationship Type="http://schemas.openxmlformats.org/officeDocument/2006/relationships/slide" Target="/ppt/slides/slide49.xml" Id="Ra68be6e4c1a24277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4ad041405fb4236" /><Relationship Type="http://schemas.openxmlformats.org/officeDocument/2006/relationships/slide" Target="/ppt/slides/slide50.xml" Id="R71ff181209874c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 — TITLE SLIDE</a:t>
            </a:r>
          </a:p>
          <a:p xmlns:a="http://schemas.openxmlformats.org/drawingml/2006/main">
            <a:r>
              <a:rPr lang="en-US"/>
              <a:t>Welcome to Day 2 of the Quantum Fall Fest Lecture Series.</a:t>
            </a:r>
          </a:p>
          <a:p xmlns:a="http://schemas.openxmlformats.org/drawingml/2006/main">
            <a:r>
              <a:rPr lang="en-US"/>
              <a:t>Today we go deep into quantum algorithms — the heart of what makes quantum computers useful.</a:t>
            </a:r>
          </a:p>
          <a:p xmlns:a="http://schemas.openxmlformats.org/drawingml/2006/main">
            <a:r>
              <a:rPr lang="en-US"/>
              <a:t>Prerequisites: familiarity with qubits, superposition, entanglement, and basic quantum gates from Day 1.</a:t>
            </a:r>
          </a:p>
          <a:p xmlns:a="http://schemas.openxmlformats.org/drawingml/2006/main">
            <a:r>
              <a:rPr lang="en-US"/>
              <a:t>References: Nielsen &amp; Chuang (2000), Kitaev et al. (2002).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 — WHAT IS A QUANTUM ALGORITHM?</a:t>
            </a:r>
          </a:p>
          <a:p xmlns:a="http://schemas.openxmlformats.org/drawingml/2006/main">
            <a:r>
              <a:rPr lang="en-US"/>
              <a:t>Emphasize that quantum algorithms are NOT magic — they are structured procedures with provable properties.</a:t>
            </a:r>
          </a:p>
          <a:p xmlns:a="http://schemas.openxmlformats.org/drawingml/2006/main">
            <a:r>
              <a:rPr lang="en-US"/>
              <a:t>Key insight: interference is the core mechanism — it is how we extract useful answers from superpositions.</a:t>
            </a:r>
          </a:p>
          <a:p xmlns:a="http://schemas.openxmlformats.org/drawingml/2006/main">
            <a:r>
              <a:rPr lang="en-US"/>
              <a:t>Reference: Nielsen &amp; Chuang Ch. 1, Bernstein &amp; Vazirani (1993).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3 — COMPLEXITY CLASSES</a:t>
            </a:r>
          </a:p>
          <a:p xmlns:a="http://schemas.openxmlformats.org/drawingml/2006/main">
            <a:r>
              <a:rPr lang="en-US"/>
              <a:t>The Complexity Zoo classifies over 500 classes. We focus on BQP — the class of problems solvable by quantum computers in polynomial time with bounded error.</a:t>
            </a:r>
          </a:p>
          <a:p xmlns:a="http://schemas.openxmlformats.org/drawingml/2006/main">
            <a:r>
              <a:rPr lang="en-US"/>
              <a:t>Factoring is in BQP (Shor 1994) but not known to be in P.</a:t>
            </a:r>
          </a:p>
          <a:p xmlns:a="http://schemas.openxmlformats.org/drawingml/2006/main">
            <a:r>
              <a:rPr lang="en-US"/>
              <a:t>References: Aaronson (2013) 'Quantum Computing Since Democritus', Bernstein-Vazirani (1997).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4 — ORACLE MODEL</a:t>
            </a:r>
          </a:p>
          <a:p xmlns:a="http://schemas.openxmlformats.org/drawingml/2006/main">
            <a:r>
              <a:rPr lang="en-US"/>
              <a:t>The oracle model is fundamental to quantum algorithm theory.</a:t>
            </a:r>
          </a:p>
          <a:p xmlns:a="http://schemas.openxmlformats.org/drawingml/2006/main">
            <a:r>
              <a:rPr lang="en-US"/>
              <a:t>Phase kickback trick: use ancilla in |−⟩ = (|0⟩−|1⟩)/√2, then Uf flips phase: (−1)^f(x)|x⟩</a:t>
            </a:r>
          </a:p>
          <a:p xmlns:a="http://schemas.openxmlformats.org/drawingml/2006/main">
            <a:r>
              <a:rPr lang="en-US"/>
              <a:t>This is how Grover and Deutsch-Jozsa work at a circuit level.</a:t>
            </a:r>
          </a:p>
          <a:p xmlns:a="http://schemas.openxmlformats.org/drawingml/2006/main">
            <a:r>
              <a:rPr lang="en-US"/>
              <a:t>References: Beals et al. (1998) FOCS, Ambainis (2002) JACM.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5 — DEUTSCH-JOZSA</a:t>
            </a:r>
          </a:p>
          <a:p xmlns:a="http://schemas.openxmlformats.org/drawingml/2006/main">
            <a:r>
              <a:rPr lang="en-US"/>
              <a:t>Start with the 1-qubit case (Deutsch 1985) before generalizing to n qubits.</a:t>
            </a:r>
          </a:p>
          <a:p xmlns:a="http://schemas.openxmlformats.org/drawingml/2006/main">
            <a:r>
              <a:rPr lang="en-US"/>
              <a:t>Key teaching moment: phase kickback — the |−⟩ ancilla converts f(x) amplitude into phase.</a:t>
            </a:r>
          </a:p>
          <a:p xmlns:a="http://schemas.openxmlformats.org/drawingml/2006/main">
            <a:r>
              <a:rPr lang="en-US"/>
              <a:t>After step 4, measuring |0⟩ⁿ happens with probability |Σx(−1)^f(x)/2ⁿ|² = 1 for constant, 0 for balanced.</a:t>
            </a:r>
          </a:p>
          <a:p xmlns:a="http://schemas.openxmlformats.org/drawingml/2006/main">
            <a:r>
              <a:rPr lang="en-US"/>
              <a:t>References: Deutsch (1985) Proc. R. Soc., Deutsch &amp; Jozsa (1992) Proc. R. Soc.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6 — SIMON'S ALGORITHM</a:t>
            </a:r>
          </a:p>
          <a:p xmlns:a="http://schemas.openxmlformats.org/drawingml/2006/main">
            <a:r>
              <a:rPr lang="en-US"/>
              <a:t>Simon's algorithm (1994) is crucial because it was the first PROVEN exponential quantum speedup.</a:t>
            </a:r>
          </a:p>
          <a:p xmlns:a="http://schemas.openxmlformats.org/drawingml/2006/main">
            <a:r>
              <a:rPr lang="en-US"/>
              <a:t>The final classical post-processing (Gaussian elimination over GF(2)) is O(n³) — completely tractable.</a:t>
            </a:r>
          </a:p>
          <a:p xmlns:a="http://schemas.openxmlformats.org/drawingml/2006/main">
            <a:r>
              <a:rPr lang="en-US"/>
              <a:t>The key math: after H⊗ⁿ, measuring y satisfying y·s = 0 (mod 2) for all s bits.</a:t>
            </a:r>
          </a:p>
          <a:p xmlns:a="http://schemas.openxmlformats.org/drawingml/2006/main">
            <a:r>
              <a:rPr lang="en-US"/>
              <a:t>Reference: Simon, D.R. (1997) 'On the Power of Quantum Computation' SIAM Journal on Computing.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7 — GROVER'S ALGORITHM</a:t>
            </a:r>
          </a:p>
          <a:p xmlns:a="http://schemas.openxmlformats.org/drawingml/2006/main">
            <a:r>
              <a:rPr lang="en-US"/>
              <a:t>Grover's is the most widely applicable quantum algorithm — any problem with a verifiable solution benefits.</a:t>
            </a:r>
          </a:p>
          <a:p xmlns:a="http://schemas.openxmlformats.org/drawingml/2006/main">
            <a:r>
              <a:rPr lang="en-US"/>
              <a:t>The geometric proof is elegant: each iteration is a rotation, and we want to reach 90° from the initial state.</a:t>
            </a:r>
          </a:p>
          <a:p xmlns:a="http://schemas.openxmlformats.org/drawingml/2006/main">
            <a:r>
              <a:rPr lang="en-US"/>
              <a:t>Cryptographic implication: AES-128 effectively becomes AES-64-equivalent against quantum adversaries.</a:t>
            </a:r>
          </a:p>
          <a:p xmlns:a="http://schemas.openxmlformats.org/drawingml/2006/main">
            <a:r>
              <a:rPr lang="en-US"/>
              <a:t>References: Grover (1996) STOC, Bennett et al. BBBV (1997) SIAM J. Computing.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8 — AMPLITUDE AMPLIFICATION</a:t>
            </a:r>
          </a:p>
          <a:p xmlns:a="http://schemas.openxmlformats.org/drawingml/2006/main">
            <a:r>
              <a:rPr lang="en-US"/>
              <a:t>Amplitude amplification is arguably the most important generalization in quantum algorithms.</a:t>
            </a:r>
          </a:p>
          <a:p xmlns:a="http://schemas.openxmlformats.org/drawingml/2006/main">
            <a:r>
              <a:rPr lang="en-US"/>
              <a:t>Any classical O(T) algorithm with success probability p has a quantum version running in O(T/√p).</a:t>
            </a:r>
          </a:p>
          <a:p xmlns:a="http://schemas.openxmlformats.org/drawingml/2006/main">
            <a:r>
              <a:rPr lang="en-US"/>
              <a:t>The collision-finding algorithm uses a quantum walk, not pure Grover — important distinction.</a:t>
            </a:r>
          </a:p>
          <a:p xmlns:a="http://schemas.openxmlformats.org/drawingml/2006/main">
            <a:r>
              <a:rPr lang="en-US"/>
              <a:t>References: Brassard et al. (2002) AMS Contemporary Math, Ambainis (2004) STOC.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9 — QUANTUM FOURIER TRANSFORM</a:t>
            </a:r>
          </a:p>
          <a:p xmlns:a="http://schemas.openxmlformats.org/drawingml/2006/main">
            <a:r>
              <a:rPr lang="en-US"/>
              <a:t>The QFT is THE central subroutine in quantum computing — understanding it deeply unlocks Shor's algorithm.</a:t>
            </a:r>
          </a:p>
          <a:p xmlns:a="http://schemas.openxmlformats.org/drawingml/2006/main">
            <a:r>
              <a:rPr lang="en-US"/>
              <a:t>Key mathematical insight: the product representation means each output qubit only depends on a few input bits — this is why the circuit is O(n²) rather than O(2^n).</a:t>
            </a:r>
          </a:p>
          <a:p xmlns:a="http://schemas.openxmlformats.org/drawingml/2006/main">
            <a:r>
              <a:rPr lang="en-US"/>
              <a:t>Reference: Coppersmith (1994) IBM Tech Report, Nielsen &amp; Chuang Ch. 5.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10 — QUANTUM PHASE ESTIMATION</a:t>
            </a:r>
          </a:p>
          <a:p xmlns:a="http://schemas.openxmlformats.org/drawingml/2006/main">
            <a:r>
              <a:rPr lang="en-US"/>
              <a:t>QPE is the central algorithm for quantum chemistry and Shor's factoring.</a:t>
            </a:r>
          </a:p>
          <a:p xmlns:a="http://schemas.openxmlformats.org/drawingml/2006/main">
            <a:r>
              <a:rPr lang="en-US"/>
              <a:t>Key insight: controlled-U^{2^k} on the counting register creates a superposition of phases — QFT then deconvolves them into a binary representation.</a:t>
            </a:r>
          </a:p>
          <a:p xmlns:a="http://schemas.openxmlformats.org/drawingml/2006/main">
            <a:r>
              <a:rPr lang="en-US"/>
              <a:t>For chemistry: U = e^{-iHt/r} for r repetitions approximates the Hamiltonian eigenvalues.</a:t>
            </a:r>
          </a:p>
          <a:p xmlns:a="http://schemas.openxmlformats.org/drawingml/2006/main">
            <a:r>
              <a:rPr lang="en-US"/>
              <a:t>Reference: Kitaev (1995) quant-ph/9511026, Nielsen &amp; Chuang Ch. 5.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11 — SHOR'S FACTORING ALGORITHM</a:t>
            </a:r>
          </a:p>
          <a:p xmlns:a="http://schemas.openxmlformats.org/drawingml/2006/main">
            <a:r>
              <a:rPr lang="en-US"/>
              <a:t>Shor's algorithm is why quantum computing is a national security concern.</a:t>
            </a:r>
          </a:p>
          <a:p xmlns:a="http://schemas.openxmlformats.org/drawingml/2006/main">
            <a:r>
              <a:rPr lang="en-US"/>
              <a:t>RSA-2048 is used for most internet encryption — Shor breaks it in polynomial time.</a:t>
            </a:r>
          </a:p>
          <a:p xmlns:a="http://schemas.openxmlformats.org/drawingml/2006/main">
            <a:r>
              <a:rPr lang="en-US"/>
              <a:t>The quantum part is period finding; the classical reduction is purely number theory.</a:t>
            </a:r>
          </a:p>
          <a:p xmlns:a="http://schemas.openxmlformats.org/drawingml/2006/main">
            <a:r>
              <a:rPr lang="en-US"/>
              <a:t>Timeline: first need ~1M physical qubits with current error rates (estimated 2030s).</a:t>
            </a:r>
          </a:p>
          <a:p xmlns:a="http://schemas.openxmlformats.org/drawingml/2006/main">
            <a:r>
              <a:rPr lang="en-US"/>
              <a:t>References: Shor (1994/1997) SIAM J. Computing, Gidney &amp; Ekerå (2021) Quantum Journal.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12 — CRYPTOGRAPHIC IMPLICATIONS</a:t>
            </a:r>
          </a:p>
          <a:p xmlns:a="http://schemas.openxmlformats.org/drawingml/2006/main">
            <a:r>
              <a:rPr lang="en-US"/>
              <a:t>This slide often generates the most audience reaction — internet encryption is at risk.</a:t>
            </a:r>
          </a:p>
          <a:p xmlns:a="http://schemas.openxmlformats.org/drawingml/2006/main">
            <a:r>
              <a:rPr lang="en-US"/>
              <a:t>Key message: RSA, ECC, and DH are ALL broken by Shor. Symmetric keys need doubling.</a:t>
            </a:r>
          </a:p>
          <a:p xmlns:a="http://schemas.openxmlformats.org/drawingml/2006/main">
            <a:r>
              <a:rPr lang="en-US"/>
              <a:t>NIST finalized PQC standards August 2024: Kyber (ML-KEM), Dilithium (ML-DSA), Falcon, SPHINCS+.</a:t>
            </a:r>
          </a:p>
          <a:p xmlns:a="http://schemas.openxmlformats.org/drawingml/2006/main">
            <a:r>
              <a:rPr lang="en-US"/>
              <a:t>References: Shor (1997), NIST FIPS 203/204/205 (2024), NSA CNSA 2.0 (2022).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13 — HIDDEN SUBGROUP PROBLEM</a:t>
            </a:r>
          </a:p>
          <a:p xmlns:a="http://schemas.openxmlformats.org/drawingml/2006/main">
            <a:r>
              <a:rPr lang="en-US"/>
              <a:t>The HSP framework unifies quantum algorithms beautifully — it shows why QFT is so powerful.</a:t>
            </a:r>
          </a:p>
          <a:p xmlns:a="http://schemas.openxmlformats.org/drawingml/2006/main">
            <a:r>
              <a:rPr lang="en-US"/>
              <a:t>The non-abelian case is the frontier: solving graph isomorphism quantumly would be a major breakthrough.</a:t>
            </a:r>
          </a:p>
          <a:p xmlns:a="http://schemas.openxmlformats.org/drawingml/2006/main">
            <a:r>
              <a:rPr lang="en-US"/>
              <a:t>Key paper: Ettinger-Hoyer (1999) showed Ω(N^{1/2}) query lower bound for random HSP.</a:t>
            </a:r>
          </a:p>
          <a:p xmlns:a="http://schemas.openxmlformats.org/drawingml/2006/main">
            <a:r>
              <a:rPr lang="en-US"/>
              <a:t>Reference: Lomonaco &amp; Kauffman (2002), Childs &amp; van Dam (2010) Rev. Mod. Phys.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14 — QUANTUM WALKS</a:t>
            </a:r>
          </a:p>
          <a:p xmlns:a="http://schemas.openxmlformats.org/drawingml/2006/main">
            <a:r>
              <a:rPr lang="en-US"/>
              <a:t>Quantum walks were demonstrated physically in trapped-ion and photonic systems.</a:t>
            </a:r>
          </a:p>
          <a:p xmlns:a="http://schemas.openxmlformats.org/drawingml/2006/main">
            <a:r>
              <a:rPr lang="en-US"/>
              <a:t>The ballistic spreading is a direct consequence of quantum interference — constructive interference in the forward direction.</a:t>
            </a:r>
          </a:p>
          <a:p xmlns:a="http://schemas.openxmlformats.org/drawingml/2006/main">
            <a:r>
              <a:rPr lang="en-US"/>
              <a:t>Intuition demo: 1D Hadamard walk on a line — bimodal probability distribution forms vs classical Gaussian.</a:t>
            </a:r>
          </a:p>
          <a:p xmlns:a="http://schemas.openxmlformats.org/drawingml/2006/main">
            <a:r>
              <a:rPr lang="en-US"/>
              <a:t>Reference: Kempe (2003) Contemporary Physics, Ambainis et al. (2001) STOC.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15 — VQE</a:t>
            </a:r>
          </a:p>
          <a:p xmlns:a="http://schemas.openxmlformats.org/drawingml/2006/main">
            <a:r>
              <a:rPr lang="en-US"/>
              <a:t>VQE was proposed by Peruzzo et al. 2014 and demonstrated on a photonic chip.</a:t>
            </a:r>
          </a:p>
          <a:p xmlns:a="http://schemas.openxmlformats.org/drawingml/2006/main">
            <a:r>
              <a:rPr lang="en-US"/>
              <a:t>The key innovation: offload the optimization to classical computers, use quantum only for energy evaluation.</a:t>
            </a:r>
          </a:p>
          <a:p xmlns:a="http://schemas.openxmlformats.org/drawingml/2006/main">
            <a:r>
              <a:rPr lang="en-US"/>
              <a:t>Barren plateaus (McClean et al. 2018) are the main theoretical obstacle — random circuits have exponentially small gradients.</a:t>
            </a:r>
          </a:p>
          <a:p xmlns:a="http://schemas.openxmlformats.org/drawingml/2006/main">
            <a:r>
              <a:rPr lang="en-US"/>
              <a:t>References: Peruzzo et al. (2014) Nature Commun., Kandala et al. (2017) Nature, McClean et al. (2018) Nature Commun.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16 — QAOA</a:t>
            </a:r>
          </a:p>
          <a:p xmlns:a="http://schemas.openxmlformats.org/drawingml/2006/main">
            <a:r>
              <a:rPr lang="en-US"/>
              <a:t>QAOA is the most widely deployed quantum algorithm on NISQ hardware today.</a:t>
            </a:r>
          </a:p>
          <a:p xmlns:a="http://schemas.openxmlformats.org/drawingml/2006/main">
            <a:r>
              <a:rPr lang="en-US"/>
              <a:t>Key controversy: no proven quantum advantage yet for practically useful problem sizes.</a:t>
            </a:r>
          </a:p>
          <a:p xmlns:a="http://schemas.openxmlformats.org/drawingml/2006/main">
            <a:r>
              <a:rPr lang="en-US"/>
              <a:t>Farhi et al. showed p=1 QAOA for MaxCut — but Hastings (2019) showed a classical algorithm does better!</a:t>
            </a:r>
          </a:p>
          <a:p xmlns:a="http://schemas.openxmlformats.org/drawingml/2006/main">
            <a:r>
              <a:rPr lang="en-US"/>
              <a:t>The path to quantum advantage for QAOA likely requires p=Ω(√n) depth — which is noisy.</a:t>
            </a:r>
          </a:p>
          <a:p xmlns:a="http://schemas.openxmlformats.org/drawingml/2006/main">
            <a:r>
              <a:rPr lang="en-US"/>
              <a:t>References: Farhi et al. (2014) arXiv:1411.4028, Farhi-Harrow (2016), Zhou et al. (2020) PRX.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17 — HHL ALGORITHM</a:t>
            </a:r>
          </a:p>
          <a:p xmlns:a="http://schemas.openxmlformats.org/drawingml/2006/main">
            <a:r>
              <a:rPr lang="en-US"/>
              <a:t>HHL seemed like the holy grail of quantum ML in 2009. Tang's dequantization (2018) was a huge surprise.</a:t>
            </a:r>
          </a:p>
          <a:p xmlns:a="http://schemas.openxmlformats.org/drawingml/2006/main">
            <a:r>
              <a:rPr lang="en-US"/>
              <a:t>Key lesson: quantum speedups often have fine print — state preparation and readout costs matter enormously.</a:t>
            </a:r>
          </a:p>
          <a:p xmlns:a="http://schemas.openxmlformats.org/drawingml/2006/main">
            <a:r>
              <a:rPr lang="en-US"/>
              <a:t>But: legitimate applications remain for specific quantum query tasks.</a:t>
            </a:r>
          </a:p>
          <a:p xmlns:a="http://schemas.openxmlformats.org/drawingml/2006/main">
            <a:r>
              <a:rPr lang="en-US"/>
              <a:t>References: Harrow-Hassidim-Lloyd (2009) PRL, Aaronson (2015) Nat. Physics, Tang (2019) STOC.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18 — QUANTUM SIMULATION</a:t>
            </a:r>
          </a:p>
          <a:p xmlns:a="http://schemas.openxmlformats.org/drawingml/2006/main">
            <a:r>
              <a:rPr lang="en-US"/>
              <a:t>This is arguably the most commercially promising near-term quantum application.</a:t>
            </a:r>
          </a:p>
          <a:p xmlns:a="http://schemas.openxmlformats.org/drawingml/2006/main">
            <a:r>
              <a:rPr lang="en-US"/>
              <a:t>The quantum simulation of chemistry was Feynman's original motivation for quantum computing.</a:t>
            </a:r>
          </a:p>
          <a:p xmlns:a="http://schemas.openxmlformats.org/drawingml/2006/main">
            <a:r>
              <a:rPr lang="en-US"/>
              <a:t>Trotterization is practical on NISQ hardware; qubitization requires fault tolerance.</a:t>
            </a:r>
          </a:p>
          <a:p xmlns:a="http://schemas.openxmlformats.org/drawingml/2006/main">
            <a:r>
              <a:rPr lang="en-US"/>
              <a:t>References: Lloyd (1996) Science, Babbush et al. (2018) PRL, Childs (2022) Rev. Mod. Phys.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19 — QUANTUM ERROR CORRECTION</a:t>
            </a:r>
          </a:p>
          <a:p xmlns:a="http://schemas.openxmlformats.org/drawingml/2006/main">
            <a:r>
              <a:rPr lang="en-US"/>
              <a:t>The threshold theorem is the theoretical proof that scalable quantum computing is possible.</a:t>
            </a:r>
          </a:p>
          <a:p xmlns:a="http://schemas.openxmlformats.org/drawingml/2006/main">
            <a:r>
              <a:rPr lang="en-US"/>
              <a:t>Surface code is currently the leading candidate for fault-tolerant quantum computers.</a:t>
            </a:r>
          </a:p>
          <a:p xmlns:a="http://schemas.openxmlformats.org/drawingml/2006/main">
            <a:r>
              <a:rPr lang="en-US"/>
              <a:t>Google's Willow (2024) demonstrated below-threshold performance — a major milestone.</a:t>
            </a:r>
          </a:p>
          <a:p xmlns:a="http://schemas.openxmlformats.org/drawingml/2006/main">
            <a:r>
              <a:rPr lang="en-US"/>
              <a:t>References: Shor (1995) PRA, Steane (1996) PRL, Kitaev (1997), Fowler et al. (2012) PRA.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20 — FAULT TOLERANT QUANTUM COMPUTING</a:t>
            </a:r>
          </a:p>
          <a:p xmlns:a="http://schemas.openxmlformats.org/drawingml/2006/main">
            <a:r>
              <a:rPr lang="en-US"/>
              <a:t>Magic state distillation is often the dominant cost in fault-tolerant algorithms.</a:t>
            </a:r>
          </a:p>
          <a:p xmlns:a="http://schemas.openxmlformats.org/drawingml/2006/main">
            <a:r>
              <a:rPr lang="en-US"/>
              <a:t>The 'T-gate count' is now the standard complexity measure for fault-tolerant algorithms.</a:t>
            </a:r>
          </a:p>
          <a:p xmlns:a="http://schemas.openxmlformats.org/drawingml/2006/main">
            <a:r>
              <a:rPr lang="en-US"/>
              <a:t>Timeline uncertainty: hardware advances may significantly reduce these requirements.</a:t>
            </a:r>
          </a:p>
          <a:p xmlns:a="http://schemas.openxmlformats.org/drawingml/2006/main">
            <a:r>
              <a:rPr lang="en-US"/>
              <a:t>References: Bravyi-Kitaev (2005) PRA, Fowler et al. (2012) PRA, Gidney-Ekerå (2021) Quantum.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21 — VARIATIONAL ALGORITHM ZOO</a:t>
            </a:r>
          </a:p>
          <a:p xmlns:a="http://schemas.openxmlformats.org/drawingml/2006/main">
            <a:r>
              <a:rPr lang="en-US"/>
              <a:t>Variational quantum algorithms are the dominant NISQ paradigm.</a:t>
            </a:r>
          </a:p>
          <a:p xmlns:a="http://schemas.openxmlformats.org/drawingml/2006/main">
            <a:r>
              <a:rPr lang="en-US"/>
              <a:t>ADAPT-VQE (Grimsley et al. 2019) is the current state-of-the-art for NISQ chemistry.</a:t>
            </a:r>
          </a:p>
          <a:p xmlns:a="http://schemas.openxmlformats.org/drawingml/2006/main">
            <a:r>
              <a:rPr lang="en-US"/>
              <a:t>Barren plateaus remain the fundamental obstacle — quantum natural gradient helps but doesn't fully solve it.</a:t>
            </a:r>
          </a:p>
          <a:p xmlns:a="http://schemas.openxmlformats.org/drawingml/2006/main">
            <a:r>
              <a:rPr lang="en-US"/>
              <a:t>References: Grimsley et al. (2019) Nature Commun., Cerezo et al. (2021) Nature Rev. Phys.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22 — ERROR MITIGATION</a:t>
            </a:r>
          </a:p>
          <a:p xmlns:a="http://schemas.openxmlformats.org/drawingml/2006/main">
            <a:r>
              <a:rPr lang="en-US"/>
              <a:t>Error mitigation is the pragmatic approach for NISQ-era useful results.</a:t>
            </a:r>
          </a:p>
          <a:p xmlns:a="http://schemas.openxmlformats.org/drawingml/2006/main">
            <a:r>
              <a:rPr lang="en-US"/>
              <a:t>ZNE is the most practical — it's production-ready in Qiskit Runtime and Amazon Braket.</a:t>
            </a:r>
          </a:p>
          <a:p xmlns:a="http://schemas.openxmlformats.org/drawingml/2006/main">
            <a:r>
              <a:rPr lang="en-US"/>
              <a:t>PEC is theoretically optimal but the sampling overhead can make it impractical (exponential in depth).</a:t>
            </a:r>
          </a:p>
          <a:p xmlns:a="http://schemas.openxmlformats.org/drawingml/2006/main">
            <a:r>
              <a:rPr lang="en-US"/>
              <a:t>Key insight: mitigation buys useful results now; correction is needed for long computations.</a:t>
            </a:r>
          </a:p>
          <a:p xmlns:a="http://schemas.openxmlformats.org/drawingml/2006/main">
            <a:r>
              <a:rPr lang="en-US"/>
              <a:t>References: Temme et al. (2017) PRL, Li &amp; Benjamin (2017) PRX, Kandala et al. (2019) Nature.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23 — QUANTUM MACHINE LEARNING</a:t>
            </a:r>
          </a:p>
          <a:p xmlns:a="http://schemas.openxmlformats.org/drawingml/2006/main">
            <a:r>
              <a:rPr lang="en-US"/>
              <a:t>QML is the most over-hyped area in quantum computing, but there are legitimate results.</a:t>
            </a:r>
          </a:p>
          <a:p xmlns:a="http://schemas.openxmlformats.org/drawingml/2006/main">
            <a:r>
              <a:rPr lang="en-US"/>
              <a:t>Liu et al. 2021 in Nature Physics is the first RIGOROUS proof of quantum advantage in learning tasks.</a:t>
            </a:r>
          </a:p>
          <a:p xmlns:a="http://schemas.openxmlformats.org/drawingml/2006/main">
            <a:r>
              <a:rPr lang="en-US"/>
              <a:t>Key caution: quantum advantages in QML are for learning quantum systems, not classical data.</a:t>
            </a:r>
          </a:p>
          <a:p xmlns:a="http://schemas.openxmlformats.org/drawingml/2006/main">
            <a:r>
              <a:rPr lang="en-US"/>
              <a:t>Barren plateaus are a fundamental obstacle for deep QML models.</a:t>
            </a:r>
          </a:p>
          <a:p xmlns:a="http://schemas.openxmlformats.org/drawingml/2006/main">
            <a:r>
              <a:rPr lang="en-US"/>
              <a:t>References: Biamonte et al. (2017) Nature, Liu et al. (2021) Nature Physics, Cerezo et al. (2022) Nat. Comp. Sci.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24 — QUANTUM SPEEDUP ZOO</a:t>
            </a:r>
          </a:p>
          <a:p xmlns:a="http://schemas.openxmlformats.org/drawingml/2006/main">
            <a:r>
              <a:rPr lang="en-US"/>
              <a:t>* QFT speedup: useful only as a subroutine, not for full transform readout.</a:t>
            </a:r>
          </a:p>
          <a:p xmlns:a="http://schemas.openxmlformats.org/drawingml/2006/main">
            <a:r>
              <a:rPr lang="en-US"/>
              <a:t>* HHL speedup: conditional on quantum RAM and specific query models.</a:t>
            </a:r>
          </a:p>
          <a:p xmlns:a="http://schemas.openxmlformats.org/drawingml/2006/main">
            <a:r>
              <a:rPr lang="en-US"/>
              <a:t>The 'Quantum Speedups' database at quantumalgorithmzoo.org has 60+ entries.</a:t>
            </a:r>
          </a:p>
          <a:p xmlns:a="http://schemas.openxmlformats.org/drawingml/2006/main">
            <a:r>
              <a:rPr lang="en-US"/>
              <a:t>Amplitude Estimation is perhaps the most commercially relevant quadratic speedup (Monte Carlo finance).</a:t>
            </a:r>
          </a:p>
          <a:p xmlns:a="http://schemas.openxmlformats.org/drawingml/2006/main">
            <a:r>
              <a:rPr lang="en-US"/>
              <a:t>Reference: Jordan (2021) quantumalgorithmzoo.org, Montanaro (2016) npj Quantum Information.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25 — GROVER QISKIT LAB</a:t>
            </a:r>
          </a:p>
          <a:p xmlns:a="http://schemas.openxmlformats.org/drawingml/2006/main">
            <a:r>
              <a:rPr lang="en-US"/>
              <a:t>Hands-on lab: attendees should have Qiskit installed (pip install qiskit qiskit-aer).</a:t>
            </a:r>
          </a:p>
          <a:p xmlns:a="http://schemas.openxmlformats.org/drawingml/2006/main">
            <a:r>
              <a:rPr lang="en-US"/>
              <a:t>The PhaseOracle from qiskit.circuit.library automatically constructs the oracle from a boolean expression.</a:t>
            </a:r>
          </a:p>
          <a:p xmlns:a="http://schemas.openxmlformats.org/drawingml/2006/main">
            <a:r>
              <a:rPr lang="en-US"/>
              <a:t>Key exercise: try different search targets, different iteration counts, observe the oscillation.</a:t>
            </a:r>
          </a:p>
          <a:p xmlns:a="http://schemas.openxmlformats.org/drawingml/2006/main">
            <a:r>
              <a:rPr lang="en-US"/>
              <a:t>For real hardware: requires IBM Quantum account — create at quantum.ibm.com</a:t>
            </a:r>
          </a:p>
          <a:p xmlns:a="http://schemas.openxmlformats.org/drawingml/2006/main">
            <a:r>
              <a:rPr lang="en-US"/>
              <a:t>References: Qiskit documentation, IBM Quantum Learning (learning.quantum.ibm.com).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26 — SHOR QISKIT LAB</a:t>
            </a:r>
          </a:p>
          <a:p xmlns:a="http://schemas.openxmlformats.org/drawingml/2006/main">
            <a:r>
              <a:rPr lang="en-US"/>
              <a:t>N=15 = 3×5, a=7 is a good choice (order r=4, which is even and a^{r/2} = 7² = 49 ≡ 4 mod 15).</a:t>
            </a:r>
          </a:p>
          <a:p xmlns:a="http://schemas.openxmlformats.org/drawingml/2006/main">
            <a:r>
              <a:rPr lang="en-US"/>
              <a:t>The continued fractions step is classical — emphasize this hybrid classical-quantum structure.</a:t>
            </a:r>
          </a:p>
          <a:p xmlns:a="http://schemas.openxmlformats.org/drawingml/2006/main">
            <a:r>
              <a:rPr lang="en-US"/>
              <a:t>Full Shor's for large N requires thousands of qubits — this is a pedagogical toy version.</a:t>
            </a:r>
          </a:p>
          <a:p xmlns:a="http://schemas.openxmlformats.org/drawingml/2006/main">
            <a:r>
              <a:rPr lang="en-US"/>
              <a:t>Qiskit has built-in Shor's algorithm in qiskit_algorithms package.</a:t>
            </a:r>
          </a:p>
          <a:p xmlns:a="http://schemas.openxmlformats.org/drawingml/2006/main">
            <a:r>
              <a:rPr lang="en-US"/>
              <a:t>Reference: Vandersypen et al. (2001) Nature — first experimental Shor's on NMR quantum computer, factored 15.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27 — VQE H2 QISKIT LAB</a:t>
            </a:r>
          </a:p>
          <a:p xmlns:a="http://schemas.openxmlformats.org/drawingml/2006/main">
            <a:r>
              <a:rPr lang="en-US"/>
              <a:t>Install: pip install qiskit-nature qiskit-algorithms qiskit-aer pyscf</a:t>
            </a:r>
          </a:p>
          <a:p xmlns:a="http://schemas.openxmlformats.org/drawingml/2006/main">
            <a:r>
              <a:rPr lang="en-US"/>
              <a:t>H₂ ground state energy at equilibrium: −1.1372 Hartree (FCI exact)</a:t>
            </a:r>
          </a:p>
          <a:p xmlns:a="http://schemas.openxmlformats.org/drawingml/2006/main">
            <a:r>
              <a:rPr lang="en-US"/>
              <a:t>VQE with UCCSD should reach within 0.001 Hartree of exact (sub-chemical accuracy)</a:t>
            </a:r>
          </a:p>
          <a:p xmlns:a="http://schemas.openxmlformats.org/drawingml/2006/main">
            <a:r>
              <a:rPr lang="en-US"/>
              <a:t>Students should try different bond lengths to trace the potential energy surface.</a:t>
            </a:r>
          </a:p>
          <a:p xmlns:a="http://schemas.openxmlformats.org/drawingml/2006/main">
            <a:r>
              <a:rPr lang="en-US"/>
              <a:t>Computational chemistry background: H₂ STO-3G basis = 2 spatial orbitals = 4 spin-orbitals = 4 qubits with JW.</a:t>
            </a:r>
          </a:p>
          <a:p xmlns:a="http://schemas.openxmlformats.org/drawingml/2006/main">
            <a:r>
              <a:rPr lang="en-US"/>
              <a:t>Reference: Peruzzo et al. (2014) Nature Communications, O'Brien et al. (2022) Physical Review Research.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28 — QUANTUM ADVANTAGE MILESTONES</a:t>
            </a:r>
          </a:p>
          <a:p xmlns:a="http://schemas.openxmlformats.org/drawingml/2006/main">
            <a:r>
              <a:rPr lang="en-US"/>
              <a:t>Google's 2019 claim: 'achieved in 200 seconds what would take Summit 10,000 years' — IBM disputed this.</a:t>
            </a:r>
          </a:p>
          <a:p xmlns:a="http://schemas.openxmlformats.org/drawingml/2006/main">
            <a:r>
              <a:rPr lang="en-US"/>
              <a:t>IBM Eagle 2023 'quantum utility': first time quantum matched/exceeded classical on a utility-scale problem with error mitigation.</a:t>
            </a:r>
          </a:p>
          <a:p xmlns:a="http://schemas.openxmlformats.org/drawingml/2006/main">
            <a:r>
              <a:rPr lang="en-US"/>
              <a:t>Google Willow (Dec 2024): surface code scaling below threshold — the most important QEC milestone yet.</a:t>
            </a:r>
          </a:p>
          <a:p xmlns:a="http://schemas.openxmlformats.org/drawingml/2006/main">
            <a:r>
              <a:rPr lang="en-US"/>
              <a:t>References: Arute et al. (2019) Nature, Kim et al. (2023) Nature, Google Quantum AI (2024) Nature.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29 — QUANTUM FINANCE</a:t>
            </a:r>
          </a:p>
          <a:p xmlns:a="http://schemas.openxmlformats.org/drawingml/2006/main">
            <a:r>
              <a:rPr lang="en-US"/>
              <a:t>Finance is arguably the nearest-term commercially valuable quantum application.</a:t>
            </a:r>
          </a:p>
          <a:p xmlns:a="http://schemas.openxmlformats.org/drawingml/2006/main">
            <a:r>
              <a:rPr lang="en-US"/>
              <a:t>The QAE quadratic speedup for Monte Carlo is PROVEN and unconditional.</a:t>
            </a:r>
          </a:p>
          <a:p xmlns:a="http://schemas.openxmlformats.org/drawingml/2006/main">
            <a:r>
              <a:rPr lang="en-US"/>
              <a:t>Key paper: Woerner &amp; Egger (2019) npj Quantum Information — first quantum risk analysis.</a:t>
            </a:r>
          </a:p>
          <a:p xmlns:a="http://schemas.openxmlformats.org/drawingml/2006/main">
            <a:r>
              <a:rPr lang="en-US"/>
              <a:t>Industry reality: still need ~million error-corrected qubits for financial advantage at scale.</a:t>
            </a:r>
          </a:p>
          <a:p xmlns:a="http://schemas.openxmlformats.org/drawingml/2006/main">
            <a:r>
              <a:rPr lang="en-US"/>
              <a:t>Reference: Brassard et al. (2002), Woerner &amp; Egger (2019), Herbert (2022) Quantum.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30 — QUANTUM OPTIMIZATION</a:t>
            </a:r>
          </a:p>
          <a:p xmlns:a="http://schemas.openxmlformats.org/drawingml/2006/main">
            <a:r>
              <a:rPr lang="en-US"/>
              <a:t>Quantum optimization is the most commercially pursued area but also the most oversold.</a:t>
            </a:r>
          </a:p>
          <a:p xmlns:a="http://schemas.openxmlformats.org/drawingml/2006/main">
            <a:r>
              <a:rPr lang="en-US"/>
              <a:t>D-Wave has 5000+ qubits but no rigorous speedup demonstrated for industry problems.</a:t>
            </a:r>
          </a:p>
          <a:p xmlns:a="http://schemas.openxmlformats.org/drawingml/2006/main">
            <a:r>
              <a:rPr lang="en-US"/>
              <a:t>IBM's hybrid approach (Qiskit Optimization) is the most practical current path.</a:t>
            </a:r>
          </a:p>
          <a:p xmlns:a="http://schemas.openxmlformats.org/drawingml/2006/main">
            <a:r>
              <a:rPr lang="en-US"/>
              <a:t>Key insight: hybrid classical-quantum will dominate the next 5-7 years.</a:t>
            </a:r>
          </a:p>
          <a:p xmlns:a="http://schemas.openxmlformats.org/drawingml/2006/main">
            <a:r>
              <a:rPr lang="en-US"/>
              <a:t>References: Lucas (2014) Frontiers, Harrigan et al. (2021) Nature Physics, Shaydulin et al. (2023) Science Adv.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31 — BOSON SAMPLING &amp; RCS</a:t>
            </a:r>
          </a:p>
          <a:p xmlns:a="http://schemas.openxmlformats.org/drawingml/2006/main">
            <a:r>
              <a:rPr lang="en-US"/>
              <a:t>This is an active debate in the community. The key question: is noisy boson sampling classically simulable?</a:t>
            </a:r>
          </a:p>
          <a:p xmlns:a="http://schemas.openxmlformats.org/drawingml/2006/main">
            <a:r>
              <a:rPr lang="en-US"/>
              <a:t>Pan &amp; Zhang (2022) showed tensor network methods can simulate noisy RCS up to 53 qubits.</a:t>
            </a:r>
          </a:p>
          <a:p xmlns:a="http://schemas.openxmlformats.org/drawingml/2006/main">
            <a:r>
              <a:rPr lang="en-US"/>
              <a:t>The ongoing arms race between quantum hardware and classical simulation algorithms is scientifically exciting.</a:t>
            </a:r>
          </a:p>
          <a:p xmlns:a="http://schemas.openxmlformats.org/drawingml/2006/main">
            <a:r>
              <a:rPr lang="en-US"/>
              <a:t>Reference: Aaronson-Arkhipov (2011) STOC, Zhong et al. (2020) Science, Bravyi et al. (2022) Nature Physics.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32 — DISTRIBUTED QUANTUM ALGORITHMS</a:t>
            </a:r>
          </a:p>
          <a:p xmlns:a="http://schemas.openxmlformats.org/drawingml/2006/main">
            <a:r>
              <a:rPr lang="en-US"/>
              <a:t>Quantum fingerprinting (Buhrman et al. 2001) is a beautiful example of quantum communication complexity separation.</a:t>
            </a:r>
          </a:p>
          <a:p xmlns:a="http://schemas.openxmlformats.org/drawingml/2006/main">
            <a:r>
              <a:rPr lang="en-US"/>
              <a:t>MBQC (Raussendorf &amp; Briegel 2001) is an entirely different computation model — compute by measuring!</a:t>
            </a:r>
          </a:p>
          <a:p xmlns:a="http://schemas.openxmlformats.org/drawingml/2006/main">
            <a:r>
              <a:rPr lang="en-US"/>
              <a:t>Blind quantum computing is important for quantum cloud privacy — Arrighi &amp; Salvail (2006).</a:t>
            </a:r>
          </a:p>
          <a:p xmlns:a="http://schemas.openxmlformats.org/drawingml/2006/main">
            <a:r>
              <a:rPr lang="en-US"/>
              <a:t>Reference: Wehner et al. (2018) Science, Buhrman et al. (2001) PRL.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33 — OPEN PROBLEMS</a:t>
            </a:r>
          </a:p>
          <a:p xmlns:a="http://schemas.openxmlformats.org/drawingml/2006/main">
            <a:r>
              <a:rPr lang="en-US"/>
              <a:t>This slide generates the most excitement among advanced students — these are the frontiers!</a:t>
            </a:r>
          </a:p>
          <a:p xmlns:a="http://schemas.openxmlformats.org/drawingml/2006/main">
            <a:r>
              <a:rPr lang="en-US"/>
              <a:t>Quantum PCP: Anshu &amp; Breuckmann (2022) proved the NLTS theorem — a major step.</a:t>
            </a:r>
          </a:p>
          <a:p xmlns:a="http://schemas.openxmlformats.org/drawingml/2006/main">
            <a:r>
              <a:rPr lang="en-US"/>
              <a:t>Graph isomorphism: GI is in NP and coNP but not known to be NP-complete — quantum may help.</a:t>
            </a:r>
          </a:p>
          <a:p xmlns:a="http://schemas.openxmlformats.org/drawingml/2006/main">
            <a:r>
              <a:rPr lang="en-US"/>
              <a:t>Barren plateaus: McClean et al. (2018) showed they're generic for random circuits.</a:t>
            </a:r>
          </a:p>
          <a:p xmlns:a="http://schemas.openxmlformats.org/drawingml/2006/main">
            <a:r>
              <a:rPr lang="en-US"/>
              <a:t>Reference: Anshu-Breuckmann (2022) STOC, Chen et al. (2023) arXiv, Tang (2019) STOC.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34 — SOFTWARE ECOSYSTEM</a:t>
            </a:r>
          </a:p>
          <a:p xmlns:a="http://schemas.openxmlformats.org/drawingml/2006/main">
            <a:r>
              <a:rPr lang="en-US"/>
              <a:t>Recommended learning path: Qiskit for general purpose → PennyLane for QML → Cirq for Google hardware.</a:t>
            </a:r>
          </a:p>
          <a:p xmlns:a="http://schemas.openxmlformats.org/drawingml/2006/main">
            <a:r>
              <a:rPr lang="en-US"/>
              <a:t>All frameworks support IBM/AWS/Azure cloud backends via unified API.</a:t>
            </a:r>
          </a:p>
          <a:p xmlns:a="http://schemas.openxmlformats.org/drawingml/2006/main">
            <a:r>
              <a:rPr lang="en-US"/>
              <a:t>Stim (Google) is exceptional for QEC simulation — simulates 1M+ Clifford qubits at nanosecond speed.</a:t>
            </a:r>
          </a:p>
          <a:p xmlns:a="http://schemas.openxmlformats.org/drawingml/2006/main">
            <a:r>
              <a:rPr lang="en-US"/>
              <a:t>Reference: Qiskit documentation, Bergholm et al. (2022) PennyLane paper, Cirq documentation.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35 — SECTION DIVIDER: PART 3</a:t>
            </a:r>
          </a:p>
          <a:p xmlns:a="http://schemas.openxmlformats.org/drawingml/2006/main">
            <a:r>
              <a:rPr lang="en-US"/>
              <a:t>Transition to research frontiers and future directions.</a:t>
            </a:r>
          </a:p>
          <a:p xmlns:a="http://schemas.openxmlformats.org/drawingml/2006/main">
            <a:r>
              <a:rPr lang="en-US"/>
              <a:t>This section covers: topological quantum computing, photonic approaches, beyond-BQP algorithms, and the long-term roadmap to fault-tolerant quantum computers.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36 — TOPOLOGICAL QUANTUM COMPUTING</a:t>
            </a:r>
          </a:p>
          <a:p xmlns:a="http://schemas.openxmlformats.org/drawingml/2006/main">
            <a:r>
              <a:rPr lang="en-US"/>
              <a:t>Topological QC is Microsoft's core long-term bet — they've invested ~$1B in this research direction.</a:t>
            </a:r>
          </a:p>
          <a:p xmlns:a="http://schemas.openxmlformats.org/drawingml/2006/main">
            <a:r>
              <a:rPr lang="en-US"/>
              <a:t>The 2023 retraction was a setback but Microsoft continues making progress.</a:t>
            </a:r>
          </a:p>
          <a:p xmlns:a="http://schemas.openxmlformats.org/drawingml/2006/main">
            <a:r>
              <a:rPr lang="en-US"/>
              <a:t>Fibonacci anyons: just two braid types → universal gate set! Beautiful mathematical result.</a:t>
            </a:r>
          </a:p>
          <a:p xmlns:a="http://schemas.openxmlformats.org/drawingml/2006/main">
            <a:r>
              <a:rPr lang="en-US"/>
              <a:t>Key insight: topology = global property → local errors cannot affect it.</a:t>
            </a:r>
          </a:p>
          <a:p xmlns:a="http://schemas.openxmlformats.org/drawingml/2006/main">
            <a:r>
              <a:rPr lang="en-US"/>
              <a:t>Reference: Kitaev (2003) Annals Physics, Nayak et al. (2008) Rev. Mod. Phys., Freedman et al. (2003).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37 — QUANTUM ROADMAP</a:t>
            </a:r>
          </a:p>
          <a:p xmlns:a="http://schemas.openxmlformats.org/drawingml/2006/main">
            <a:r>
              <a:rPr lang="en-US"/>
              <a:t>Timelines are uncertain and historical hardware progress has been both faster and slower than predictions.</a:t>
            </a:r>
          </a:p>
          <a:p xmlns:a="http://schemas.openxmlformats.org/drawingml/2006/main">
            <a:r>
              <a:rPr lang="en-US"/>
              <a:t>IBM has consistently met their hardware milestones (Eagle, Osprey, Condor, Heron) through 2023.</a:t>
            </a:r>
          </a:p>
          <a:p xmlns:a="http://schemas.openxmlformats.org/drawingml/2006/main">
            <a:r>
              <a:rPr lang="en-US"/>
              <a:t>Google Willow (2024) represents a significant error correction milestone but is still far from utility.</a:t>
            </a:r>
          </a:p>
          <a:p xmlns:a="http://schemas.openxmlformats.org/drawingml/2006/main">
            <a:r>
              <a:rPr lang="en-US"/>
              <a:t>Key insight: algorithm-hardware co-design is becoming critical — algorithms must be designed for specific hardware.</a:t>
            </a:r>
          </a:p>
          <a:p xmlns:a="http://schemas.openxmlformats.org/drawingml/2006/main">
            <a:r>
              <a:rPr lang="en-US"/>
              <a:t>Reference: IBM Quantum Development Roadmap 2024, Google Quantum AI Roadmap, McKinsey Global Institute (2021).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38 — POST-QUANTUM CRYPTOGRAPHY</a:t>
            </a:r>
          </a:p>
          <a:p xmlns:a="http://schemas.openxmlformats.org/drawingml/2006/main">
            <a:r>
              <a:rPr lang="en-US"/>
              <a:t>NIST finalized FIPS 203/204/205 in August 2024 — a landmark event for the cryptography world.</a:t>
            </a:r>
          </a:p>
          <a:p xmlns:a="http://schemas.openxmlformats.org/drawingml/2006/main">
            <a:r>
              <a:rPr lang="en-US"/>
              <a:t>HNDL is not theoretical — intelligence agencies are already collecting encrypted traffic.</a:t>
            </a:r>
          </a:p>
          <a:p xmlns:a="http://schemas.openxmlformats.org/drawingml/2006/main">
            <a:r>
              <a:rPr lang="en-US"/>
              <a:t>LWE: the hardness of LWE has been proven equivalent to worst-case lattice problems (Regev 2005).</a:t>
            </a:r>
          </a:p>
          <a:p xmlns:a="http://schemas.openxmlformats.org/drawingml/2006/main">
            <a:r>
              <a:rPr lang="en-US"/>
              <a:t>Action items for practitioners: check if your TLS library supports ML-KEM, update cert validation.</a:t>
            </a:r>
          </a:p>
          <a:p xmlns:a="http://schemas.openxmlformats.org/drawingml/2006/main">
            <a:r>
              <a:rPr lang="en-US"/>
              <a:t>Reference: NIST FIPS 203/204/205 (2024), NSA CNSA 2.0 Advisory (2022), Regev (2005) STOC.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39 — NEAR-TERM PRIORITIES</a:t>
            </a:r>
          </a:p>
          <a:p xmlns:a="http://schemas.openxmlformats.org/drawingml/2006/main">
            <a:r>
              <a:rPr lang="en-US"/>
              <a:t>This slide is crucial for practitioners deciding where to invest research/engineering resources.</a:t>
            </a:r>
          </a:p>
          <a:p xmlns:a="http://schemas.openxmlformats.org/drawingml/2006/main">
            <a:r>
              <a:rPr lang="en-US"/>
              <a:t>Quantum chemistry sign problem: classical QMC fails for fermion systems — quantum QMC doesn't have this!</a:t>
            </a:r>
          </a:p>
          <a:p xmlns:a="http://schemas.openxmlformats.org/drawingml/2006/main">
            <a:r>
              <a:rPr lang="en-US"/>
              <a:t>FeMoco (iron-molybdenum cofactor) simulation: could revolutionize nitrogen fixation → cheaper fertilizer → food security.</a:t>
            </a:r>
          </a:p>
          <a:p xmlns:a="http://schemas.openxmlformats.org/drawingml/2006/main">
            <a:r>
              <a:rPr lang="en-US"/>
              <a:t>Most important near-term message: focus quantum efforts on quantum science simulations, not classical optimization.</a:t>
            </a:r>
          </a:p>
          <a:p xmlns:a="http://schemas.openxmlformats.org/drawingml/2006/main">
            <a:r>
              <a:rPr lang="en-US"/>
              <a:t>Reference: Babbush et al. (2021) PRX Quantum, Reiher et al. (2017) PNAS, Babbush et al. (2018) PRL.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40 — KEY EQUATIONS</a:t>
            </a:r>
          </a:p>
          <a:p xmlns:a="http://schemas.openxmlformats.org/drawingml/2006/main">
            <a:r>
              <a:rPr lang="en-US"/>
              <a:t>This is the 'cheat sheet' slide students can refer back to.</a:t>
            </a:r>
          </a:p>
          <a:p xmlns:a="http://schemas.openxmlformats.org/drawingml/2006/main">
            <a:r>
              <a:rPr lang="en-US"/>
              <a:t>Parameter shift rule (Mitarai et al. 2018) is crucial for training variational circuits — provides exact gradients without finite differences.</a:t>
            </a:r>
          </a:p>
          <a:p xmlns:a="http://schemas.openxmlformats.org/drawingml/2006/main">
            <a:r>
              <a:rPr lang="en-US"/>
              <a:t>HHL complexity: the log(N) speedup requires exponential state preparation NOT to dominate.</a:t>
            </a:r>
          </a:p>
          <a:p xmlns:a="http://schemas.openxmlformats.org/drawingml/2006/main">
            <a:r>
              <a:rPr lang="en-US"/>
              <a:t>Reference: All equations derived from primary sources cited throughout the deck.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41 — ALGORITHM SELECTION GUIDE</a:t>
            </a:r>
          </a:p>
          <a:p xmlns:a="http://schemas.openxmlformats.org/drawingml/2006/main">
            <a:r>
              <a:rPr lang="en-US"/>
              <a:t>This slide is the practical 'decision tree' students can apply to real problems.</a:t>
            </a:r>
          </a:p>
          <a:p xmlns:a="http://schemas.openxmlformats.org/drawingml/2006/main">
            <a:r>
              <a:rPr lang="en-US"/>
              <a:t>Key message: most currently promising problems are in quantum science simulation (rows 4-5, 12), not classical optimization (row 6).</a:t>
            </a:r>
          </a:p>
          <a:p xmlns:a="http://schemas.openxmlformats.org/drawingml/2006/main">
            <a:r>
              <a:rPr lang="en-US"/>
              <a:t>For practitioners: start with VQE for chemistry, QAE for finance — these are the most mature NISQ algorithms with clearest paths to advantage.</a:t>
            </a:r>
          </a:p>
          <a:p xmlns:a="http://schemas.openxmlformats.org/drawingml/2006/main">
            <a:r>
              <a:rPr lang="en-US"/>
              <a:t>Reference: Quantum Algorithm Zoo (quantumalgorithmzoo.org), Montanaro (2016) npj Quantum Information.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42 — GLOSSARY</a:t>
            </a:r>
          </a:p>
          <a:p xmlns:a="http://schemas.openxmlformats.org/drawingml/2006/main">
            <a:r>
              <a:rPr lang="en-US"/>
              <a:t>Distribute this as a handout for students to keep.</a:t>
            </a:r>
          </a:p>
          <a:p xmlns:a="http://schemas.openxmlformats.org/drawingml/2006/main">
            <a:r>
              <a:rPr lang="en-US"/>
              <a:t>Glossary terms are carefully chosen to cover all algorithms discussed in this deck.</a:t>
            </a:r>
          </a:p>
          <a:p xmlns:a="http://schemas.openxmlformats.org/drawingml/2006/main">
            <a:r>
              <a:rPr lang="en-US"/>
              <a:t>Dequantization (Tang 2018) deserves special attention — it's a cautionary tale about quantum speedup claims.</a:t>
            </a:r>
          </a:p>
          <a:p xmlns:a="http://schemas.openxmlformats.org/drawingml/2006/main">
            <a:r>
              <a:rPr lang="en-US"/>
              <a:t>Reference: Nielsen &amp; Chuang for standard terms; Tang (2019) STOC for dequantization.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43 — CAREER PATHS</a:t>
            </a:r>
          </a:p>
          <a:p xmlns:a="http://schemas.openxmlformats.org/drawingml/2006/main">
            <a:r>
              <a:rPr lang="en-US"/>
              <a:t>Quantum is one of the fastest-growing technical fields with very few qualified practitioners.</a:t>
            </a:r>
          </a:p>
          <a:p xmlns:a="http://schemas.openxmlformats.org/drawingml/2006/main">
            <a:r>
              <a:rPr lang="en-US"/>
              <a:t>IBM Quantum Learning at learning.quantum.ibm.com is completely free and excellent.</a:t>
            </a:r>
          </a:p>
          <a:p xmlns:a="http://schemas.openxmlformats.org/drawingml/2006/main">
            <a:r>
              <a:rPr lang="en-US"/>
              <a:t>MIT OpenCourseWare 8.370 (Quantum Computing) is the best free university course.</a:t>
            </a:r>
          </a:p>
          <a:p xmlns:a="http://schemas.openxmlformats.org/drawingml/2006/main">
            <a:r>
              <a:rPr lang="en-US"/>
              <a:t>Key advice: build a portfolio of Qiskit notebooks on GitHub — quantum employers value practical skills highly.</a:t>
            </a:r>
          </a:p>
          <a:p xmlns:a="http://schemas.openxmlformats.org/drawingml/2006/main">
            <a:r>
              <a:rPr lang="en-US"/>
              <a:t>Reference: McKinsey Global Institute (2022), BCG (2023) quantum talent report.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44 — RESOURCES</a:t>
            </a:r>
          </a:p>
          <a:p xmlns:a="http://schemas.openxmlformats.org/drawingml/2006/main">
            <a:r>
              <a:rPr lang="en-US"/>
              <a:t>Nielsen &amp; Chuang is THE bible of quantum computing — every quantum practitioner owns a copy.</a:t>
            </a:r>
          </a:p>
          <a:p xmlns:a="http://schemas.openxmlformats.org/drawingml/2006/main">
            <a:r>
              <a:rPr lang="en-US"/>
              <a:t>John Preskill's Caltech notes are freely available and cover QEC in extraordinary depth.</a:t>
            </a:r>
          </a:p>
          <a:p xmlns:a="http://schemas.openxmlformats.org/drawingml/2006/main">
            <a:r>
              <a:rPr lang="en-US"/>
              <a:t>For job seekers: IBM Quantum Learning with certification is the most employer-recognized credential.</a:t>
            </a:r>
          </a:p>
          <a:p xmlns:a="http://schemas.openxmlformats.org/drawingml/2006/main">
            <a:r>
              <a:rPr lang="en-US"/>
              <a:t>Quantum Algorithm Zoo (maintained by Stephen Jordan) is the definitive catalog of quantum speedups.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45 — REFERENCES PART 1</a:t>
            </a:r>
          </a:p>
          <a:p xmlns:a="http://schemas.openxmlformats.org/drawingml/2006/main">
            <a:r>
              <a:rPr lang="en-US"/>
              <a:t>All references are peer-reviewed primary sources.</a:t>
            </a:r>
          </a:p>
          <a:p xmlns:a="http://schemas.openxmlformats.org/drawingml/2006/main">
            <a:r>
              <a:rPr lang="en-US"/>
              <a:t>All DOIs are findable via doi.org or Google Scholar.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46 — REFERENCES PART 2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47 — REFERENCES PART 3</a:t>
            </a:r>
          </a:p>
          <a:p xmlns:a="http://schemas.openxmlformats.org/drawingml/2006/main">
            <a:r>
              <a:rPr lang="en-US"/>
              <a:t>Liu et al. (2021) in Nature Physics is the most important recent QML paper — proves rigorous quantum advantage.</a:t>
            </a:r>
          </a:p>
          <a:p xmlns:a="http://schemas.openxmlformats.org/drawingml/2006/main">
            <a:r>
              <a:rPr lang="en-US"/>
              <a:t>Google Quantum AI (2024) in Nature is the landmark Google Willow QEC milestone paper.</a:t>
            </a:r>
          </a:p>
          <a:p xmlns:a="http://schemas.openxmlformats.org/drawingml/2006/main">
            <a:r>
              <a:rPr lang="en-US"/>
              <a:t>Reiher et al. (2017) in PNAS is the 'FeMoco' paper that defined the quantum chemistry grand challenge problem.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48 — SUMMARY</a:t>
            </a:r>
          </a:p>
          <a:p xmlns:a="http://schemas.openxmlformats.org/drawingml/2006/main">
            <a:r>
              <a:rPr lang="en-US"/>
              <a:t>Core message for closing: interference is the quantum computational primitive — not 'parallel universes'.</a:t>
            </a:r>
          </a:p>
          <a:p xmlns:a="http://schemas.openxmlformats.org/drawingml/2006/main">
            <a:r>
              <a:rPr lang="en-US"/>
              <a:t>The Grover/Shor/QFT/QPE quadruplet are the pillars everything else builds on.</a:t>
            </a:r>
          </a:p>
          <a:p xmlns:a="http://schemas.openxmlformats.org/drawingml/2006/main">
            <a:r>
              <a:rPr lang="en-US"/>
              <a:t>Key encouragement: quantum computing is fundamentally accessible to CS + math students today via Qiskit.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49 — Q&amp;A</a:t>
            </a:r>
          </a:p>
          <a:p xmlns:a="http://schemas.openxmlformats.org/drawingml/2006/main">
            <a:r>
              <a:rPr lang="en-US"/>
              <a:t>The misconception corrections are the most important part of this slide.</a:t>
            </a:r>
          </a:p>
          <a:p xmlns:a="http://schemas.openxmlformats.org/drawingml/2006/main">
            <a:r>
              <a:rPr lang="en-US"/>
              <a:t>'Quantum parallelism' is the most persistent misconception — Aaronson calls it 'quantum bullshit'. Be gentle but firm.</a:t>
            </a:r>
          </a:p>
          <a:p xmlns:a="http://schemas.openxmlformats.org/drawingml/2006/main">
            <a:r>
              <a:rPr lang="en-US"/>
              <a:t>The HNDL question usually generates the most concern from non-technical audience members.</a:t>
            </a:r>
          </a:p>
          <a:p xmlns:a="http://schemas.openxmlformats.org/drawingml/2006/main">
            <a:r>
              <a:rPr lang="en-US"/>
              <a:t>Have the IBM Quantum Learning URL ready: learning.quantum.ibm.com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SLIDE 50 — CLOSING SLIDE</a:t>
            </a:r>
          </a:p>
          <a:p xmlns:a="http://schemas.openxmlformats.org/drawingml/2006/main">
            <a:r>
              <a:rPr lang="en-US"/>
              <a:t>Thank the audience; remind them of the IBM Quantum Learning resources.</a:t>
            </a:r>
          </a:p>
          <a:p xmlns:a="http://schemas.openxmlformats.org/drawingml/2006/main">
            <a:r>
              <a:rPr lang="en-US"/>
              <a:t>Day 3 teaser: quantum hardware — where do qubits actually live?</a:t>
            </a:r>
          </a:p>
          <a:p xmlns:a="http://schemas.openxmlformats.org/drawingml/2006/main">
            <a:r>
              <a:rPr lang="en-US"/>
              <a:t>Remind students: hands-on lab notebooks available at quantumfallfest.org/labs</a:t>
            </a:r>
          </a:p>
          <a:p xmlns:a="http://schemas.openxmlformats.org/drawingml/2006/main">
            <a:r>
              <a:rPr lang="en-US"/>
              <a:t>Shor's quote reflects the current state of the field — we KNOW it will happen, just not when.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ddc28b485645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e1fac3f400439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d6c0a31d1b4e1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ef85e12cc46f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9aded9902d44e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3191937c864e4f3d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2aacf01cd4967" /><Relationship Type="http://schemas.openxmlformats.org/officeDocument/2006/relationships/notesSlide" Target="/ppt/notesSlides/notesSlide1.xml" Id="Re8a9d3a22f1c4b7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b46a7fac9433c" /><Relationship Type="http://schemas.openxmlformats.org/officeDocument/2006/relationships/notesSlide" Target="/ppt/notesSlides/notesSlide2.xml" Id="R4ce29b8ece5c46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49917fcc2d4bc4" /><Relationship Type="http://schemas.openxmlformats.org/officeDocument/2006/relationships/notesSlide" Target="/ppt/notesSlides/notesSlide3.xml" Id="Re45728aebc2a40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977096692477b" /><Relationship Type="http://schemas.openxmlformats.org/officeDocument/2006/relationships/notesSlide" Target="/ppt/notesSlides/notesSlide4.xml" Id="Rf3925d137a0b4f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083a7cce33422e" /><Relationship Type="http://schemas.openxmlformats.org/officeDocument/2006/relationships/notesSlide" Target="/ppt/notesSlides/notesSlide5.xml" Id="R32ec0df217834a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d336ffbf74e5c" /><Relationship Type="http://schemas.openxmlformats.org/officeDocument/2006/relationships/notesSlide" Target="/ppt/notesSlides/notesSlide6.xml" Id="R59247e7a817e46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65401fdc4447d" /><Relationship Type="http://schemas.openxmlformats.org/officeDocument/2006/relationships/notesSlide" Target="/ppt/notesSlides/notesSlide7.xml" Id="Rce8c4d80b7134b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7ca593fb74a6f" /><Relationship Type="http://schemas.openxmlformats.org/officeDocument/2006/relationships/notesSlide" Target="/ppt/notesSlides/notesSlide8.xml" Id="R6d670bcc4ccf49f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2e51a02c22473c" /><Relationship Type="http://schemas.openxmlformats.org/officeDocument/2006/relationships/notesSlide" Target="/ppt/notesSlides/notesSlide9.xml" Id="Rf1747d86e6544d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6570170ede42e4" /><Relationship Type="http://schemas.openxmlformats.org/officeDocument/2006/relationships/notesSlide" Target="/ppt/notesSlides/notesSlide10.xml" Id="R2b9d9d965c364cd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a8bbd0ca04e40" /><Relationship Type="http://schemas.openxmlformats.org/officeDocument/2006/relationships/notesSlide" Target="/ppt/notesSlides/notesSlide11.xml" Id="R5245a0f5bd13465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64f87635746c7" /><Relationship Type="http://schemas.openxmlformats.org/officeDocument/2006/relationships/notesSlide" Target="/ppt/notesSlides/notesSlide12.xml" Id="R24dfdf45268d4e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631fb28e5a4092" /><Relationship Type="http://schemas.openxmlformats.org/officeDocument/2006/relationships/notesSlide" Target="/ppt/notesSlides/notesSlide13.xml" Id="R1a77ccf1b6934fa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74ac01fe484fd2" /><Relationship Type="http://schemas.openxmlformats.org/officeDocument/2006/relationships/notesSlide" Target="/ppt/notesSlides/notesSlide14.xml" Id="Rbcd8e129289149d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c23c8fcde4cb7" /><Relationship Type="http://schemas.openxmlformats.org/officeDocument/2006/relationships/notesSlide" Target="/ppt/notesSlides/notesSlide15.xml" Id="Rcd2706e9910d4d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43591a12a477f" /><Relationship Type="http://schemas.openxmlformats.org/officeDocument/2006/relationships/notesSlide" Target="/ppt/notesSlides/notesSlide16.xml" Id="R3e9ae4b07f2e457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3a0605e18c4520" /><Relationship Type="http://schemas.openxmlformats.org/officeDocument/2006/relationships/notesSlide" Target="/ppt/notesSlides/notesSlide17.xml" Id="R2af7fcc942994ce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7ff0c41fa4efe" /><Relationship Type="http://schemas.openxmlformats.org/officeDocument/2006/relationships/notesSlide" Target="/ppt/notesSlides/notesSlide18.xml" Id="R6ce8c86cf7434a3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0b39dae9c042bf" /><Relationship Type="http://schemas.openxmlformats.org/officeDocument/2006/relationships/notesSlide" Target="/ppt/notesSlides/notesSlide19.xml" Id="R51740c3dada9446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393c88c294125" /><Relationship Type="http://schemas.openxmlformats.org/officeDocument/2006/relationships/notesSlide" Target="/ppt/notesSlides/notesSlide20.xml" Id="R59a3f153208644e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04c76cb6a4024" /><Relationship Type="http://schemas.openxmlformats.org/officeDocument/2006/relationships/notesSlide" Target="/ppt/notesSlides/notesSlide21.xml" Id="R4c4ca5b2a186405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77f7a45f449f4" /><Relationship Type="http://schemas.openxmlformats.org/officeDocument/2006/relationships/notesSlide" Target="/ppt/notesSlides/notesSlide22.xml" Id="R2719de2681bb487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61e7eb9a044a44" /><Relationship Type="http://schemas.openxmlformats.org/officeDocument/2006/relationships/notesSlide" Target="/ppt/notesSlides/notesSlide23.xml" Id="R06bcfc5a7681465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f5f54f9e6d4a74" /><Relationship Type="http://schemas.openxmlformats.org/officeDocument/2006/relationships/notesSlide" Target="/ppt/notesSlides/notesSlide24.xml" Id="Re3773d42aea142a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992159d92744f9" /><Relationship Type="http://schemas.openxmlformats.org/officeDocument/2006/relationships/notesSlide" Target="/ppt/notesSlides/notesSlide25.xml" Id="Rbfae20d82cf9489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87ac487ab46d0" /><Relationship Type="http://schemas.openxmlformats.org/officeDocument/2006/relationships/notesSlide" Target="/ppt/notesSlides/notesSlide26.xml" Id="R3628a20563b04ba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df0aeab3734249" /><Relationship Type="http://schemas.openxmlformats.org/officeDocument/2006/relationships/notesSlide" Target="/ppt/notesSlides/notesSlide27.xml" Id="Rcf0b5c2e1bbd4b3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34689f4004c29" /><Relationship Type="http://schemas.openxmlformats.org/officeDocument/2006/relationships/notesSlide" Target="/ppt/notesSlides/notesSlide28.xml" Id="R075c51c835eb4709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c8272f18b44ae" /><Relationship Type="http://schemas.openxmlformats.org/officeDocument/2006/relationships/notesSlide" Target="/ppt/notesSlides/notesSlide29.xml" Id="Rd833c9d7e7f34cf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df86e2c524532" /><Relationship Type="http://schemas.openxmlformats.org/officeDocument/2006/relationships/notesSlide" Target="/ppt/notesSlides/notesSlide30.xml" Id="Rd163617c621e4f3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c95b1a67c4922" /><Relationship Type="http://schemas.openxmlformats.org/officeDocument/2006/relationships/notesSlide" Target="/ppt/notesSlides/notesSlide31.xml" Id="R44a6b3d9581b44f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e0331ff4424470" /><Relationship Type="http://schemas.openxmlformats.org/officeDocument/2006/relationships/notesSlide" Target="/ppt/notesSlides/notesSlide32.xml" Id="R66eceef2dc7949c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3ca3c09dd044e3" /><Relationship Type="http://schemas.openxmlformats.org/officeDocument/2006/relationships/notesSlide" Target="/ppt/notesSlides/notesSlide33.xml" Id="Rdaed3694522c4b8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70bdb46b145e2" /><Relationship Type="http://schemas.openxmlformats.org/officeDocument/2006/relationships/notesSlide" Target="/ppt/notesSlides/notesSlide34.xml" Id="Ree75046700cb47f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209048db446d1" /><Relationship Type="http://schemas.openxmlformats.org/officeDocument/2006/relationships/notesSlide" Target="/ppt/notesSlides/notesSlide35.xml" Id="Ra6555614f3fd4d6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273a86b8d4585" /><Relationship Type="http://schemas.openxmlformats.org/officeDocument/2006/relationships/notesSlide" Target="/ppt/notesSlides/notesSlide36.xml" Id="Rdedd854dd99e4a0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85272e09a2471d" /><Relationship Type="http://schemas.openxmlformats.org/officeDocument/2006/relationships/notesSlide" Target="/ppt/notesSlides/notesSlide37.xml" Id="R61e76a474b7a458f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8d2be12f3479e" /><Relationship Type="http://schemas.openxmlformats.org/officeDocument/2006/relationships/notesSlide" Target="/ppt/notesSlides/notesSlide38.xml" Id="R08992010bf274e18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4c322af184a76" /><Relationship Type="http://schemas.openxmlformats.org/officeDocument/2006/relationships/notesSlide" Target="/ppt/notesSlides/notesSlide39.xml" Id="Rafe815375fda404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859d8e9e24e5a" /><Relationship Type="http://schemas.openxmlformats.org/officeDocument/2006/relationships/notesSlide" Target="/ppt/notesSlides/notesSlide40.xml" Id="R734558113d7c4e8b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1c7b0cf884cd6" /><Relationship Type="http://schemas.openxmlformats.org/officeDocument/2006/relationships/notesSlide" Target="/ppt/notesSlides/notesSlide41.xml" Id="R4e7c39aef21345e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730c5647a04cec" /><Relationship Type="http://schemas.openxmlformats.org/officeDocument/2006/relationships/notesSlide" Target="/ppt/notesSlides/notesSlide42.xml" Id="Rd88b55d926754bf3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67e2ba57f4243" /><Relationship Type="http://schemas.openxmlformats.org/officeDocument/2006/relationships/notesSlide" Target="/ppt/notesSlides/notesSlide43.xml" Id="Rd660e8de68be437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cb1aabb6a4a4f" /><Relationship Type="http://schemas.openxmlformats.org/officeDocument/2006/relationships/notesSlide" Target="/ppt/notesSlides/notesSlide44.xml" Id="R82a9134d51754a6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a12e603eb0455e" /><Relationship Type="http://schemas.openxmlformats.org/officeDocument/2006/relationships/notesSlide" Target="/ppt/notesSlides/notesSlide45.xml" Id="R009654411fab425e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ac8967241840df" /><Relationship Type="http://schemas.openxmlformats.org/officeDocument/2006/relationships/notesSlide" Target="/ppt/notesSlides/notesSlide46.xml" Id="Rb0dbfff93a784bb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41f91c824947bc" /><Relationship Type="http://schemas.openxmlformats.org/officeDocument/2006/relationships/notesSlide" Target="/ppt/notesSlides/notesSlide47.xml" Id="R1559c7bb6dfe4e8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cefc1d88f484a" /><Relationship Type="http://schemas.openxmlformats.org/officeDocument/2006/relationships/notesSlide" Target="/ppt/notesSlides/notesSlide48.xml" Id="R336c9df6e6054fd9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0fbbb77ac4c88" /><Relationship Type="http://schemas.openxmlformats.org/officeDocument/2006/relationships/notesSlide" Target="/ppt/notesSlides/notesSlide49.xml" Id="R492f8cf99e424da9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7a919dffa4b58" /><Relationship Type="http://schemas.openxmlformats.org/officeDocument/2006/relationships/notesSlide" Target="/ppt/notesSlides/notesSlide50.xml" Id="R25f8723302f845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000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001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Quantum Algorithms</a:t>
            </a:r>
          </a:p>
        </p:txBody>
      </p:sp>
      <p:sp>
        <p:nvSpPr>
          <p:cNvPr id="100002" name="Subtitle"/>
          <p:cNvSpPr txBox="1"/>
          <p:nvPr/>
        </p:nvSpPr>
        <p:spPr>
          <a:xfrm xmlns:a="http://schemas.openxmlformats.org/drawingml/2006/main">
            <a:off x="540000" y="1116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80DEEA"/>
                </a:solidFill>
              </a:rPr>
              <a:t>Day 2 — Quantum Fall Fest Lecture Series 2026</a:t>
            </a:r>
          </a:p>
        </p:txBody>
      </p:sp>
      <p:sp>
        <p:nvSpPr>
          <p:cNvPr id="100003" name="Tagline"/>
          <p:cNvSpPr txBox="1"/>
          <p:nvPr/>
        </p:nvSpPr>
        <p:spPr>
          <a:xfrm xmlns:a="http://schemas.openxmlformats.org/drawingml/2006/main">
            <a:off x="540000" y="1584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B0BEC5"/>
                </a:solidFill>
              </a:rPr>
              <a:t>From Theory to Speedup: Grover · Shor · QFT · VQE · QAOA · HHL · Error Correction</a:t>
            </a:r>
          </a:p>
        </p:txBody>
      </p:sp>
      <p:sp>
        <p:nvSpPr>
          <p:cNvPr id="100004" name="Details"/>
          <p:cNvSpPr txBox="1"/>
          <p:nvPr/>
        </p:nvSpPr>
        <p:spPr>
          <a:xfrm xmlns:a="http://schemas.openxmlformats.org/drawingml/2006/main">
            <a:off x="540000" y="2016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78909C"/>
                </a:solidFill>
              </a:rPr>
              <a:t>Duration: 3 Hours  |  Level: Intermediate–Advanced  |  Prerequisites: Day 1 or Equivalent</a:t>
            </a:r>
          </a:p>
        </p:txBody>
      </p:sp>
      <p:sp>
        <p:nvSpPr>
          <p:cNvPr id="100005" name="AgendaBox"/>
          <p:cNvSpPr txBox="1"/>
          <p:nvPr/>
        </p:nvSpPr>
        <p:spPr>
          <a:xfrm xmlns:a="http://schemas.openxmlformats.org/drawingml/2006/main">
            <a:off x="540000" y="2520000"/>
            <a:ext cx="10800000" cy="198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0F7FA"/>
                </a:solidFill>
              </a:rPr>
              <a:t>Session Agenda</a:t>
            </a:r>
          </a:p>
          <a:p xmlns:a="http://schemas.openxmlformats.org/drawingml/2006/main">
            <a:r>
              <a:rPr lang="en-US" sz="1400" b="0">
                <a:solidFill>
                  <a:srgbClr val="E0F7FA"/>
                </a:solidFill>
              </a:rPr>
              <a:t>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400" b="0">
                <a:solidFill>
                  <a:srgbClr val="E0F7FA"/>
                </a:solidFill>
              </a:rPr>
              <a:t>Part 1 (60 min):  Complexity &amp; Quantum Speedup Framework</a:t>
            </a:r>
          </a:p>
          <a:p xmlns:a="http://schemas.openxmlformats.org/drawingml/2006/main">
            <a:r>
              <a:rPr lang="en-US" sz="1400" b="0">
                <a:solidFill>
                  <a:srgbClr val="E0F7FA"/>
                </a:solidFill>
              </a:rPr>
              <a:t>Part 2 (60 min):  Core Algorithms — Grover, Shor, QFT, Phase Estimation</a:t>
            </a:r>
          </a:p>
          <a:p xmlns:a="http://schemas.openxmlformats.org/drawingml/2006/main">
            <a:r>
              <a:rPr lang="en-US" sz="1400" b="0">
                <a:solidFill>
                  <a:srgbClr val="E0F7FA"/>
                </a:solidFill>
              </a:rPr>
              <a:t>Part 3 (60 min):  Hybrid &amp; Variational — VQE, QAOA, HHL, QML</a:t>
            </a:r>
          </a:p>
        </p:txBody>
      </p:sp>
      <p:sp>
        <p:nvSpPr>
          <p:cNvPr id="100006" name="Presenter"/>
          <p:cNvSpPr txBox="1"/>
          <p:nvPr/>
        </p:nvSpPr>
        <p:spPr>
          <a:xfrm xmlns:a="http://schemas.openxmlformats.org/drawingml/2006/main">
            <a:off x="540000" y="6408000"/>
            <a:ext cx="108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546E7A"/>
                </a:solidFill>
              </a:rPr>
              <a:t>Quantum Fall Fest 2026  |  quantumfallfest.org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007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008" name="Badge"/>
          <p:cNvSpPr txBox="1"/>
          <p:nvPr/>
        </p:nvSpPr>
        <p:spPr>
          <a:xfrm xmlns:a="http://schemas.openxmlformats.org/drawingml/2006/main">
            <a:off x="540000" y="198000"/>
            <a:ext cx="108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A1628"/>
                </a:solidFill>
              </a:rPr>
              <a:t>OVERVIEW</a:t>
            </a:r>
          </a:p>
        </p:txBody>
      </p:sp>
      <p:sp>
        <p:nvSpPr>
          <p:cNvPr id="100009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What is a Quantum Algorithm?</a:t>
            </a:r>
          </a:p>
        </p:txBody>
      </p:sp>
      <p:sp>
        <p:nvSpPr>
          <p:cNvPr id="100010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011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E0E0E0"/>
                </a:solidFill>
              </a:rPr>
              <a:t>Definition</a:t>
            </a:r>
          </a:p>
          <a:p xmlns:a="http://schemas.openxmlformats.org/drawingml/2006/main">
            <a:r>
              <a:rPr lang="en-US" sz="1400" b="0">
                <a:solidFill>
                  <a:srgbClr val="E0E0E0"/>
                </a:solidFill>
              </a:rPr>
              <a:t>A quantum algorithm is a step-by-step procedure exploiting quantum mechanical phenomena — superposition, entanglement, and interference — to solve computational problems, potentially faster than any known classical algorithm.</a:t>
            </a:r>
          </a:p>
          <a:p xmlns:a="http://schemas.openxmlformats.org/drawingml/2006/main">
            <a:r>
              <a:rPr lang="en-US" sz="14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0E0E0"/>
                </a:solidFill>
              </a:rPr>
              <a:t>Key Distinctions from Classical Algorithms</a:t>
            </a:r>
          </a:p>
          <a:p xmlns:a="http://schemas.openxmlformats.org/drawingml/2006/main">
            <a:r>
              <a:rPr lang="en-US" sz="1400" b="0">
                <a:solidFill>
                  <a:srgbClr val="E0E0E0"/>
                </a:solidFill>
              </a:rPr>
              <a:t>• Classical: operates on deterministic bits (0 or 1)</a:t>
            </a:r>
          </a:p>
          <a:p xmlns:a="http://schemas.openxmlformats.org/drawingml/2006/main">
            <a:r>
              <a:rPr lang="en-US" sz="1400" b="0">
                <a:solidFill>
                  <a:srgbClr val="E0E0E0"/>
                </a:solidFill>
              </a:rPr>
              <a:t>• Quantum: operates on qubits in superposition; measurement collapses the state</a:t>
            </a:r>
          </a:p>
          <a:p xmlns:a="http://schemas.openxmlformats.org/drawingml/2006/main">
            <a:r>
              <a:rPr lang="en-US" sz="1400" b="0">
                <a:solidFill>
                  <a:srgbClr val="E0E0E0"/>
                </a:solidFill>
              </a:rPr>
              <a:t>• Interference: amplify correct-answer paths, cancel wrong-answer paths</a:t>
            </a:r>
          </a:p>
          <a:p xmlns:a="http://schemas.openxmlformats.org/drawingml/2006/main">
            <a:r>
              <a:rPr lang="en-US" sz="1400" b="0">
                <a:solidFill>
                  <a:srgbClr val="E0E0E0"/>
                </a:solidFill>
              </a:rPr>
              <a:t>• Entanglement: correlate qubits non-locally for coordinated computation</a:t>
            </a:r>
          </a:p>
          <a:p xmlns:a="http://schemas.openxmlformats.org/drawingml/2006/main">
            <a:r>
              <a:rPr lang="en-US" sz="14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400" b="0">
                <a:solidFill>
                  <a:srgbClr val="E0E0E0"/>
                </a:solidFill>
              </a:rPr>
              <a:t>What Makes a Quantum Algorithm 'Good'?</a:t>
            </a:r>
          </a:p>
          <a:p xmlns:a="http://schemas.openxmlformats.org/drawingml/2006/main">
            <a:r>
              <a:rPr lang="en-US" sz="1400" b="0">
                <a:solidFill>
                  <a:srgbClr val="E0E0E0"/>
                </a:solidFill>
              </a:rPr>
              <a:t>• Achieves a proven speedup over best-known classical algorithms</a:t>
            </a:r>
          </a:p>
          <a:p xmlns:a="http://schemas.openxmlformats.org/drawingml/2006/main">
            <a:r>
              <a:rPr lang="en-US" sz="1400" b="0">
                <a:solidFill>
                  <a:srgbClr val="E0E0E0"/>
                </a:solidFill>
              </a:rPr>
              <a:t>• Exploits quantum parallelism constructively (not just exponential brute force)</a:t>
            </a:r>
          </a:p>
          <a:p xmlns:a="http://schemas.openxmlformats.org/drawingml/2006/main">
            <a:r>
              <a:rPr lang="en-US" sz="1400" b="0">
                <a:solidFill>
                  <a:srgbClr val="E0E0E0"/>
                </a:solidFill>
              </a:rPr>
              <a:t>• Has a clear resource analysis: qubit count, gate depth, circuit width</a:t>
            </a:r>
          </a:p>
          <a:p xmlns:a="http://schemas.openxmlformats.org/drawingml/2006/main">
            <a:r>
              <a:rPr lang="en-US" sz="1400" b="0">
                <a:solidFill>
                  <a:srgbClr val="E0E0E0"/>
                </a:solidFill>
              </a:rPr>
              <a:t>• Respects physical constraints: decoherence time T₂, gate error rates</a:t>
            </a:r>
          </a:p>
        </p:txBody>
      </p:sp>
      <p:sp>
        <p:nvSpPr>
          <p:cNvPr id="100012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013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80DEEA"/>
                </a:solidFill>
              </a:rPr>
              <a:t>02 / 50  |  OVERVIEW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014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015" name="Badge"/>
          <p:cNvSpPr txBox="1"/>
          <p:nvPr/>
        </p:nvSpPr>
        <p:spPr>
          <a:xfrm xmlns:a="http://schemas.openxmlformats.org/drawingml/2006/main">
            <a:off x="540000" y="198000"/>
            <a:ext cx="126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A1628"/>
                </a:solidFill>
              </a:rPr>
              <a:t>COMPLEXITY</a:t>
            </a:r>
          </a:p>
        </p:txBody>
      </p:sp>
      <p:sp>
        <p:nvSpPr>
          <p:cNvPr id="100016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Computational Complexity &amp; Quantum Classes</a:t>
            </a:r>
          </a:p>
        </p:txBody>
      </p:sp>
      <p:sp>
        <p:nvSpPr>
          <p:cNvPr id="100017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graphicFrame>
        <p:nvGraphicFramePr>
          <p:cNvPr id="100018" name="Table 1"/>
          <p:cNvGraphicFramePr/>
          <p:nvPr/>
        </p:nvGraphicFramePr>
        <p:xfrm>
          <a:off xmlns:a="http://schemas.openxmlformats.org/drawingml/2006/main" x="540000" y="1116000"/>
          <a:ext xmlns:a="http://schemas.openxmlformats.org/drawingml/2006/main" cx="10800000" cy="296672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0000"/>
                <a:gridCol w="2700000"/>
                <a:gridCol w="2700000"/>
                <a:gridCol w="270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Complexity Class</a:t>
                      </a:r>
                      <a:endParaRPr lang="en-US"/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Definition</a:t>
                      </a:r>
                      <a:endParaRPr lang="en-US"/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Examples</a:t>
                      </a:r>
                      <a:endParaRPr lang="en-US"/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Quantum Relation</a:t>
                      </a:r>
                      <a:endParaRPr lang="en-US"/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Poly-time deterministic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Sorting, matrix mult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Subset of BQP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NP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Poly-time verifiable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SAT, TSP, factoring?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BQP ≠ NP (believed)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BPP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Randomized poly-time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Primality, hashing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BPP ⊆ BQP (believed)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BQP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Quantum poly-time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Factoring, DLog, sim.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CORE quantum class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QMA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Quantum NP analogue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k-local Hamiltonian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Hardest quantum proofs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PSPACE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Poly-space problems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QBF, game theory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BQP ⊆ PSPACE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#P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Counting problems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Boson sampling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Hard for QC too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sp>
        <p:nvSpPr>
          <p:cNvPr id="100019" name="Note"/>
          <p:cNvSpPr txBox="1"/>
          <p:nvPr/>
        </p:nvSpPr>
        <p:spPr>
          <a:xfrm xmlns:a="http://schemas.openxmlformats.org/drawingml/2006/main">
            <a:off x="540000" y="5148000"/>
            <a:ext cx="108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80DEEA"/>
                </a:solidFill>
              </a:rPr>
              <a:t>Key insight: BQP sits strictly outside P (factoring) but likely inside NP — quantum computers solve a different set of hard problems than classical randomized algorithms.</a:t>
            </a:r>
          </a:p>
        </p:txBody>
      </p:sp>
      <p:sp>
        <p:nvSpPr>
          <p:cNvPr id="100020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021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80DEEA"/>
                </a:solidFill>
              </a:rPr>
              <a:t>03 / 50  |  COMPLEXITY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022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023" name="Badge"/>
          <p:cNvSpPr txBox="1"/>
          <p:nvPr/>
        </p:nvSpPr>
        <p:spPr>
          <a:xfrm xmlns:a="http://schemas.openxmlformats.org/drawingml/2006/main">
            <a:off x="540000" y="198000"/>
            <a:ext cx="126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A1628"/>
                </a:solidFill>
              </a:rPr>
              <a:t>COMPLEXITY</a:t>
            </a:r>
          </a:p>
        </p:txBody>
      </p:sp>
      <p:sp>
        <p:nvSpPr>
          <p:cNvPr id="100024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Oracle Model &amp; Query Complexity</a:t>
            </a:r>
          </a:p>
        </p:txBody>
      </p:sp>
      <p:sp>
        <p:nvSpPr>
          <p:cNvPr id="100025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026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The Oracle (Black-Box) Model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Many quantum speedups are proven in the oracle/query complexity model: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An oracle Uf encodes a function f : {0,1}ⁿ → {0,1}ᵐ as a unitary  Uf|x⟩|y⟩ = |x⟩|y ⊕ f(x)⟩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Queries to Uf are counted; internal computation is free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Quantum algorithms can query superpositions: Uf(Σ αx|x⟩|0⟩) = Σ αx|x⟩|f(x)⟩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Why Oracle Complexity Matters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Separates quantum from classical without P vs NP assumptions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Proven exponential speedups exist in oracle model (Deutsch-Jozsa, Simon)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Query lower bounds via polynomial method and adversary method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'Quantum black-box complexity' is a complete sub-field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Polynomial Method (Beals et al. 1998)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Every quantum query algorithm of T queries computes a degree-2T polynomial in f's bits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Lower bounds: if f requires degree-d polynomial, need ≥ d/2 quantum queries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Example: PARITY requires n/2 quantum queries — no speedup possible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Adversary Method (Ambainis 2002)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Assign weights to pairs of inputs that differ; track progress made per query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Gives tight lower bounds for element distinctness, triangle finding, etc.</a:t>
            </a:r>
          </a:p>
        </p:txBody>
      </p:sp>
      <p:sp>
        <p:nvSpPr>
          <p:cNvPr id="100027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028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80DEEA"/>
                </a:solidFill>
              </a:rPr>
              <a:t>04 / 50  |  COMPLEXITY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029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030" name="Badge"/>
          <p:cNvSpPr txBox="1"/>
          <p:nvPr/>
        </p:nvSpPr>
        <p:spPr>
          <a:xfrm xmlns:a="http://schemas.openxmlformats.org/drawingml/2006/main">
            <a:off x="540000" y="198000"/>
            <a:ext cx="144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A1628"/>
                </a:solidFill>
              </a:rPr>
              <a:t>DEUTSCH-JOZSA</a:t>
            </a:r>
          </a:p>
        </p:txBody>
      </p:sp>
      <p:sp>
        <p:nvSpPr>
          <p:cNvPr id="100031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Deutsch-Jozsa Algorithm</a:t>
            </a:r>
          </a:p>
        </p:txBody>
      </p:sp>
      <p:sp>
        <p:nvSpPr>
          <p:cNvPr id="100032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033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Problem Statement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Given: f : {0,1}ⁿ → {0,1} — guaranteed to be either: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  (a) Constant: f(x) = 0 for all x, OR f(x) = 1 for all x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  (b) Balanced: f(x) = 0 for exactly half of inputs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Goal: Determine which case with minimum oracle queries.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Classical: Needs up to 2ⁿ⁻¹ + 1 queries (worst case)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Quantum: Needs exactly 1 query — exponential speedup!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Quantum Circuit (n-qubit)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  |0⟩ⁿ ──[H⊗ⁿ]──[Uf]──[H⊗ⁿ]──[Measure]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  |1⟩  ──[H]────[Uf]──────────────────────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Algorithm Steps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1. Initialize: |0⟩ⁿ|1⟩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2. Apply H to all qubits: (1/√2ⁿ) Σx|x⟩ · (|0⟩−|1⟩)/√2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3. Apply oracle Uf: phase kickback gives (1/√2ⁿ) Σx (−1)^f(x)|x⟩ · |−⟩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4. Apply H⊗ⁿ to query register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5. Measure: |0⟩ⁿ → constant; any other result → balanced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Significance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First algorithm proving quantum advantage (Deutsch 1985, DJ 1992)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Exponential speedup but problem is artificial — not commercially useful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Foundation of phase kickback technique used in ALL subsequent algorithms</a:t>
            </a:r>
          </a:p>
        </p:txBody>
      </p:sp>
      <p:sp>
        <p:nvSpPr>
          <p:cNvPr id="100034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035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80DEEA"/>
                </a:solidFill>
              </a:rPr>
              <a:t>05 / 50  |  DEUTSCH-JOZSA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036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037" name="Badge"/>
          <p:cNvSpPr txBox="1"/>
          <p:nvPr/>
        </p:nvSpPr>
        <p:spPr>
          <a:xfrm xmlns:a="http://schemas.openxmlformats.org/drawingml/2006/main">
            <a:off x="540000" y="198000"/>
            <a:ext cx="1512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A1628"/>
                </a:solidFill>
              </a:rPr>
              <a:t>SIMON'S ALGORITHM</a:t>
            </a:r>
          </a:p>
        </p:txBody>
      </p:sp>
      <p:sp>
        <p:nvSpPr>
          <p:cNvPr id="100038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Simon's Algorithm — Exponential Speedup</a:t>
            </a:r>
          </a:p>
        </p:txBody>
      </p:sp>
      <p:sp>
        <p:nvSpPr>
          <p:cNvPr id="100039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040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Problem (Simon 1994)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Given: f : {0,1}ⁿ → {0,1}ⁿ — promised to satisfy f(x) = f(x ⊕ s) for some secret s ∈ {0,1}ⁿ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(either s = 0ⁿ: injective, or s ≠ 0ⁿ: 2-to-1 function)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Goal: Find s.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Classical Lower Bound: Ω(2^n/2) queries (birthday paradox)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Quantum: O(n) queries — exponential speedup!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Quantum Circuit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  |0⟩ⁿ ──[H⊗ⁿ]──[Uf]──[H⊗ⁿ]──[Measure] → y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  |0⟩ⁿ ──────────[Uf]──[Measure] → f(x)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Algorithm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1. Apply H⊗ⁿ to first register: (1/√2ⁿ) Σx |x⟩|0⟩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2. Apply Uf: (1/√2ⁿ) Σx |x⟩|f(x)⟩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3. Measure second register → collapses to |f(x₀)⟩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   First register now: (1/√2) (|x₀⟩ + |x₀⊕s⟩)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4. Apply H⊗ⁿ: result is uniform over y s.t. y·s = 0 (mod 2)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5. Repeat O(n) times to get n−1 linearly independent equations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6. Solve linear system over GF(2) to recover 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Historical Significance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Inspired Shor's algorithm (1994) — proved quantum exponential speedup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Precursor to hidden subgroup problem (HSP) framework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Simon's algorithm is the HSP for Z₂ⁿ</a:t>
            </a:r>
          </a:p>
        </p:txBody>
      </p:sp>
      <p:sp>
        <p:nvSpPr>
          <p:cNvPr id="100041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042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80DEEA"/>
                </a:solidFill>
              </a:rPr>
              <a:t>06 / 50  |  SIMON'S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043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565C0"/>
              </a:solidFill>
            </a:endParaRPr>
          </a:p>
        </p:txBody>
      </p:sp>
      <p:sp>
        <p:nvSpPr>
          <p:cNvPr id="100044" name="Badge"/>
          <p:cNvSpPr txBox="1"/>
          <p:nvPr/>
        </p:nvSpPr>
        <p:spPr>
          <a:xfrm xmlns:a="http://schemas.openxmlformats.org/drawingml/2006/main">
            <a:off x="540000" y="198000"/>
            <a:ext cx="162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GROVER'S ALGORITHM</a:t>
            </a:r>
          </a:p>
        </p:txBody>
      </p:sp>
      <p:sp>
        <p:nvSpPr>
          <p:cNvPr id="100045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Grover's Search Algorithm</a:t>
            </a:r>
          </a:p>
        </p:txBody>
      </p:sp>
      <p:sp>
        <p:nvSpPr>
          <p:cNvPr id="100046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565C0"/>
              </a:solidFill>
            </a:endParaRPr>
          </a:p>
        </p:txBody>
      </p:sp>
      <p:sp>
        <p:nvSpPr>
          <p:cNvPr id="100047" name="Body"/>
          <p:cNvSpPr txBox="1"/>
          <p:nvPr/>
        </p:nvSpPr>
        <p:spPr>
          <a:xfrm xmlns:a="http://schemas.openxmlformats.org/drawingml/2006/main">
            <a:off x="540000" y="1116000"/>
            <a:ext cx="6300000" cy="50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Problem Statement (Grover 1996)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Given: Unstructured database of N = 2ⁿ items, exactly M items are 'marked'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Goal: Find a marked item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Complexity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Classical: O(N) queries average, O(N) worst case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Quantum Grover: O(√(N/M)) queries — quadratic speedup!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Provably optimal for quantum (BBBV lower bound, 1994)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Algorithm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1. Initialize uniform superposition: H⊗ⁿ|0⟩ⁿ = (1/√N) Σx |x⟩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2. Grover iteration (repeat ~π√N/4 times):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a. Oracle Uf: flip phase of marked states → |x⟩ → (−1)^f(x)|x⟩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b. Diffusion operator: 2|ψ⟩⟨ψ| − I (inversion about mean)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3. Measure: high probability of observing marked item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Geometric Interpretation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State lives in 2D subspace: span{|α⟩, |β⟩}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|α⟩ = uniform over unmarked, |β⟩ = uniform over marked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Initial state: angle θ = arcsin(√(M/N)) from |α⟩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Each Grover iteration rotates by 2θ in this plane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After ⌊π/(4θ)⌋ ≈ (π/4)√(N/M) iterations: state ≈ |β⟩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Applications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Cryptanalysis: brute-force key search in √(2^k) instead of 2^k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SAT solving, database search, collision finding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Amplitude amplification: generalizes to arbitrary subroutines</a:t>
            </a:r>
          </a:p>
        </p:txBody>
      </p:sp>
      <p:sp>
        <p:nvSpPr>
          <p:cNvPr id="100048" name="CircuitBox"/>
          <p:cNvSpPr txBox="1"/>
          <p:nvPr/>
        </p:nvSpPr>
        <p:spPr>
          <a:xfrm xmlns:a="http://schemas.openxmlformats.org/drawingml/2006/main">
            <a:off x="7020000" y="1116000"/>
            <a:ext cx="5040000" cy="39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90CAF9"/>
                </a:solidFill>
              </a:rPr>
              <a:t>Grover Circuit (n=3 example)</a:t>
            </a:r>
          </a:p>
          <a:p xmlns:a="http://schemas.openxmlformats.org/drawingml/2006/main">
            <a:r>
              <a:rPr lang="en-US" sz="1200" b="0">
                <a:solidFill>
                  <a:srgbClr val="90CAF9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90CAF9"/>
                </a:solidFill>
              </a:rPr>
              <a:t>|0⟩─[H]─────────[Uf]─[Diff]─[Uf]─[Diff]─[M]</a:t>
            </a:r>
          </a:p>
          <a:p xmlns:a="http://schemas.openxmlformats.org/drawingml/2006/main">
            <a:r>
              <a:rPr lang="en-US" sz="1200" b="0">
                <a:solidFill>
                  <a:srgbClr val="90CAF9"/>
                </a:solidFill>
              </a:rPr>
              <a:t>|0⟩─[H]─────────[Uf]─[Diff]─[Uf]─[Diff]─[M]</a:t>
            </a:r>
          </a:p>
          <a:p xmlns:a="http://schemas.openxmlformats.org/drawingml/2006/main">
            <a:r>
              <a:rPr lang="en-US" sz="1200" b="0">
                <a:solidFill>
                  <a:srgbClr val="90CAF9"/>
                </a:solidFill>
              </a:rPr>
              <a:t>|0⟩─[H]─────────[Uf]─[Diff]─[Uf]─[Diff]─[M]</a:t>
            </a:r>
          </a:p>
          <a:p xmlns:a="http://schemas.openxmlformats.org/drawingml/2006/main">
            <a:r>
              <a:rPr lang="en-US" sz="1200" b="0">
                <a:solidFill>
                  <a:srgbClr val="90CAF9"/>
                </a:solidFill>
              </a:rPr>
              <a:t>|1⟩─[H]─────────[Uf]─────────────────────</a:t>
            </a:r>
          </a:p>
          <a:p xmlns:a="http://schemas.openxmlformats.org/drawingml/2006/main">
            <a:r>
              <a:rPr lang="en-US" sz="1200" b="0">
                <a:solidFill>
                  <a:srgbClr val="90CAF9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90CAF9"/>
                </a:solidFill>
              </a:rPr>
              <a:t>Diffusion = H⊗ⁿ · (2|0⟩⟨0|−I) · H⊗ⁿ</a:t>
            </a:r>
          </a:p>
          <a:p xmlns:a="http://schemas.openxmlformats.org/drawingml/2006/main">
            <a:r>
              <a:rPr lang="en-US" sz="1200" b="0">
                <a:solidFill>
                  <a:srgbClr val="90CAF9"/>
                </a:solidFill>
              </a:rPr>
              <a:t>         = 2|ψ⟩⟨ψ| − I</a:t>
            </a:r>
          </a:p>
          <a:p xmlns:a="http://schemas.openxmlformats.org/drawingml/2006/main">
            <a:r>
              <a:rPr lang="en-US" sz="1200" b="0">
                <a:solidFill>
                  <a:srgbClr val="90CAF9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90CAF9"/>
                </a:solidFill>
              </a:rPr>
              <a:t>Optimal iterations k ≈ (π/4)√(N/M):</a:t>
            </a:r>
          </a:p>
          <a:p xmlns:a="http://schemas.openxmlformats.org/drawingml/2006/main">
            <a:r>
              <a:rPr lang="en-US" sz="1200" b="0">
                <a:solidFill>
                  <a:srgbClr val="90CAF9"/>
                </a:solidFill>
              </a:rPr>
              <a:t>  N=8 items, M=1: k = ⌊π√8/4⌋ = 2 iterations</a:t>
            </a:r>
          </a:p>
          <a:p xmlns:a="http://schemas.openxmlformats.org/drawingml/2006/main">
            <a:r>
              <a:rPr lang="en-US" sz="1200" b="0">
                <a:solidFill>
                  <a:srgbClr val="90CAF9"/>
                </a:solidFill>
              </a:rPr>
              <a:t>  N=1024, M=1:    k ≈ 25 iterations</a:t>
            </a:r>
          </a:p>
          <a:p xmlns:a="http://schemas.openxmlformats.org/drawingml/2006/main">
            <a:r>
              <a:rPr lang="en-US" sz="1200" b="0">
                <a:solidFill>
                  <a:srgbClr val="90CAF9"/>
                </a:solidFill>
              </a:rPr>
              <a:t>  N=2^128, M=1:   k ≈ 2^64 (still huge but √ speedup)</a:t>
            </a:r>
          </a:p>
        </p:txBody>
      </p:sp>
      <p:sp>
        <p:nvSpPr>
          <p:cNvPr id="100049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050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90CAF9"/>
                </a:solidFill>
              </a:rPr>
              <a:t>07 / 50  |  GROVER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051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565C0"/>
              </a:solidFill>
            </a:endParaRPr>
          </a:p>
        </p:txBody>
      </p:sp>
      <p:sp>
        <p:nvSpPr>
          <p:cNvPr id="100052" name="Badge"/>
          <p:cNvSpPr txBox="1"/>
          <p:nvPr/>
        </p:nvSpPr>
        <p:spPr>
          <a:xfrm xmlns:a="http://schemas.openxmlformats.org/drawingml/2006/main">
            <a:off x="540000" y="198000"/>
            <a:ext cx="180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GROVER — AMPLIFICATION</a:t>
            </a:r>
          </a:p>
        </p:txBody>
      </p:sp>
      <p:sp>
        <p:nvSpPr>
          <p:cNvPr id="100053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Amplitude Amplification &amp; Grover Extensions</a:t>
            </a:r>
          </a:p>
        </p:txBody>
      </p:sp>
      <p:sp>
        <p:nvSpPr>
          <p:cNvPr id="100054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565C0"/>
              </a:solidFill>
            </a:endParaRPr>
          </a:p>
        </p:txBody>
      </p:sp>
      <p:sp>
        <p:nvSpPr>
          <p:cNvPr id="100055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Amplitude Amplification (Brassard et al. 2002)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Generalization of Grover to arbitrary quantum subroutines: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Let A be any quantum algorithm: |ψ⟩ = A|0⟩ = √p|good⟩ + √(1−p)|bad⟩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Amplitude amplification boosts success probability p → ~1 in O(1/√p) applications of A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Special case: Grover where A = H⊗ⁿ and good = marked items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Quantum Counting (Brassard-Hoyer-Tapp 1998)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Combines QFT (phase estimation) with Grover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Estimates number of solutions M with O(√(N/M)) queries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Circuit: controlled-Grover iteration + inverse QFT on counting register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Grover with Multiple Solutions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M solutions: stop after (π/4)√(N/M) iterations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If M unknown: use quantum counting first, or use randomized strategy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If M &gt; N/2: classical random sampling is faster!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Applications Table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Application           Classical       Quantum (Grover)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Password cracking     O(2^k)          O(2^(k/2))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SAT (checking)        O(2^n)          O(2^(n/2))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Collision finding     O(N^(1/2))      O(N^(1/3)) *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Element distinctness  O(N)            O(N^(2/3)) **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Triangle finding      O(N^3)          O(N^(5/4)) ***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* Brassard et al. 1997  ** Ambainis 2004  *** Magniez et al. 2007</a:t>
            </a:r>
          </a:p>
        </p:txBody>
      </p:sp>
      <p:sp>
        <p:nvSpPr>
          <p:cNvPr id="100056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057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90CAF9"/>
                </a:solidFill>
              </a:rPr>
              <a:t>08 / 50  |  GROVER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058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1B9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6A1B9A"/>
              </a:solidFill>
            </a:endParaRPr>
          </a:p>
        </p:txBody>
      </p:sp>
      <p:sp>
        <p:nvSpPr>
          <p:cNvPr id="100059" name="Badge"/>
          <p:cNvSpPr txBox="1"/>
          <p:nvPr/>
        </p:nvSpPr>
        <p:spPr>
          <a:xfrm xmlns:a="http://schemas.openxmlformats.org/drawingml/2006/main">
            <a:off x="540000" y="198000"/>
            <a:ext cx="198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1B9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QUANTUM FOURIER TRANSFORM</a:t>
            </a:r>
          </a:p>
        </p:txBody>
      </p:sp>
      <p:sp>
        <p:nvSpPr>
          <p:cNvPr id="100060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Quantum Fourier Transform (QFT)</a:t>
            </a:r>
          </a:p>
        </p:txBody>
      </p:sp>
      <p:sp>
        <p:nvSpPr>
          <p:cNvPr id="100061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1B9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6A1B9A"/>
              </a:solidFill>
            </a:endParaRPr>
          </a:p>
        </p:txBody>
      </p:sp>
      <p:sp>
        <p:nvSpPr>
          <p:cNvPr id="100062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Definition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The QFT is the quantum analogue of the Discrete Fourier Transform (DFT):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  QFT |j⟩ = (1/√N) Σk=0^{N−1} e^{2πijk/N} |k⟩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where N = 2ⁿ and j is the computational basis state.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Classical vs Quantum Complexity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Classical DFT: O(N log N) via FFT (Cooley-Tukey 1965)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QFT: O(n²) = O(log²N) — exponential speedup in circuit gates!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BUT: reading all amplitudes still requires O(N) measurements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Speedup is only useful when QFT is a subroutine, not end goal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QFT Circuit (product representation)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  QFT |j₁j₂…jₙ⟩ = (|0⟩+e^{2πi0.jₙ}|1⟩)(|0⟩+e^{2πi0.j_{n-1}jₙ}|1⟩)⋯/√N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Building blocks: Hadamard + controlled phase gates R_k = [[1,0],[0,e^{2πi/2^k}]]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Circuit depth: n Hadamard + n(n−1)/2 controlled-R gates + SWAP network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Where QFT is Used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Phase estimation (QPE) — core of Shor's algorithm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Solving hidden subgroup problems (HSP)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Quantum simulation (Trotterization)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Variational quantum eigensolver (quantum phase readout)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Quantum machine learning feature maps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Product Representation (key insight for circuit construction)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|j₁…jₙ⟩ → tensor product of single-qubit states, each depending only on lower bits of j</a:t>
            </a:r>
          </a:p>
        </p:txBody>
      </p:sp>
      <p:sp>
        <p:nvSpPr>
          <p:cNvPr id="100063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064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CE93D8"/>
                </a:solidFill>
              </a:rPr>
              <a:t>09 / 50  |  QFT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065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1B9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6A1B9A"/>
              </a:solidFill>
            </a:endParaRPr>
          </a:p>
        </p:txBody>
      </p:sp>
      <p:sp>
        <p:nvSpPr>
          <p:cNvPr id="100066" name="Badge"/>
          <p:cNvSpPr txBox="1"/>
          <p:nvPr/>
        </p:nvSpPr>
        <p:spPr>
          <a:xfrm xmlns:a="http://schemas.openxmlformats.org/drawingml/2006/main">
            <a:off x="540000" y="198000"/>
            <a:ext cx="144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1B9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PHASE ESTIMATION</a:t>
            </a:r>
          </a:p>
        </p:txBody>
      </p:sp>
      <p:sp>
        <p:nvSpPr>
          <p:cNvPr id="100067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Quantum Phase Estimation (QPE)</a:t>
            </a:r>
          </a:p>
        </p:txBody>
      </p:sp>
      <p:sp>
        <p:nvSpPr>
          <p:cNvPr id="100068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1B9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6A1B9A"/>
              </a:solidFill>
            </a:endParaRPr>
          </a:p>
        </p:txBody>
      </p:sp>
      <p:sp>
        <p:nvSpPr>
          <p:cNvPr id="100069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Problem: Given unitary U and eigenvector |u⟩ s.t. U|u⟩ = e^{2πiφ}|u⟩, estimate φ ∈ [0,1)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Why It Matters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Eigenvalue estimation → energy levels (quantum simulation)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Phase → period (Shor's algorithm)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Core subroutine of 15+ quantum algorithms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Circuit Structure (t counting qubits, s eigenstate qubits)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  |0⟩ ─[H]─────────────────[ctrl-U^{2⁰}]──────[QFT†]─[M]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  |0⟩ ─[H]──────────[ctrl-U^{2¹}]───────────────────────[M]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  ⋮         ⋮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  |0⟩ ─[H]─[ctrl-U^{2^{t-1}}]───────────────────────────[M]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  |u⟩ ───────────────[target]────────────────────────────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Algorithm Steps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1. Prepare t counting qubits in |0⟩, eigenstate register in |u⟩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2. Apply H to each counting qubit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3. Apply controlled-U^{2^k} for k = 0, …, t−1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4. Apply inverse QFT† to counting register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5. Measure: result encodes φ to t-bit precision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Precision &amp; Resources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t qubits → 2^t precision in φ (i.e., error ≤ 2^{−t})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Success probability ≥ 1 − ε using t = n + log(2 + 1/2ε) bits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Dominant cost: implementing controlled-U — often circuit expensive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Applications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Shor's: U = modular multiplication, φ = r/s where r = order of a mod N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Chemistry: U = e^{-iHt}, φ encodes ground state energy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HHL algorithm: invert eigenvalues via phase estimation</a:t>
            </a:r>
          </a:p>
        </p:txBody>
      </p:sp>
      <p:sp>
        <p:nvSpPr>
          <p:cNvPr id="100070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071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CE93D8"/>
                </a:solidFill>
              </a:rPr>
              <a:t>10 / 50  |  QPE</a:t>
            </a:r>
          </a:p>
        </p:txBody>
      </p:sp>
    </p:spTree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072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360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BF360C"/>
              </a:solidFill>
            </a:endParaRPr>
          </a:p>
        </p:txBody>
      </p:sp>
      <p:sp>
        <p:nvSpPr>
          <p:cNvPr id="100073" name="Badge"/>
          <p:cNvSpPr txBox="1"/>
          <p:nvPr/>
        </p:nvSpPr>
        <p:spPr>
          <a:xfrm xmlns:a="http://schemas.openxmlformats.org/drawingml/2006/main">
            <a:off x="540000" y="198000"/>
            <a:ext cx="1512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360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SHOR'S ALGORITHM</a:t>
            </a:r>
          </a:p>
        </p:txBody>
      </p:sp>
      <p:sp>
        <p:nvSpPr>
          <p:cNvPr id="100074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Shor's Factoring Algorithm</a:t>
            </a:r>
          </a:p>
        </p:txBody>
      </p:sp>
      <p:sp>
        <p:nvSpPr>
          <p:cNvPr id="100075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360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BF360C"/>
              </a:solidFill>
            </a:endParaRPr>
          </a:p>
        </p:txBody>
      </p:sp>
      <p:sp>
        <p:nvSpPr>
          <p:cNvPr id="100076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Problem: Factor N = p × q (product of two large primes)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Best classical: General Number Field Sieve O(exp((64/9)^{1/3}(log N)^{1/3}(log log N)^{2/3}))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Shor's quantum: O(log³N) — exponential speedup!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Reduction to Order Finding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Fact (number theory): to factor N, find period r of f(x) = a^x mod N for random a: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Choose random 1 &lt; a &lt; N, gcd(a,N) = 1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Find r = order of a mod N (smallest r s.t. a^r ≡ 1 mod N)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If r is even and a^{r/2} ≢ −1 mod N: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gcd(a^{r/2} ± 1, N) gives non-trivial factors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Quantum Period Finding Circuit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|0⟩^⊗t ──[H⊗t]──[Ua: |x⟩→|a^x mod N⟩]──[QFT†]──[Measure x]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|1⟩^⊗s ──────────[Ua]──────────────────────────[Measure f(x)]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Steps: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1. Create superposition of t-bit register: H⊗t|0⟩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2. Compute f(x) = a^x mod N in superposition (modular exponentiation)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3. Measure second register → collapse first to periodic superposition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4. Apply QFT†: peaks at multiples of N/r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5. Measure → get t/r approximation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6. Classical continued fractions to extract r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7. Compute gcd(a^{r/2}±1, N) to get factors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Resource Requirements (for RSA-2048)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≈ 4096 logical qubits for the number register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≈ 2000–4000 T-gates deep circuit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Current estimate: 20 million physical qubits (Gidney &amp; Ekerå 2021)</a:t>
            </a:r>
          </a:p>
        </p:txBody>
      </p:sp>
      <p:sp>
        <p:nvSpPr>
          <p:cNvPr id="100077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078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FFAB91"/>
                </a:solidFill>
              </a:rPr>
              <a:t>11 / 50  |  SHOR</a:t>
            </a:r>
          </a:p>
        </p:txBody>
      </p:sp>
    </p:spTree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079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360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BF360C"/>
              </a:solidFill>
            </a:endParaRPr>
          </a:p>
        </p:txBody>
      </p:sp>
      <p:sp>
        <p:nvSpPr>
          <p:cNvPr id="100080" name="Badge"/>
          <p:cNvSpPr txBox="1"/>
          <p:nvPr/>
        </p:nvSpPr>
        <p:spPr>
          <a:xfrm xmlns:a="http://schemas.openxmlformats.org/drawingml/2006/main">
            <a:off x="540000" y="198000"/>
            <a:ext cx="162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360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SHOR — CRYPTOGRAPHY</a:t>
            </a:r>
          </a:p>
        </p:txBody>
      </p:sp>
      <p:sp>
        <p:nvSpPr>
          <p:cNvPr id="100081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Shor's Algorithm: Cryptographic Implications</a:t>
            </a:r>
          </a:p>
        </p:txBody>
      </p:sp>
      <p:sp>
        <p:nvSpPr>
          <p:cNvPr id="100082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360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BF360C"/>
              </a:solidFill>
            </a:endParaRPr>
          </a:p>
        </p:txBody>
      </p:sp>
      <p:graphicFrame>
        <p:nvGraphicFramePr>
          <p:cNvPr id="100083" name="Table 1"/>
          <p:cNvGraphicFramePr/>
          <p:nvPr/>
        </p:nvGraphicFramePr>
        <p:xfrm>
          <a:off xmlns:a="http://schemas.openxmlformats.org/drawingml/2006/main" x="540000" y="1116000"/>
          <a:ext xmlns:a="http://schemas.openxmlformats.org/drawingml/2006/main" cx="10800000" cy="333756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0000"/>
                <a:gridCol w="2700000"/>
                <a:gridCol w="2700000"/>
                <a:gridCol w="270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Cryptosystem</a:t>
                      </a:r>
                      <a:endParaRPr lang="en-US"/>
                    </a:p>
                  </a:txBody>
                  <a:tcPr>
                    <a:solidFill>
                      <a:srgbClr val="7B1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Security Basis</a:t>
                      </a:r>
                      <a:endParaRPr lang="en-US"/>
                    </a:p>
                  </a:txBody>
                  <a:tcPr>
                    <a:solidFill>
                      <a:srgbClr val="7B1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Classical Security</a:t>
                      </a:r>
                      <a:endParaRPr lang="en-US"/>
                    </a:p>
                  </a:txBody>
                  <a:tcPr>
                    <a:solidFill>
                      <a:srgbClr val="7B1D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Post-Quantum Security</a:t>
                      </a:r>
                      <a:endParaRPr lang="en-US"/>
                    </a:p>
                  </a:txBody>
                  <a:tcPr>
                    <a:solidFill>
                      <a:srgbClr val="7B1D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RSA-2048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Integer Factoring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O(exp(log^{1/3}N))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BROKEN by Shor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ECC P-256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Elliptic Curve DLog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O(√N) Pollard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BROKEN by Shor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DH Key Exchange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Discrete Logarithm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O(exp(log^{1/3}N))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BROKEN by Shor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AES-128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Symmetric key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2^128 brute force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2^64 (Grover) — upgrade to 256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AES-256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Symmetric key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2^256 brute force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2^128 (Grover) — SAFE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SHA-256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Hash function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2^128 collision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2^85 (Grover) — marginal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CRYSTALS-Kyber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Module LWE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Classical secure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NIST PQC standard 2024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CRYSTALS-Dilithium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Module LWE lattice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Classical secure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NIST PQC standard 2024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</a:tbl>
          </a:graphicData>
        </a:graphic>
      </p:graphicFrame>
      <p:sp>
        <p:nvSpPr>
          <p:cNvPr id="100084" name="Note"/>
          <p:cNvSpPr txBox="1"/>
          <p:nvPr/>
        </p:nvSpPr>
        <p:spPr>
          <a:xfrm xmlns:a="http://schemas.openxmlformats.org/drawingml/2006/main">
            <a:off x="540000" y="5508000"/>
            <a:ext cx="1080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0A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FFAB91"/>
                </a:solidFill>
              </a:rPr>
              <a:t>Timeline to cryptographic risk: NIST estimates 2030–2035 for first cryptographically relevant quantum computer.</a:t>
            </a:r>
          </a:p>
          <a:p xmlns:a="http://schemas.openxmlformats.org/drawingml/2006/main">
            <a:r>
              <a:rPr lang="en-US" sz="1300" b="0">
                <a:solidFill>
                  <a:srgbClr val="FFAB91"/>
                </a:solidFill>
              </a:rPr>
              <a:t>Action required NOW: inventory all PKI systems and begin PQC migration.</a:t>
            </a:r>
          </a:p>
        </p:txBody>
      </p:sp>
      <p:sp>
        <p:nvSpPr>
          <p:cNvPr id="100085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086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FFAB91"/>
                </a:solidFill>
              </a:rPr>
              <a:t>12 / 50  |  SHOR</a:t>
            </a:r>
          </a:p>
        </p:txBody>
      </p:sp>
    </p:spTree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087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E2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B5E20"/>
              </a:solidFill>
            </a:endParaRPr>
          </a:p>
        </p:txBody>
      </p:sp>
      <p:sp>
        <p:nvSpPr>
          <p:cNvPr id="100088" name="Badge"/>
          <p:cNvSpPr txBox="1"/>
          <p:nvPr/>
        </p:nvSpPr>
        <p:spPr>
          <a:xfrm xmlns:a="http://schemas.openxmlformats.org/drawingml/2006/main">
            <a:off x="540000" y="198000"/>
            <a:ext cx="144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E2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HIDDEN SUBGROUP</a:t>
            </a:r>
          </a:p>
        </p:txBody>
      </p:sp>
      <p:sp>
        <p:nvSpPr>
          <p:cNvPr id="100089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Hidden Subgroup Problem (HSP)</a:t>
            </a:r>
          </a:p>
        </p:txBody>
      </p:sp>
      <p:sp>
        <p:nvSpPr>
          <p:cNvPr id="100090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E2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B5E20"/>
              </a:solidFill>
            </a:endParaRPr>
          </a:p>
        </p:txBody>
      </p:sp>
      <p:sp>
        <p:nvSpPr>
          <p:cNvPr id="100091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The Unifying Framework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Most exponential quantum speedups fall under the Hidden Subgroup Problem: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  Given: G (finite group), f : G → S hiding a subgroup H (f(x) = f(xh) for all h ∈ H)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  Goal: Find generators of H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HSP Instances &amp; Known Quantum Solutions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Group G         Hidden Subgroup H           Algorithm          Speedup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Zₙ              Period of f(x) = a^x mod N  Shor's             Exp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Z₂ⁿ             s-shifted cosets            Simon's            Exp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Zₙ (general)    QFT over abelian group       Boneh-Lipton      Exp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Sₙ (symmetric)  Graph isomorphism?          Open problem       Unknown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Dₙ (dihedral)   Unique Shortest Vector?     Poly log queries   Unknown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Standard Quantum HSP Algorithm (abelian groups)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1. Create uniform superposition over G: (1/√|G|) Σg |g⟩|0⟩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2. Compute f in superposition: (1/√|G|) Σg |g⟩|f(g)⟩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3. Measure f: collapse to uniform superposition over a coset of H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4. Apply QFT over G to get 'coset state'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5. Measure: get element of dual group G^; accumulate to find H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Open Problems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Non-abelian HSP (graph isomorphism, dihedral) — NOT efficiently solved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Solving dihedral HSP → breaking lattice-based crypto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Active research area 2024: subexponential algorithms for some cases</a:t>
            </a:r>
          </a:p>
        </p:txBody>
      </p:sp>
      <p:sp>
        <p:nvSpPr>
          <p:cNvPr id="100092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093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A5D6A7"/>
                </a:solidFill>
              </a:rPr>
              <a:t>13 / 50  |  HSP</a:t>
            </a:r>
          </a:p>
        </p:txBody>
      </p:sp>
    </p:spTree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094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E2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B5E20"/>
              </a:solidFill>
            </a:endParaRPr>
          </a:p>
        </p:txBody>
      </p:sp>
      <p:sp>
        <p:nvSpPr>
          <p:cNvPr id="100095" name="Badge"/>
          <p:cNvSpPr txBox="1"/>
          <p:nvPr/>
        </p:nvSpPr>
        <p:spPr>
          <a:xfrm xmlns:a="http://schemas.openxmlformats.org/drawingml/2006/main">
            <a:off x="540000" y="198000"/>
            <a:ext cx="126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E2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QUANTUM WALK</a:t>
            </a:r>
          </a:p>
        </p:txBody>
      </p:sp>
      <p:sp>
        <p:nvSpPr>
          <p:cNvPr id="100096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Quantum Walks &amp; Graph Algorithms</a:t>
            </a:r>
          </a:p>
        </p:txBody>
      </p:sp>
      <p:sp>
        <p:nvSpPr>
          <p:cNvPr id="100097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E2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B5E20"/>
              </a:solidFill>
            </a:endParaRPr>
          </a:p>
        </p:txBody>
      </p:sp>
      <p:sp>
        <p:nvSpPr>
          <p:cNvPr id="100098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Classical Random Walks vs Quantum Walks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Classical: position diffuses as O(√T) steps in T time — Gaussian spread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Quantum: position spreads as O(T) — quadratic speedup in transport!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Interference causes ballistic (linear) spreading vs diffusive (√T) classical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Types of Quantum Walks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Discrete-time: coin operator C (local rotation) + shift S (move)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  |ψ_{t+1}⟩ = S(C ⊗ I)|ψ_t⟩, coin ∈ {Hadamard, Grover, DFT}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Continuous-time: H = −γA (adjacency matrix of graph)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  |ψ(t)⟩ = e^{-iHt}|ψ(0)⟩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Key Results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Element Distinctness: O(N^{2/3}) queries (Ambainis 2004) — optimal!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Triangle Finding: O(N^{5/4}) (Magniez et al. 2007)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Matrix Multiplication verification: O(N^{5/3}) vs O(N²) classical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Spatial Search: O(√N) on hypercube (matches Grover lower bound)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ADSP Framework (Ambainis 2007)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For symmetric problems with data structure: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Setup cost S, Update cost U, Check cost C, fraction ε of marked vertices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Query complexity: O(S + (1/√ε)(U + C))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Applications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Network analysis (centrality, community detection)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Quantum spatial search (physical implementation in photonics)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NAND tree evaluation: O(N^{0.793}) (Farhi et al. 2008)</a:t>
            </a:r>
          </a:p>
          <a:p xmlns:a="http://schemas.openxmlformats.org/drawingml/2006/main">
            <a:r>
              <a:rPr lang="en-US" sz="1300" b="0">
                <a:solidFill>
                  <a:srgbClr val="E0E0E0"/>
                </a:solidFill>
              </a:rPr>
              <a:t>• Quantum PageRank algorithms</a:t>
            </a:r>
          </a:p>
        </p:txBody>
      </p:sp>
      <p:sp>
        <p:nvSpPr>
          <p:cNvPr id="100099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100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A5D6A7"/>
                </a:solidFill>
              </a:rPr>
              <a:t>14 / 50  |  QUANTUM WALK</a:t>
            </a:r>
          </a:p>
        </p:txBody>
      </p:sp>
    </p:spTree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101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65100"/>
              </a:solidFill>
            </a:endParaRPr>
          </a:p>
        </p:txBody>
      </p:sp>
      <p:sp>
        <p:nvSpPr>
          <p:cNvPr id="100102" name="Badge"/>
          <p:cNvSpPr txBox="1"/>
          <p:nvPr/>
        </p:nvSpPr>
        <p:spPr>
          <a:xfrm xmlns:a="http://schemas.openxmlformats.org/drawingml/2006/main">
            <a:off x="540000" y="198000"/>
            <a:ext cx="72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VQE</a:t>
            </a:r>
          </a:p>
        </p:txBody>
      </p:sp>
      <p:sp>
        <p:nvSpPr>
          <p:cNvPr id="100103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Variational Quantum Eigensolver (VQE)</a:t>
            </a:r>
          </a:p>
        </p:txBody>
      </p:sp>
      <p:sp>
        <p:nvSpPr>
          <p:cNvPr id="100104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65100"/>
              </a:solidFill>
            </a:endParaRPr>
          </a:p>
        </p:txBody>
      </p:sp>
      <p:sp>
        <p:nvSpPr>
          <p:cNvPr id="100105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Motivation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QPE requires fault-tolerant quantum computers (millions of qubits).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VQE is designed for NISQ (Noisy Intermediate-Scale Quantum) devices — shallow circuits!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Variational Principle (quantum mechanics)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For any state |ψ⟩: ⟨ψ|H|ψ⟩ ≥ E₀ (ground state energy)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Equality holds iff |ψ⟩ is the ground state.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→ Minimize expectation value of H over variational parameters θ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VQE Algorithm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1. Choose Hamiltonian H (e.g., molecular Hamiltonian of H₂)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2. Choose ansatz (parameterized circuit): |ψ(θ)⟩ = U(θ)|0⟩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Common ansatze: UCCSD, HEA (hardware-efficient), MERA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3. Measure ⟨H⟩ = ⟨ψ(θ)|H|ψ(θ)⟩ on quantum hardware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4. Send energy value to classical optimizer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5. Classical optimizer updates θ (COBYLA, SPSA, Adam, L-BFGS-B)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6. Repeat until ⟨H⟩ converges → E₀ estimate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Hamiltonian Decomposition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H = Σᵢ cᵢ Pᵢ (Pauli decomposition)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Each Pauli term measured separately → k measurements total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Key Challenges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Barren plateaus: gradients vanish exponentially in deep circuits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Shot noise: finite measurements introduce statistical error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Hardware noise: gate errors corrupt expectation values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Classical optimizer overhead: non-convex landscape, local minima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NISQ Performance (2024)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H₂: 4 qubits, 12 CNOT gates → chemical accuracy demonstrated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H₂O: 8 qubits → NISQ results within 1 kcal/mol of FCI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Utility: IBM 127-qubit Eagle processor, error mitigation applied</a:t>
            </a:r>
          </a:p>
        </p:txBody>
      </p:sp>
      <p:sp>
        <p:nvSpPr>
          <p:cNvPr id="100106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107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FFCC80"/>
                </a:solidFill>
              </a:rPr>
              <a:t>15 / 50  |  VQE</a:t>
            </a:r>
          </a:p>
        </p:txBody>
      </p:sp>
    </p:spTree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108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65100"/>
              </a:solidFill>
            </a:endParaRPr>
          </a:p>
        </p:txBody>
      </p:sp>
      <p:sp>
        <p:nvSpPr>
          <p:cNvPr id="100109" name="Badge"/>
          <p:cNvSpPr txBox="1"/>
          <p:nvPr/>
        </p:nvSpPr>
        <p:spPr>
          <a:xfrm xmlns:a="http://schemas.openxmlformats.org/drawingml/2006/main">
            <a:off x="540000" y="198000"/>
            <a:ext cx="90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QAOA</a:t>
            </a:r>
          </a:p>
        </p:txBody>
      </p:sp>
      <p:sp>
        <p:nvSpPr>
          <p:cNvPr id="100110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QAOA — Quantum Approximate Optimization</a:t>
            </a:r>
          </a:p>
        </p:txBody>
      </p:sp>
      <p:sp>
        <p:nvSpPr>
          <p:cNvPr id="100111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65100"/>
              </a:solidFill>
            </a:endParaRPr>
          </a:p>
        </p:txBody>
      </p:sp>
      <p:sp>
        <p:nvSpPr>
          <p:cNvPr id="100112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QAOA (Farhi, Goldstone &amp; Gutmann 2014)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Target: Combinatorial optimization — Max-Cut, Max-3SAT, Portfolio optimization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Problem Setup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Cost function C(z) = Σ clause contributions for bit string z ∈ {0,1}ⁿ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Goal: Find z* = argmax C(z)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Encode as Ising Hamiltonian: HC = Σ_C C(z)|z⟩⟨z|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Mixer Hamiltonian: HB = Σⱼ Xⱼ (Pauli-X on each qubit)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QAOA Circuit (depth p)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1. Start: |s⟩ = H⊗ⁿ|0⟩ (uniform superposition)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2. Alternate p layers: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a. Phase operator: e^{−iγₖHC} (encodes cost)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b. Mixer operator: e^{−iβₖHB} (explores landscape)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3. Measure: ⟨γ,β|HC|γ,β⟩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4. Optimize γ = (γ₁,…,γₚ), β = (β₁,…,βₚ) classically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Approximation Guarantees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p=1: provable approximation ratio ≥ 0.6924 for Max-Cut on 3-regular graphs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p → ∞: QAOA converges to exact solution (but exponential circuit depth)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p = O(log n): believed to achieve constant-factor speedup for some problems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QAOA vs Classical Approximation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Max-Cut: classical GW algorithm achieves 0.878 (SDP-based)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QAOA p=1 achieves 0.6924 — worse than classical!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But QAOA runs on quantum hardware directly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'Quantum advantage' for QAOA still an open question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Applications (2024)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Portfolio optimization: 100+ assets on superconducting hardware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Traffic routing, scheduling, logistics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IBM Utility experiment: 127 qubits, p=3 QAOA on Max-Cut</a:t>
            </a:r>
          </a:p>
        </p:txBody>
      </p:sp>
      <p:sp>
        <p:nvSpPr>
          <p:cNvPr id="100113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114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FFCC80"/>
                </a:solidFill>
              </a:rPr>
              <a:t>16 / 50  |  QAOA</a:t>
            </a:r>
          </a:p>
        </p:txBody>
      </p:sp>
    </p:spTree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115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4D40"/>
              </a:solidFill>
            </a:endParaRPr>
          </a:p>
        </p:txBody>
      </p:sp>
      <p:sp>
        <p:nvSpPr>
          <p:cNvPr id="100116" name="Badge"/>
          <p:cNvSpPr txBox="1"/>
          <p:nvPr/>
        </p:nvSpPr>
        <p:spPr>
          <a:xfrm xmlns:a="http://schemas.openxmlformats.org/drawingml/2006/main">
            <a:off x="540000" y="198000"/>
            <a:ext cx="126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HHL ALGORITHM</a:t>
            </a:r>
          </a:p>
        </p:txBody>
      </p:sp>
      <p:sp>
        <p:nvSpPr>
          <p:cNvPr id="100117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HHL Algorithm — Quantum Linear Systems</a:t>
            </a:r>
          </a:p>
        </p:txBody>
      </p:sp>
      <p:sp>
        <p:nvSpPr>
          <p:cNvPr id="100118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4D40"/>
              </a:solidFill>
            </a:endParaRPr>
          </a:p>
        </p:txBody>
      </p:sp>
      <p:sp>
        <p:nvSpPr>
          <p:cNvPr id="100119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Problem: Solve Ax = b for sparse, well-conditioned matrix A (N×N)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Classical: O(N^{2.37}) best general, O(N^{1.5}) for sparse systems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HHL: O(log(N) κ² s² / ε) — exponential speedup in N!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where κ = condition number, s = sparsity, ε = error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HHL Algorithm (Harrow-Hassidim-Lloyd 2009)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1. Encode: b → quantum state |b⟩ = Σᵢ bᵢ|i⟩ (amplitude encoding)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2. Phase estimation: find eigenvalues λⱼ of A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QPE: |b⟩|0⟩ → Σⱼ βⱼ|uⱼ⟩|λⱼ⟩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3. Controlled rotation: flip ancilla by 1/λⱼ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→ Σⱼ βⱼ|uⱼ⟩|λⱼ⟩(√(1−C²/λⱼ²)|0⟩ + C/λⱼ|1⟩)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4. Uncompute QPE, measure ancilla = |1⟩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5. Output: |x⟩ ∝ Σⱼ βⱼ/λⱼ |uⱼ⟩ = A⁻¹|b⟩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Caveats (Aaronson's 'fine print')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State preparation: encoding |b⟩ itself may cost O(N) classically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Readout: extracting full x requires O(N) measurements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Speedup only useful for: inner products, norms, property testing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Condition number κ: if κ = O(poly(N)), speedup degrades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Applications (with caveats)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Machine learning: quantum linear regression, SVM training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PDE solving: finite element discretization (Montanaro &amp; Pallister 2016)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Quantum recommendation systems (Kerenidis &amp; Prakash 2016)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Dequantization (Tang 2018)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Classical randomized sampling matches HHL for ML tasks!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Reduced claimed exponential speedup to polynomial</a:t>
            </a:r>
          </a:p>
        </p:txBody>
      </p:sp>
      <p:sp>
        <p:nvSpPr>
          <p:cNvPr id="100120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121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80CBC4"/>
                </a:solidFill>
              </a:rPr>
              <a:t>17 / 50  |  HHL</a:t>
            </a:r>
          </a:p>
        </p:txBody>
      </p:sp>
    </p:spTree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122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4D40"/>
              </a:solidFill>
            </a:endParaRPr>
          </a:p>
        </p:txBody>
      </p:sp>
      <p:sp>
        <p:nvSpPr>
          <p:cNvPr id="100123" name="Badge"/>
          <p:cNvSpPr txBox="1"/>
          <p:nvPr/>
        </p:nvSpPr>
        <p:spPr>
          <a:xfrm xmlns:a="http://schemas.openxmlformats.org/drawingml/2006/main">
            <a:off x="540000" y="198000"/>
            <a:ext cx="162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QUANTUM SIMULATION</a:t>
            </a:r>
          </a:p>
        </p:txBody>
      </p:sp>
      <p:sp>
        <p:nvSpPr>
          <p:cNvPr id="100124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Quantum Simulation: Feynman's Vision</a:t>
            </a:r>
          </a:p>
        </p:txBody>
      </p:sp>
      <p:sp>
        <p:nvSpPr>
          <p:cNvPr id="100125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4D40"/>
              </a:solidFill>
            </a:endParaRPr>
          </a:p>
        </p:txBody>
      </p:sp>
      <p:sp>
        <p:nvSpPr>
          <p:cNvPr id="100126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Feynman (1982): 'Nature isn't classical — to simulate quantum mechanics you need a quantum mechanical computer'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Problem: Classical simulation of quantum systems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n-body quantum system: state space 2ⁿ or dⁿ (d levels per site)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Full state vector: storing needs 2^60 classical bits for 60 qubits → impossible!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Density matrix: 2^{120} entries for 60 qubits — computationally intractable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Quantum Simulation Approaches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1. Analog Simulation (Quantum Emulation)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• Physically engineer one quantum system to mimic another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• Example: cold atoms in optical lattice → Hubbard model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• Advantage: natural implementation, no gate overhead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• Limitation: less programmable, hard to verify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2. Digital Simulation (Gate-based)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• Trotterization: e^{-iHt} ≈ (e^{-iH₁δt} e^{-iH₂δt})^{t/δt}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• Hamiltonian splitting: H = H₁ + H₂ + … (commuting terms)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• First-order Trotter error: O(δt² Σ_{j&lt;k}‖[Hⱼ,Hₖ]‖)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• Higher-order Suzuki-Trotter formulas reduce error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• LCU (Linear Combination of Unitaries): optimal circuit depth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• Qubitization (Babbush et al. 2018): optimal in T-gate count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Target Applications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High-temperature superconductivity (Hubbard model)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Quantum chemistry (molecular energy surfaces)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Nuclear physics (lattice QCD)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Condensed matter (topological phases)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Drug discovery (protein folding, binding affinities)</a:t>
            </a:r>
          </a:p>
        </p:txBody>
      </p:sp>
      <p:sp>
        <p:nvSpPr>
          <p:cNvPr id="100127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128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80CBC4"/>
                </a:solidFill>
              </a:rPr>
              <a:t>18 / 50  |  SIMULATION</a:t>
            </a:r>
          </a:p>
        </p:txBody>
      </p:sp>
    </p:spTree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129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0E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880E4F"/>
              </a:solidFill>
            </a:endParaRPr>
          </a:p>
        </p:txBody>
      </p:sp>
      <p:sp>
        <p:nvSpPr>
          <p:cNvPr id="100130" name="Badge"/>
          <p:cNvSpPr txBox="1"/>
          <p:nvPr/>
        </p:nvSpPr>
        <p:spPr>
          <a:xfrm xmlns:a="http://schemas.openxmlformats.org/drawingml/2006/main">
            <a:off x="540000" y="198000"/>
            <a:ext cx="1872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0E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QUANTUM ERROR CORRECTION</a:t>
            </a:r>
          </a:p>
        </p:txBody>
      </p:sp>
      <p:sp>
        <p:nvSpPr>
          <p:cNvPr id="100131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Quantum Error Correction (QEC)</a:t>
            </a:r>
          </a:p>
        </p:txBody>
      </p:sp>
      <p:sp>
        <p:nvSpPr>
          <p:cNvPr id="100132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0E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880E4F"/>
              </a:solidFill>
            </a:endParaRPr>
          </a:p>
        </p:txBody>
      </p:sp>
      <p:sp>
        <p:nvSpPr>
          <p:cNvPr id="100133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Why QEC is Different from Classical ECC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No-cloning theorem: cannot copy quantum states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Measurement collapses superposition — can't peek at state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Error types: bit-flip (X), phase-flip (Z), combined (Y), amplitude damping, depolarizing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QEC encodes 1 logical qubit in multiple physical qubits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The Threshold Theorem (Aharonov-Ben-Or 1997, Knill-Laflamme-Zurek 1998)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'If physical error rate p &lt; p_th (threshold), arbitrary long computations are possible with O(poly log n) overhead.'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Surface code threshold: p_th ≈ 1% (achievable today!)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Current hardware: superconducting ~0.1–0.3% 2-qubit error rates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QEC Code Comparison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Code             Phys. qubits  Corrects   Distance  Threshold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3-qubit rep.     3             X or Z     1         ~11%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Shor code        9             X+Z        1         —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Steane [[7,1,3]] 7             X+Z        3         ~5.7%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Surface code     d²            X+Z        d         ~1% (best)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GKP (oscillator) 1 oscillator  Gaussian   —         ~14%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Color code       3d² (2D)      Transversal d        ~0.8%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Surface Code (Kitaev 1997)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Topological code on 2D lattice of physical qubits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Stabilizer measurements detect errors without revealing logical state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Distance-d code: corrects any ⌊(d−1)/2⌋ errors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Requires d² physical qubits per logical qubit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Google Willow (2024): below threshold on 105 qubits!</a:t>
            </a:r>
          </a:p>
        </p:txBody>
      </p:sp>
      <p:sp>
        <p:nvSpPr>
          <p:cNvPr id="100134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135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F48FB1"/>
                </a:solidFill>
              </a:rPr>
              <a:t>19 / 50  |  QEC</a:t>
            </a:r>
          </a:p>
        </p:txBody>
      </p:sp>
    </p:spTree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136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0E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880E4F"/>
              </a:solidFill>
            </a:endParaRPr>
          </a:p>
        </p:txBody>
      </p:sp>
      <p:sp>
        <p:nvSpPr>
          <p:cNvPr id="100137" name="Badge"/>
          <p:cNvSpPr txBox="1"/>
          <p:nvPr/>
        </p:nvSpPr>
        <p:spPr>
          <a:xfrm xmlns:a="http://schemas.openxmlformats.org/drawingml/2006/main">
            <a:off x="540000" y="198000"/>
            <a:ext cx="144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0E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FAULT TOLERANCE</a:t>
            </a:r>
          </a:p>
        </p:txBody>
      </p:sp>
      <p:sp>
        <p:nvSpPr>
          <p:cNvPr id="100138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Fault-Tolerant Quantum Computing</a:t>
            </a:r>
          </a:p>
        </p:txBody>
      </p:sp>
      <p:sp>
        <p:nvSpPr>
          <p:cNvPr id="100139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0E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880E4F"/>
              </a:solidFill>
            </a:endParaRPr>
          </a:p>
        </p:txBody>
      </p:sp>
      <p:sp>
        <p:nvSpPr>
          <p:cNvPr id="100140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Logical vs Physical Qubits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1 logical qubit = d² physical qubits (surface code, distance d)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For RSA-2048: 4096 logical qubits → ~20M physical qubits (d=31)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Current state: Google Willow 105 physical qubits, IBM Condor 1121 qubits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Fault-Tolerant Gate Set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Not all operations are easy to implement fault-tolerantly: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Clifford group (H, S, CNOT): transversal on surface code — easy!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T gate: non-Clifford, requires magic state distillation — expensive!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T gate cost: ~15 physical qubits + distillation overhead per T gate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Magic State Distillation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Produce high-fidelity |T⟩ = T|+⟩ = (|0⟩+e^{iπ/4}|1⟩)/√2 from noisy copies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Bravyi-Kitaev protocol: 15 noisy copies → 1 clean |T⟩ copy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Dominant cost in fault-tolerant algorithms (T-gate count matters!)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Algorithmic T-Gate Counts (logical qubits, logical T gates)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Algorithm            Logical qubits  T-gate count    Physical qubits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Shor RSA-2048        4096 + ancilla  ~4×10^10        ~20 million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H₂ chemistry         12 + ancilla    ~10^4           ~1000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FeMoco (nitrogen)    ~200 + ancilla  ~10^13          ~4 million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MD-simulation (1μs)  ~700 + ancilla  ~10^15          ~10 million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NISQ vs FTQC Boundary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NISQ (now): 100–1000 noisy qubits, no error correction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Early FTQC (~2030): 10K–100K physical qubits, small logical qubits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Utility-scale FTQC (~2035+): millions of qubits, commercial value</a:t>
            </a:r>
          </a:p>
        </p:txBody>
      </p:sp>
      <p:sp>
        <p:nvSpPr>
          <p:cNvPr id="100141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142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F48FB1"/>
                </a:solidFill>
              </a:rPr>
              <a:t>20 / 50  |  FAULT TOLERANCE</a:t>
            </a:r>
          </a:p>
        </p:txBody>
      </p:sp>
    </p:spTree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143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65100"/>
              </a:solidFill>
            </a:endParaRPr>
          </a:p>
        </p:txBody>
      </p:sp>
      <p:sp>
        <p:nvSpPr>
          <p:cNvPr id="100144" name="Badge"/>
          <p:cNvSpPr txBox="1"/>
          <p:nvPr/>
        </p:nvSpPr>
        <p:spPr>
          <a:xfrm xmlns:a="http://schemas.openxmlformats.org/drawingml/2006/main">
            <a:off x="540000" y="198000"/>
            <a:ext cx="180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VARIATIONAL ALGORITHMS</a:t>
            </a:r>
          </a:p>
        </p:txBody>
      </p:sp>
      <p:sp>
        <p:nvSpPr>
          <p:cNvPr id="100145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Variational Algorithm Zoo — Beyond VQE &amp; QAOA</a:t>
            </a:r>
          </a:p>
        </p:txBody>
      </p:sp>
      <p:sp>
        <p:nvSpPr>
          <p:cNvPr id="100146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65100"/>
              </a:solidFill>
            </a:endParaRPr>
          </a:p>
        </p:txBody>
      </p:sp>
      <p:graphicFrame>
        <p:nvGraphicFramePr>
          <p:cNvPr id="100147" name="Table 1"/>
          <p:cNvGraphicFramePr/>
          <p:nvPr/>
        </p:nvGraphicFramePr>
        <p:xfrm>
          <a:off xmlns:a="http://schemas.openxmlformats.org/drawingml/2006/main" x="540000" y="1116000"/>
          <a:ext xmlns:a="http://schemas.openxmlformats.org/drawingml/2006/main" cx="10800000" cy="407924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0000"/>
                <a:gridCol w="2700000"/>
                <a:gridCol w="2700000"/>
                <a:gridCol w="270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Algorithm</a:t>
                      </a:r>
                      <a:endParaRPr lang="en-US"/>
                    </a:p>
                  </a:txBody>
                  <a:tcPr>
                    <a:solidFill>
                      <a:srgbClr val="5D1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Problem Type</a:t>
                      </a:r>
                      <a:endParaRPr lang="en-US"/>
                    </a:p>
                  </a:txBody>
                  <a:tcPr>
                    <a:solidFill>
                      <a:srgbClr val="5D1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Ansatz/Method</a:t>
                      </a:r>
                      <a:endParaRPr lang="en-US"/>
                    </a:p>
                  </a:txBody>
                  <a:tcPr>
                    <a:solidFill>
                      <a:srgbClr val="5D1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Status 2024</a:t>
                      </a:r>
                      <a:endParaRPr lang="en-US"/>
                    </a:p>
                  </a:txBody>
                  <a:tcPr>
                    <a:solidFill>
                      <a:srgbClr val="5D1F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VQE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Ground state energy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UCCSD, HEA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Demonstrated H₂O, LiH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QAOA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Combinatorial opt.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Cost+Mixer layers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127-qubit MaxCut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VQD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Excited states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VQE + overlap penalty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H₂ excited states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VQLS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Linear systems Ax=b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Variational linear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Small systems only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QITE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Imaginary time evol.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Wick rotation approx.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Ground states, thermal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ADAPT-VQE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Chemistry (efficient)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Operator pool growth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State of art NISQ chem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QNPU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Non-linear optimiz.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Quantum natural grad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Research stage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GAS (Quantum Nat. Grad)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Faster convergence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Fisher info. matrix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Reduces barren plateaus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MERA-VQE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Many-body physics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Tensor network ansatz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Critical systems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CD-QAOA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Continuous opt.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Counter-diabatic drive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Near-optimal depth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</a:tbl>
          </a:graphicData>
        </a:graphic>
      </p:graphicFrame>
      <p:sp>
        <p:nvSpPr>
          <p:cNvPr id="100148" name="Note"/>
          <p:cNvSpPr txBox="1"/>
          <p:nvPr/>
        </p:nvSpPr>
        <p:spPr>
          <a:xfrm xmlns:a="http://schemas.openxmlformats.org/drawingml/2006/main">
            <a:off x="540000" y="5760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FFCC80"/>
                </a:solidFill>
              </a:rPr>
              <a:t>Key trend 2024: Problem-specific ansatze consistently outperform hardware-efficient ansatze. ADAPT-VQE with operator pools is current best practice for quantum chemistry.</a:t>
            </a:r>
          </a:p>
        </p:txBody>
      </p:sp>
      <p:sp>
        <p:nvSpPr>
          <p:cNvPr id="100149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150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FFCC80"/>
                </a:solidFill>
              </a:rPr>
              <a:t>21 / 50  |  VARIATIONAL</a:t>
            </a:r>
          </a:p>
        </p:txBody>
      </p:sp>
    </p:spTree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151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A237E"/>
              </a:solidFill>
            </a:endParaRPr>
          </a:p>
        </p:txBody>
      </p:sp>
      <p:sp>
        <p:nvSpPr>
          <p:cNvPr id="100152" name="Badge"/>
          <p:cNvSpPr txBox="1"/>
          <p:nvPr/>
        </p:nvSpPr>
        <p:spPr>
          <a:xfrm xmlns:a="http://schemas.openxmlformats.org/drawingml/2006/main">
            <a:off x="540000" y="198000"/>
            <a:ext cx="1512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ERROR MITIGATION</a:t>
            </a:r>
          </a:p>
        </p:txBody>
      </p:sp>
      <p:sp>
        <p:nvSpPr>
          <p:cNvPr id="100153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Error Mitigation: NISQ-Era Toolkit</a:t>
            </a:r>
          </a:p>
        </p:txBody>
      </p:sp>
      <p:sp>
        <p:nvSpPr>
          <p:cNvPr id="100154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A237E"/>
              </a:solidFill>
            </a:endParaRPr>
          </a:p>
        </p:txBody>
      </p:sp>
      <p:sp>
        <p:nvSpPr>
          <p:cNvPr id="100155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Error Mitigation vs Error Correction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Correction: physically protect logical qubit — overhead: 1000:1 physical:logical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Mitigation: post-process noisy results to estimate noiseless expectation value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Mitigation does NOT enable fault-tolerant computation — just improves NISQ fidelity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Zero-Noise Extrapolation (ZNE) — Richardson et al. / Li &amp; Benjamin 2017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Run circuit at multiple noise levels: ε, 2ε, 3ε...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Extrapolate to zero noise: f(ε) → f(0) via polynomial/exponential fit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Implementation: stretch gate duration OR add CNOT pairs (to scale noise)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IBM Qiskit Runtime: ZNE built-in for utility-scale circuits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Probabilistic Error Cancellation (PEC) — Temme et al. 2017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Quasi-probability decomposition of ideal gate in noisy basis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Sampling overhead: C²_PEC where C = 1-norm of decomposition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Requires full noise tomography — expensive but provably correct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Clifford Data Regression (CDR) — Czarnik et al. 2021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Train classical ML model on Clifford circuits (classically simulable)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Apply learned noise model to correct target circuit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Tensor Network Noise Mitigation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Model device noise as tensor network MPO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Invert noise channel on output distribution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Symmetry Verification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Check physics symmetries (particle number, spin, parity)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Discard shots violating symmetry → reduced effective noise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2024 State-of-the-Art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IBM Heron 156 qubits + ZNE: 127-qubit Ising model at utility scale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Error reduction: 10-100x improvement in expectation value accuracy</a:t>
            </a:r>
          </a:p>
        </p:txBody>
      </p:sp>
      <p:sp>
        <p:nvSpPr>
          <p:cNvPr id="100156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157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90CAF9"/>
                </a:solidFill>
              </a:rPr>
              <a:t>22 / 50  |  ERROR MITIGATION</a:t>
            </a:r>
          </a:p>
        </p:txBody>
      </p:sp>
    </p:spTree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158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14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4A148C"/>
              </a:solidFill>
            </a:endParaRPr>
          </a:p>
        </p:txBody>
      </p:sp>
      <p:sp>
        <p:nvSpPr>
          <p:cNvPr id="100159" name="Badge"/>
          <p:cNvSpPr txBox="1"/>
          <p:nvPr/>
        </p:nvSpPr>
        <p:spPr>
          <a:xfrm xmlns:a="http://schemas.openxmlformats.org/drawingml/2006/main">
            <a:off x="540000" y="198000"/>
            <a:ext cx="108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14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QUANTUM ML</a:t>
            </a:r>
          </a:p>
        </p:txBody>
      </p:sp>
      <p:sp>
        <p:nvSpPr>
          <p:cNvPr id="100160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Quantum Machine Learning (QML)</a:t>
            </a:r>
          </a:p>
        </p:txBody>
      </p:sp>
      <p:sp>
        <p:nvSpPr>
          <p:cNvPr id="100161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14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4A148C"/>
              </a:solidFill>
            </a:endParaRPr>
          </a:p>
        </p:txBody>
      </p:sp>
      <p:sp>
        <p:nvSpPr>
          <p:cNvPr id="100162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QML Landscape — What's Proven, What's Hype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Quantum-Enhanced Classical ML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HHL for training: speedup conditional on quantum RAM (qRAM) — not yet built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Quantum kernel methods: K(x,y) = |⟨ψ(x)|ψ(y)⟩|² — measurable on hardware!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Quantum kernels can access feature spaces exponentially large classically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BUT: 'quantum advantage' requires kernel to be hard to estimate classically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Parametric Quantum Circuits (PQC) as ML Models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Quantum Neural Networks (QNN): layers of rotations + entanglement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Data re-uploading: interleave data encoding with trainable layers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Expressibility: PQCs can represent functions inaccessible to shallow classical NNs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Trainability: barren plateaus → exponentially vanishing gradients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Quantum Generative Models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Born Machine: model p(x) = |⟨x|ψ(θ)⟩|² directly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Quantum GANs (QGAN): quantum generator + classical discriminator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Matrix Product State (MPS) ansatz: efficient for 1D quantum systems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Verified Quantum Advantage in QML?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Rigorous separation: Liu et al. (2021) proved exponential QML advantage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in learning quantum mechanical processes (not classical data!)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Classical data: Huang et al. (2021) showed quantum kernels can provably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outperform classical ML on specific structured datasets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Practical advantage: not yet demonstrated on real-world ML benchmarks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QML Roadmap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Near-term: quantum kernels on NISQ devices for structured quantum datasets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Mid-term: fault-tolerant QML for quantum phase recognition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Long-term: HHL-based training when qRAM becomes available</a:t>
            </a:r>
          </a:p>
        </p:txBody>
      </p:sp>
      <p:sp>
        <p:nvSpPr>
          <p:cNvPr id="100163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164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CE93D8"/>
                </a:solidFill>
              </a:rPr>
              <a:t>23 / 50  |  QML</a:t>
            </a:r>
          </a:p>
        </p:txBody>
      </p:sp>
    </p:spTree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165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166" name="Badge"/>
          <p:cNvSpPr txBox="1"/>
          <p:nvPr/>
        </p:nvSpPr>
        <p:spPr>
          <a:xfrm xmlns:a="http://schemas.openxmlformats.org/drawingml/2006/main">
            <a:off x="540000" y="198000"/>
            <a:ext cx="1152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A1628"/>
                </a:solidFill>
              </a:rPr>
              <a:t>SPEEDUP ZOO</a:t>
            </a:r>
          </a:p>
        </p:txBody>
      </p:sp>
      <p:sp>
        <p:nvSpPr>
          <p:cNvPr id="100167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Quantum Speedup Zoo: Full Landscape</a:t>
            </a:r>
          </a:p>
        </p:txBody>
      </p:sp>
      <p:sp>
        <p:nvSpPr>
          <p:cNvPr id="100168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graphicFrame>
        <p:nvGraphicFramePr>
          <p:cNvPr id="100169" name="Table 1"/>
          <p:cNvGraphicFramePr/>
          <p:nvPr/>
        </p:nvGraphicFramePr>
        <p:xfrm>
          <a:off xmlns:a="http://schemas.openxmlformats.org/drawingml/2006/main" x="540000" y="1116000"/>
          <a:ext xmlns:a="http://schemas.openxmlformats.org/drawingml/2006/main" cx="10800000" cy="445008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60000"/>
                <a:gridCol w="2160000"/>
                <a:gridCol w="2160000"/>
                <a:gridCol w="2160000"/>
                <a:gridCol w="216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Algorithm</a:t>
                      </a:r>
                      <a:endParaRPr lang="en-US"/>
                    </a:p>
                  </a:txBody>
                  <a:tcPr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Problem</a:t>
                      </a:r>
                      <a:endParaRPr lang="en-US"/>
                    </a:p>
                  </a:txBody>
                  <a:tcPr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Classical</a:t>
                      </a:r>
                      <a:endParaRPr lang="en-US"/>
                    </a:p>
                  </a:txBody>
                  <a:tcPr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Quantum</a:t>
                      </a:r>
                      <a:endParaRPr lang="en-US"/>
                    </a:p>
                  </a:txBody>
                  <a:tcPr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Speedup Type</a:t>
                      </a:r>
                      <a:endParaRPr lang="en-US"/>
                    </a:p>
                  </a:txBody>
                  <a:tcPr>
                    <a:solidFill>
                      <a:srgbClr val="00606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Shor's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Factoring N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exp(cbrt(log N))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poly(log N)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Exponential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DLog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Discrete log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exp(cbrt(log N))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poly(log N)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Exponential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Grover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Unstructured search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O(N)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O(√N)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Quadratic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Amplitude Est.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Monte Carlo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O(1/ε²)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O(1/ε)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Quadratic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Simon's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Period finding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exp(n)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O(n)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Exponential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QFT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DFT on N=2ⁿ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O(N log N)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O(log²N)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Exponential*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Hamiltonian Sim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n-qubit time evol.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exp(n)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poly(n,t)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Exponential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HHL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Linear systems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O(N^{2.4})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O(log N κ² s²)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Exp* (caveats)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Elem. Distinctness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 elements distinct?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O(N)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O(N^{2/3})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Polynomial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Quantum Anneal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QUBO problems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Heuristic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Heuristic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Unknown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QAOA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Combinatorial opt.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SDP approx.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Approx. ratio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Unknown/marginal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sp>
        <p:nvSpPr>
          <p:cNvPr id="100170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171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80DEEA"/>
                </a:solidFill>
              </a:rPr>
              <a:t>24 / 50  |  SPEEDUP ZOO</a:t>
            </a:r>
          </a:p>
        </p:txBody>
      </p:sp>
    </p:spTree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172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565C0"/>
              </a:solidFill>
            </a:endParaRPr>
          </a:p>
        </p:txBody>
      </p:sp>
      <p:sp>
        <p:nvSpPr>
          <p:cNvPr id="100173" name="Badge"/>
          <p:cNvSpPr txBox="1"/>
          <p:nvPr/>
        </p:nvSpPr>
        <p:spPr>
          <a:xfrm xmlns:a="http://schemas.openxmlformats.org/drawingml/2006/main">
            <a:off x="540000" y="198000"/>
            <a:ext cx="1152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QISKIT LAB</a:t>
            </a:r>
          </a:p>
        </p:txBody>
      </p:sp>
      <p:sp>
        <p:nvSpPr>
          <p:cNvPr id="100174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Lab: Implementing Grover's Algorithm in Qiskit</a:t>
            </a:r>
          </a:p>
        </p:txBody>
      </p:sp>
      <p:sp>
        <p:nvSpPr>
          <p:cNvPr id="100175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565C0"/>
              </a:solidFill>
            </a:endParaRPr>
          </a:p>
        </p:txBody>
      </p:sp>
      <p:sp>
        <p:nvSpPr>
          <p:cNvPr id="100176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02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from qiskit import QuantumCircuit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from qiskit.circuit.library import GroverOperator, PhaseOracle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from qiskit_aer import AerSimulator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from qiskit.visualization import plot_histogram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# Define 3-qubit Oracle: marks state |101⟩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oracle_expr = '(a &amp; ~b &amp; c)'  # marks a=1, b=0, c=1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oracle = PhaseOracle(oracle_expr)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# Build Grover operator (oracle + diffuser)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grover_op = GroverOperator(oracle)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# Build full circuit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n = grover_op.num_qubits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qc = QuantumCircuit(n)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qc.h(range(n))        # Uniform superposition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qc.compose(grover_op, inplace=True)  # 1 Grover iteration for N=8, M=1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qc.measure_all()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# Simulate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sim = AerSimulator()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result = sim.run(qc, shots=1000).result()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counts = result.get_counts()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plot_histogram(counts, title='Grover Search — marking |101⟩')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# Expected: |101⟩ appears ~94% of shots after 1 iteration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# k = floor(pi*sqrt(8)/4) = floor(2.22) = 2 iterations for p≈0.96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# For k=2 iterations: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qc2 = QuantumCircuit(n)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qc2.h(range(n))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qc2.compose(grover_op, inplace=True)  # iter 1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qc2.compose(grover_op, inplace=True)  # iter 2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qc2.measure_all()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# Run on real hardware via IBM Quantum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# from qiskit_ibm_runtime import QiskitRuntimeService, SamplerV2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# service = QiskitRuntimeService()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# backend = service.least_busy(simulator=False)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# sampler = SamplerV2(mode=backend)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# job = sampler.run([qc2])</a:t>
            </a:r>
          </a:p>
          <a:p xmlns:a="http://schemas.openxmlformats.org/drawingml/2006/main">
            <a:r>
              <a:rPr lang="en-US" sz="1100" b="0">
                <a:solidFill>
                  <a:srgbClr val="90EE90"/>
                </a:solidFill>
              </a:rPr>
              <a:t># print(job.result()[0].data.meas.get_counts())</a:t>
            </a:r>
          </a:p>
        </p:txBody>
      </p:sp>
      <p:sp>
        <p:nvSpPr>
          <p:cNvPr id="100177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178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90CAF9"/>
                </a:solidFill>
              </a:rPr>
              <a:t>25 / 50  |  QISKIT LAB</a:t>
            </a:r>
          </a:p>
        </p:txBody>
      </p:sp>
    </p:spTree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179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360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BF360C"/>
              </a:solidFill>
            </a:endParaRPr>
          </a:p>
        </p:txBody>
      </p:sp>
      <p:sp>
        <p:nvSpPr>
          <p:cNvPr id="100180" name="Badge"/>
          <p:cNvSpPr txBox="1"/>
          <p:nvPr/>
        </p:nvSpPr>
        <p:spPr>
          <a:xfrm xmlns:a="http://schemas.openxmlformats.org/drawingml/2006/main">
            <a:off x="540000" y="198000"/>
            <a:ext cx="144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360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QISKIT LAB — SHOR</a:t>
            </a:r>
          </a:p>
        </p:txBody>
      </p:sp>
      <p:sp>
        <p:nvSpPr>
          <p:cNvPr id="100181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Lab: Shor's Algorithm on Small Numbers</a:t>
            </a:r>
          </a:p>
        </p:txBody>
      </p:sp>
      <p:sp>
        <p:nvSpPr>
          <p:cNvPr id="100182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360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BF360C"/>
              </a:solidFill>
            </a:endParaRPr>
          </a:p>
        </p:txBody>
      </p:sp>
      <p:sp>
        <p:nvSpPr>
          <p:cNvPr id="100183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02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# Shor's Algorithm: Factor N=15 (a=7 works well)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from qiskit import QuantumCircuit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from qiskit_aer import AerSimulator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import numpy as np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from math import gcd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/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def qpe_amod15(a, n_count=4):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"""QPE for modular exponentiation: a^x mod 15"""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qc = QuantumCircuit(n_count + 4, n_count)  # 4 counting + 4 target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qc.h(range(n_count))         # Superposition counting register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qc.x(n_count)                # Initialize |1⟩ in target register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# Controlled-U operations (U: multiply by a mod 15)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for counting_qubit in range(n_count):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    # Apply controlled-a^{2^k} mod 15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    power = 2 ** counting_qubit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    for _ in range(power):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        qc.cx(counting_qubit, n_count)     # Simplified mod-mult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# Inverse QFT on counting register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from qiskit.circuit.library import QFT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qc.append(QFT(n_count).inverse(), range(n_count))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qc.measure(range(n_count), range(n_count))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return qc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/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# Run QPE circuit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N, a = 15, 7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qc = qpe_amod15(a)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sim = AerSimulator()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counts = sim.run(qc, shots=2048).result().get_counts()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/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# Classical post-processing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for measured_str, count in sorted(counts.items(), key=lambda x: -x[1])[:3]: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x = int(measured_str, 2)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phase = x / (2**4)   # 4-bit counting register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from fractions import Fraction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frac = Fraction(phase).limit_denominator(15)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r = frac.denominator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if r % 2 == 0: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    guess1 = gcd(a**(r//2) - 1, N)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    guess2 = gcd(a**(r//2) + 1, N)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    print(f'phase={phase:.4f}, r={r}, factors: {guess1}, {guess2}')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# Expect: factors 3 and 5</a:t>
            </a:r>
          </a:p>
        </p:txBody>
      </p:sp>
      <p:sp>
        <p:nvSpPr>
          <p:cNvPr id="100184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185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FFAB91"/>
                </a:solidFill>
              </a:rPr>
              <a:t>26 / 50  |  QISKIT LAB</a:t>
            </a:r>
          </a:p>
        </p:txBody>
      </p:sp>
    </p:spTree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186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65100"/>
              </a:solidFill>
            </a:endParaRPr>
          </a:p>
        </p:txBody>
      </p:sp>
      <p:sp>
        <p:nvSpPr>
          <p:cNvPr id="100187" name="Badge"/>
          <p:cNvSpPr txBox="1"/>
          <p:nvPr/>
        </p:nvSpPr>
        <p:spPr>
          <a:xfrm xmlns:a="http://schemas.openxmlformats.org/drawingml/2006/main">
            <a:off x="540000" y="198000"/>
            <a:ext cx="1368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QISKIT LAB — VQE</a:t>
            </a:r>
          </a:p>
        </p:txBody>
      </p:sp>
      <p:sp>
        <p:nvSpPr>
          <p:cNvPr id="100188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Lab: VQE for H₂ Molecule Ground State</a:t>
            </a:r>
          </a:p>
        </p:txBody>
      </p:sp>
      <p:sp>
        <p:nvSpPr>
          <p:cNvPr id="100189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65100"/>
              </a:solidFill>
            </a:endParaRPr>
          </a:p>
        </p:txBody>
      </p:sp>
      <p:sp>
        <p:nvSpPr>
          <p:cNvPr id="100190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102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from qiskit_nature.second_q.drivers import PySCFDriver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from qiskit_nature.second_q.mappers import JordanWignerMapper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from qiskit_nature.second_q.circuit.library import UCCSD, HartreeFock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from qiskit_algorithms import VQE, NumPyMinimumEigensolver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from qiskit_algorithms.optimizers import COBYLA, SLSQP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from qiskit_aer.primitives import Estimator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import numpy as np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/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# 1. Build H2 molecule at bond length 0.735 Angstrom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driver = PySCFDriver(atom='H .0 .0 .0; H .0 .0 0.735', basis='sto3g')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problem = driver.run()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/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# 2. Map to qubit Hamiltonian (Jordan-Wigner)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mapper = JordanWignerMapper()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qubit_op = mapper.map(problem.second_q_ops()[0])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print(f'Hamiltonian has {qubit_op.num_qubits} qubits')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/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# 3. Build UCCSD ansatz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ref_state = HartreeFock(problem.num_spatial_orbs, problem.num_particles, mapper)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ansatz = UCCSD(problem.num_spatial_orbs, problem.num_particles, mapper,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               initial_state=ref_state)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/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# 4. Run VQE with COBYLA optimizer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estimator = Estimator()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optimizer = COBYLA(maxiter=200)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vqe = VQE(estimator, ansatz, optimizer)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result = vqe.compute_minimum_eigenvalue(qubit_op)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print(f'VQE Energy: {result.eigenvalue:.6f} Hartree')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/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# 5. Compare with exact classical result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exact = NumPyMinimumEigensolver().compute_minimum_eigenvalue(qubit_op)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print(f'Exact Energy: {exact.eigenvalue:.6f} Hartree')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print(f'Error: {abs(result.eigenvalue - exact.eigenvalue)*627.5:.3f} kcal/mol')</a:t>
            </a:r>
          </a:p>
          <a:p xmlns:a="http://schemas.openxmlformats.org/drawingml/2006/main">
            <a:r>
              <a:rPr lang="en-US" sz="1050" b="0">
                <a:solidFill>
                  <a:srgbClr val="90EE90"/>
                </a:solidFill>
              </a:rPr>
              <a:t># Chemical accuracy threshold: 1 kcal/mol = 1.6 mHartree</a:t>
            </a:r>
          </a:p>
        </p:txBody>
      </p:sp>
      <p:sp>
        <p:nvSpPr>
          <p:cNvPr id="100191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192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FFCC80"/>
                </a:solidFill>
              </a:rPr>
              <a:t>27 / 50  |  QISKIT LAB</a:t>
            </a:r>
          </a:p>
        </p:txBody>
      </p:sp>
    </p:spTree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193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194" name="Badge"/>
          <p:cNvSpPr txBox="1"/>
          <p:nvPr/>
        </p:nvSpPr>
        <p:spPr>
          <a:xfrm xmlns:a="http://schemas.openxmlformats.org/drawingml/2006/main">
            <a:off x="540000" y="198000"/>
            <a:ext cx="1512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A1628"/>
                </a:solidFill>
              </a:rPr>
              <a:t>QUANTUM ADVANTAGE</a:t>
            </a:r>
          </a:p>
        </p:txBody>
      </p:sp>
      <p:sp>
        <p:nvSpPr>
          <p:cNvPr id="100195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Quantum Advantage Milestones 2019–2024</a:t>
            </a:r>
          </a:p>
        </p:txBody>
      </p:sp>
      <p:sp>
        <p:nvSpPr>
          <p:cNvPr id="100196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graphicFrame>
        <p:nvGraphicFramePr>
          <p:cNvPr id="100197" name="Table 1"/>
          <p:cNvGraphicFramePr/>
          <p:nvPr/>
        </p:nvGraphicFramePr>
        <p:xfrm>
          <a:off xmlns:a="http://schemas.openxmlformats.org/drawingml/2006/main" x="540000" y="1116000"/>
          <a:ext xmlns:a="http://schemas.openxmlformats.org/drawingml/2006/main" cx="10800000" cy="333756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60000"/>
                <a:gridCol w="2160000"/>
                <a:gridCol w="2160000"/>
                <a:gridCol w="2160000"/>
                <a:gridCol w="216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Date</a:t>
                      </a:r>
                      <a:endParaRPr lang="en-US"/>
                    </a:p>
                  </a:txBody>
                  <a:tcPr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Team</a:t>
                      </a:r>
                      <a:endParaRPr lang="en-US"/>
                    </a:p>
                  </a:txBody>
                  <a:tcPr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Claim</a:t>
                      </a:r>
                      <a:endParaRPr lang="en-US"/>
                    </a:p>
                  </a:txBody>
                  <a:tcPr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Problem</a:t>
                      </a:r>
                      <a:endParaRPr lang="en-US"/>
                    </a:p>
                  </a:txBody>
                  <a:tcPr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Status</a:t>
                      </a:r>
                      <a:endParaRPr lang="en-US"/>
                    </a:p>
                  </a:txBody>
                  <a:tcPr>
                    <a:solidFill>
                      <a:srgbClr val="00606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Oct 2019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Google Sycamore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53 qubits, 200s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Random circuit sampling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Contested by IBM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Nov 2020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USTC Jiuzhang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50 photons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Boson sampling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Claimed but specialized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Jun 2023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IBM Eagle 127q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Utility-scale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Ising model (ZNE)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'Quantum utility' milestone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Sep 2023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USTC Jiuzhang 3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255 photons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Enhanced boson samp.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10^24x claimed speedup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Dec 2023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QuEra (Harvard)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48 logical qubits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QEC code benchmark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 fault-tolerant demo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Dec 2024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Google Willow 105q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Below threshold QEC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Surface code RCS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Major QEC milestone!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2024 (ongoing)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IBM Heron 156q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Error-mitigated utility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Molecular simulation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Industry-relevant problems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2025+ (planned)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Multiple vendors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1000+ logical qubits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Commercial optimization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True fault-tolerant era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</a:tbl>
          </a:graphicData>
        </a:graphic>
      </p:graphicFrame>
      <p:sp>
        <p:nvSpPr>
          <p:cNvPr id="100198" name="Note"/>
          <p:cNvSpPr txBox="1"/>
          <p:nvPr/>
        </p:nvSpPr>
        <p:spPr>
          <a:xfrm xmlns:a="http://schemas.openxmlformats.org/drawingml/2006/main">
            <a:off x="540000" y="5760000"/>
            <a:ext cx="108000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80DEEA"/>
                </a:solidFill>
              </a:rPr>
              <a:t>Key distinction: 'quantum supremacy' (sampling tasks not commercially useful) vs 'quantum utility' (practically relevant problems with error mitigation on real hardware).</a:t>
            </a:r>
          </a:p>
        </p:txBody>
      </p:sp>
      <p:sp>
        <p:nvSpPr>
          <p:cNvPr id="100199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200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80DEEA"/>
                </a:solidFill>
              </a:rPr>
              <a:t>28 / 50  |  MILESTONES</a:t>
            </a:r>
          </a:p>
        </p:txBody>
      </p:sp>
    </p:spTree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201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4D40"/>
              </a:solidFill>
            </a:endParaRPr>
          </a:p>
        </p:txBody>
      </p:sp>
      <p:sp>
        <p:nvSpPr>
          <p:cNvPr id="100202" name="Badge"/>
          <p:cNvSpPr txBox="1"/>
          <p:nvPr/>
        </p:nvSpPr>
        <p:spPr>
          <a:xfrm xmlns:a="http://schemas.openxmlformats.org/drawingml/2006/main">
            <a:off x="540000" y="198000"/>
            <a:ext cx="1368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QUANTUM FINANCE</a:t>
            </a:r>
          </a:p>
        </p:txBody>
      </p:sp>
      <p:sp>
        <p:nvSpPr>
          <p:cNvPr id="100203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Quantum Algorithms in Finance</a:t>
            </a:r>
          </a:p>
        </p:txBody>
      </p:sp>
      <p:sp>
        <p:nvSpPr>
          <p:cNvPr id="100204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D4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4D40"/>
              </a:solidFill>
            </a:endParaRPr>
          </a:p>
        </p:txBody>
      </p:sp>
      <p:sp>
        <p:nvSpPr>
          <p:cNvPr id="100205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Quantum Amplitude Estimation (QAE) for Monte Carlo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Classical Monte Carlo: O(1/ε²) samples for ε-accuracy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QAE: O(1/ε) quantum samples — quadratic speedup!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Applications: option pricing, risk analysis, credit risk, VaR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JPMorgan (2020): option pricing on 5 qubits — proof of concept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Goldman Sachs (2021): derivative pricing using QAE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Quantum Portfolio Optimization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Markowitz mean-variance: find weights minimizing risk for target return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Classical: quadratic programming O(n³) for n assets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QAOA formulation: encode as QUBO/Ising (binary weights)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D-Wave annealing: 256+ asset portfolios tested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IBM QAOA: 100 asset portfolios on Eagle processor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Quantum Monte Carlo for Option Greeks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Delta, Gamma, Vega: partial derivatives of option price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Classical: O(1/ε²) per Greek × # of Greeks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Quantum: O(1/ε) total via QAE on augmented oracle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Fraud Detection &amp; Credit Scoring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Quantum SVM kernels for classification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Quantum k-means clustering for anomaly detection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Timeline: useful near-term requires 10K+ error-corrected qubits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Industry Consortia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IBM Quantum Network: Goldman Sachs, JP Morgan, Samsung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Google Quantum AI: quantum finance partnerships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Quantinuum: HSBC, Standard Chartered partnerships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Realistic Timeline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Monte Carlo speedup: 2028–2032 (needs 10K+ logical qubits)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Portfolio optimization: NISQ era competitive (2025–2027 with mitigation)</a:t>
            </a:r>
          </a:p>
        </p:txBody>
      </p:sp>
      <p:sp>
        <p:nvSpPr>
          <p:cNvPr id="100206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207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80CBC4"/>
                </a:solidFill>
              </a:rPr>
              <a:t>29 / 50  |  FINANCE</a:t>
            </a:r>
          </a:p>
        </p:txBody>
      </p:sp>
    </p:spTree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208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0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6064"/>
              </a:solidFill>
            </a:endParaRPr>
          </a:p>
        </p:txBody>
      </p:sp>
      <p:sp>
        <p:nvSpPr>
          <p:cNvPr id="100209" name="Badge"/>
          <p:cNvSpPr txBox="1"/>
          <p:nvPr/>
        </p:nvSpPr>
        <p:spPr>
          <a:xfrm xmlns:a="http://schemas.openxmlformats.org/drawingml/2006/main">
            <a:off x="540000" y="198000"/>
            <a:ext cx="162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0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QUANTUM OPTIMIZATION</a:t>
            </a:r>
          </a:p>
        </p:txBody>
      </p:sp>
      <p:sp>
        <p:nvSpPr>
          <p:cNvPr id="100210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Quantum Optimization: From Theory to Industry</a:t>
            </a:r>
          </a:p>
        </p:txBody>
      </p:sp>
      <p:sp>
        <p:nvSpPr>
          <p:cNvPr id="100211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06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6064"/>
              </a:solidFill>
            </a:endParaRPr>
          </a:p>
        </p:txBody>
      </p:sp>
      <p:sp>
        <p:nvSpPr>
          <p:cNvPr id="100212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QUBO Formulation (Quadratic Unconstrained Binary Optimization)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Minimize: f(x) = Σᵢ aᵢxᵢ + Σᵢ&lt;ⱼ bᵢⱼxᵢxⱼ, xᵢ ∈ {0,1}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→ Equivalent to Ising Hamiltonian (standard mapping)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→ Solvable by QAOA, quantum annealing, and classical SDP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Application Domains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Domain          Problem              Quantum Method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Logistics       Vehicle routing      QAOA (p=3), D-Wave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Telecoms        Frequency allocation Quantum annealing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Pharmaceuticals Protein folding      Lattice VQE + QAOA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Manufacturing   Job shop scheduling  QAOA + classical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Energy          Grid optimization    QAOA + relaxation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AI/ML           Neural architecture  Quantum NAS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Finance         Portfolio opt.       D-Wave, QAOA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Cloud networks  Load balancing       QAOA + MILP hybrid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Quantum Annealing (D-Wave)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Exploit quantum tunneling to escape local minima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5000+ qubit Pegasus topology (D-Wave Advantage)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Works well for native QUBO problems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No proven advantage over classical SA/SDP at scale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Hybrid Classical-Quantum Algorithms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Divide large problems into NISQ-tractable subproblems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Quantum solver handles small subgraph; classical assembles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IBM Qiskit Runtime Primitives: Sampler + Estimator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Qiskit Optimization module: QUBO solver with backend selection</a:t>
            </a:r>
          </a:p>
        </p:txBody>
      </p:sp>
      <p:sp>
        <p:nvSpPr>
          <p:cNvPr id="100213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214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80CBC4"/>
                </a:solidFill>
              </a:rPr>
              <a:t>30 / 50  |  OPTIMIZATION</a:t>
            </a:r>
          </a:p>
        </p:txBody>
      </p:sp>
    </p:spTree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215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565C0"/>
              </a:solidFill>
            </a:endParaRPr>
          </a:p>
        </p:txBody>
      </p:sp>
      <p:sp>
        <p:nvSpPr>
          <p:cNvPr id="100216" name="Badge"/>
          <p:cNvSpPr txBox="1"/>
          <p:nvPr/>
        </p:nvSpPr>
        <p:spPr>
          <a:xfrm xmlns:a="http://schemas.openxmlformats.org/drawingml/2006/main">
            <a:off x="540000" y="198000"/>
            <a:ext cx="144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QUANTUM SAMPLING</a:t>
            </a:r>
          </a:p>
        </p:txBody>
      </p:sp>
      <p:sp>
        <p:nvSpPr>
          <p:cNvPr id="100217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Boson Sampling &amp; Quantum Advantage Probes</a:t>
            </a:r>
          </a:p>
        </p:txBody>
      </p:sp>
      <p:sp>
        <p:nvSpPr>
          <p:cNvPr id="100218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565C0"/>
              </a:solidFill>
            </a:endParaRPr>
          </a:p>
        </p:txBody>
      </p:sp>
      <p:sp>
        <p:nvSpPr>
          <p:cNvPr id="100219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Boson Sampling (Aaronson &amp; Arkhipov 2011)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Problem: Sample from output distribution of n photons in m-mode interferometer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Exact classical computation: #P-hard (counting permanent of matrix)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Approximate sampling: conjectured classically hard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n photons, m &gt;&gt; n² modes: output distribution encodes matrix permanents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Key hardness assumption: permanent is hard to approximate for random Gaussian matrices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Experimental Implementations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Year  Team           Photons  Modes   Claims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2020  USTC (Jiuzhang)  50-76    100     10^14x speedup over classical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2022  USTC (JZ 2.0)    113      144     Classical hard (spoofed partially)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2023  USTC (JZ 3.0)    255      1440    10^24x speedup claimed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Random Circuit Sampling (RCS) — Google's Approach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Sample from output of random quantum circuits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Google Sycamore (2019): 53 qubits, 20-cycle circuits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Classical simulation (Frontier supercomputer): still feasible at n=53!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Ongoing debate: what is the true classical complexity frontier?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Why These Problems Matter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Proof-of-concept that quantum is doing something classically hard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NOT useful for computation directly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Build confidence in quantum hardware fidelity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Gate calibration benchmark: fidelity ~ (1-ε)^(#gates) per shot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Key Criticism (Yung et al., Pan et al.)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Classical algorithms improved significantly in 2021–2022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Noise in experiments allows classical spoofing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'Quantum advantage' claims require stronger noise-robustness proofs</a:t>
            </a:r>
          </a:p>
        </p:txBody>
      </p:sp>
      <p:sp>
        <p:nvSpPr>
          <p:cNvPr id="100220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221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90CAF9"/>
                </a:solidFill>
              </a:rPr>
              <a:t>31 / 50  |  SAMPLING</a:t>
            </a:r>
          </a:p>
        </p:txBody>
      </p:sp>
    </p:spTree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222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14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4A148C"/>
              </a:solidFill>
            </a:endParaRPr>
          </a:p>
        </p:txBody>
      </p:sp>
      <p:sp>
        <p:nvSpPr>
          <p:cNvPr id="100223" name="Badge"/>
          <p:cNvSpPr txBox="1"/>
          <p:nvPr/>
        </p:nvSpPr>
        <p:spPr>
          <a:xfrm xmlns:a="http://schemas.openxmlformats.org/drawingml/2006/main">
            <a:off x="540000" y="198000"/>
            <a:ext cx="144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14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QUANTUM NETWORKS</a:t>
            </a:r>
          </a:p>
        </p:txBody>
      </p:sp>
      <p:sp>
        <p:nvSpPr>
          <p:cNvPr id="100224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Distributed Quantum Algorithms &amp; Networks</a:t>
            </a:r>
          </a:p>
        </p:txBody>
      </p:sp>
      <p:sp>
        <p:nvSpPr>
          <p:cNvPr id="100225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148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4A148C"/>
              </a:solidFill>
            </a:endParaRPr>
          </a:p>
        </p:txBody>
      </p:sp>
      <p:sp>
        <p:nvSpPr>
          <p:cNvPr id="100226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Quantum Teleportation as Algorithm Primitive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Teleport unknown qubit |ψ⟩ using shared Bell pair + 2 classical bits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Circuit: Bell measurement on Alice's side → classical send → X,Z corrections on Bob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Gate teleportation: key primitive for fault-tolerant computation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Measurement-based quantum computing (MBQC): compute by teleporting through cluster state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Distributed Quantum Computing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Connect multiple smaller QPUs via quantum network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Cat-entangler: create multi-qubit entanglement across nodes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Cat-disentangler: cleanup after non-local gate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Non-local CNOT via entanglement + 2 classical bits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Quantum Network Algorithms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Quantum fingerprinting: exponential communication savings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Classical: Ω(n) bits to compare n-bit strings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Quantum: O(log n) qubits — exponential separation!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Quantum key agreement (QKA): extend BB84 to multiparty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Blind quantum computing: client delegates to cloud QC privately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Quantum Byzantine agreement: consensus with quantum broadcast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Quantum Internet Architecture (Wehner et al. 2018)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Stages: Trusted Repeater → Prepare-and-Measure → Entanglement Distribution → Quantum Memory → Fault-Tolerant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Current State (2024)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Delft-Eindhoven: 25km fiber quantum link (NV center + trapped ions)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China Micius satellite: 1000km satellite quantum link demonstrated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US DOE Quantum Internet Blueprint: coast-to-coast roadmap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DARPA QEP: quantum entanglement and photonics program</a:t>
            </a:r>
          </a:p>
        </p:txBody>
      </p:sp>
      <p:sp>
        <p:nvSpPr>
          <p:cNvPr id="100227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228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CE93D8"/>
                </a:solidFill>
              </a:rPr>
              <a:t>32 / 50  |  NETWORKS</a:t>
            </a:r>
          </a:p>
        </p:txBody>
      </p:sp>
    </p:spTree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229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E2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B5E20"/>
              </a:solidFill>
            </a:endParaRPr>
          </a:p>
        </p:txBody>
      </p:sp>
      <p:sp>
        <p:nvSpPr>
          <p:cNvPr id="100230" name="Badge"/>
          <p:cNvSpPr txBox="1"/>
          <p:nvPr/>
        </p:nvSpPr>
        <p:spPr>
          <a:xfrm xmlns:a="http://schemas.openxmlformats.org/drawingml/2006/main">
            <a:off x="540000" y="198000"/>
            <a:ext cx="1368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E2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OPEN PROBLEMS</a:t>
            </a:r>
          </a:p>
        </p:txBody>
      </p:sp>
      <p:sp>
        <p:nvSpPr>
          <p:cNvPr id="100231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Open Problems in Quantum Algorithms</a:t>
            </a:r>
          </a:p>
        </p:txBody>
      </p:sp>
      <p:sp>
        <p:nvSpPr>
          <p:cNvPr id="100232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E2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B5E20"/>
              </a:solidFill>
            </a:endParaRPr>
          </a:p>
        </p:txBody>
      </p:sp>
      <p:sp>
        <p:nvSpPr>
          <p:cNvPr id="100233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The Grand Challenges (2024)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1. Quantum PCP Theorem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Classical: every NP problem has a 'locally checkable' proof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Quantum: does every QMA problem have a locally testable quantum proof?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Status: major open problem; recent partial results by Anshu-Breuckmann 2022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2. Non-Abelian HSP (Graph Isomorphism)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Does quantum computing efficiently solve graph isomorphism?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Currently: polynomial quantum queries but exponential gates in coset sampling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Impact: would solve a 50-year-old open problem in complexity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3. Quantum Advantage for NP-complete Problems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Can quantum computers solve SAT faster than classical (sub-exponential)?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Known: Grover gives √2^n — no sub-exponential quantum improvement known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Barrier: 'quantum advantage' for NP seems unlikely (Chen et al. 2023)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4. Barren Plateau Resolution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Can we prove meaningful quantum advantage for variational algorithms?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Current: all-to-all entanglement causes exponential gradient vanishing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Active research: structure-preserving ansatze, geometric quantum ML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5. Quantum Speedup for Machine Learning on Classical Data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Rigorous proof or disproof of quantum advantage for classical datasets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Tang dequantization (2018) partially resolved but didn't fully settle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6. Optimal Fault-Tolerant Algorithm Compilation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T-gate minimization: NP-hard classically, can QC help?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7. Coherence vs Entanglement for Speedup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 Which quantum resource is 'responsible' for quantum advantage?</a:t>
            </a:r>
          </a:p>
        </p:txBody>
      </p:sp>
      <p:sp>
        <p:nvSpPr>
          <p:cNvPr id="100234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235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A5D6A7"/>
                </a:solidFill>
              </a:rPr>
              <a:t>33 / 50  |  OPEN PROBLEMS</a:t>
            </a:r>
          </a:p>
        </p:txBody>
      </p:sp>
    </p:spTree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236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A237E"/>
              </a:solidFill>
            </a:endParaRPr>
          </a:p>
        </p:txBody>
      </p:sp>
      <p:sp>
        <p:nvSpPr>
          <p:cNvPr id="100237" name="Badge"/>
          <p:cNvSpPr txBox="1"/>
          <p:nvPr/>
        </p:nvSpPr>
        <p:spPr>
          <a:xfrm xmlns:a="http://schemas.openxmlformats.org/drawingml/2006/main">
            <a:off x="540000" y="198000"/>
            <a:ext cx="144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ALGORITHM TOOLS</a:t>
            </a:r>
          </a:p>
        </p:txBody>
      </p:sp>
      <p:sp>
        <p:nvSpPr>
          <p:cNvPr id="100238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Quantum Algorithm Software Ecosystem 2024</a:t>
            </a:r>
          </a:p>
        </p:txBody>
      </p:sp>
      <p:sp>
        <p:nvSpPr>
          <p:cNvPr id="100239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A237E"/>
              </a:solidFill>
            </a:endParaRPr>
          </a:p>
        </p:txBody>
      </p:sp>
      <p:graphicFrame>
        <p:nvGraphicFramePr>
          <p:cNvPr id="100240" name="Table 1"/>
          <p:cNvGraphicFramePr/>
          <p:nvPr/>
        </p:nvGraphicFramePr>
        <p:xfrm>
          <a:off xmlns:a="http://schemas.openxmlformats.org/drawingml/2006/main" x="540000" y="1116000"/>
          <a:ext xmlns:a="http://schemas.openxmlformats.org/drawingml/2006/main" cx="10800000" cy="37084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0000"/>
                <a:gridCol w="2700000"/>
                <a:gridCol w="2700000"/>
                <a:gridCol w="270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Framework</a:t>
                      </a:r>
                      <a:endParaRPr lang="en-US"/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Provider</a:t>
                      </a:r>
                      <a:endParaRPr lang="en-US"/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Algorithm Focus</a:t>
                      </a:r>
                      <a:endParaRPr lang="en-US"/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Hardware Access</a:t>
                      </a:r>
                      <a:endParaRPr lang="en-US"/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Qiskit SDK 1.x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IBM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General, VQE, QAOA, Error Mitigation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IBM Quantum 100+ qubits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Cirq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Google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RCS, Trotterization, VQE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Google Sycamore, simulators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PennyLane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Xanadu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QML, QNN, Differentiable QC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Xanadu, IBM, AWS, simulators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Braket SDK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Amazon AWS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Hybrid algorithms, QAOA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IQM, Rigetti, IonQ, D-Wave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Azure Quantum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Microsoft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Topological QC research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IonQ, Quantinuum, Pasqal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TKET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Quantinuum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Circuit compilation, optimization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Quantinuum H2 (32 qubits)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Bloqade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QuEra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Neutral atom analog simulation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QuEra Aquila 256 atoms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Stim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Google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Clifford simulation, QEC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Simulation only (ultrafast)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QUIMB / NetKet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Open-source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Tensor network classical sim.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Simulation (CPU/GPU)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sp>
        <p:nvSpPr>
          <p:cNvPr id="100241" name="Note"/>
          <p:cNvSpPr txBox="1"/>
          <p:nvPr/>
        </p:nvSpPr>
        <p:spPr>
          <a:xfrm xmlns:a="http://schemas.openxmlformats.org/drawingml/2006/main">
            <a:off x="540000" y="5688000"/>
            <a:ext cx="108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90CAF9"/>
                </a:solidFill>
              </a:rPr>
              <a:t>All available for Python. Start with Qiskit (largest community) or PennyLane (best for QML). IBM Quantum Platform: quantum.ibm.com — free tier includes 127-qubit Eagle access.</a:t>
            </a:r>
          </a:p>
        </p:txBody>
      </p:sp>
      <p:sp>
        <p:nvSpPr>
          <p:cNvPr id="100242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243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90CAF9"/>
                </a:solidFill>
              </a:rPr>
              <a:t>34 / 50  |  TOOLS</a:t>
            </a:r>
          </a:p>
        </p:txBody>
      </p:sp>
    </p:spTree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61020"/>
        </a:solidFill>
      </p:bgPr>
    </p:bg>
    <p:spTree>
      <p:nvGrpSpPr>
        <p:cNvPr id="1" name=""/>
        <p:cNvGrpSpPr/>
        <p:nvPr/>
      </p:nvGrpSpPr>
      <p:grpSpPr/>
      <p:sp>
        <p:nvSpPr>
          <p:cNvPr id="100244" name="AccentBar"/>
          <p:cNvSpPr txBox="1"/>
          <p:nvPr/>
        </p:nvSpPr>
        <p:spPr>
          <a:xfrm xmlns:a="http://schemas.openxmlformats.org/drawingml/2006/main">
            <a:off x="0" y="0"/>
            <a:ext cx="12193200" cy="28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245" name="SectionLabel"/>
          <p:cNvSpPr txBox="1"/>
          <p:nvPr/>
        </p:nvSpPr>
        <p:spPr>
          <a:xfrm xmlns:a="http://schemas.openxmlformats.org/drawingml/2006/main">
            <a:off x="540000" y="1980000"/>
            <a:ext cx="10800000" cy="5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400" b="1">
                <a:solidFill>
                  <a:srgbClr val="00BCD4"/>
                </a:solidFill>
              </a:rPr>
              <a:t>PART 3</a:t>
            </a:r>
          </a:p>
        </p:txBody>
      </p:sp>
      <p:sp>
        <p:nvSpPr>
          <p:cNvPr id="100246" name="SectionTitle"/>
          <p:cNvSpPr txBox="1"/>
          <p:nvPr/>
        </p:nvSpPr>
        <p:spPr>
          <a:xfrm xmlns:a="http://schemas.openxmlformats.org/drawingml/2006/main">
            <a:off x="540000" y="2592000"/>
            <a:ext cx="10800000" cy="14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Quantum Algorithm Research</a:t>
            </a:r>
          </a:p>
          <a:p xmlns:a="http://schemas.openxmlformats.org/drawingml/2006/main">
            <a:r>
              <a:rPr lang="en-US" sz="3600" b="1">
                <a:solidFill>
                  <a:srgbClr val="FFFFFF"/>
                </a:solidFill>
              </a:rPr>
              <a:t>Frontiers &amp; Future Directions</a:t>
            </a:r>
          </a:p>
        </p:txBody>
      </p:sp>
      <p:sp>
        <p:nvSpPr>
          <p:cNvPr id="100247" name="Divider"/>
          <p:cNvSpPr txBox="1"/>
          <p:nvPr/>
        </p:nvSpPr>
        <p:spPr>
          <a:xfrm xmlns:a="http://schemas.openxmlformats.org/drawingml/2006/main">
            <a:off x="540000" y="4068000"/>
            <a:ext cx="10800000" cy="3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248" name="Subtitle"/>
          <p:cNvSpPr txBox="1"/>
          <p:nvPr/>
        </p:nvSpPr>
        <p:spPr>
          <a:xfrm xmlns:a="http://schemas.openxmlformats.org/drawingml/2006/main">
            <a:off x="540000" y="4176000"/>
            <a:ext cx="10800000" cy="43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600" b="0">
                <a:solidFill>
                  <a:srgbClr val="80DEEA"/>
                </a:solidFill>
              </a:rPr>
              <a:t>Topological Quantum Algorithms · Beyond-NISQ · Long-Term Roadmap · Career Guidance</a:t>
            </a:r>
          </a:p>
        </p:txBody>
      </p:sp>
      <p:sp>
        <p:nvSpPr>
          <p:cNvPr id="100249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250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80DEEA"/>
                </a:solidFill>
              </a:rPr>
              <a:t>35 / 50</a:t>
            </a:r>
          </a:p>
        </p:txBody>
      </p:sp>
    </p:spTree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251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0E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880E4F"/>
              </a:solidFill>
            </a:endParaRPr>
          </a:p>
        </p:txBody>
      </p:sp>
      <p:sp>
        <p:nvSpPr>
          <p:cNvPr id="100252" name="Badge"/>
          <p:cNvSpPr txBox="1"/>
          <p:nvPr/>
        </p:nvSpPr>
        <p:spPr>
          <a:xfrm xmlns:a="http://schemas.openxmlformats.org/drawingml/2006/main">
            <a:off x="540000" y="198000"/>
            <a:ext cx="144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0E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TOPOLOGICAL QC</a:t>
            </a:r>
          </a:p>
        </p:txBody>
      </p:sp>
      <p:sp>
        <p:nvSpPr>
          <p:cNvPr id="100253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Topological Quantum Computing</a:t>
            </a:r>
          </a:p>
        </p:txBody>
      </p:sp>
      <p:sp>
        <p:nvSpPr>
          <p:cNvPr id="100254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0E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880E4F"/>
              </a:solidFill>
            </a:endParaRPr>
          </a:p>
        </p:txBody>
      </p:sp>
      <p:sp>
        <p:nvSpPr>
          <p:cNvPr id="100255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Motivation: Hardware-Protected Qubits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Conventional qubits are fragile — local perturbations cause errors.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Topological qubits: information encoded in global topology → immune to local noise!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Anyons &amp; Non-Abelian Statistics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In 2D: particle exchange (braiding) gives unitary transformation — anyon!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Abelian anyons: phase e^{iθ} on exchange (fractional statistics between boson/fermion)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Non-Abelian anyons: unitary matrix on exchange — gate operations!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Fibonacci anyons: universal quantum computation by braiding alone!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Majorana Zero Modes (MZM)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Microsoft's approach: Majorana fermions in topological superconductors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Split one electron into two Majorana modes at ends of nanowire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Qubit = pair of spatially separated Majoranas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Gate by braiding Majoranas around each other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Error protection: topology enforces exponential suppression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Fractional Quantum Hall Effect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ν = 5/2 FQH state: believed to host non-Abelian anyons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Experimental signatures: ultra-low temperature (mK), high magnetic field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Extremely challenging to implement computationally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Status 2024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Microsoft (Station Q): retracted 2023 Nature paper; new 2024 hardware results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Microsoft Azure Quantum: 'topological qubits' chip (Feb 2025 claim)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Expected timeline: first topological qubit gate: 2025–2030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Advantage: once achieved, ~10x better error rates than SC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Key Papers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Kitaev (2003) Annals of Physics — original proposal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Nayak et al. (2008) Rev. Mod. Phys. — comprehensive review</a:t>
            </a:r>
          </a:p>
        </p:txBody>
      </p:sp>
      <p:sp>
        <p:nvSpPr>
          <p:cNvPr id="100256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257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F48FB1"/>
                </a:solidFill>
              </a:rPr>
              <a:t>36 / 50  |  TOPOLOGICAL</a:t>
            </a:r>
          </a:p>
        </p:txBody>
      </p:sp>
    </p:spTree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258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259" name="Badge"/>
          <p:cNvSpPr txBox="1"/>
          <p:nvPr/>
        </p:nvSpPr>
        <p:spPr>
          <a:xfrm xmlns:a="http://schemas.openxmlformats.org/drawingml/2006/main">
            <a:off x="540000" y="198000"/>
            <a:ext cx="1512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A1628"/>
                </a:solidFill>
              </a:rPr>
              <a:t>QUANTUM ROADMAP</a:t>
            </a:r>
          </a:p>
        </p:txBody>
      </p:sp>
      <p:sp>
        <p:nvSpPr>
          <p:cNvPr id="100260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Quantum Algorithm Roadmap 2024–2035</a:t>
            </a:r>
          </a:p>
        </p:txBody>
      </p:sp>
      <p:sp>
        <p:nvSpPr>
          <p:cNvPr id="100261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graphicFrame>
        <p:nvGraphicFramePr>
          <p:cNvPr id="100262" name="Table 1"/>
          <p:cNvGraphicFramePr/>
          <p:nvPr/>
        </p:nvGraphicFramePr>
        <p:xfrm>
          <a:off xmlns:a="http://schemas.openxmlformats.org/drawingml/2006/main" x="540000" y="1116000"/>
          <a:ext xmlns:a="http://schemas.openxmlformats.org/drawingml/2006/main" cx="10800000" cy="259588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60000"/>
                <a:gridCol w="2160000"/>
                <a:gridCol w="2160000"/>
                <a:gridCol w="2160000"/>
                <a:gridCol w="216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Era</a:t>
                      </a:r>
                      <a:endParaRPr lang="en-US"/>
                    </a:p>
                  </a:txBody>
                  <a:tcPr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Timeline</a:t>
                      </a:r>
                      <a:endParaRPr lang="en-US"/>
                    </a:p>
                  </a:txBody>
                  <a:tcPr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Hardware</a:t>
                      </a:r>
                      <a:endParaRPr lang="en-US"/>
                    </a:p>
                  </a:txBody>
                  <a:tcPr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Algorithms</a:t>
                      </a:r>
                      <a:endParaRPr lang="en-US"/>
                    </a:p>
                  </a:txBody>
                  <a:tcPr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Applications</a:t>
                      </a:r>
                      <a:endParaRPr lang="en-US"/>
                    </a:p>
                  </a:txBody>
                  <a:tcPr>
                    <a:solidFill>
                      <a:srgbClr val="00606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NISQ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Now–2026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100–1K noisy qubits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VQE, QAOA (mitigated)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Chemistry demos, optimization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Early FTQC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2026–2029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1K–10K qubits + QEC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Small fault-tolerant circuits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Drug discovery, finance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Utility QC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2029–2032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10K–100K phys. qubits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Shor (small), QAE, QML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MC finance, chem. sim.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Commercial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2032–2035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1M+ physical qubits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Full Shor (RSA-2048)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Crypto, materials, AI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Post-Quantum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2035+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10M+ physical qubits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FeMoco, Hubbard, HHL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Drug discovery, energy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Topological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2030+?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Error-protected qubits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Any FTQC algorithm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 above + more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</a:tbl>
          </a:graphicData>
        </a:graphic>
      </p:graphicFrame>
      <p:sp>
        <p:nvSpPr>
          <p:cNvPr id="100263" name="IndustryNote"/>
          <p:cNvSpPr txBox="1"/>
          <p:nvPr/>
        </p:nvSpPr>
        <p:spPr>
          <a:xfrm xmlns:a="http://schemas.openxmlformats.org/drawingml/2006/main">
            <a:off x="540000" y="4860000"/>
            <a:ext cx="1080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80DEEA"/>
                </a:solidFill>
              </a:rPr>
              <a:t>IBM 2033 Goal: 100K physical qubits with 1K logical qubits (Condor → Flamingo → Kookaburra family)</a:t>
            </a:r>
          </a:p>
          <a:p xmlns:a="http://schemas.openxmlformats.org/drawingml/2006/main">
            <a:r>
              <a:rPr lang="en-US" sz="1200" b="0">
                <a:solidFill>
                  <a:srgbClr val="80DEEA"/>
                </a:solidFill>
              </a:rPr>
              <a:t>Google 2029 Goal: 1M physical qubit chip (Willow → Blossom → Flintlock family)</a:t>
            </a:r>
          </a:p>
          <a:p xmlns:a="http://schemas.openxmlformats.org/drawingml/2006/main">
            <a:r>
              <a:rPr lang="en-US" sz="1200" b="0">
                <a:solidFill>
                  <a:srgbClr val="80DEEA"/>
                </a:solidFill>
              </a:rPr>
              <a:t>IonQ 2030 Goal: 1M AQ (algorithmic qubits) — performance metric including error rates</a:t>
            </a:r>
          </a:p>
        </p:txBody>
      </p:sp>
      <p:sp>
        <p:nvSpPr>
          <p:cNvPr id="100264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265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80DEEA"/>
                </a:solidFill>
              </a:rPr>
              <a:t>37 / 50  |  ROADMAP</a:t>
            </a:r>
          </a:p>
        </p:txBody>
      </p:sp>
    </p:spTree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266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565C0"/>
              </a:solidFill>
            </a:endParaRPr>
          </a:p>
        </p:txBody>
      </p:sp>
      <p:sp>
        <p:nvSpPr>
          <p:cNvPr id="100267" name="Badge"/>
          <p:cNvSpPr txBox="1"/>
          <p:nvPr/>
        </p:nvSpPr>
        <p:spPr>
          <a:xfrm xmlns:a="http://schemas.openxmlformats.org/drawingml/2006/main">
            <a:off x="540000" y="198000"/>
            <a:ext cx="1728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QUANTUM CRYPTOGRAPHY</a:t>
            </a:r>
          </a:p>
        </p:txBody>
      </p:sp>
      <p:sp>
        <p:nvSpPr>
          <p:cNvPr id="100268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000" b="1">
                <a:solidFill>
                  <a:srgbClr val="FFFFFF"/>
                </a:solidFill>
              </a:rPr>
              <a:t>Post-Quantum Cryptography: The Algorithm Response</a:t>
            </a:r>
          </a:p>
        </p:txBody>
      </p:sp>
      <p:sp>
        <p:nvSpPr>
          <p:cNvPr id="100269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65C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565C0"/>
              </a:solidFill>
            </a:endParaRPr>
          </a:p>
        </p:txBody>
      </p:sp>
      <p:sp>
        <p:nvSpPr>
          <p:cNvPr id="100270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NIST Post-Quantum Cryptography Standardization (2016–2024)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FIPS 203: CRYSTALS-Kyber (ML-KEM) — Key Encapsulation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FIPS 204: CRYSTALS-Dilithium (ML-DSA) — Digital Signature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FIPS 205: SPHINCS+ (SLH-DSA) — Hash-based signatures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FIPS 206 (Round 4): FALCON (FN-DSA) — Compact lattice signatures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Mathematical Hardness Assumptions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Scheme       Problem           Classical    Post-Quantum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Kyber        Module-LWE        NP-hard      Quantum hard (conj.)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Dilithium    Module-LWE+SIS    NP-hard      Quantum hard (conj.)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SPHINCS+     Hash functions     2^256/2      2^128 (Grover only)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FALCON       NTRU lattice      NP-hard      Quantum hard (conj.)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──────────────────────────────────────────────────────────────────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Learning With Errors (LWE) Problem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Given: A (m×n matrix), b = As + e (mod q)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where s = secret vector, e = small random error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Goal: Recover s — believed exponentially hard even for quantum computers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Migration Timeline (CISA/NSA Guidance 2022)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2024: Inventory all cryptographic assets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2025: Begin testing PQC implementations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2027: Migrate all new systems to PQC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2030: Fully migrate critical infrastructure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2035: Deprecate classical public-key cryptography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Harvest Now, Decrypt Later (HNDL) Threat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Adversaries store encrypted data NOW to decrypt LATER with quantum computers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Long-lived sensitive data (medical, financial, government) at risk TODAY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Requires URGENT migration even before quantum computers exist</a:t>
            </a:r>
          </a:p>
        </p:txBody>
      </p:sp>
      <p:sp>
        <p:nvSpPr>
          <p:cNvPr id="100271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272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90CAF9"/>
                </a:solidFill>
              </a:rPr>
              <a:t>38 / 50  |  PQC</a:t>
            </a:r>
          </a:p>
        </p:txBody>
      </p:sp>
    </p:spTree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273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65100"/>
              </a:solidFill>
            </a:endParaRPr>
          </a:p>
        </p:txBody>
      </p:sp>
      <p:sp>
        <p:nvSpPr>
          <p:cNvPr id="100274" name="Badge"/>
          <p:cNvSpPr txBox="1"/>
          <p:nvPr/>
        </p:nvSpPr>
        <p:spPr>
          <a:xfrm xmlns:a="http://schemas.openxmlformats.org/drawingml/2006/main">
            <a:off x="540000" y="198000"/>
            <a:ext cx="162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NEAR-TERM PRIORITIES</a:t>
            </a:r>
          </a:p>
        </p:txBody>
      </p:sp>
      <p:sp>
        <p:nvSpPr>
          <p:cNvPr id="100275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Highest-Impact Near-Term Quantum Algorithms</a:t>
            </a:r>
          </a:p>
        </p:txBody>
      </p:sp>
      <p:sp>
        <p:nvSpPr>
          <p:cNvPr id="100276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1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E65100"/>
              </a:solidFill>
            </a:endParaRPr>
          </a:p>
        </p:txBody>
      </p:sp>
      <p:sp>
        <p:nvSpPr>
          <p:cNvPr id="100277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Algorithms Most Likely to Achieve Practical Quantum Advantage (2025–2030)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1. Quantum Monte Carlo Simulation (QMC)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• Application: Materials science, nuclear physics, condensed matter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• Why: Classical QMC has sign problem; quantum doesn't!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• Hardware: ~100 logical qubits sufficient for valuable results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• Timeline: 2027–2030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2. Quantum Chemistry (VQE + QPE)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• Application: Drug discovery, catalyst design, battery materials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• Target molecules: FeMoco (N₂ fixation), cytochrome P450, lithium clusters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• Hardware: ~1000 logical qubits for FeMoco (≈10M physical with surface code)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• Timeline: 2030–2033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3. Quantum Amplitude Estimation (Monte Carlo Finance)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• Application: Option pricing, risk analysis, portfolio optimization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• Quadratic speedup is provable and unconditional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• Hardware: ~1000 logical qubits for practically useful problem sizes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• Timeline: 2028–2032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4. Quantum Linear Algebra (beyond HHL)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• Application: Fluid dynamics (FEM), machine learning (kernel methods)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• Focus on tasks where state readout is NOT needed (expectation values)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• Hardware: ~500 logical qubits for moderate-scale problems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• Timeline: 2029–2033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5. Quantum Combinatorial Optimization (beyond QAOA)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• Application: Logistics, scheduling, supply chain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• Best bet: quantum branch-and-bound with exponential speedup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• Hardware: Fault-tolerant (Grover-based) needed for provable speedup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   • Timeline: 2032+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Key Insight: Near-term advantage is in quantum science problems (chemistry, materials)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not classical optimization — this is where quantum is inherently suited.</a:t>
            </a:r>
          </a:p>
        </p:txBody>
      </p:sp>
      <p:sp>
        <p:nvSpPr>
          <p:cNvPr id="100278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279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FFCC80"/>
                </a:solidFill>
              </a:rPr>
              <a:t>39 / 50  |  NEAR-TERM</a:t>
            </a:r>
          </a:p>
        </p:txBody>
      </p:sp>
    </p:spTree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280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A237E"/>
              </a:solidFill>
            </a:endParaRPr>
          </a:p>
        </p:txBody>
      </p:sp>
      <p:sp>
        <p:nvSpPr>
          <p:cNvPr id="100281" name="Badge"/>
          <p:cNvSpPr txBox="1"/>
          <p:nvPr/>
        </p:nvSpPr>
        <p:spPr>
          <a:xfrm xmlns:a="http://schemas.openxmlformats.org/drawingml/2006/main">
            <a:off x="540000" y="198000"/>
            <a:ext cx="1368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KEY EQUATIONS</a:t>
            </a:r>
          </a:p>
        </p:txBody>
      </p:sp>
      <p:sp>
        <p:nvSpPr>
          <p:cNvPr id="100282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Day 2 Essential Equations Reference</a:t>
            </a:r>
          </a:p>
        </p:txBody>
      </p:sp>
      <p:sp>
        <p:nvSpPr>
          <p:cNvPr id="100283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A237E"/>
              </a:solidFill>
            </a:endParaRPr>
          </a:p>
        </p:txBody>
      </p:sp>
      <p:sp>
        <p:nvSpPr>
          <p:cNvPr id="100284" name="LeftCol"/>
          <p:cNvSpPr txBox="1"/>
          <p:nvPr/>
        </p:nvSpPr>
        <p:spPr>
          <a:xfrm xmlns:a="http://schemas.openxmlformats.org/drawingml/2006/main">
            <a:off x="540000" y="1116000"/>
            <a:ext cx="54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Search &amp; Sampling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Grover iterations: k ≈ (π/4)√(N/M)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Grover success prob: P ≈ sin²((2k+1)arcsin√(M/N))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Amplitude Amplification: O(1/√p) for success prob p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Quantum Counting: O(√(N/M)) queries to estimate M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QFT &amp; Phase Estimation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QFT: |j⟩ → (1/√N) Σk e^{2πijk/N} |k⟩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QPE precision: |φ − φ̂| ≤ 2^{-t} for t counting qubits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Grover diffusion: D = 2|ψ⟩⟨ψ| − I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Phase kickback: Uf(|x⟩|−⟩) = (−1)^{f(x)}|x⟩|−⟩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Factoring (Shor)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Period finding: f(x) = a^x mod N, r = min{r: a^r≡1 mod N}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Factor extraction: gcd(a^{r/2}±1, N)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Shor circuit depth: O(log³N) gates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Gidney-Ekerå: ~4000 qubits for RSA-2048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Variational Algorithms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VQE bound: ⟨ψ(θ)|H|ψ(θ)⟩ ≥ E₀ (variational principle)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QAOA state: |γ,β⟩ = (∏Bβ)(∏Cγ)|s⟩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QAOA cost: F_p(γ,β) = ⟨γ,β|HC|γ,β⟩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Parameter shift rule: ∂/∂θ ⟨O⟩ = (⟨O⟩_{θ+π/2} − ⟨O⟩_{θ−π/2})/2</a:t>
            </a:r>
          </a:p>
        </p:txBody>
      </p:sp>
      <p:sp>
        <p:nvSpPr>
          <p:cNvPr id="100285" name="RightCol"/>
          <p:cNvSpPr txBox="1"/>
          <p:nvPr/>
        </p:nvSpPr>
        <p:spPr>
          <a:xfrm xmlns:a="http://schemas.openxmlformats.org/drawingml/2006/main">
            <a:off x="5940000" y="1116000"/>
            <a:ext cx="558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HHL &amp; Linear Systems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HHL output: |x⟩ ∝ A⁻¹|b⟩ = Σⱼ βⱼ/λⱼ |uⱼ⟩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HHL condition: κ = λ_max/λ_min (condition number)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HHL complexity: O(log(N) κ² s² / ε)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Error Correction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Surface code threshold: p_th ≈ 1%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Logical error rate: p_L ≈ (p/p_th)^{(d+1)/2}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T gates needed for Magic State: ~15 physical per logical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Grover threshold: AES-128 → 2^64 quantum ops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Complexity Classes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BQP = bounded-error quantum poly-time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P ⊆ BPP ⊆ BQP ⊆ PSPACE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QMA = quantum verifiable proofs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k-local Hamiltonian problem: QMA-complete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QML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Quantum kernel: K(x,y) = |⟨ψ(x)|ψ(y)⟩|²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Expressibility: ε = ∫ (P_{U(θ)} − μ_Haar)² dU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Entanglement capability: Ent = 1 − Tr(ρ²_A)/n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Oracle Model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Phase oracle: Uf|x⟩ = (−1)^{f(x)}|x⟩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Bit oracle: Uf|x⟩|y⟩ = |x⟩|y⊕f(x)⟩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Polynomial method: deg ≥ 2 × Q(f) for any f</a:t>
            </a:r>
          </a:p>
          <a:p xmlns:a="http://schemas.openxmlformats.org/drawingml/2006/main">
            <a:r>
              <a:rPr lang="en-US" sz="1100" b="0">
                <a:solidFill>
                  <a:srgbClr val="E0E0E0"/>
                </a:solidFill>
              </a:rPr>
              <a:t>Adversary bound: Q(f) ≥ ADV(f)</a:t>
            </a:r>
          </a:p>
        </p:txBody>
      </p:sp>
      <p:sp>
        <p:nvSpPr>
          <p:cNvPr id="100286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287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90CAF9"/>
                </a:solidFill>
              </a:rPr>
              <a:t>40 / 50  |  EQUATIONS</a:t>
            </a:r>
          </a:p>
        </p:txBody>
      </p:sp>
    </p:spTree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288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289" name="Badge"/>
          <p:cNvSpPr txBox="1"/>
          <p:nvPr/>
        </p:nvSpPr>
        <p:spPr>
          <a:xfrm xmlns:a="http://schemas.openxmlformats.org/drawingml/2006/main">
            <a:off x="540000" y="198000"/>
            <a:ext cx="1728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A1628"/>
                </a:solidFill>
              </a:rPr>
              <a:t>ALGORITHM COMPARISON</a:t>
            </a:r>
          </a:p>
        </p:txBody>
      </p:sp>
      <p:sp>
        <p:nvSpPr>
          <p:cNvPr id="100290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800" b="1">
                <a:solidFill>
                  <a:srgbClr val="FFFFFF"/>
                </a:solidFill>
              </a:rPr>
              <a:t>Algorithm Selection Guide: Which Quantum Algorithm When?</a:t>
            </a:r>
          </a:p>
        </p:txBody>
      </p:sp>
      <p:sp>
        <p:nvSpPr>
          <p:cNvPr id="100291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graphicFrame>
        <p:nvGraphicFramePr>
          <p:cNvPr id="100292" name="Table 1"/>
          <p:cNvGraphicFramePr/>
          <p:nvPr/>
        </p:nvGraphicFramePr>
        <p:xfrm>
          <a:off xmlns:a="http://schemas.openxmlformats.org/drawingml/2006/main" x="540000" y="1116000"/>
          <a:ext xmlns:a="http://schemas.openxmlformats.org/drawingml/2006/main" cx="10800000" cy="445008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0000"/>
                <a:gridCol w="2700000"/>
                <a:gridCol w="2700000"/>
                <a:gridCol w="270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Problem Type</a:t>
                      </a:r>
                      <a:endParaRPr lang="en-US"/>
                    </a:p>
                  </a:txBody>
                  <a:tcPr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Best Algorithm</a:t>
                      </a:r>
                      <a:endParaRPr lang="en-US"/>
                    </a:p>
                  </a:txBody>
                  <a:tcPr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Hardware Era</a:t>
                      </a:r>
                      <a:endParaRPr lang="en-US"/>
                    </a:p>
                  </a:txBody>
                  <a:tcPr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Key Condition</a:t>
                      </a:r>
                      <a:endParaRPr lang="en-US"/>
                    </a:p>
                  </a:txBody>
                  <a:tcPr>
                    <a:solidFill>
                      <a:srgbClr val="00606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Factor large integer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Shor's algorithm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FTQC (2030s)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Need O(n) logical qubits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Unstructured search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Grover + amplitude amp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FTQC (2028+)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Oracle must be efficient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Molecular energy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VQE / ADAPT-VQE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NISQ (now)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Small molecule, &lt;50 orbitals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Molecular energy (large)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QPE + QFT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FTQC (2030s)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FeMoco needs 10M qubits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Combinatorial opt.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QAOA or hybrid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NISQ (now)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 proven advantage yet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Linear system Ax=b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HHL / VQLS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FTQC / NISQ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Sparse, well-conditioned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Monte Carlo estimation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QAE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FTQC (2028+)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Quadratic speedup proven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Period / hidden structure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Simon / Shor framework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FTQC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Must be abelian HSP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Graph algorithms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Quantum walk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FTQC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Graph must be queryable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ML on classical data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Quantum kernel SVM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NISQ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 proven advantage yet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Hamiltonian simulation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Trotterization/LCU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Early FTQC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Qubitization for large systems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</a:tbl>
          </a:graphicData>
        </a:graphic>
      </p:graphicFrame>
      <p:sp>
        <p:nvSpPr>
          <p:cNvPr id="100293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294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80DEEA"/>
                </a:solidFill>
              </a:rPr>
              <a:t>41 / 50  |  SELECTION GUIDE</a:t>
            </a:r>
          </a:p>
        </p:txBody>
      </p:sp>
    </p:spTree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295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E2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B5E20"/>
              </a:solidFill>
            </a:endParaRPr>
          </a:p>
        </p:txBody>
      </p:sp>
      <p:sp>
        <p:nvSpPr>
          <p:cNvPr id="100296" name="Badge"/>
          <p:cNvSpPr txBox="1"/>
          <p:nvPr/>
        </p:nvSpPr>
        <p:spPr>
          <a:xfrm xmlns:a="http://schemas.openxmlformats.org/drawingml/2006/main">
            <a:off x="540000" y="198000"/>
            <a:ext cx="108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E2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GLOSSARY</a:t>
            </a:r>
          </a:p>
        </p:txBody>
      </p:sp>
      <p:sp>
        <p:nvSpPr>
          <p:cNvPr id="100297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Quantum Algorithms Glossary</a:t>
            </a:r>
          </a:p>
        </p:txBody>
      </p:sp>
      <p:sp>
        <p:nvSpPr>
          <p:cNvPr id="100298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E2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B5E20"/>
              </a:solidFill>
            </a:endParaRPr>
          </a:p>
        </p:txBody>
      </p:sp>
      <p:sp>
        <p:nvSpPr>
          <p:cNvPr id="100299" name="LeftGlossary"/>
          <p:cNvSpPr txBox="1"/>
          <p:nvPr/>
        </p:nvSpPr>
        <p:spPr>
          <a:xfrm xmlns:a="http://schemas.openxmlformats.org/drawingml/2006/main">
            <a:off x="540000" y="1116000"/>
            <a:ext cx="522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BQP — Bounded-error Quantum Polynomial time: the class of decision problems solvable by quantum computers in polynomial time with error ≤ 1/3.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Ansatz — A parameterized quantum circuit family used as a variational trial state; from German for 'initial assumption'.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Oracle — A black-box quantum subroutine implementing a function Uf; queries to it are counted as a complexity measure.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Phase kickback — Technique where a quantum phase is transferred from ancilla to control qubit via controlled-Uf on |−⟩ ancilla.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Barren plateau — Exponential vanishing of gradients in random quantum circuits, making variational optimization infeasible.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HSP — Hidden Subgroup Problem: the unifying framework for most exponential quantum speedups including Shor's and Simon's.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Magic state — A non-stabilizer state |T⟩ needed for universal fault-tolerant computation; produced by distillation.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Kitaev threshold — The fault tolerance threshold theorem: below a critical error rate, reliable computation is possible.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QMA — Quantum Merlin-Arthur: the quantum analogue of NP; problems with quantum proof that can be verified in BQP.</a:t>
            </a:r>
          </a:p>
        </p:txBody>
      </p:sp>
      <p:sp>
        <p:nvSpPr>
          <p:cNvPr id="100300" name="RightGlossary"/>
          <p:cNvSpPr txBox="1"/>
          <p:nvPr/>
        </p:nvSpPr>
        <p:spPr>
          <a:xfrm xmlns:a="http://schemas.openxmlformats.org/drawingml/2006/main">
            <a:off x="5940000" y="1116000"/>
            <a:ext cx="558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Qubitization — A technique for exact Hamiltonian simulation via block-encoding; optimal in T-gate count over Trotterization.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LCU — Linear Combination of Unitaries: decompose H = Σαᵢ Uᵢ to enable efficient Hamiltonian simulation.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Stabilizer state — A state produced by Clifford circuits from |0⟩; classically simulable in O(n²) (Gottesman-Knill).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Surface code — A 2D topological error-correcting code with ~1% fault tolerance threshold and d² physical per logical qubit.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T gate — Non-Clifford π/8 rotation gate; the 'expensive' gate in fault-tolerant circuits requiring magic state distillation.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ZNE — Zero Noise Extrapolation: error mitigation by running at multiple noise levels and extrapolating to zero.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QAE — Quantum Amplitude Estimation: generalizes Grover; provides O(1/ε) estimation of probability amplitude.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Dequantization — Classical algorithm achieving same speedup as a quantum algorithm via efficient sampling methods (Tang 2018).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HNDL — Harvest Now, Decrypt Later: attack strategy of storing encrypted data to decrypt once quantum computers are available.</a:t>
            </a:r>
          </a:p>
        </p:txBody>
      </p:sp>
      <p:sp>
        <p:nvSpPr>
          <p:cNvPr id="100301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302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A5D6A7"/>
                </a:solidFill>
              </a:rPr>
              <a:t>42 / 50  |  GLOSSARY</a:t>
            </a:r>
          </a:p>
        </p:txBody>
      </p:sp>
    </p:spTree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303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A237E"/>
              </a:solidFill>
            </a:endParaRPr>
          </a:p>
        </p:txBody>
      </p:sp>
      <p:sp>
        <p:nvSpPr>
          <p:cNvPr id="100304" name="Badge"/>
          <p:cNvSpPr txBox="1"/>
          <p:nvPr/>
        </p:nvSpPr>
        <p:spPr>
          <a:xfrm xmlns:a="http://schemas.openxmlformats.org/drawingml/2006/main">
            <a:off x="540000" y="198000"/>
            <a:ext cx="126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CAREER PATHS</a:t>
            </a:r>
          </a:p>
        </p:txBody>
      </p:sp>
      <p:sp>
        <p:nvSpPr>
          <p:cNvPr id="100305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Career Pathways in Quantum Algorithms</a:t>
            </a:r>
          </a:p>
        </p:txBody>
      </p:sp>
      <p:sp>
        <p:nvSpPr>
          <p:cNvPr id="100306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237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A237E"/>
              </a:solidFill>
            </a:endParaRPr>
          </a:p>
        </p:txBody>
      </p:sp>
      <p:graphicFrame>
        <p:nvGraphicFramePr>
          <p:cNvPr id="100307" name="Table 1"/>
          <p:cNvGraphicFramePr/>
          <p:nvPr/>
        </p:nvGraphicFramePr>
        <p:xfrm>
          <a:off xmlns:a="http://schemas.openxmlformats.org/drawingml/2006/main" x="540000" y="1116000"/>
          <a:ext xmlns:a="http://schemas.openxmlformats.org/drawingml/2006/main" cx="10800000" cy="333756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0000"/>
                <a:gridCol w="2700000"/>
                <a:gridCol w="2700000"/>
                <a:gridCol w="2700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Role</a:t>
                      </a:r>
                      <a:endParaRPr lang="en-US"/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Skills Needed</a:t>
                      </a:r>
                      <a:endParaRPr lang="en-US"/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Where to Work</a:t>
                      </a:r>
                      <a:endParaRPr lang="en-US"/>
                    </a:p>
                  </a:txBody>
                  <a:tcPr>
                    <a:solidFill>
                      <a:srgbClr val="0D47A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Avg Salary (US)</a:t>
                      </a:r>
                      <a:endParaRPr lang="en-US"/>
                    </a:p>
                  </a:txBody>
                  <a:tcPr>
                    <a:solidFill>
                      <a:srgbClr val="0D47A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Quantum Algorithm Researcher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CS theory, complexity, math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IBM, Google, universities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$150K–$250K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Quantum Software Engineer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Qiskit, Python, algorithms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IBM, AWS, startups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$130K–$200K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Quantum Chemistry Scientist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Chem, VQE, quantum sim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Pharma, materials cos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$120K–$180K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Quantum ML Engineer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QNN, PennyLane, ML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Tech companies, finance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$140K–$220K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Quantum Security Analyst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PQC, crypto, NIST stds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Gov agencies, banks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$110K–$170K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Quantum Finance Quant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QAE, Monte Carlo, trading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Goldman, JPMorgan, hedge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$150K–$300K+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QC Hardware/Software Int.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Compiler, transpilation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IBM, Google, Quantinuum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$125K–$185K</a:t>
                      </a:r>
                      <a:endParaRPr lang="en-US"/>
                    </a:p>
                  </a:txBody>
                  <a:tcPr>
                    <a:solidFill>
                      <a:srgbClr val="0D2137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Quantum Educator/Advocate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All areas + communication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Universities, QFF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$90K–$150K</a:t>
                      </a:r>
                      <a:endParaRPr lang="en-US"/>
                    </a:p>
                  </a:txBody>
                  <a:tcPr>
                    <a:solidFill>
                      <a:srgbClr val="112244"/>
                    </a:solidFill>
                  </a:tcPr>
                </a:tc>
              </a:tr>
            </a:tbl>
          </a:graphicData>
        </a:graphic>
      </p:graphicFrame>
      <p:sp>
        <p:nvSpPr>
          <p:cNvPr id="100308" name="StartNow"/>
          <p:cNvSpPr txBox="1"/>
          <p:nvPr/>
        </p:nvSpPr>
        <p:spPr>
          <a:xfrm xmlns:a="http://schemas.openxmlformats.org/drawingml/2006/main">
            <a:off x="540000" y="5688000"/>
            <a:ext cx="10800000" cy="4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80DEEA"/>
                </a:solidFill>
              </a:rPr>
              <a:t>Starting Points TODAY: IBM Quantum Learning (free), Qiskit Textbook, MIT OpenCourseWare 8.370, Xanadu Codebook</a:t>
            </a:r>
          </a:p>
        </p:txBody>
      </p:sp>
      <p:sp>
        <p:nvSpPr>
          <p:cNvPr id="100309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310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90CAF9"/>
                </a:solidFill>
              </a:rPr>
              <a:t>43 / 50  |  CAREERS</a:t>
            </a:r>
          </a:p>
        </p:txBody>
      </p:sp>
    </p:spTree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311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E2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B5E20"/>
              </a:solidFill>
            </a:endParaRPr>
          </a:p>
        </p:txBody>
      </p:sp>
      <p:sp>
        <p:nvSpPr>
          <p:cNvPr id="100312" name="Badge"/>
          <p:cNvSpPr txBox="1"/>
          <p:nvPr/>
        </p:nvSpPr>
        <p:spPr>
          <a:xfrm xmlns:a="http://schemas.openxmlformats.org/drawingml/2006/main">
            <a:off x="540000" y="198000"/>
            <a:ext cx="1152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E2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RESOURCES</a:t>
            </a:r>
          </a:p>
        </p:txBody>
      </p:sp>
      <p:sp>
        <p:nvSpPr>
          <p:cNvPr id="100313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Further Learning Resources</a:t>
            </a:r>
          </a:p>
        </p:txBody>
      </p:sp>
      <p:sp>
        <p:nvSpPr>
          <p:cNvPr id="100314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E2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1B5E20"/>
              </a:solidFill>
            </a:endParaRPr>
          </a:p>
        </p:txBody>
      </p:sp>
      <p:sp>
        <p:nvSpPr>
          <p:cNvPr id="100315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Textbooks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Nielsen &amp; Chuang (2000) 'Quantum Computation and Quantum Information' — THE textbook (free PDF online)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Mermin (2007) 'Quantum Computer Science: An Introduction' — best CS introduction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Aaronson (2013) 'Quantum Computing Since Democritus' — accessible and fun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Wilde (2017) 'Quantum Information Theory' — advanced information theory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de Wolf (2019) 'Quantum Computing: Lecture Notes' — CWI, free online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Online Courses (Free)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IBM Quantum Learning: learning.quantum.ibm.com — hands-on with real hardware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Xanadu Codebook: codebook.xanadu.ai — PennyLane interactive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MIT OpenCourseWare 8.370/8.371 (Peter Shor's course) — graduate level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Caltech CS/Ph 219 (John Preskill) — preskill.caltech.edu/ph219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edX/Coursera: TU Delft 'Quantum 101', IBM 'Basics of Quantum Information'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Research Resources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Quantum Algorithm Zoo: quantumalgorithmzoo.org (60+ algorithms catalogued)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arXiv quant-ph: arxiv.org/archive/quant-ph — daily preprints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Quantum Error Correction Zoo: errorcorrectionzoo.org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Quantum Computing Report: quantumcomputingreport.com — industry news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Hands-on Practice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IBM Quantum Platform: quantum.ibm.com (free 127-qubit access)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AWS Braket: paid but extensive hardware access (D-Wave, IonQ, Rigetti)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Google Quantum Computing Service (limited research access)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Strangeworks: cloud aggregator for multiple quantum providers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Community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Qiskit Slack workspace: qisk.it/slack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Quantum Computing Stack Exchange: quantumcomputing.stackexchange.com</a:t>
            </a:r>
          </a:p>
          <a:p xmlns:a="http://schemas.openxmlformats.org/drawingml/2006/main">
            <a:r>
              <a:rPr lang="en-US" sz="1200" b="0">
                <a:solidFill>
                  <a:srgbClr val="E0E0E0"/>
                </a:solidFill>
              </a:rPr>
              <a:t>• r/QuantumComputing on Reddit</a:t>
            </a:r>
          </a:p>
        </p:txBody>
      </p:sp>
      <p:sp>
        <p:nvSpPr>
          <p:cNvPr id="100316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317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A5D6A7"/>
                </a:solidFill>
              </a:rPr>
              <a:t>44 / 50  |  RESOURCES</a:t>
            </a:r>
          </a:p>
        </p:txBody>
      </p:sp>
    </p:spTree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318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0E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880E4F"/>
              </a:solidFill>
            </a:endParaRPr>
          </a:p>
        </p:txBody>
      </p:sp>
      <p:sp>
        <p:nvSpPr>
          <p:cNvPr id="100319" name="Badge"/>
          <p:cNvSpPr txBox="1"/>
          <p:nvPr/>
        </p:nvSpPr>
        <p:spPr>
          <a:xfrm xmlns:a="http://schemas.openxmlformats.org/drawingml/2006/main">
            <a:off x="540000" y="198000"/>
            <a:ext cx="144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0E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REFERENCES 1/3</a:t>
            </a:r>
          </a:p>
        </p:txBody>
      </p:sp>
      <p:sp>
        <p:nvSpPr>
          <p:cNvPr id="100320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References — Part 1</a:t>
            </a:r>
          </a:p>
        </p:txBody>
      </p:sp>
      <p:sp>
        <p:nvSpPr>
          <p:cNvPr id="100321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0E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880E4F"/>
              </a:solidFill>
            </a:endParaRPr>
          </a:p>
        </p:txBody>
      </p:sp>
      <p:sp>
        <p:nvSpPr>
          <p:cNvPr id="100322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[1] Nielsen, M.A. &amp; Chuang, I.L. (2000). Quantum Computation and Quantum Information. Cambridge University Press.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[2] Deutsch, D. (1985). Quantum Theory, the Church-Turing Principle and the Universal Quantum Computer. Proc. R. Soc. Lond. A, 400(1818), 97–117.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[3] Deutsch, D. &amp; Jozsa, R. (1992). Rapid Solution of Problems by Quantum Computation. Proc. R. Soc. Lond. A, 439(1907), 553–558.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[4] Simon, D.R. (1997). On the Power of Quantum Computation. SIAM J. Computing, 26(5), 1474–1483.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[5] Shor, P.W. (1994). Algorithms for quantum computation: Discrete logarithms and factoring. Proc. 35th FOCS, 124–134.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[6] Shor, P.W. (1997). Polynomial-time algorithms for prime factorization and discrete logarithms on a quantum computer. SIAM J. Computing, 26(5), 1484–1509.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[7] Grover, L.K. (1996). A fast quantum mechanical algorithm for database search. Proc. 28th STOC, 212–219.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[8] Bennett, C.H., Bernstein, E., Brassard, G., &amp; Vazirani, U. (1997). Strengths and weaknesses of quantum computing. SIAM J. Computing, 26(5), 1510–1523.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[9] Brassard, G., Hoyer, P., Mosca, M., &amp; Tapp, A. (2002). Quantum Amplitude Amplification and Estimation. AMS Contemporary Math, 305, 53–74.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[10] Kitaev, A.Y. (1995). Quantum measurements and the Abelian Stabilizer Problem. arXiv:quant-ph/9511026.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[11] Coppersmith, D. (1994). An approximate Fourier transform useful in quantum factoring. IBM Research Report RC 19642.</a:t>
            </a:r>
          </a:p>
        </p:txBody>
      </p:sp>
      <p:sp>
        <p:nvSpPr>
          <p:cNvPr id="100323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324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F48FB1"/>
                </a:solidFill>
              </a:rPr>
              <a:t>45 / 50  |  REFERENCES</a:t>
            </a:r>
          </a:p>
        </p:txBody>
      </p:sp>
    </p:spTree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325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0E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880E4F"/>
              </a:solidFill>
            </a:endParaRPr>
          </a:p>
        </p:txBody>
      </p:sp>
      <p:sp>
        <p:nvSpPr>
          <p:cNvPr id="100326" name="Badge"/>
          <p:cNvSpPr txBox="1"/>
          <p:nvPr/>
        </p:nvSpPr>
        <p:spPr>
          <a:xfrm xmlns:a="http://schemas.openxmlformats.org/drawingml/2006/main">
            <a:off x="540000" y="198000"/>
            <a:ext cx="144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0E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REFERENCES 2/3</a:t>
            </a:r>
          </a:p>
        </p:txBody>
      </p:sp>
      <p:sp>
        <p:nvSpPr>
          <p:cNvPr id="100327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References — Part 2</a:t>
            </a:r>
          </a:p>
        </p:txBody>
      </p:sp>
      <p:sp>
        <p:nvSpPr>
          <p:cNvPr id="100328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0E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880E4F"/>
              </a:solidFill>
            </a:endParaRPr>
          </a:p>
        </p:txBody>
      </p:sp>
      <p:sp>
        <p:nvSpPr>
          <p:cNvPr id="100329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[12] Harrow, A.W., Hassidim, A., &amp; Lloyd, S. (2009). Quantum Algorithm for Linear Systems of Equations. PRL, 103(15), 150502.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[13] Peruzzo, A. et al. (2014). A variational eigenvalue solver on a photonic quantum processor. Nature Communications, 5, 4213.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[14] Farhi, E., Goldstone, J., &amp; Gutmann, S. (2014). A Quantum Approximate Optimization Algorithm. arXiv:1411.4028.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[15] Kandala, A. et al. (2017). Hardware-efficient variational quantum eigensolver for small molecules and quantum magnets. Nature, 549, 242–246.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[16] Ambainis, A. (2004). Quantum walk algorithm for element distinctness. STOC 2004, 507–515.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[17] Lloyd, S. (1996). Universal Quantum Simulators. Science, 273(5278), 1073–1078.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[18] Beals, R. et al. (1998). Quantum lower bounds by polynomials. FOCS 1998, 352–361.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[19] Temme, K., Bravyi, S., &amp; Gambetta, J.M. (2017). Error Mitigation for Short-Depth Quantum Circuits. PRL, 119, 180509.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[20] McClean, J.R. et al. (2018). Barren plateaus in quantum neural network training landscapes. Nature Communications, 9, 4812.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[21] Arute, F. et al. (2019). Quantum supremacy using a programmable superconducting processor. Nature, 574, 505–510.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[22] Aaronson, S. &amp; Arkhipov, A. (2011). The computational complexity of linear optics. STOC 2011, 333–342.</a:t>
            </a:r>
          </a:p>
        </p:txBody>
      </p:sp>
      <p:sp>
        <p:nvSpPr>
          <p:cNvPr id="100330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331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F48FB1"/>
                </a:solidFill>
              </a:rPr>
              <a:t>46 / 50  |  REFERENCES</a:t>
            </a:r>
          </a:p>
        </p:txBody>
      </p:sp>
    </p:spTree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332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0E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880E4F"/>
              </a:solidFill>
            </a:endParaRPr>
          </a:p>
        </p:txBody>
      </p:sp>
      <p:sp>
        <p:nvSpPr>
          <p:cNvPr id="100333" name="Badge"/>
          <p:cNvSpPr txBox="1"/>
          <p:nvPr/>
        </p:nvSpPr>
        <p:spPr>
          <a:xfrm xmlns:a="http://schemas.openxmlformats.org/drawingml/2006/main">
            <a:off x="540000" y="198000"/>
            <a:ext cx="144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0E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FFFFFF"/>
                </a:solidFill>
              </a:rPr>
              <a:t>REFERENCES 3/3</a:t>
            </a:r>
          </a:p>
        </p:txBody>
      </p:sp>
      <p:sp>
        <p:nvSpPr>
          <p:cNvPr id="100334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References — Part 3</a:t>
            </a:r>
          </a:p>
        </p:txBody>
      </p:sp>
      <p:sp>
        <p:nvSpPr>
          <p:cNvPr id="100335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0E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880E4F"/>
              </a:solidFill>
            </a:endParaRPr>
          </a:p>
        </p:txBody>
      </p:sp>
      <p:sp>
        <p:nvSpPr>
          <p:cNvPr id="100336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[23] Kim, Y. et al. (2023). Evidence for the utility of quantum computing before fault tolerance. Nature, 618, 500–505.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[24] Gidney, C. &amp; Ekerå, M. (2021). How to factor 2048 bit RSA integers in 8 hours using 20 million noisy qubits. Quantum, 5, 433.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[25] Tang, E. (2019). A Quantum-Inspired Classical Algorithm for Recommendation Systems. STOC 2019, 217–228.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[26] NIST (2024). FIPS 203: Module-Lattice-Based Key-Encapsulation Mechanism Standard. NIST.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[27] NIST (2024). FIPS 204: Module-Lattice-Based Digital Signature Standard. NIST.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[28] Google Quantum AI (2024). Quantum error correction below the surface code threshold. Nature, 638, 920–926.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[29] Grimsley, H.R. et al. (2019). An adaptive variational algorithm for exact molecular simulations on a quantum computer. Nature Communications, 10, 3007.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[30] Babbush, R. et al. (2018). Low-depth quantum simulation of materials. Physical Review X, 8(1), 011044.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[31] Kitaev, A. (2003). Fault-tolerant quantum computation by anyons. Annals of Physics, 303(1), 2–30.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[32] Woerner, S. &amp; Egger, D.J. (2019). Quantum risk analysis. npj Quantum Information, 5, 15.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[33] Reiher, M. et al. (2017). Elucidating reaction mechanisms on quantum computers. PNAS, 114(29), 7555–7560.</a:t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150" b="0">
                <a:solidFill>
                  <a:srgbClr val="E0E0E0"/>
                </a:solidFill>
              </a:rPr>
              <a:t>[34] Liu, Y. et al. (2021). A rigorous and robust quantum speed-up in supervised machine learning. Nature Physics, 17, 1013–1017.</a:t>
            </a:r>
          </a:p>
        </p:txBody>
      </p:sp>
      <p:sp>
        <p:nvSpPr>
          <p:cNvPr id="100337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338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F48FB1"/>
                </a:solidFill>
              </a:rPr>
              <a:t>47 / 50  |  REFERENCES</a:t>
            </a:r>
          </a:p>
        </p:txBody>
      </p:sp>
    </p:spTree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339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340" name="Badge"/>
          <p:cNvSpPr txBox="1"/>
          <p:nvPr/>
        </p:nvSpPr>
        <p:spPr>
          <a:xfrm xmlns:a="http://schemas.openxmlformats.org/drawingml/2006/main">
            <a:off x="540000" y="198000"/>
            <a:ext cx="108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A1628"/>
                </a:solidFill>
              </a:rPr>
              <a:t>SUMMARY</a:t>
            </a:r>
          </a:p>
        </p:txBody>
      </p:sp>
      <p:sp>
        <p:nvSpPr>
          <p:cNvPr id="100341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Day 2 Summary: Key Takeaways</a:t>
            </a:r>
          </a:p>
        </p:txBody>
      </p:sp>
      <p:sp>
        <p:nvSpPr>
          <p:cNvPr id="100342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343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What We Covered Today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PART 1 — FOUNDATIONS (Slides 2–14)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Complexity classes: P ⊆ BPP ⊆ BQP ⊆ PSPACE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Oracle model &amp; phase kickback — the engine of quantum algorithms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Deutsch-Jozsa, Simon's — first quantum speedups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Grover's search — quadratic speedup, amplitude amplification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Quantum Fourier Transform — the central subroutine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Phase Estimation (QPE) — connects QFT to chemistry and factoring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Shor's factoring — exponential speedup, cryptographic implications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Hidden Subgroup Problem — unifying framework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Quantum walks — element distinctness, graph algorithms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PART 2 — NISQ ALGORITHMS (Slides 15–34)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VQE, QAOA, HHL — variational algorithms for NISQ hardware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Quantum simulation — Feynman's vision realized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Error Correction (surface code) &amp; Error Mitigation (ZNE, PEC)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Quantum Machine Learning — what's proven vs. hype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Quantum advantage milestones (Google 2019, IBM 2023, Willow 2024)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Quantum optimization in finance, logistics, chemistry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Software ecosystem: Qiskit, PennyLane, Cirq, Braket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PART 3 — FUTURE DIRECTIONS (Slides 35–47)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Topological quantum computing — hardware-protected qubits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Post-Quantum Cryptography — NIST FIPS 203/204/205 (2024)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Near-term priority applications: chemistry &gt; optimization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Quantum algorithm roadmap 2024–2035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  Career pathways and learning resources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The Core Message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'Quantum algorithms don't solve hard problems by brute-force parallelism —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they use interference to amplify correct answers and cancel wrong ones.'</a:t>
            </a:r>
          </a:p>
        </p:txBody>
      </p:sp>
      <p:sp>
        <p:nvSpPr>
          <p:cNvPr id="100344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345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80DEEA"/>
                </a:solidFill>
              </a:rPr>
              <a:t>48 / 50  |  SUMMARY</a:t>
            </a:r>
          </a:p>
        </p:txBody>
      </p:sp>
    </p:spTree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A1628"/>
        </a:solidFill>
      </p:bgPr>
    </p:bg>
    <p:spTree>
      <p:nvGrpSpPr>
        <p:cNvPr id="1" name=""/>
        <p:cNvGrpSpPr/>
        <p:nvPr/>
      </p:nvGrpSpPr>
      <p:grpSpPr/>
      <p:sp>
        <p:nvSpPr>
          <p:cNvPr id="100346" name="TopBar"/>
          <p:cNvSpPr txBox="1"/>
          <p:nvPr/>
        </p:nvSpPr>
        <p:spPr>
          <a:xfrm xmlns:a="http://schemas.openxmlformats.org/drawingml/2006/main">
            <a:off x="0" y="0"/>
            <a:ext cx="1219320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347" name="Badge"/>
          <p:cNvSpPr txBox="1"/>
          <p:nvPr/>
        </p:nvSpPr>
        <p:spPr>
          <a:xfrm xmlns:a="http://schemas.openxmlformats.org/drawingml/2006/main">
            <a:off x="540000" y="198000"/>
            <a:ext cx="1080000" cy="19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00" b="1">
                <a:solidFill>
                  <a:srgbClr val="0A1628"/>
                </a:solidFill>
              </a:rPr>
              <a:t>Q&amp;A PANEL</a:t>
            </a:r>
          </a:p>
        </p:txBody>
      </p:sp>
      <p:sp>
        <p:nvSpPr>
          <p:cNvPr id="100348" name="Title"/>
          <p:cNvSpPr txBox="1"/>
          <p:nvPr/>
        </p:nvSpPr>
        <p:spPr>
          <a:xfrm xmlns:a="http://schemas.openxmlformats.org/drawingml/2006/main">
            <a:off x="540000" y="360000"/>
            <a:ext cx="10800000" cy="6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100349" name="Underline"/>
          <p:cNvSpPr txBox="1"/>
          <p:nvPr/>
        </p:nvSpPr>
        <p:spPr>
          <a:xfrm xmlns:a="http://schemas.openxmlformats.org/drawingml/2006/main">
            <a:off x="540000" y="1026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350" name="Body"/>
          <p:cNvSpPr txBox="1"/>
          <p:nvPr/>
        </p:nvSpPr>
        <p:spPr>
          <a:xfrm xmlns:a="http://schemas.openxmlformats.org/drawingml/2006/main">
            <a:off x="540000" y="1116000"/>
            <a:ext cx="10800000" cy="48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Discussion Questions for the Audience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1. 'If quantum computers get here in 2030, is my data encrypted today already at risk?' (Yes — HNDL attack)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2. 'Why can't we just run Grover's algorithm on a classical GPU by simulating it?' (Exponential state space — 2ⁿ amplitudes)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3. 'What's the difference between D-Wave and IBM Quantum?' (Annealing vs gate-based; D-Wave has 5000+ qubits but limited applicability)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4. 'Will variational algorithms (VQE/QAOA) ever achieve quantum advantage?' (Open question; barren plateaus are a fundamental obstacle)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5. 'Can quantum computers run faster than classical on EVERY problem?' (No! QC is in BQP — only specific problem structures benefit)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6. 'What should a CS/ML student focus on to prepare for quantum computing careers?' (Linear algebra, Python, Qiskit — start with IBM Quantum Learning)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7. 'Is the quantum internet real?' (Early stages: China's Micius satellite, Delft quantum network — yes, but quantum internet is decades away)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/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Key Misconceptions to Address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'Quantum computers try all answers simultaneously' — FALSE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'Quantum speedup means quantum is always faster' — FALSE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'We already have quantum computers that break RSA' — FALSE (need 20M+ qubits)</a:t>
            </a:r>
          </a:p>
          <a:p xmlns:a="http://schemas.openxmlformats.org/drawingml/2006/main">
            <a:r>
              <a:rPr lang="en-US" sz="1250" b="0">
                <a:solidFill>
                  <a:srgbClr val="E0E0E0"/>
                </a:solidFill>
              </a:rPr>
              <a:t>• 'D-Wave is a real quantum computer but IBM isn't' — Both are quantum, different paradigms</a:t>
            </a:r>
          </a:p>
        </p:txBody>
      </p:sp>
      <p:sp>
        <p:nvSpPr>
          <p:cNvPr id="100351" name="Footer"/>
          <p:cNvSpPr txBox="1"/>
          <p:nvPr/>
        </p:nvSpPr>
        <p:spPr>
          <a:xfrm xmlns:a="http://schemas.openxmlformats.org/drawingml/2006/main">
            <a:off x="540000" y="6408000"/>
            <a:ext cx="792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Day 2: Quantum Algorithms  |  quantumfallfest.org</a:t>
            </a:r>
          </a:p>
        </p:txBody>
      </p:sp>
      <p:sp>
        <p:nvSpPr>
          <p:cNvPr id="100352" name="SlideNum"/>
          <p:cNvSpPr txBox="1"/>
          <p:nvPr/>
        </p:nvSpPr>
        <p:spPr>
          <a:xfrm xmlns:a="http://schemas.openxmlformats.org/drawingml/2006/main">
            <a:off x="9000000" y="6408000"/>
            <a:ext cx="288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80DEEA"/>
                </a:solidFill>
              </a:rPr>
              <a:t>49 / 50  |  Q&amp;A</a:t>
            </a:r>
          </a:p>
        </p:txBody>
      </p:sp>
    </p:spTree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61020"/>
        </a:solidFill>
      </p:bgPr>
    </p:bg>
    <p:spTree>
      <p:nvGrpSpPr>
        <p:cNvPr id="1" name=""/>
        <p:cNvGrpSpPr/>
        <p:nvPr/>
      </p:nvGrpSpPr>
      <p:grpSpPr/>
      <p:sp>
        <p:nvSpPr>
          <p:cNvPr id="100353" name="TopBar"/>
          <p:cNvSpPr txBox="1"/>
          <p:nvPr/>
        </p:nvSpPr>
        <p:spPr>
          <a:xfrm xmlns:a="http://schemas.openxmlformats.org/drawingml/2006/main">
            <a:off x="0" y="0"/>
            <a:ext cx="12193200" cy="3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354" name="MainTitle"/>
          <p:cNvSpPr txBox="1"/>
          <p:nvPr/>
        </p:nvSpPr>
        <p:spPr>
          <a:xfrm xmlns:a="http://schemas.openxmlformats.org/drawingml/2006/main">
            <a:off x="540000" y="900000"/>
            <a:ext cx="10800000" cy="9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FFFFFF"/>
                </a:solidFill>
              </a:rPr>
              <a:t>Quantum Algorithms</a:t>
            </a:r>
          </a:p>
        </p:txBody>
      </p:sp>
      <p:sp>
        <p:nvSpPr>
          <p:cNvPr id="100355" name="SubTitle"/>
          <p:cNvSpPr txBox="1"/>
          <p:nvPr/>
        </p:nvSpPr>
        <p:spPr>
          <a:xfrm xmlns:a="http://schemas.openxmlformats.org/drawingml/2006/main">
            <a:off x="540000" y="1872000"/>
            <a:ext cx="10800000" cy="36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80DEEA"/>
                </a:solidFill>
              </a:rPr>
              <a:t>Day 2 — Quantum Fall Fest Lecture Series 2026</a:t>
            </a:r>
          </a:p>
        </p:txBody>
      </p:sp>
      <p:sp>
        <p:nvSpPr>
          <p:cNvPr id="100356" name="Divider"/>
          <p:cNvSpPr txBox="1"/>
          <p:nvPr/>
        </p:nvSpPr>
        <p:spPr>
          <a:xfrm xmlns:a="http://schemas.openxmlformats.org/drawingml/2006/main">
            <a:off x="540000" y="2304000"/>
            <a:ext cx="10800000" cy="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CD4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>
              <a:solidFill>
                <a:srgbClr val="00BCD4"/>
              </a:solidFill>
            </a:endParaRPr>
          </a:p>
        </p:txBody>
      </p:sp>
      <p:sp>
        <p:nvSpPr>
          <p:cNvPr id="100357" name="Quote"/>
          <p:cNvSpPr txBox="1"/>
          <p:nvPr/>
        </p:nvSpPr>
        <p:spPr>
          <a:xfrm xmlns:a="http://schemas.openxmlformats.org/drawingml/2006/main">
            <a:off x="540000" y="2592000"/>
            <a:ext cx="10800000" cy="144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0">
                <a:solidFill>
                  <a:srgbClr val="B0BEC5"/>
                </a:solidFill>
              </a:rPr>
              <a:t>"The question is whether we can build a quantum computer that is sufficiently powerful and error-free</a:t>
            </a:r>
          </a:p>
          <a:p xmlns:a="http://schemas.openxmlformats.org/drawingml/2006/main">
            <a:r>
              <a:rPr lang="en-US" sz="1500" b="0">
                <a:solidFill>
                  <a:srgbClr val="B0BEC5"/>
                </a:solidFill>
              </a:rPr>
              <a:t>to actually implement Shor's algorithm on a number of cryptographic size.</a:t>
            </a:r>
          </a:p>
          <a:p xmlns:a="http://schemas.openxmlformats.org/drawingml/2006/main">
            <a:r>
              <a:rPr lang="en-US" sz="1500" b="0">
                <a:solidFill>
                  <a:srgbClr val="B0BEC5"/>
                </a:solidFill>
              </a:rPr>
              <a:t>I believe it will happen. I just don't know when."</a:t>
            </a:r>
          </a:p>
          <a:p xmlns:a="http://schemas.openxmlformats.org/drawingml/2006/main">
            <a:r>
              <a:rPr lang="en-US" sz="1500" b="0">
                <a:solidFill>
                  <a:srgbClr val="B0BEC5"/>
                </a:solidFill>
              </a:rPr>
              <a:t/>
            </a:r>
          </a:p>
          <a:p xmlns:a="http://schemas.openxmlformats.org/drawingml/2006/main">
            <a:r>
              <a:rPr lang="en-US" sz="1500" b="0">
                <a:solidFill>
                  <a:srgbClr val="B0BEC5"/>
                </a:solidFill>
              </a:rPr>
              <a:t>— Peter Shor, MIT (inventor of Shor's algorithm, 1994)</a:t>
            </a:r>
          </a:p>
        </p:txBody>
      </p:sp>
      <p:sp>
        <p:nvSpPr>
          <p:cNvPr id="100358" name="NextSession"/>
          <p:cNvSpPr txBox="1"/>
          <p:nvPr/>
        </p:nvSpPr>
        <p:spPr>
          <a:xfrm xmlns:a="http://schemas.openxmlformats.org/drawingml/2006/main">
            <a:off x="540000" y="4392000"/>
            <a:ext cx="10800000" cy="7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1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400" b="0">
                <a:solidFill>
                  <a:srgbClr val="80DEEA"/>
                </a:solidFill>
              </a:rPr>
              <a:t>Next: Day 3 — Quantum Hardware Deep-Dive</a:t>
            </a:r>
          </a:p>
          <a:p xmlns:a="http://schemas.openxmlformats.org/drawingml/2006/main">
            <a:r>
              <a:rPr lang="en-US" sz="1400" b="0">
                <a:solidFill>
                  <a:srgbClr val="80DEEA"/>
                </a:solidFill>
              </a:rPr>
              <a:t>Superconducting Qubits · Trapped Ions · Photonics · Neutral Atoms · Benchmarking</a:t>
            </a:r>
          </a:p>
        </p:txBody>
      </p:sp>
      <p:sp>
        <p:nvSpPr>
          <p:cNvPr id="100359" name="Contact"/>
          <p:cNvSpPr txBox="1"/>
          <p:nvPr/>
        </p:nvSpPr>
        <p:spPr>
          <a:xfrm xmlns:a="http://schemas.openxmlformats.org/drawingml/2006/main">
            <a:off x="540000" y="5580000"/>
            <a:ext cx="10800000" cy="2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300" b="0">
                <a:solidFill>
                  <a:srgbClr val="546E7A"/>
                </a:solidFill>
              </a:rPr>
              <a:t>Quantum Fall Fest 2026  |  quantumfallfest.org  |  @QuantumFallFest</a:t>
            </a:r>
          </a:p>
        </p:txBody>
      </p:sp>
      <p:sp>
        <p:nvSpPr>
          <p:cNvPr id="100360" name="Footer"/>
          <p:cNvSpPr txBox="1"/>
          <p:nvPr/>
        </p:nvSpPr>
        <p:spPr>
          <a:xfrm xmlns:a="http://schemas.openxmlformats.org/drawingml/2006/main">
            <a:off x="540000" y="6408000"/>
            <a:ext cx="10800000" cy="25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000" b="0">
                <a:solidFill>
                  <a:srgbClr val="546E7A"/>
                </a:solidFill>
              </a:rPr>
              <a:t>© 2026 Quantum Fall Fest. All references cited throughout the deck. 34 authentic peer-reviewed sources.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2026-10-09T04:42:57Z</dcterms:created>
  <cp:lastModifiedBy>OfficeCLI</cp:lastModifiedBy>
  <dcterms:modified xsi:type="dcterms:W3CDTF">2026-10-09T04:42:57Z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2026-10-09T05:01:53Z</vt:lpwstr>
  </op:property>
</op:Properties>
</file>