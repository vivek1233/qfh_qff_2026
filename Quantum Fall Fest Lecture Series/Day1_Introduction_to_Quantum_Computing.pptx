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svg" ContentType="image/svg+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a56f4289aea0404e" /><Relationship Type="http://schemas.openxmlformats.org/package/2006/relationships/metadata/core-properties" Target="/docProps/core.xml" Id="Rad8a14e0d7db476f" /><Relationship Type="http://schemas.openxmlformats.org/officeDocument/2006/relationships/extended-properties" Target="/docProps/app.xml" Id="R9a2df06e176a4510" /><Relationship Type="http://schemas.openxmlformats.org/officeDocument/2006/relationships/custom-properties" Target="/docProps/custom.xml" Id="Rb57e58da05ed409c"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8200e109d9774896"/>
  </p:notesMasterIdLst>
  <p:sldIdLst>
    <p:sldId id="256" r:id="R19fca571d12c4113"/>
    <p:sldId id="257" r:id="Recee8e90e00a42eb"/>
    <p:sldId id="258" r:id="R61148a7eb46a4951"/>
    <p:sldId id="259" r:id="R2dfbeb7cb0ee47bc"/>
    <p:sldId id="260" r:id="Racaefe5ad1b148a5"/>
    <p:sldId id="261" r:id="Rb13c73fce5cf4447"/>
    <p:sldId id="262" r:id="R9fb1a9dc096643e2"/>
    <p:sldId id="263" r:id="Rc001ff3bab7b4bed"/>
    <p:sldId id="264" r:id="R09d689cd8fa54b3a"/>
    <p:sldId id="265" r:id="Rc463bbed7ea34e50"/>
    <p:sldId id="266" r:id="R84ad2b2834c54998"/>
    <p:sldId id="267" r:id="R4b69c353d5cb4dfc"/>
    <p:sldId id="268" r:id="R33da0737ee464aa4"/>
    <p:sldId id="269" r:id="R44fac143cbec46bd"/>
    <p:sldId id="270" r:id="Rd13997dbb17a40fe"/>
    <p:sldId id="271" r:id="R3abb60670ede4e56"/>
    <p:sldId id="272" r:id="Rf0ad639d3418491b"/>
    <p:sldId id="273" r:id="R08e8ad3aea2d4141"/>
    <p:sldId id="274" r:id="R50e15bda2bda4c0f"/>
    <p:sldId id="275" r:id="Rd1d6192538024182"/>
    <p:sldId id="276" r:id="Rfa2d717998bf4a69"/>
    <p:sldId id="277" r:id="R878d88d017d04b9d"/>
    <p:sldId id="278" r:id="R6d3ede0cc6fe4a9a"/>
    <p:sldId id="279" r:id="R39bce45b9fe24c90"/>
    <p:sldId id="280" r:id="Reb26bfdd8db444f5"/>
    <p:sldId id="281" r:id="R1616e2cda3f146a7"/>
    <p:sldId id="282" r:id="R3a9a3925535e4961"/>
    <p:sldId id="283" r:id="R5506a4499a66470e"/>
    <p:sldId id="284" r:id="R31af2c6776054639"/>
    <p:sldId id="285" r:id="R22814496c8c6492a"/>
    <p:sldId id="286" r:id="R189028a8c6aa4560"/>
    <p:sldId id="287" r:id="R12af12b937dc4cbd"/>
    <p:sldId id="288" r:id="Rcadfc02dcab44512"/>
    <p:sldId id="289" r:id="R3568d4989f954896"/>
    <p:sldId id="290" r:id="R3f9e3a2dfa334ef0"/>
    <p:sldId id="291" r:id="R7bd9310675f144b5"/>
    <p:sldId id="292" r:id="Reb106090f0dd4746"/>
    <p:sldId id="293" r:id="R1d5d392c6b61417e"/>
    <p:sldId id="294" r:id="R910838cb926d4f9d"/>
    <p:sldId id="295" r:id="Re78033a78d5f4bea"/>
    <p:sldId id="296" r:id="R6f8fb6ffed7044ae"/>
    <p:sldId id="297" r:id="R97c97bea74af4510"/>
    <p:sldId id="298" r:id="R80c2f1897a4a44d4"/>
    <p:sldId id="299" r:id="R0f7d4bdd116844af"/>
    <p:sldId id="300" r:id="R23382268eedb47c7"/>
    <p:sldId id="301" r:id="R3b9be4471065438c"/>
    <p:sldId id="302" r:id="R5289db8cbec94529"/>
    <p:sldId id="303" r:id="R58a05d954f0f4705"/>
    <p:sldId id="304" r:id="R2d295aaee1424c7b"/>
    <p:sldId id="305" r:id="R508502ebc770468f"/>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19fca571d12c4113" /><Relationship Type="http://schemas.openxmlformats.org/officeDocument/2006/relationships/notesMaster" Target="/ppt/notesMasters/notesMaster1.xml" Id="R8200e109d9774896" /><Relationship Type="http://schemas.openxmlformats.org/officeDocument/2006/relationships/slide" Target="/ppt/slides/slide2.xml" Id="Recee8e90e00a42eb" /><Relationship Type="http://schemas.openxmlformats.org/officeDocument/2006/relationships/slide" Target="/ppt/slides/slide3.xml" Id="R61148a7eb46a4951" /><Relationship Type="http://schemas.openxmlformats.org/officeDocument/2006/relationships/slide" Target="/ppt/slides/slide4.xml" Id="R2dfbeb7cb0ee47bc" /><Relationship Type="http://schemas.openxmlformats.org/officeDocument/2006/relationships/slide" Target="/ppt/slides/slide5.xml" Id="Racaefe5ad1b148a5" /><Relationship Type="http://schemas.openxmlformats.org/officeDocument/2006/relationships/slide" Target="/ppt/slides/slide6.xml" Id="Rb13c73fce5cf4447" /><Relationship Type="http://schemas.openxmlformats.org/officeDocument/2006/relationships/slide" Target="/ppt/slides/slide7.xml" Id="R9fb1a9dc096643e2" /><Relationship Type="http://schemas.openxmlformats.org/officeDocument/2006/relationships/slide" Target="/ppt/slides/slide8.xml" Id="Rc001ff3bab7b4bed" /><Relationship Type="http://schemas.openxmlformats.org/officeDocument/2006/relationships/slide" Target="/ppt/slides/slide9.xml" Id="R09d689cd8fa54b3a" /><Relationship Type="http://schemas.openxmlformats.org/officeDocument/2006/relationships/slide" Target="/ppt/slides/slide10.xml" Id="Rc463bbed7ea34e50" /><Relationship Type="http://schemas.openxmlformats.org/officeDocument/2006/relationships/slide" Target="/ppt/slides/slide11.xml" Id="R84ad2b2834c54998" /><Relationship Type="http://schemas.openxmlformats.org/officeDocument/2006/relationships/slide" Target="/ppt/slides/slide12.xml" Id="R4b69c353d5cb4dfc" /><Relationship Type="http://schemas.openxmlformats.org/officeDocument/2006/relationships/slide" Target="/ppt/slides/slide13.xml" Id="R33da0737ee464aa4" /><Relationship Type="http://schemas.openxmlformats.org/officeDocument/2006/relationships/slide" Target="/ppt/slides/slide14.xml" Id="R44fac143cbec46bd" /><Relationship Type="http://schemas.openxmlformats.org/officeDocument/2006/relationships/slide" Target="/ppt/slides/slide15.xml" Id="Rd13997dbb17a40fe" /><Relationship Type="http://schemas.openxmlformats.org/officeDocument/2006/relationships/slide" Target="/ppt/slides/slide16.xml" Id="R3abb60670ede4e56" /><Relationship Type="http://schemas.openxmlformats.org/officeDocument/2006/relationships/slide" Target="/ppt/slides/slide17.xml" Id="Rf0ad639d3418491b" /><Relationship Type="http://schemas.openxmlformats.org/officeDocument/2006/relationships/slide" Target="/ppt/slides/slide18.xml" Id="R08e8ad3aea2d4141" /><Relationship Type="http://schemas.openxmlformats.org/officeDocument/2006/relationships/slide" Target="/ppt/slides/slide19.xml" Id="R50e15bda2bda4c0f" /><Relationship Type="http://schemas.openxmlformats.org/officeDocument/2006/relationships/slide" Target="/ppt/slides/slide20.xml" Id="Rd1d6192538024182" /><Relationship Type="http://schemas.openxmlformats.org/officeDocument/2006/relationships/slide" Target="/ppt/slides/slide21.xml" Id="Rfa2d717998bf4a69" /><Relationship Type="http://schemas.openxmlformats.org/officeDocument/2006/relationships/slide" Target="/ppt/slides/slide22.xml" Id="R878d88d017d04b9d" /><Relationship Type="http://schemas.openxmlformats.org/officeDocument/2006/relationships/slide" Target="/ppt/slides/slide23.xml" Id="R6d3ede0cc6fe4a9a" /><Relationship Type="http://schemas.openxmlformats.org/officeDocument/2006/relationships/slide" Target="/ppt/slides/slide24.xml" Id="R39bce45b9fe24c90" /><Relationship Type="http://schemas.openxmlformats.org/officeDocument/2006/relationships/slide" Target="/ppt/slides/slide25.xml" Id="Reb26bfdd8db444f5" /><Relationship Type="http://schemas.openxmlformats.org/officeDocument/2006/relationships/slide" Target="/ppt/slides/slide26.xml" Id="R1616e2cda3f146a7" /><Relationship Type="http://schemas.openxmlformats.org/officeDocument/2006/relationships/slide" Target="/ppt/slides/slide27.xml" Id="R3a9a3925535e4961" /><Relationship Type="http://schemas.openxmlformats.org/officeDocument/2006/relationships/slide" Target="/ppt/slides/slide28.xml" Id="R5506a4499a66470e" /><Relationship Type="http://schemas.openxmlformats.org/officeDocument/2006/relationships/slide" Target="/ppt/slides/slide29.xml" Id="R31af2c6776054639" /><Relationship Type="http://schemas.openxmlformats.org/officeDocument/2006/relationships/slide" Target="/ppt/slides/slide30.xml" Id="R22814496c8c6492a" /><Relationship Type="http://schemas.openxmlformats.org/officeDocument/2006/relationships/slide" Target="/ppt/slides/slide31.xml" Id="R189028a8c6aa4560" /><Relationship Type="http://schemas.openxmlformats.org/officeDocument/2006/relationships/slide" Target="/ppt/slides/slide32.xml" Id="R12af12b937dc4cbd" /><Relationship Type="http://schemas.openxmlformats.org/officeDocument/2006/relationships/slide" Target="/ppt/slides/slide33.xml" Id="Rcadfc02dcab44512" /><Relationship Type="http://schemas.openxmlformats.org/officeDocument/2006/relationships/slide" Target="/ppt/slides/slide34.xml" Id="R3568d4989f954896" /><Relationship Type="http://schemas.openxmlformats.org/officeDocument/2006/relationships/slide" Target="/ppt/slides/slide35.xml" Id="R3f9e3a2dfa334ef0" /><Relationship Type="http://schemas.openxmlformats.org/officeDocument/2006/relationships/slide" Target="/ppt/slides/slide36.xml" Id="R7bd9310675f144b5" /><Relationship Type="http://schemas.openxmlformats.org/officeDocument/2006/relationships/slide" Target="/ppt/slides/slide37.xml" Id="Reb106090f0dd4746" /><Relationship Type="http://schemas.openxmlformats.org/officeDocument/2006/relationships/slide" Target="/ppt/slides/slide38.xml" Id="R1d5d392c6b61417e" /><Relationship Type="http://schemas.openxmlformats.org/officeDocument/2006/relationships/slide" Target="/ppt/slides/slide39.xml" Id="R910838cb926d4f9d" /><Relationship Type="http://schemas.openxmlformats.org/officeDocument/2006/relationships/slide" Target="/ppt/slides/slide40.xml" Id="Re78033a78d5f4bea" /><Relationship Type="http://schemas.openxmlformats.org/officeDocument/2006/relationships/slide" Target="/ppt/slides/slide41.xml" Id="R6f8fb6ffed7044ae" /><Relationship Type="http://schemas.openxmlformats.org/officeDocument/2006/relationships/slide" Target="/ppt/slides/slide42.xml" Id="R97c97bea74af4510" /><Relationship Type="http://schemas.openxmlformats.org/officeDocument/2006/relationships/slide" Target="/ppt/slides/slide43.xml" Id="R80c2f1897a4a44d4" /><Relationship Type="http://schemas.openxmlformats.org/officeDocument/2006/relationships/slide" Target="/ppt/slides/slide44.xml" Id="R0f7d4bdd116844af" /><Relationship Type="http://schemas.openxmlformats.org/officeDocument/2006/relationships/slide" Target="/ppt/slides/slide45.xml" Id="R23382268eedb47c7" /><Relationship Type="http://schemas.openxmlformats.org/officeDocument/2006/relationships/slide" Target="/ppt/slides/slide46.xml" Id="R3b9be4471065438c" /><Relationship Type="http://schemas.openxmlformats.org/officeDocument/2006/relationships/slide" Target="/ppt/slides/slide47.xml" Id="R5289db8cbec94529" /><Relationship Type="http://schemas.openxmlformats.org/officeDocument/2006/relationships/slide" Target="/ppt/slides/slide48.xml" Id="R58a05d954f0f4705" /><Relationship Type="http://schemas.openxmlformats.org/officeDocument/2006/relationships/slide" Target="/ppt/slides/slide49.xml" Id="R2d295aaee1424c7b" /><Relationship Type="http://schemas.openxmlformats.org/officeDocument/2006/relationships/slide" Target="/ppt/slides/slide50.xml" Id="R508502ebc77046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4314b692a074a85"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4695a0aca4e448b3" /><Relationship Type="http://schemas.openxmlformats.org/officeDocument/2006/relationships/slide" Target="/ppt/slides/slide1.xml" Id="R4d82906f01bf42e7"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5340042ddd194918" /><Relationship Type="http://schemas.openxmlformats.org/officeDocument/2006/relationships/slide" Target="/ppt/slides/slide2.xml" Id="Rc3ddeffbf2944656"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4b53c0e1db474d8f" /><Relationship Type="http://schemas.openxmlformats.org/officeDocument/2006/relationships/slide" Target="/ppt/slides/slide3.xml" Id="R59b370b472e8438d"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428e8d11c3c4403b" /><Relationship Type="http://schemas.openxmlformats.org/officeDocument/2006/relationships/slide" Target="/ppt/slides/slide4.xml" Id="R86dbd372c96b424f"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3788ff7c3c154041" /><Relationship Type="http://schemas.openxmlformats.org/officeDocument/2006/relationships/slide" Target="/ppt/slides/slide5.xml" Id="R85a77bd9abd6428c"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b68f516bd82d43dd" /><Relationship Type="http://schemas.openxmlformats.org/officeDocument/2006/relationships/slide" Target="/ppt/slides/slide6.xml" Id="R81c29a10716144f1"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66ec2ff349c34369" /><Relationship Type="http://schemas.openxmlformats.org/officeDocument/2006/relationships/slide" Target="/ppt/slides/slide7.xml" Id="R2289625f248d48bd"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10b160de9e2743af" /><Relationship Type="http://schemas.openxmlformats.org/officeDocument/2006/relationships/slide" Target="/ppt/slides/slide8.xml" Id="R2fbe3edbd77f48a4"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d773212a63f44402" /><Relationship Type="http://schemas.openxmlformats.org/officeDocument/2006/relationships/slide" Target="/ppt/slides/slide9.xml" Id="R5248be6f6d604f58"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85e29f963a184ee2" /><Relationship Type="http://schemas.openxmlformats.org/officeDocument/2006/relationships/slide" Target="/ppt/slides/slide10.xml" Id="R11abd1a4711e4fcf"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0ef6b089e7374c64" /><Relationship Type="http://schemas.openxmlformats.org/officeDocument/2006/relationships/slide" Target="/ppt/slides/slide11.xml" Id="R0ab96afe54b740e2"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1fe017a533db4a6f" /><Relationship Type="http://schemas.openxmlformats.org/officeDocument/2006/relationships/slide" Target="/ppt/slides/slide12.xml" Id="R49f75c41190d4396"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ceb48a5917fe45da" /><Relationship Type="http://schemas.openxmlformats.org/officeDocument/2006/relationships/slide" Target="/ppt/slides/slide13.xml" Id="Rf8615ed1b786487d"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5fd6bd6ad8bf4032" /><Relationship Type="http://schemas.openxmlformats.org/officeDocument/2006/relationships/slide" Target="/ppt/slides/slide14.xml" Id="R543636db09874320"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b103f308c8dd4641" /><Relationship Type="http://schemas.openxmlformats.org/officeDocument/2006/relationships/slide" Target="/ppt/slides/slide15.xml" Id="Rc5b779bebed64c89"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3a8529541d084b71" /><Relationship Type="http://schemas.openxmlformats.org/officeDocument/2006/relationships/slide" Target="/ppt/slides/slide16.xml" Id="Rb03d59c9cbf24b81"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66ac97d45db749ba" /><Relationship Type="http://schemas.openxmlformats.org/officeDocument/2006/relationships/slide" Target="/ppt/slides/slide17.xml" Id="R1014dfeadbbc4e1f"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142a942c4ff14485" /><Relationship Type="http://schemas.openxmlformats.org/officeDocument/2006/relationships/slide" Target="/ppt/slides/slide18.xml" Id="R1274fa2ae8f74e1c"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cd6c2a0eaebc461a" /><Relationship Type="http://schemas.openxmlformats.org/officeDocument/2006/relationships/slide" Target="/ppt/slides/slide19.xml" Id="Rea729200bb924016" /></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aed179c3562e4b06" /><Relationship Type="http://schemas.openxmlformats.org/officeDocument/2006/relationships/slide" Target="/ppt/slides/slide20.xml" Id="R71b37d7879114686" /></Relationships>
</file>

<file path=ppt/notesSlides/_rels/notesSlide21.xml.rels>&#65279;<?xml version="1.0" encoding="utf-8"?><Relationships xmlns="http://schemas.openxmlformats.org/package/2006/relationships"><Relationship Type="http://schemas.openxmlformats.org/officeDocument/2006/relationships/notesMaster" Target="/ppt/notesMasters/notesMaster1.xml" Id="R343b24f9ee0d443b" /><Relationship Type="http://schemas.openxmlformats.org/officeDocument/2006/relationships/slide" Target="/ppt/slides/slide21.xml" Id="R99ecad5b20c748c7" /></Relationships>
</file>

<file path=ppt/notesSlides/_rels/notesSlide22.xml.rels>&#65279;<?xml version="1.0" encoding="utf-8"?><Relationships xmlns="http://schemas.openxmlformats.org/package/2006/relationships"><Relationship Type="http://schemas.openxmlformats.org/officeDocument/2006/relationships/notesMaster" Target="/ppt/notesMasters/notesMaster1.xml" Id="R91ce97d28e564ec1" /><Relationship Type="http://schemas.openxmlformats.org/officeDocument/2006/relationships/slide" Target="/ppt/slides/slide22.xml" Id="Rceab4054851e4dca" /></Relationships>
</file>

<file path=ppt/notesSlides/_rels/notesSlide23.xml.rels>&#65279;<?xml version="1.0" encoding="utf-8"?><Relationships xmlns="http://schemas.openxmlformats.org/package/2006/relationships"><Relationship Type="http://schemas.openxmlformats.org/officeDocument/2006/relationships/notesMaster" Target="/ppt/notesMasters/notesMaster1.xml" Id="R79212083878148b1" /><Relationship Type="http://schemas.openxmlformats.org/officeDocument/2006/relationships/slide" Target="/ppt/slides/slide23.xml" Id="Rfeb1d517d56b4010" /></Relationships>
</file>

<file path=ppt/notesSlides/_rels/notesSlide24.xml.rels>&#65279;<?xml version="1.0" encoding="utf-8"?><Relationships xmlns="http://schemas.openxmlformats.org/package/2006/relationships"><Relationship Type="http://schemas.openxmlformats.org/officeDocument/2006/relationships/notesMaster" Target="/ppt/notesMasters/notesMaster1.xml" Id="R639861513093476a" /><Relationship Type="http://schemas.openxmlformats.org/officeDocument/2006/relationships/slide" Target="/ppt/slides/slide24.xml" Id="R9ea051856f7c4bc1" /></Relationships>
</file>

<file path=ppt/notesSlides/_rels/notesSlide25.xml.rels>&#65279;<?xml version="1.0" encoding="utf-8"?><Relationships xmlns="http://schemas.openxmlformats.org/package/2006/relationships"><Relationship Type="http://schemas.openxmlformats.org/officeDocument/2006/relationships/notesMaster" Target="/ppt/notesMasters/notesMaster1.xml" Id="Rd9742564bb484a39" /><Relationship Type="http://schemas.openxmlformats.org/officeDocument/2006/relationships/slide" Target="/ppt/slides/slide25.xml" Id="R280f158d27044560" /></Relationships>
</file>

<file path=ppt/notesSlides/_rels/notesSlide26.xml.rels>&#65279;<?xml version="1.0" encoding="utf-8"?><Relationships xmlns="http://schemas.openxmlformats.org/package/2006/relationships"><Relationship Type="http://schemas.openxmlformats.org/officeDocument/2006/relationships/notesMaster" Target="/ppt/notesMasters/notesMaster1.xml" Id="Rdc478a19eb6a4597" /><Relationship Type="http://schemas.openxmlformats.org/officeDocument/2006/relationships/slide" Target="/ppt/slides/slide26.xml" Id="R46ea41fe1722453f" /></Relationships>
</file>

<file path=ppt/notesSlides/_rels/notesSlide27.xml.rels>&#65279;<?xml version="1.0" encoding="utf-8"?><Relationships xmlns="http://schemas.openxmlformats.org/package/2006/relationships"><Relationship Type="http://schemas.openxmlformats.org/officeDocument/2006/relationships/notesMaster" Target="/ppt/notesMasters/notesMaster1.xml" Id="R2687672a792b4245" /><Relationship Type="http://schemas.openxmlformats.org/officeDocument/2006/relationships/slide" Target="/ppt/slides/slide27.xml" Id="R2473c5ff5e494399" /></Relationships>
</file>

<file path=ppt/notesSlides/_rels/notesSlide28.xml.rels>&#65279;<?xml version="1.0" encoding="utf-8"?><Relationships xmlns="http://schemas.openxmlformats.org/package/2006/relationships"><Relationship Type="http://schemas.openxmlformats.org/officeDocument/2006/relationships/notesMaster" Target="/ppt/notesMasters/notesMaster1.xml" Id="R2f57986fa7c34b20" /><Relationship Type="http://schemas.openxmlformats.org/officeDocument/2006/relationships/slide" Target="/ppt/slides/slide28.xml" Id="Rc492a075a22449d5" /></Relationships>
</file>

<file path=ppt/notesSlides/_rels/notesSlide29.xml.rels>&#65279;<?xml version="1.0" encoding="utf-8"?><Relationships xmlns="http://schemas.openxmlformats.org/package/2006/relationships"><Relationship Type="http://schemas.openxmlformats.org/officeDocument/2006/relationships/notesMaster" Target="/ppt/notesMasters/notesMaster1.xml" Id="R031ee4b35f7642d1" /><Relationship Type="http://schemas.openxmlformats.org/officeDocument/2006/relationships/slide" Target="/ppt/slides/slide29.xml" Id="R69d39bcb5e35453c" /></Relationships>
</file>

<file path=ppt/notesSlides/_rels/notesSlide30.xml.rels>&#65279;<?xml version="1.0" encoding="utf-8"?><Relationships xmlns="http://schemas.openxmlformats.org/package/2006/relationships"><Relationship Type="http://schemas.openxmlformats.org/officeDocument/2006/relationships/notesMaster" Target="/ppt/notesMasters/notesMaster1.xml" Id="R04ac41e4884d4f07" /><Relationship Type="http://schemas.openxmlformats.org/officeDocument/2006/relationships/slide" Target="/ppt/slides/slide30.xml" Id="R7d36e2386b34425b" /></Relationships>
</file>

<file path=ppt/notesSlides/_rels/notesSlide31.xml.rels>&#65279;<?xml version="1.0" encoding="utf-8"?><Relationships xmlns="http://schemas.openxmlformats.org/package/2006/relationships"><Relationship Type="http://schemas.openxmlformats.org/officeDocument/2006/relationships/notesMaster" Target="/ppt/notesMasters/notesMaster1.xml" Id="R45fb7ee0f84841c8" /><Relationship Type="http://schemas.openxmlformats.org/officeDocument/2006/relationships/slide" Target="/ppt/slides/slide31.xml" Id="R7b2ac758464741d3" /></Relationships>
</file>

<file path=ppt/notesSlides/_rels/notesSlide32.xml.rels>&#65279;<?xml version="1.0" encoding="utf-8"?><Relationships xmlns="http://schemas.openxmlformats.org/package/2006/relationships"><Relationship Type="http://schemas.openxmlformats.org/officeDocument/2006/relationships/notesMaster" Target="/ppt/notesMasters/notesMaster1.xml" Id="Rebeef47cc13742ef" /><Relationship Type="http://schemas.openxmlformats.org/officeDocument/2006/relationships/slide" Target="/ppt/slides/slide32.xml" Id="Rd4e4dea760184401" /></Relationships>
</file>

<file path=ppt/notesSlides/_rels/notesSlide33.xml.rels>&#65279;<?xml version="1.0" encoding="utf-8"?><Relationships xmlns="http://schemas.openxmlformats.org/package/2006/relationships"><Relationship Type="http://schemas.openxmlformats.org/officeDocument/2006/relationships/notesMaster" Target="/ppt/notesMasters/notesMaster1.xml" Id="R3903d8993b674fb1" /><Relationship Type="http://schemas.openxmlformats.org/officeDocument/2006/relationships/slide" Target="/ppt/slides/slide33.xml" Id="R379e4bbc2c68425d" /></Relationships>
</file>

<file path=ppt/notesSlides/_rels/notesSlide34.xml.rels>&#65279;<?xml version="1.0" encoding="utf-8"?><Relationships xmlns="http://schemas.openxmlformats.org/package/2006/relationships"><Relationship Type="http://schemas.openxmlformats.org/officeDocument/2006/relationships/notesMaster" Target="/ppt/notesMasters/notesMaster1.xml" Id="R2e03b88ba0de475a" /><Relationship Type="http://schemas.openxmlformats.org/officeDocument/2006/relationships/slide" Target="/ppt/slides/slide34.xml" Id="R852a02469b1a45fb" /></Relationships>
</file>

<file path=ppt/notesSlides/_rels/notesSlide35.xml.rels>&#65279;<?xml version="1.0" encoding="utf-8"?><Relationships xmlns="http://schemas.openxmlformats.org/package/2006/relationships"><Relationship Type="http://schemas.openxmlformats.org/officeDocument/2006/relationships/notesMaster" Target="/ppt/notesMasters/notesMaster1.xml" Id="R9b43a611f2a2400d" /><Relationship Type="http://schemas.openxmlformats.org/officeDocument/2006/relationships/slide" Target="/ppt/slides/slide35.xml" Id="R4f9d137850164737" /></Relationships>
</file>

<file path=ppt/notesSlides/_rels/notesSlide36.xml.rels>&#65279;<?xml version="1.0" encoding="utf-8"?><Relationships xmlns="http://schemas.openxmlformats.org/package/2006/relationships"><Relationship Type="http://schemas.openxmlformats.org/officeDocument/2006/relationships/notesMaster" Target="/ppt/notesMasters/notesMaster1.xml" Id="R4e353810149a4b54" /><Relationship Type="http://schemas.openxmlformats.org/officeDocument/2006/relationships/slide" Target="/ppt/slides/slide36.xml" Id="R6621791ac5f345e3" /></Relationships>
</file>

<file path=ppt/notesSlides/_rels/notesSlide37.xml.rels>&#65279;<?xml version="1.0" encoding="utf-8"?><Relationships xmlns="http://schemas.openxmlformats.org/package/2006/relationships"><Relationship Type="http://schemas.openxmlformats.org/officeDocument/2006/relationships/notesMaster" Target="/ppt/notesMasters/notesMaster1.xml" Id="Rd9529a3db3714dbc" /><Relationship Type="http://schemas.openxmlformats.org/officeDocument/2006/relationships/slide" Target="/ppt/slides/slide37.xml" Id="Red8f3976bd914578" /></Relationships>
</file>

<file path=ppt/notesSlides/_rels/notesSlide38.xml.rels>&#65279;<?xml version="1.0" encoding="utf-8"?><Relationships xmlns="http://schemas.openxmlformats.org/package/2006/relationships"><Relationship Type="http://schemas.openxmlformats.org/officeDocument/2006/relationships/notesMaster" Target="/ppt/notesMasters/notesMaster1.xml" Id="R57ff084acf46400c" /><Relationship Type="http://schemas.openxmlformats.org/officeDocument/2006/relationships/slide" Target="/ppt/slides/slide38.xml" Id="R6513bd104fef4412" /></Relationships>
</file>

<file path=ppt/notesSlides/_rels/notesSlide39.xml.rels>&#65279;<?xml version="1.0" encoding="utf-8"?><Relationships xmlns="http://schemas.openxmlformats.org/package/2006/relationships"><Relationship Type="http://schemas.openxmlformats.org/officeDocument/2006/relationships/notesMaster" Target="/ppt/notesMasters/notesMaster1.xml" Id="R2cc2af4fdeb4441a" /><Relationship Type="http://schemas.openxmlformats.org/officeDocument/2006/relationships/slide" Target="/ppt/slides/slide39.xml" Id="R0ac96efb5d9244f9" /></Relationships>
</file>

<file path=ppt/notesSlides/_rels/notesSlide40.xml.rels>&#65279;<?xml version="1.0" encoding="utf-8"?><Relationships xmlns="http://schemas.openxmlformats.org/package/2006/relationships"><Relationship Type="http://schemas.openxmlformats.org/officeDocument/2006/relationships/notesMaster" Target="/ppt/notesMasters/notesMaster1.xml" Id="R030d544f1fe040d4" /><Relationship Type="http://schemas.openxmlformats.org/officeDocument/2006/relationships/slide" Target="/ppt/slides/slide40.xml" Id="R1f1df32d2b2348a7" /></Relationships>
</file>

<file path=ppt/notesSlides/_rels/notesSlide41.xml.rels>&#65279;<?xml version="1.0" encoding="utf-8"?><Relationships xmlns="http://schemas.openxmlformats.org/package/2006/relationships"><Relationship Type="http://schemas.openxmlformats.org/officeDocument/2006/relationships/notesMaster" Target="/ppt/notesMasters/notesMaster1.xml" Id="R0df2448464294ff2" /><Relationship Type="http://schemas.openxmlformats.org/officeDocument/2006/relationships/slide" Target="/ppt/slides/slide41.xml" Id="R32be8ab57bab4de4" /></Relationships>
</file>

<file path=ppt/notesSlides/_rels/notesSlide42.xml.rels>&#65279;<?xml version="1.0" encoding="utf-8"?><Relationships xmlns="http://schemas.openxmlformats.org/package/2006/relationships"><Relationship Type="http://schemas.openxmlformats.org/officeDocument/2006/relationships/notesMaster" Target="/ppt/notesMasters/notesMaster1.xml" Id="Rc0418e8487d54b6a" /><Relationship Type="http://schemas.openxmlformats.org/officeDocument/2006/relationships/slide" Target="/ppt/slides/slide42.xml" Id="Re2e0825cd5f54b90" /></Relationships>
</file>

<file path=ppt/notesSlides/_rels/notesSlide43.xml.rels>&#65279;<?xml version="1.0" encoding="utf-8"?><Relationships xmlns="http://schemas.openxmlformats.org/package/2006/relationships"><Relationship Type="http://schemas.openxmlformats.org/officeDocument/2006/relationships/notesMaster" Target="/ppt/notesMasters/notesMaster1.xml" Id="R34c9ca0258614ec2" /><Relationship Type="http://schemas.openxmlformats.org/officeDocument/2006/relationships/slide" Target="/ppt/slides/slide43.xml" Id="R1d8767e11872487f" /></Relationships>
</file>

<file path=ppt/notesSlides/_rels/notesSlide44.xml.rels>&#65279;<?xml version="1.0" encoding="utf-8"?><Relationships xmlns="http://schemas.openxmlformats.org/package/2006/relationships"><Relationship Type="http://schemas.openxmlformats.org/officeDocument/2006/relationships/notesMaster" Target="/ppt/notesMasters/notesMaster1.xml" Id="Rd14ef64783ec4891" /><Relationship Type="http://schemas.openxmlformats.org/officeDocument/2006/relationships/slide" Target="/ppt/slides/slide44.xml" Id="Re60671947af34bc6" /></Relationships>
</file>

<file path=ppt/notesSlides/_rels/notesSlide45.xml.rels>&#65279;<?xml version="1.0" encoding="utf-8"?><Relationships xmlns="http://schemas.openxmlformats.org/package/2006/relationships"><Relationship Type="http://schemas.openxmlformats.org/officeDocument/2006/relationships/notesMaster" Target="/ppt/notesMasters/notesMaster1.xml" Id="Ra37ad918f65e44a8" /><Relationship Type="http://schemas.openxmlformats.org/officeDocument/2006/relationships/slide" Target="/ppt/slides/slide45.xml" Id="R42b82a4020e1456e" /></Relationships>
</file>

<file path=ppt/notesSlides/_rels/notesSlide46.xml.rels>&#65279;<?xml version="1.0" encoding="utf-8"?><Relationships xmlns="http://schemas.openxmlformats.org/package/2006/relationships"><Relationship Type="http://schemas.openxmlformats.org/officeDocument/2006/relationships/notesMaster" Target="/ppt/notesMasters/notesMaster1.xml" Id="R3ca341c4d37d4a56" /><Relationship Type="http://schemas.openxmlformats.org/officeDocument/2006/relationships/slide" Target="/ppt/slides/slide46.xml" Id="R7d0bc4932a984e60" /></Relationships>
</file>

<file path=ppt/notesSlides/_rels/notesSlide47.xml.rels>&#65279;<?xml version="1.0" encoding="utf-8"?><Relationships xmlns="http://schemas.openxmlformats.org/package/2006/relationships"><Relationship Type="http://schemas.openxmlformats.org/officeDocument/2006/relationships/notesMaster" Target="/ppt/notesMasters/notesMaster1.xml" Id="Ra26835cb760f4d3c" /><Relationship Type="http://schemas.openxmlformats.org/officeDocument/2006/relationships/slide" Target="/ppt/slides/slide47.xml" Id="R8943b532665e4566" /></Relationships>
</file>

<file path=ppt/notesSlides/_rels/notesSlide48.xml.rels>&#65279;<?xml version="1.0" encoding="utf-8"?><Relationships xmlns="http://schemas.openxmlformats.org/package/2006/relationships"><Relationship Type="http://schemas.openxmlformats.org/officeDocument/2006/relationships/notesMaster" Target="/ppt/notesMasters/notesMaster1.xml" Id="Rf10fe68d1d744767" /><Relationship Type="http://schemas.openxmlformats.org/officeDocument/2006/relationships/slide" Target="/ppt/slides/slide48.xml" Id="Ra7bb2511985643a6" /></Relationships>
</file>

<file path=ppt/notesSlides/_rels/notesSlide49.xml.rels>&#65279;<?xml version="1.0" encoding="utf-8"?><Relationships xmlns="http://schemas.openxmlformats.org/package/2006/relationships"><Relationship Type="http://schemas.openxmlformats.org/officeDocument/2006/relationships/notesMaster" Target="/ppt/notesMasters/notesMaster1.xml" Id="R7b67a8cf0cad481b" /><Relationship Type="http://schemas.openxmlformats.org/officeDocument/2006/relationships/slide" Target="/ppt/slides/slide49.xml" Id="R9d338bd17d9e4a9a" /></Relationships>
</file>

<file path=ppt/notesSlides/_rels/notesSlide50.xml.rels>&#65279;<?xml version="1.0" encoding="utf-8"?><Relationships xmlns="http://schemas.openxmlformats.org/package/2006/relationships"><Relationship Type="http://schemas.openxmlformats.org/officeDocument/2006/relationships/notesMaster" Target="/ppt/notesMasters/notesMaster1.xml" Id="R36df15baea904f89" /><Relationship Type="http://schemas.openxmlformats.org/officeDocument/2006/relationships/slide" Target="/ppt/slides/slide50.xml" Id="R5cdb5ab8b68e49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Introduce yourself and the overall lecture series. This session is designed to be inclusive — covering foundational intuition for beginners while offering depth markers for advanced attendees. Estimated time: 2 minutes.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Walk through the agenda briefly. Let the audience know they can ask questions at any time — there is dedicated Q&amp;A at the end. Estimated time: 1.5 minutes.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Motivate the audience. Classical computers hit physical limits — quantum exploits quantum mechanics to process information fundamentally differently. Reference: McKinsey Global Institute (2023). 'Quantum Technology Monitor.' IBM Research Blog. Estimated time: 3 minutes.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most fundamental concept. Use the coin analogy — a classical bit is like a coin lying flat (heads=1, tails=0). A qubit is like a spinning coin — it is both until you observe it. Reference: Nielsen &amp; Chuang, Quantum Computation and Quantum Information, Cambridge University Press, 2010. Estimated time: 3 minutes.</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Introduce Dirac notation gently. The key intuition: superposition is not a mere analogy — it is a precise mathematical description of the quantum state. Reference: Preskill, J. (2018). 'Quantum Computing in the NISQ Era and Beyond.' Quantum, 2, 79. Estimated time: 4 minutes.</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Point out the Bloch Sphere as a key tool — every quantum gate is a rotation on this sphere. This bridges intuition and formalism. Reference: Nielsen &amp; Chuang (2010), Chapter 1. Qiskit Textbook: https://qiskit.org/learn Estimated time: 3 minutes.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Einstein called this 'spooky action at a distance.' The 2022 Nobel Prize validated its reality. Emphasize the no-signaling theorem to correct the common misconception. Reference: Aspect, A. et al. (1981). Phys. Rev. Lett. 47, 460. Nobel Prize Committee (2022). Estimated time: 4 minutes.</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Interference is the hardest concept to convey but the most important for understanding why quantum is faster. The double-slit experiment is an excellent physical demonstration. Reference: Feynman, R.P. (1982). 'Simulating Physics with Computers.' Int'l Journal of Theoretical Physics 21, 467–488. Estimated time: 3 minutes.</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Emphasize that unlike classical gates, quantum gates are reversible (unitary matrices). The Hadamard gate is a workhorse. Reference: Nielsen &amp; Chuang (2010), Chapter 4. IBM Qiskit documentation: https://docs.quantum.ibm.com Estimated time: 4 minutes.</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Walk through the Bell state circuit step by step. This is the 'Hello World' of quantum computing. Reference: IBM Quantum Learning Platform: https://learning.quantum.ibm.com. Qiskit Textbook, Chapter 1. Estimated time: 4 minutes.</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Decoherence is the primary practical challenge of quantum hardware today. T1 and T2 times are key hardware metrics. Reference: Krantz, P. et al. (2019). 'A Quantum Engineer's Guide to Superconducting Qubits.' Applied Physics Reviews, 6, 021318. Estimated time: 3 minutes.</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QEC is the bridge between NISQ and fault-tolerant quantum computing. Reference: Shor, P.W. (1995). Phys. Rev. A 52, R2493. Google Quantum AI (2023). 'Suppressing quantum errors by scaling a surface code logical qubit.' Nature, 614, 676–681. Estimated time: 4 minutes.</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Give a high-level map before diving into individual algorithms. Reference: Quantum Algorithm Zoo — maintained by Stephen Jordan at NIST: https://quantumalgorithmzoo.org. Nielsen &amp; Chuang (2010), Chapters 5–6. Estimated time: 3 minutes.</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Deutsch-Jozsa is historically important as the first quantum advantage proof, though the problem is artificial. Reference: Deutsch, D. &amp; Jozsa, R. (1992). 'Rapid solution of problems by quantum computation.' Proc. R. Soc. Lond. A 439, 553–558. Estimated time: 3 minutes.</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Grover's algorithm is widely applicable and provably optimal for unstructured search. Its impact on cryptography is why NIST doubled symmetric key sizes in post-quantum standards. Reference: Grover, L.K. (1996). 'A fast quantum mechanical algorithm for database search.' Proc. 28th ACM STOC, 212–219. Estimated time: 4 minutes.</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Shor's algorithm is the most consequential quantum algorithm from a security perspective. Reference: Shor, P.W. (1994). 'Algorithms for Quantum Computation: Discrete Logarithms and Factoring.' Proc. 35th IEEE FOCS, 124–134. NIST (2024). Post-Quantum Cryptography Standardization. Estimated time: 4 minutes.</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is important for correcting the common misconception that quantum computers solve all hard problems. Reference: Aaronson, S. (2013). 'Quantum Computing Since Democritus.' Cambridge University Press. Arora, S. &amp; Barak, B. (2009). 'Computational Complexity.' Cambridge University Press. Estimated time: 3 minutes.</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Give an overview of the hardware landscape. Each platform has trade-offs. IBM leads in scale; IonQ/Quantinuum lead in fidelity; neutral atoms emerging strongly. Reference: IBM Quantum (2024). IBM Quantum System Two. Arute, F. et al. (2019). 'Quantum supremacy using a programmable superconducting processor.' Nature 574, 505–510. Estimated time: 3 minutes.</a:t>
            </a: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gives a concrete physical picture. Most attendees who will use IBM Quantum are using superconducting qubits. Reference: Krantz, P. et al. (2019). 'A Quantum Engineer's Guide to Superconducting Qubits.' Applied Physics Reviews 6, 021318. IBM Quantum (2024) system documentation. Estimated time: 3 minutes.</a:t>
            </a:r>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IonQ and Quantinuum are serious competitors — often delivering more reliable results on today's small circuits despite lower qubit counts. Reference: Bluvstein, D. et al. (2023). 'Logical quantum processor based on reconfigurable atom arrays.' Nature 626, 58–65. IonQ (2024). Aria and Forte system specifications. Estimated time: 3 minutes.</a:t>
            </a:r>
          </a:p>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Feynman's 1982 paper is the founding document of quantum simulation. This application domain is where near-term quantum advantage is most plausible. Reference: Feynman, R.P. (1982). Int'l Journal of Theoretical Physics 21, 467–488. Cao, Y. et al. (2019). 'Quantum Chemistry in the Age of Quantum Computing.' Chemical Reviews 119, 10856–10915. Estimated time: 3 minutes.</a:t>
            </a:r>
          </a:p>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Drug discovery is a compelling narrative for non-technical audiences. VQE is the near-term workhorse algorithm. Reference: Peruzzo, A. et al. (2014). 'A variational eigenvalue solver on a photonic quantum processor.' Nature Communications 5, 4213. Tufts Center for the Study of Drug Development (2021). Estimated time: 4 minutes.</a:t>
            </a:r>
          </a:p>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QAOA is one of the most actively researched near-term algorithms. Reference: Farhi, E., Goldstone, J., &amp; Gutmann, S. (2014). 'A Quantum Approximate Optimization Algorithm.' arXiv:1411.4028. D-Wave (2024). Advantage System Performance. Estimated time: 3 minutes.</a:t>
            </a:r>
          </a:p>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Financial use cases are compelling for business audiences. QAE is the key primitive. Reference: Rebentrost, P. et al. (2018). 'Quantum computational finance.' Physical Review A 98, 022321. Woerner, S. &amp; Egger, D.J. (2019). 'Quantum risk analysis.' npj Quantum Information 5, 15. Estimated time: 3 minutes.</a:t>
            </a:r>
          </a:p>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QML is one of the most hyped areas — be balanced. The dequantization results by Tang et al. are important context. Reference: Biamonte, J. et al. (2017). 'Quantum machine learning.' Nature 549, 195–202. Tang, E. (2021). 'Quantum principal component analysis only achieves an exponential speedup because of its optimistic assumptions.' arXiv:1811.00414. Estimated time: 3 minutes.</a:t>
            </a:r>
          </a:p>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quantum internet is a long-term vision but building blocks are being demonstrated now. Reference: Wehner, S., Elkouss, D., &amp; Hanson, R. (2018). 'Quantum internet: A vision for the road ahead.' Science 362, eaam9258. Yin, J. et al. (2017). 'Satellite-based entanglement distribution over 1200 kilometers.' Science 356, 1140–1144. Estimated time: 3 minutes.</a:t>
            </a:r>
          </a:p>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BB84 is 40 years old but only now being deployed at scale. Clarify that QKD replaces RSA key exchange, not AES bulk encryption. Reference: Bennett, C.H. &amp; Brassard, G. (1984). Proc. IEEE Int'l Conference on Computers, Systems and Signal Processing. Chen, Y-A. et al. (2021). 'An integrated space-to-ground quantum communication network over 4,600 kilometres.' Nature 589, 214–219. Estimated time: 4 minutes.</a:t>
            </a:r>
          </a:p>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HNDL is the most urgent practical concern — not theoretical. Reference: NIST (2024). 'Post-Quantum Cryptography Standardization.' FIPS 203, 204, 205. NSA (2022). 'Commercial National Security Algorithm Suite 2.0.' National Cybersecurity Center of Excellence (2023). 'Migration to Post-Quantum Cryptography.' Estimated time: 4 minutes.</a:t>
            </a:r>
          </a:p>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Demo this live if possible — show quantum.ibm.com and the Qiskit composer. Reference: IBM Quantum (2024). Qiskit documentation: https://docs.quantum.ibm.com. Qiskit SDK v1.x release notes. Cross, A.W. et al. (2022). 'OpenQASM 3.' ACM Transactions on Quantum Computing. Estimated time: 4 minutes.</a:t>
            </a:r>
          </a:p>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Provide this as a take-home exercise. If the session has a hands-on component, this is the entry point. Reference: IBM Quantum Learning Platform: https://learning.quantum.ibm.com. Qiskit documentation: https://docs.quantum.ibm.com. Estimated time: 3 minutes.</a:t>
            </a:r>
          </a:p>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is critical for setting realistic expectations. Reference: Arute, F. et al. (2019). Nature 574, 505–510. Pan, F. et al. (2022). 'Solving the sampling problem of the Sycamore quantum circuits.' Physical Review Letters 129, 090502. Preskill, J. (2012). Coined 'Quantum Supremacy' term. Estimated time: 3 minutes.</a:t>
            </a:r>
          </a:p>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geopolitical dimension is important context. Quantum is treated like nuclear energy in the 1940s — a strategic national asset. Reference: McKinsey Global Institute (2023). 'Quantum Technology Monitor.' National Science and Technology Council (2022). 'National Quantum Initiative Supplement.' Estimated time: 3 minutes.</a:t>
            </a:r>
          </a:p>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Be honest about timeline uncertainty — quantum has a history of both hype and skepticism. Reference: IBM Quantum Roadmap (2024). Preskill, J. (2018). 'Quantum Computing in the NISQ Era and Beyond.' Quantum 2, 79. Gambetta, J. (IBM) (2023). IBM Quantum Development Roadmap. Estimated time: 3 minutes.</a:t>
            </a:r>
          </a:p>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is motivational — emphasize that careers are accessible from multiple backgrounds. Reference: National Science Foundation (2023). 'Building the Quantum Workforce.' IBM Institute for Business Value (2022). 'The Quantum Decade.' Estimated time: 3 minutes.</a:t>
            </a:r>
          </a:p>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Ethics is often skipped in technical talks — include it. Reference: IEEE (2022). 'Ethically Aligned Design for Quantum Technologies.' Kop, M. (2021). 'Towards a Quantum Computing Legal Framework.' Stanford Center for AI Safety. US BIS (2023). Export Administration Regulations — quantum additions. Estimated time: 3 minutes.</a:t>
            </a:r>
          </a:p>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Make this concrete — show the IBM Quantum platform website if possible. Reference: IBM Quantum (2024). https://quantum.ibm.com. Amazon Web Services (2024). Amazon Braket Developer Guide. Microsoft (2024). Azure Quantum documentation. Estimated time: 3 minutes.</a:t>
            </a:r>
          </a:p>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QRNG is the most commercially mature quantum technology — it is in phones today. Great bridging topic for a diverse audience. Reference: Herrero-Collantes, M. &amp; Garcia-Escartin, J.C. (2017). 'Quantum Random Number Generators.' Rev. Mod. Phys. 89, 015004. ID Quantique (2024). QRNG product whitepaper. Estimated time: 3 minutes.</a:t>
            </a:r>
          </a:p>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Quantum sensing often gets overlooked in computing-focused talks. It has immediate real-world impact. Reference: Degen, C.L., Reinhard, F. &amp; Cappellaro, P. (2017). 'Quantum sensing.' Rev. Mod. Phys. 89, 035002. NIST (2024). Primary frequency standards. Estimated time: 3 minutes.</a:t>
            </a:r>
          </a:p>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a frequently asked audience question — be prepared. Position them as complementary tools. Reference: Biamonte, J. et al. (2017). 'Quantum machine learning.' Nature 549, 195–202. IBM Research (2023). 'AI for Quantum' blog series. Estimated time: 3 minutes.</a:t>
            </a:r>
          </a:p>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Error mitigation is what makes NISQ devices practically useful today. Reference: Kim, Y. et al. (2023). 'Evidence for the utility of quantum computing before fault tolerance.' Nature 618, 500–505. Temme, K., Bravyi, S. &amp; Gambetta, J.M. (2017). 'Error mitigation for short-depth quantum circuits.' Physical Review Letters 119, 180509. Estimated time: 3 minutes.</a:t>
            </a:r>
          </a:p>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most recent landmark result. Reference: Kim, Y. et al. (2023). 'Evidence for the utility of quantum computing before fault tolerance.' Nature 618, 500–505. Bravyi, S. et al. (2022). 'Classical simulation of short-time quantum dynamics.' Physical Review Research 4, 013012. Estimated time: 3 minutes.</a:t>
            </a:r>
          </a:p>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provides an actionable learning plan for beginners. Emphasize that online resources are free and accessible. Reference: 3Blue1Brown (2016). 'Essence of Linear Algebra.' YouTube. https://www.3blue1brown.com. IBM Quantum Learning (2024). https://learning.quantum.ibm.com. Estimated time: 3 minutes.</a:t>
            </a:r>
          </a:p>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 myth-busting slide is highly engaging for a broad audience. Address D-Wave carefully — it is a legitimate quantum technology, but different from gate-based computing. Reference: Aaronson, S. (2008). 'Shtetl-Optimized Blog.' Preskill, J. (2018). Quantum 2, 79. D-Wave (2024). Technical documentation. Estimated time: 3 minutes.</a:t>
            </a:r>
          </a:p>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Give attendees a comprehensive learning pathway. Nielsen &amp; Chuang is essential — every serious quantum computing person has read it. Estimated time: 2 minutes.</a:t>
            </a:r>
          </a:p>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 historical timeline gives perspective on how far the field has come and how fast it is accelerating. Reference: All milestones are cited in their respective source slides throughout this lecture. Estimated time: 2 minutes.</a:t>
            </a:r>
          </a:p>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These 10 points should be what every attendee walks away knowing, regardless of their background. Revisit each point briefly and invite questions on any of them. Estimated time: 3 minutes.</a:t>
            </a:r>
          </a:p>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Get attendees excited about the full series. Encourage them to register for all 5 sessions and join the IBM Quantum community. Estimated time: 2 minutes.</a:t>
            </a:r>
          </a:p>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Allow at least 7 minutes for Q&amp;A. Have a few 'seed questions' ready in case the audience is quiet initially. The tiered questions help engage all audience levels simultaneously.</a:t>
            </a:r>
          </a:p>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References slide — all citations used throughout the lecture. Encourage attendees to read Nielsen &amp; Chuang Chapter 1 as their first step.</a:t>
            </a:r>
          </a:p>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Complete references list. All slides in this deck correspond to one or more of these sources. For a full bibliography exported in BibTeX format, contact the presenter.</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4ddff8ead14b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d26f46385a41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92f39fdd614c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1946a34bdc47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cd5a3843b9419c"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1045c90b49fb412d"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e5362d32727e4b64" /><Relationship Type="http://schemas.openxmlformats.org/officeDocument/2006/relationships/notesSlide" Target="/ppt/notesSlides/notesSlide1.xml" Id="R2a0e8381d91f4190" /><Relationship Type="http://schemas.openxmlformats.org/officeDocument/2006/relationships/image" Target="/ppt/media/image.svg" Id="Rd1eb281e50894e70" /><Relationship Type="http://schemas.openxmlformats.org/officeDocument/2006/relationships/image" Target="/ppt/media/image.png" Id="R9817388432bc4a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548d9bbee74564" /><Relationship Type="http://schemas.openxmlformats.org/officeDocument/2006/relationships/notesSlide" Target="/ppt/notesSlides/notesSlide2.xml" Id="Re165677d95a140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637cd8c10a43f9" /><Relationship Type="http://schemas.openxmlformats.org/officeDocument/2006/relationships/notesSlide" Target="/ppt/notesSlides/notesSlide3.xml" Id="R87625bb85cfd45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e16e775d2e4c22" /><Relationship Type="http://schemas.openxmlformats.org/officeDocument/2006/relationships/notesSlide" Target="/ppt/notesSlides/notesSlide4.xml" Id="R194eacb624294434" /><Relationship Type="http://schemas.openxmlformats.org/officeDocument/2006/relationships/image" Target="/ppt/media/image2.svg" Id="R83cea40272dd4ada" /><Relationship Type="http://schemas.openxmlformats.org/officeDocument/2006/relationships/image" Target="/ppt/media/image2.png" Id="Rdde1676f5dc74d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ee2e5b0d13494b" /><Relationship Type="http://schemas.openxmlformats.org/officeDocument/2006/relationships/notesSlide" Target="/ppt/notesSlides/notesSlide5.xml" Id="R8fe8dcabcba44a7c" /><Relationship Type="http://schemas.openxmlformats.org/officeDocument/2006/relationships/image" Target="/ppt/media/image3.svg" Id="R07cf134aac414b3b" /><Relationship Type="http://schemas.openxmlformats.org/officeDocument/2006/relationships/image" Target="/ppt/media/image3.png" Id="R93620820a3984a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526740e7dc4627" /><Relationship Type="http://schemas.openxmlformats.org/officeDocument/2006/relationships/notesSlide" Target="/ppt/notesSlides/notesSlide6.xml" Id="R0be2a68913b74901" /><Relationship Type="http://schemas.openxmlformats.org/officeDocument/2006/relationships/image" Target="/ppt/media/image4.svg" Id="R15c57e377fbe486c" /><Relationship Type="http://schemas.openxmlformats.org/officeDocument/2006/relationships/image" Target="/ppt/media/image4.png" Id="Rd93ef3628d5146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3270e52b534811" /><Relationship Type="http://schemas.openxmlformats.org/officeDocument/2006/relationships/notesSlide" Target="/ppt/notesSlides/notesSlide7.xml" Id="R4984540d5e5f470f" /><Relationship Type="http://schemas.openxmlformats.org/officeDocument/2006/relationships/image" Target="/ppt/media/image5.svg" Id="Rb188e07988b545cc" /><Relationship Type="http://schemas.openxmlformats.org/officeDocument/2006/relationships/image" Target="/ppt/media/image5.png" Id="R6f2409e5269847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cd4cb0d2e0428d" /><Relationship Type="http://schemas.openxmlformats.org/officeDocument/2006/relationships/notesSlide" Target="/ppt/notesSlides/notesSlide8.xml" Id="R33bb8d0290d1475e" /><Relationship Type="http://schemas.openxmlformats.org/officeDocument/2006/relationships/image" Target="/ppt/media/image6.svg" Id="Rbd540646f1574e70" /><Relationship Type="http://schemas.openxmlformats.org/officeDocument/2006/relationships/image" Target="/ppt/media/image6.png" Id="R2dd42b3596cc44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c7b5980872491f" /><Relationship Type="http://schemas.openxmlformats.org/officeDocument/2006/relationships/notesSlide" Target="/ppt/notesSlides/notesSlide9.xml" Id="Rd9cce33fb0ad4378" /><Relationship Type="http://schemas.openxmlformats.org/officeDocument/2006/relationships/image" Target="/ppt/media/image7.svg" Id="R8f066c4d86c84f30" /><Relationship Type="http://schemas.openxmlformats.org/officeDocument/2006/relationships/image" Target="/ppt/media/image7.png" Id="Rbdd0aca5650d4a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2663c85eed48f6" /><Relationship Type="http://schemas.openxmlformats.org/officeDocument/2006/relationships/notesSlide" Target="/ppt/notesSlides/notesSlide10.xml" Id="Rf3f3f9cd603147e2" /><Relationship Type="http://schemas.openxmlformats.org/officeDocument/2006/relationships/image" Target="/ppt/media/image8.svg" Id="Ra6af204a1ec34b2d" /><Relationship Type="http://schemas.openxmlformats.org/officeDocument/2006/relationships/image" Target="/ppt/media/image8.png" Id="R007cea3fafd240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1eb202506a4f55" /><Relationship Type="http://schemas.openxmlformats.org/officeDocument/2006/relationships/notesSlide" Target="/ppt/notesSlides/notesSlide11.xml" Id="R53cb0761a7394a5c" /><Relationship Type="http://schemas.openxmlformats.org/officeDocument/2006/relationships/image" Target="/ppt/media/image9.svg" Id="R8e5a39a358a3442a" /><Relationship Type="http://schemas.openxmlformats.org/officeDocument/2006/relationships/image" Target="/ppt/media/image9.png" Id="R306a732e337149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cc1082ca9aa4546" /><Relationship Type="http://schemas.openxmlformats.org/officeDocument/2006/relationships/notesSlide" Target="/ppt/notesSlides/notesSlide12.xml" Id="R4206cee813734650" /><Relationship Type="http://schemas.openxmlformats.org/officeDocument/2006/relationships/image" Target="/ppt/media/image10.svg" Id="R0dad6ce902fe401d" /><Relationship Type="http://schemas.openxmlformats.org/officeDocument/2006/relationships/image" Target="/ppt/media/image10.png" Id="Ra4841e4bb32f44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187a7e57ca4489d" /><Relationship Type="http://schemas.openxmlformats.org/officeDocument/2006/relationships/notesSlide" Target="/ppt/notesSlides/notesSlide13.xml" Id="R9eb9ca37e03d4b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71cd5b2a5c4e41" /><Relationship Type="http://schemas.openxmlformats.org/officeDocument/2006/relationships/notesSlide" Target="/ppt/notesSlides/notesSlide14.xml" Id="R1586282b721145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8c0b2f2810f4e81" /><Relationship Type="http://schemas.openxmlformats.org/officeDocument/2006/relationships/notesSlide" Target="/ppt/notesSlides/notesSlide15.xml" Id="R476e48aa8c38433d" /><Relationship Type="http://schemas.openxmlformats.org/officeDocument/2006/relationships/image" Target="/ppt/media/image11.svg" Id="R8df6c97579204ec6" /><Relationship Type="http://schemas.openxmlformats.org/officeDocument/2006/relationships/image" Target="/ppt/media/image11.png" Id="R6f61b39be7b24e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63da03f30645a6" /><Relationship Type="http://schemas.openxmlformats.org/officeDocument/2006/relationships/notesSlide" Target="/ppt/notesSlides/notesSlide16.xml" Id="R7243ce742fd74d4b" /><Relationship Type="http://schemas.openxmlformats.org/officeDocument/2006/relationships/image" Target="/ppt/media/image12.svg" Id="R034269e8db3d4ac2" /><Relationship Type="http://schemas.openxmlformats.org/officeDocument/2006/relationships/image" Target="/ppt/media/image12.png" Id="R71fedde4b33e47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b1369c3b2f4538" /><Relationship Type="http://schemas.openxmlformats.org/officeDocument/2006/relationships/notesSlide" Target="/ppt/notesSlides/notesSlide17.xml" Id="R1fc0a5c895ff4e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eba274453b41d1" /><Relationship Type="http://schemas.openxmlformats.org/officeDocument/2006/relationships/notesSlide" Target="/ppt/notesSlides/notesSlide18.xml" Id="R760973603f5349a1" /><Relationship Type="http://schemas.openxmlformats.org/officeDocument/2006/relationships/image" Target="/ppt/media/image13.svg" Id="R74b765cd583a4cb9" /><Relationship Type="http://schemas.openxmlformats.org/officeDocument/2006/relationships/image" Target="/ppt/media/image13.png" Id="Re1571ff5b4a743e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9d67418c84d4948" /><Relationship Type="http://schemas.openxmlformats.org/officeDocument/2006/relationships/notesSlide" Target="/ppt/notesSlides/notesSlide19.xml" Id="R3a96f2a91c5240c0" /><Relationship Type="http://schemas.openxmlformats.org/officeDocument/2006/relationships/image" Target="/ppt/media/image14.svg" Id="R178a022dc0924a40" /><Relationship Type="http://schemas.openxmlformats.org/officeDocument/2006/relationships/image" Target="/ppt/media/image14.png" Id="Ra7467a2f7ce64c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be7ccea19a496b" /><Relationship Type="http://schemas.openxmlformats.org/officeDocument/2006/relationships/notesSlide" Target="/ppt/notesSlides/notesSlide20.xml" Id="R2c152ab61cc047c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59511dcb2e444f" /><Relationship Type="http://schemas.openxmlformats.org/officeDocument/2006/relationships/notesSlide" Target="/ppt/notesSlides/notesSlide21.xml" Id="R01de06449ad847c7" /><Relationship Type="http://schemas.openxmlformats.org/officeDocument/2006/relationships/image" Target="/ppt/media/image15.svg" Id="Rc757b2b15cc44e69" /><Relationship Type="http://schemas.openxmlformats.org/officeDocument/2006/relationships/image" Target="/ppt/media/image15.png" Id="Rec33ab143f0b4f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d12f6e4ed4345c8" /><Relationship Type="http://schemas.openxmlformats.org/officeDocument/2006/relationships/notesSlide" Target="/ppt/notesSlides/notesSlide22.xml" Id="Rbd367ab5bf094b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2439892b86b47e7" /><Relationship Type="http://schemas.openxmlformats.org/officeDocument/2006/relationships/notesSlide" Target="/ppt/notesSlides/notesSlide23.xml" Id="R99f1d348610f47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4f6d6e5a31c4ff1" /><Relationship Type="http://schemas.openxmlformats.org/officeDocument/2006/relationships/notesSlide" Target="/ppt/notesSlides/notesSlide24.xml" Id="Rab22c8411833459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d0b6cf32e864fbb" /><Relationship Type="http://schemas.openxmlformats.org/officeDocument/2006/relationships/notesSlide" Target="/ppt/notesSlides/notesSlide25.xml" Id="R5ab0261b097243f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3cc0d7c2779417e" /><Relationship Type="http://schemas.openxmlformats.org/officeDocument/2006/relationships/notesSlide" Target="/ppt/notesSlides/notesSlide26.xml" Id="R5e851f0e915b473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910df4970c84623" /><Relationship Type="http://schemas.openxmlformats.org/officeDocument/2006/relationships/notesSlide" Target="/ppt/notesSlides/notesSlide27.xml" Id="R399d4087c117465a" /><Relationship Type="http://schemas.openxmlformats.org/officeDocument/2006/relationships/image" Target="/ppt/media/image16.svg" Id="R0e1170b42326401d" /><Relationship Type="http://schemas.openxmlformats.org/officeDocument/2006/relationships/image" Target="/ppt/media/image16.png" Id="Rb1a2206c49104cb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74d518033be41e4" /><Relationship Type="http://schemas.openxmlformats.org/officeDocument/2006/relationships/notesSlide" Target="/ppt/notesSlides/notesSlide28.xml" Id="R70fd3cec4998409d" /><Relationship Type="http://schemas.openxmlformats.org/officeDocument/2006/relationships/image" Target="/ppt/media/image17.svg" Id="R22193a0bd5e54ede" /><Relationship Type="http://schemas.openxmlformats.org/officeDocument/2006/relationships/image" Target="/ppt/media/image17.png" Id="Re4ff4009197648f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ad2de38b768485f" /><Relationship Type="http://schemas.openxmlformats.org/officeDocument/2006/relationships/notesSlide" Target="/ppt/notesSlides/notesSlide29.xml" Id="Rc7d115acc5094ffd" /><Relationship Type="http://schemas.openxmlformats.org/officeDocument/2006/relationships/image" Target="/ppt/media/image18.svg" Id="R43fccc8002974464" /><Relationship Type="http://schemas.openxmlformats.org/officeDocument/2006/relationships/image" Target="/ppt/media/image18.png" Id="Rf67063cce7524dc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643de71c5d24556" /><Relationship Type="http://schemas.openxmlformats.org/officeDocument/2006/relationships/notesSlide" Target="/ppt/notesSlides/notesSlide30.xml" Id="R25f10847c48843a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0df7900680d4180" /><Relationship Type="http://schemas.openxmlformats.org/officeDocument/2006/relationships/notesSlide" Target="/ppt/notesSlides/notesSlide31.xml" Id="Rd1c65d9e390f41a2" /><Relationship Type="http://schemas.openxmlformats.org/officeDocument/2006/relationships/image" Target="/ppt/media/image19.svg" Id="R13037b5b53774534" /><Relationship Type="http://schemas.openxmlformats.org/officeDocument/2006/relationships/image" Target="/ppt/media/image19.png" Id="R3d59f87e2afc42a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93f7cc726094a33" /><Relationship Type="http://schemas.openxmlformats.org/officeDocument/2006/relationships/notesSlide" Target="/ppt/notesSlides/notesSlide32.xml" Id="R0e155e053367465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ba962c44af0472d" /><Relationship Type="http://schemas.openxmlformats.org/officeDocument/2006/relationships/notesSlide" Target="/ppt/notesSlides/notesSlide33.xml" Id="Rbd7cb33ee15144b0" /><Relationship Type="http://schemas.openxmlformats.org/officeDocument/2006/relationships/image" Target="/ppt/media/image20.svg" Id="R43f9ffe68d08443f" /><Relationship Type="http://schemas.openxmlformats.org/officeDocument/2006/relationships/image" Target="/ppt/media/image20.png" Id="R72e914e81ee6482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5a0721b09e44f9e" /><Relationship Type="http://schemas.openxmlformats.org/officeDocument/2006/relationships/notesSlide" Target="/ppt/notesSlides/notesSlide34.xml" Id="R6084f751e07b426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a8305e7d8fe4121" /><Relationship Type="http://schemas.openxmlformats.org/officeDocument/2006/relationships/notesSlide" Target="/ppt/notesSlides/notesSlide35.xml" Id="R9865a20f249b4fc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fbcb843c1724686" /><Relationship Type="http://schemas.openxmlformats.org/officeDocument/2006/relationships/notesSlide" Target="/ppt/notesSlides/notesSlide36.xml" Id="R4c0752d014554f1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89d1df1b4224383" /><Relationship Type="http://schemas.openxmlformats.org/officeDocument/2006/relationships/notesSlide" Target="/ppt/notesSlides/notesSlide37.xml" Id="Rfee1bc4d6a2948c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ac29987bbbb4e00" /><Relationship Type="http://schemas.openxmlformats.org/officeDocument/2006/relationships/notesSlide" Target="/ppt/notesSlides/notesSlide38.xml" Id="Rc2718d2fc9de408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d2de7933c6c4f3e" /><Relationship Type="http://schemas.openxmlformats.org/officeDocument/2006/relationships/notesSlide" Target="/ppt/notesSlides/notesSlide39.xml" Id="R98eb7953063a492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e932575114840d7" /><Relationship Type="http://schemas.openxmlformats.org/officeDocument/2006/relationships/notesSlide" Target="/ppt/notesSlides/notesSlide40.xml" Id="Rc2afdaf6a20e461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fccbf69219c430f" /><Relationship Type="http://schemas.openxmlformats.org/officeDocument/2006/relationships/notesSlide" Target="/ppt/notesSlides/notesSlide41.xml" Id="R85ad3b4b19d8440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8735e7ebae945e5" /><Relationship Type="http://schemas.openxmlformats.org/officeDocument/2006/relationships/notesSlide" Target="/ppt/notesSlides/notesSlide42.xml" Id="R10cfb27cec42496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23bcdf8386c4df7" /><Relationship Type="http://schemas.openxmlformats.org/officeDocument/2006/relationships/notesSlide" Target="/ppt/notesSlides/notesSlide43.xml" Id="R34e7d285ff764eb8" /><Relationship Type="http://schemas.openxmlformats.org/officeDocument/2006/relationships/image" Target="/ppt/media/image21.svg" Id="Read3e852328d469f" /><Relationship Type="http://schemas.openxmlformats.org/officeDocument/2006/relationships/image" Target="/ppt/media/image21.png" Id="R451be098190f4e8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0d3ef60306e4cd7" /><Relationship Type="http://schemas.openxmlformats.org/officeDocument/2006/relationships/notesSlide" Target="/ppt/notesSlides/notesSlide44.xml" Id="R43fce71d00a54bd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f02fb3d833c4e7b" /><Relationship Type="http://schemas.openxmlformats.org/officeDocument/2006/relationships/notesSlide" Target="/ppt/notesSlides/notesSlide45.xml" Id="Rc055322b71654adc" /><Relationship Type="http://schemas.openxmlformats.org/officeDocument/2006/relationships/image" Target="/ppt/media/image22.svg" Id="Rd7ef6e815cb54413" /><Relationship Type="http://schemas.openxmlformats.org/officeDocument/2006/relationships/image" Target="/ppt/media/image22.png" Id="R05675769f44542d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4e4cbcd1cc046f6" /><Relationship Type="http://schemas.openxmlformats.org/officeDocument/2006/relationships/notesSlide" Target="/ppt/notesSlides/notesSlide46.xml" Id="R953396e16375449a" /><Relationship Type="http://schemas.openxmlformats.org/officeDocument/2006/relationships/image" Target="/ppt/media/image23.svg" Id="Redaab8e0543d4b8c" /><Relationship Type="http://schemas.openxmlformats.org/officeDocument/2006/relationships/image" Target="/ppt/media/image23.png" Id="Ra9c309082fb04eb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bb26d9fbbe74c55" /><Relationship Type="http://schemas.openxmlformats.org/officeDocument/2006/relationships/notesSlide" Target="/ppt/notesSlides/notesSlide47.xml" Id="Rbdb18881e0f440a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8f31434b6e14e89" /><Relationship Type="http://schemas.openxmlformats.org/officeDocument/2006/relationships/notesSlide" Target="/ppt/notesSlides/notesSlide48.xml" Id="R3ac8789e28c84f9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e21d9ea662a4943" /><Relationship Type="http://schemas.openxmlformats.org/officeDocument/2006/relationships/notesSlide" Target="/ppt/notesSlides/notesSlide49.xml" Id="Radcf356761c5457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b65d87ac4814e3a" /><Relationship Type="http://schemas.openxmlformats.org/officeDocument/2006/relationships/notesSlide" Target="/ppt/notesSlides/notesSlide50.xml" Id="R2530548cb9794aad" /></Relationships>
</file>

<file path=ppt/slides/slide1.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A1628"/>
        </a:solidFill>
      </p:bgPr>
    </p:bg>
    <p:spTree>
      <p:nvGrpSpPr>
        <p:cNvPr id="1" name=""/>
        <p:cNvGrpSpPr/>
        <p:nvPr/>
      </p:nvGrpSpPr>
      <p:grpSpPr/>
      <p:sp>
        <p:nvSpPr>
          <p:cNvPr id="100000" name="TopAccent"/>
          <p:cNvSpPr txBox="1"/>
          <p:nvPr/>
        </p:nvSpPr>
        <p:spPr>
          <a:xfrm xmlns:a="http://schemas.openxmlformats.org/drawingml/2006/main">
            <a:off x="0" y="0"/>
            <a:ext cx="12193200" cy="180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01" name="SeriesLabel"/>
          <p:cNvSpPr txBox="1"/>
          <p:nvPr/>
        </p:nvSpPr>
        <p:spPr>
          <a:xfrm xmlns:a="http://schemas.openxmlformats.org/drawingml/2006/main">
            <a:off x="540000" y="432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90CAF9"/>
                </a:solidFill>
                <a:latin typeface="Calibri"/>
                <a:ea typeface="Calibri"/>
              </a:rPr>
              <a:t>QUANTUM FALL FEST 2026  |  LECTURE SERIES  |  DAY 1</a:t>
            </a:r>
          </a:p>
        </p:txBody>
      </p:sp>
      <p:sp>
        <p:nvSpPr>
          <p:cNvPr id="100002" name="MainTitle"/>
          <p:cNvSpPr txBox="1"/>
          <p:nvPr/>
        </p:nvSpPr>
        <p:spPr>
          <a:xfrm xmlns:a="http://schemas.openxmlformats.org/drawingml/2006/main">
            <a:off x="540000" y="1152000"/>
            <a:ext cx="10800000" cy="12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400" b="1">
                <a:solidFill>
                  <a:srgbClr val="FFFFFF"/>
                </a:solidFill>
                <a:latin typeface="Calibri"/>
                <a:ea typeface="Calibri"/>
              </a:rPr>
              <a:t>Introduction to Quantum Computing</a:t>
            </a:r>
          </a:p>
        </p:txBody>
      </p:sp>
      <p:sp>
        <p:nvSpPr>
          <p:cNvPr id="100003" name="Subtitle"/>
          <p:cNvSpPr txBox="1"/>
          <p:nvPr/>
        </p:nvSpPr>
        <p:spPr>
          <a:xfrm xmlns:a="http://schemas.openxmlformats.org/drawingml/2006/main">
            <a:off x="540000" y="2592000"/>
            <a:ext cx="10800000" cy="79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0">
                <a:solidFill>
                  <a:srgbClr val="90CAF9"/>
                </a:solidFill>
                <a:latin typeface="Calibri"/>
                <a:ea typeface="Calibri"/>
              </a:rPr>
              <a:t>From Classical Bits to Quantum Supremacy</a:t>
            </a:r>
          </a:p>
          <a:p xmlns:a="http://schemas.openxmlformats.org/drawingml/2006/main">
            <a:r>
              <a:rPr lang="en-US" sz="2200" b="0">
                <a:solidFill>
                  <a:srgbClr val="90CAF9"/>
                </a:solidFill>
                <a:latin typeface="Calibri"/>
                <a:ea typeface="Calibri"/>
              </a:rPr>
              <a:t>A Beginner-to-Advanced Journey</a:t>
            </a:r>
          </a:p>
        </p:txBody>
      </p:sp>
      <p:sp>
        <p:nvSpPr>
          <p:cNvPr id="100004" name="Meta"/>
          <p:cNvSpPr txBox="1"/>
          <p:nvPr/>
        </p:nvSpPr>
        <p:spPr>
          <a:xfrm xmlns:a="http://schemas.openxmlformats.org/drawingml/2006/main">
            <a:off x="540000" y="360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B0BEC5"/>
                </a:solidFill>
                <a:latin typeface="Calibri"/>
                <a:ea typeface="Calibri"/>
              </a:rPr>
              <a:t>Duration: 60 Minutes  |  Session 1 of 5  |  Audience: All Levels</a:t>
            </a:r>
          </a:p>
        </p:txBody>
      </p:sp>
      <p:sp>
        <p:nvSpPr>
          <p:cNvPr id="100005" name="BottomBa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pic>
        <p:nvPicPr>
          <p:cNvPr id="100205" name="EcosystemDiagram"/>
          <p:cNvPicPr>
            <a:picLocks noChangeAspect="1"/>
          </p:cNvPicPr>
          <p:nvPr/>
        </p:nvPicPr>
        <p:blipFill>
          <a:blip xmlns:r="http://schemas.openxmlformats.org/officeDocument/2006/relationships" r:embed="R9817388432bc4acf">
            <a:extLst>
              <a:ext uri="{96DAC541-7B7A-43D3-8B79-37D633B846F1}">
                <asvg:svgBlip xmlns:asvg="http://schemas.microsoft.com/office/drawing/2016/SVG/main" r:embed="Rd1eb281e50894e70"/>
              </a:ext>
            </a:extLst>
          </a:blip>
          <a:stretch>
            <a:fillRect/>
          </a:stretch>
        </p:blipFill>
        <p:spPr>
          <a:xfrm>
            <a:off x="540000" y="4140000"/>
            <a:ext cx="10800000" cy="1800000"/>
          </a:xfrm>
          <a:prstGeom prst="rect">
            <a:avLst/>
          </a:prstGeom>
        </p:spPr>
      </p:pic>
    </p:spTree>
  </p:cSld>
</p:sld>
</file>

<file path=ppt/slides/slide2.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06"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07" name="SlideNum"/>
          <p:cNvSpPr txBox="1"/>
          <p:nvPr/>
        </p:nvSpPr>
        <p:spPr>
          <a:xfrm xmlns:a="http://schemas.openxmlformats.org/drawingml/2006/main">
            <a:off x="792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02 / 50  |  AGENDA</a:t>
            </a:r>
          </a:p>
        </p:txBody>
      </p:sp>
      <p:sp>
        <p:nvSpPr>
          <p:cNvPr id="100008"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Agenda — 60 Minute Journey</a:t>
            </a:r>
          </a:p>
        </p:txBody>
      </p:sp>
      <p:sp>
        <p:nvSpPr>
          <p:cNvPr id="100009" name="Body"/>
          <p:cNvSpPr txBox="1"/>
          <p:nvPr/>
        </p:nvSpPr>
        <p:spPr>
          <a:xfrm xmlns:a="http://schemas.openxmlformats.org/drawingml/2006/main">
            <a:off x="540000" y="1116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E3F2FD"/>
                </a:solidFill>
                <a:latin typeface="Calibri"/>
                <a:ea typeface="Calibri"/>
              </a:rPr>
              <a:t>01  Why Quantum Computing? The Big Picture  (5 min)</a:t>
            </a:r>
          </a:p>
          <a:p xmlns:a="http://schemas.openxmlformats.org/drawingml/2006/main">
            <a:r>
              <a:rPr lang="en-US" sz="1800">
                <a:solidFill>
                  <a:srgbClr val="E3F2FD"/>
                </a:solidFill>
                <a:latin typeface="Calibri"/>
                <a:ea typeface="Calibri"/>
              </a:rPr>
              <a:t>02  Classical vs. Quantum: Key Differences  (8 min)</a:t>
            </a:r>
          </a:p>
          <a:p xmlns:a="http://schemas.openxmlformats.org/drawingml/2006/main">
            <a:r>
              <a:rPr lang="en-US" sz="1800">
                <a:solidFill>
                  <a:srgbClr val="E3F2FD"/>
                </a:solidFill>
                <a:latin typeface="Calibri"/>
                <a:ea typeface="Calibri"/>
              </a:rPr>
              <a:t>03  Quantum Bits, Superposition &amp; Entanglement  (10 min)</a:t>
            </a:r>
          </a:p>
          <a:p xmlns:a="http://schemas.openxmlformats.org/drawingml/2006/main">
            <a:r>
              <a:rPr lang="en-US" sz="1800">
                <a:solidFill>
                  <a:srgbClr val="E3F2FD"/>
                </a:solidFill>
                <a:latin typeface="Calibri"/>
                <a:ea typeface="Calibri"/>
              </a:rPr>
              <a:t>04  Quantum Gates &amp; Circuits  (10 min)</a:t>
            </a:r>
          </a:p>
          <a:p xmlns:a="http://schemas.openxmlformats.org/drawingml/2006/main">
            <a:r>
              <a:rPr lang="en-US" sz="1800">
                <a:solidFill>
                  <a:srgbClr val="E3F2FD"/>
                </a:solidFill>
                <a:latin typeface="Calibri"/>
                <a:ea typeface="Calibri"/>
              </a:rPr>
              <a:t>05  Quantum Algorithms &amp; Real Use-Cases  (10 min)</a:t>
            </a:r>
          </a:p>
          <a:p xmlns:a="http://schemas.openxmlformats.org/drawingml/2006/main">
            <a:r>
              <a:rPr lang="en-US" sz="1800">
                <a:solidFill>
                  <a:srgbClr val="E3F2FD"/>
                </a:solidFill>
                <a:latin typeface="Calibri"/>
                <a:ea typeface="Calibri"/>
              </a:rPr>
              <a:t>06  Current Hardware Landscape  (7 min)</a:t>
            </a:r>
          </a:p>
          <a:p xmlns:a="http://schemas.openxmlformats.org/drawingml/2006/main">
            <a:r>
              <a:rPr lang="en-US" sz="1800">
                <a:solidFill>
                  <a:srgbClr val="E3F2FD"/>
                </a:solidFill>
                <a:latin typeface="Calibri"/>
                <a:ea typeface="Calibri"/>
              </a:rPr>
              <a:t>07  Quantum Software &amp; Qiskit Hands-On  (5 min)</a:t>
            </a:r>
          </a:p>
          <a:p xmlns:a="http://schemas.openxmlformats.org/drawingml/2006/main">
            <a:r>
              <a:rPr lang="en-US" sz="1800">
                <a:solidFill>
                  <a:srgbClr val="E3F2FD"/>
                </a:solidFill>
                <a:latin typeface="Calibri"/>
                <a:ea typeface="Calibri"/>
              </a:rPr>
              <a:t>08  Quantum Security &amp; Post-Quantum Cryptography  (5 min)</a:t>
            </a:r>
          </a:p>
          <a:p xmlns:a="http://schemas.openxmlformats.org/drawingml/2006/main">
            <a:r>
              <a:rPr lang="en-US" sz="1800">
                <a:solidFill>
                  <a:srgbClr val="E3F2FD"/>
                </a:solidFill>
                <a:latin typeface="Calibri"/>
                <a:ea typeface="Calibri"/>
              </a:rPr>
              <a:t>09  Careers, Resources &amp; Next Steps  (3 min)</a:t>
            </a:r>
          </a:p>
          <a:p xmlns:a="http://schemas.openxmlformats.org/drawingml/2006/main">
            <a:r>
              <a:rPr lang="en-US" sz="1800">
                <a:solidFill>
                  <a:srgbClr val="E3F2FD"/>
                </a:solidFill>
                <a:latin typeface="Calibri"/>
                <a:ea typeface="Calibri"/>
              </a:rPr>
              <a:t>10  Q&amp;A  (7 min — ongoing throughout)</a:t>
            </a:r>
          </a:p>
        </p:txBody>
      </p:sp>
      <p:sp>
        <p:nvSpPr>
          <p:cNvPr id="100228"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77"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26"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3.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10"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11" name="SlideNum"/>
          <p:cNvSpPr txBox="1"/>
          <p:nvPr/>
        </p:nvSpPr>
        <p:spPr>
          <a:xfrm xmlns:a="http://schemas.openxmlformats.org/drawingml/2006/main">
            <a:off x="6480000" y="216000"/>
            <a:ext cx="522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03 / 50  |  WHY QUANTUM NOW</a:t>
            </a:r>
          </a:p>
        </p:txBody>
      </p:sp>
      <p:sp>
        <p:nvSpPr>
          <p:cNvPr id="100012"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Why Quantum Computing — Now?</a:t>
            </a:r>
          </a:p>
        </p:txBody>
      </p:sp>
      <p:sp>
        <p:nvSpPr>
          <p:cNvPr id="100013"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 Moore's Law is slowing down — transistors are approaching atomic scale</a:t>
            </a:r>
          </a:p>
          <a:p xmlns:a="http://schemas.openxmlformats.org/drawingml/2006/main">
            <a:r>
              <a:rPr lang="en-US" sz="1700">
                <a:solidFill>
                  <a:srgbClr val="E3F2FD"/>
                </a:solidFill>
                <a:latin typeface="Calibri"/>
                <a:ea typeface="Calibri"/>
              </a:rPr>
              <a:t>🔹 Computational problems in drug discovery, climate modeling &amp; logistics are intractable for classical computers</a:t>
            </a:r>
          </a:p>
          <a:p xmlns:a="http://schemas.openxmlformats.org/drawingml/2006/main">
            <a:r>
              <a:rPr lang="en-US" sz="1700">
                <a:solidFill>
                  <a:srgbClr val="E3F2FD"/>
                </a:solidFill>
                <a:latin typeface="Calibri"/>
                <a:ea typeface="Calibri"/>
              </a:rPr>
              <a:t>🔹 Global quantum investments exceeded $35 billion in 2023 (McKinsey, 2023)</a:t>
            </a:r>
          </a:p>
          <a:p xmlns:a="http://schemas.openxmlformats.org/drawingml/2006/main">
            <a:r>
              <a:rPr lang="en-US" sz="1700">
                <a:solidFill>
                  <a:srgbClr val="E3F2FD"/>
                </a:solidFill>
                <a:latin typeface="Calibri"/>
                <a:ea typeface="Calibri"/>
              </a:rPr>
              <a:t>🔹 IBM, Google, Microsoft &amp; governments are racing to achieve quantum advantage</a:t>
            </a:r>
          </a:p>
          <a:p xmlns:a="http://schemas.openxmlformats.org/drawingml/2006/main">
            <a:r>
              <a:rPr lang="en-US" sz="1700">
                <a:solidFill>
                  <a:srgbClr val="E3F2FD"/>
                </a:solidFill>
                <a:latin typeface="Calibri"/>
                <a:ea typeface="Calibri"/>
              </a:rPr>
              <a:t>🔹 Quantum advantage: tasks that no classical computer can solve in practical time</a:t>
            </a:r>
          </a:p>
          <a:p xmlns:a="http://schemas.openxmlformats.org/drawingml/2006/main">
            <a:r>
              <a:rPr lang="en-US" sz="1700">
                <a:solidFill>
                  <a:srgbClr val="E3F2FD"/>
                </a:solidFill>
                <a:latin typeface="Calibri"/>
                <a:ea typeface="Calibri"/>
              </a:rPr>
              <a:t>🔹 NISQ era (Noisy Intermediate-Scale Quantum) is here — 1,000+ qubit systems operational</a:t>
            </a:r>
          </a:p>
        </p:txBody>
      </p:sp>
      <p:sp>
        <p:nvSpPr>
          <p:cNvPr id="100014" name="Highlight"/>
          <p:cNvSpPr txBox="1"/>
          <p:nvPr/>
        </p:nvSpPr>
        <p:spPr>
          <a:xfrm xmlns:a="http://schemas.openxmlformats.org/drawingml/2006/main">
            <a:off x="540000" y="504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FFD54F"/>
                </a:solidFill>
                <a:latin typeface="Calibri"/>
                <a:ea typeface="Calibri"/>
              </a:rPr>
              <a:t>"Quantum computing is not just an upgrade — it is a paradigm shift in computation." — IBM Research</a:t>
            </a:r>
          </a:p>
        </p:txBody>
      </p:sp>
      <p:sp>
        <p:nvSpPr>
          <p:cNvPr id="100229"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78"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27"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4.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1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16" name="SlideNum"/>
          <p:cNvSpPr txBox="1"/>
          <p:nvPr/>
        </p:nvSpPr>
        <p:spPr>
          <a:xfrm xmlns:a="http://schemas.openxmlformats.org/drawingml/2006/main">
            <a:off x="6480000" y="216000"/>
            <a:ext cx="522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04 / 50  |  CLASSICAL vs. QUBIT</a:t>
            </a:r>
          </a:p>
        </p:txBody>
      </p:sp>
      <p:sp>
        <p:nvSpPr>
          <p:cNvPr id="100017"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Classical Bit vs. Qubit</a:t>
            </a:r>
          </a:p>
        </p:txBody>
      </p:sp>
      <p:sp>
        <p:nvSpPr>
          <p:cNvPr id="100018" name="ClassicalCol"/>
          <p:cNvSpPr txBox="1"/>
          <p:nvPr/>
        </p:nvSpPr>
        <p:spPr>
          <a:xfrm xmlns:a="http://schemas.openxmlformats.org/drawingml/2006/main">
            <a:off x="540000" y="1116000"/>
            <a:ext cx="468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B3E5FC"/>
                </a:solidFill>
                <a:latin typeface="Calibri"/>
                <a:ea typeface="Calibri"/>
              </a:rPr>
              <a:t>CLASSICAL BIT</a:t>
            </a:r>
          </a:p>
          <a:p xmlns:a="http://schemas.openxmlformats.org/drawingml/2006/main">
            <a:r>
              <a:rPr lang="en-US" sz="1600">
                <a:solidFill>
                  <a:srgbClr val="B3E5FC"/>
                </a:solidFill>
                <a:latin typeface="Calibri"/>
                <a:ea typeface="Calibri"/>
              </a:rPr>
              <a:t/>
            </a:r>
          </a:p>
          <a:p xmlns:a="http://schemas.openxmlformats.org/drawingml/2006/main">
            <a:r>
              <a:rPr lang="en-US" sz="1600">
                <a:solidFill>
                  <a:srgbClr val="B3E5FC"/>
                </a:solidFill>
                <a:latin typeface="Calibri"/>
                <a:ea typeface="Calibri"/>
              </a:rPr>
              <a:t>▪ Two definite states: 0 or 1</a:t>
            </a:r>
          </a:p>
          <a:p xmlns:a="http://schemas.openxmlformats.org/drawingml/2006/main">
            <a:r>
              <a:rPr lang="en-US" sz="1600">
                <a:solidFill>
                  <a:srgbClr val="B3E5FC"/>
                </a:solidFill>
                <a:latin typeface="Calibri"/>
                <a:ea typeface="Calibri"/>
              </a:rPr>
              <a:t>▪ Like a light switch — ON or OFF</a:t>
            </a:r>
          </a:p>
          <a:p xmlns:a="http://schemas.openxmlformats.org/drawingml/2006/main">
            <a:r>
              <a:rPr lang="en-US" sz="1600">
                <a:solidFill>
                  <a:srgbClr val="B3E5FC"/>
                </a:solidFill>
                <a:latin typeface="Calibri"/>
                <a:ea typeface="Calibri"/>
              </a:rPr>
              <a:t>▪ Deterministic processing</a:t>
            </a:r>
          </a:p>
          <a:p xmlns:a="http://schemas.openxmlformats.org/drawingml/2006/main">
            <a:r>
              <a:rPr lang="en-US" sz="1600">
                <a:solidFill>
                  <a:srgbClr val="B3E5FC"/>
                </a:solidFill>
                <a:latin typeface="Calibri"/>
                <a:ea typeface="Calibri"/>
              </a:rPr>
              <a:t>▪ Information is encoded in voltage levels</a:t>
            </a:r>
          </a:p>
          <a:p xmlns:a="http://schemas.openxmlformats.org/drawingml/2006/main">
            <a:r>
              <a:rPr lang="en-US" sz="1600">
                <a:solidFill>
                  <a:srgbClr val="B3E5FC"/>
                </a:solidFill>
                <a:latin typeface="Calibri"/>
                <a:ea typeface="Calibri"/>
              </a:rPr>
              <a:t>▪ n bits can represent 1 out of 2ⁿ states at a time</a:t>
            </a:r>
          </a:p>
          <a:p xmlns:a="http://schemas.openxmlformats.org/drawingml/2006/main">
            <a:r>
              <a:rPr lang="en-US" sz="1600">
                <a:solidFill>
                  <a:srgbClr val="B3E5FC"/>
                </a:solidFill>
                <a:latin typeface="Calibri"/>
                <a:ea typeface="Calibri"/>
              </a:rPr>
              <a:t>▪ Sequential or parallel (multi-core) processing</a:t>
            </a:r>
          </a:p>
        </p:txBody>
      </p:sp>
      <p:sp>
        <p:nvSpPr>
          <p:cNvPr id="100019" name="Divider"/>
          <p:cNvSpPr txBox="1"/>
          <p:nvPr/>
        </p:nvSpPr>
        <p:spPr>
          <a:xfrm xmlns:a="http://schemas.openxmlformats.org/drawingml/2006/main">
            <a:off x="5580000" y="2880000"/>
            <a:ext cx="72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FFD54F"/>
                </a:solidFill>
                <a:latin typeface="Calibri"/>
                <a:ea typeface="Calibri"/>
              </a:rPr>
              <a:t>VS</a:t>
            </a:r>
          </a:p>
        </p:txBody>
      </p:sp>
      <p:sp>
        <p:nvSpPr>
          <p:cNvPr id="100020" name="QuantumCol"/>
          <p:cNvSpPr txBox="1"/>
          <p:nvPr/>
        </p:nvSpPr>
        <p:spPr>
          <a:xfrm xmlns:a="http://schemas.openxmlformats.org/drawingml/2006/main">
            <a:off x="6660000" y="1116000"/>
            <a:ext cx="504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C8E6C9"/>
                </a:solidFill>
                <a:latin typeface="Calibri"/>
                <a:ea typeface="Calibri"/>
              </a:rPr>
              <a:t>QUBIT (Quantum Bit)</a:t>
            </a:r>
          </a:p>
          <a:p xmlns:a="http://schemas.openxmlformats.org/drawingml/2006/main">
            <a:r>
              <a:rPr lang="en-US" sz="1600">
                <a:solidFill>
                  <a:srgbClr val="C8E6C9"/>
                </a:solidFill>
                <a:latin typeface="Calibri"/>
                <a:ea typeface="Calibri"/>
              </a:rPr>
              <a:t/>
            </a:r>
          </a:p>
          <a:p xmlns:a="http://schemas.openxmlformats.org/drawingml/2006/main">
            <a:r>
              <a:rPr lang="en-US" sz="1600">
                <a:solidFill>
                  <a:srgbClr val="C8E6C9"/>
                </a:solidFill>
                <a:latin typeface="Calibri"/>
                <a:ea typeface="Calibri"/>
              </a:rPr>
              <a:t>▪ Exists in superposition of 0 AND 1 simultaneously</a:t>
            </a:r>
          </a:p>
          <a:p xmlns:a="http://schemas.openxmlformats.org/drawingml/2006/main">
            <a:r>
              <a:rPr lang="en-US" sz="1600">
                <a:solidFill>
                  <a:srgbClr val="C8E6C9"/>
                </a:solidFill>
                <a:latin typeface="Calibri"/>
                <a:ea typeface="Calibri"/>
              </a:rPr>
              <a:t>▪ Like a coin spinning — both heads and tails</a:t>
            </a:r>
          </a:p>
          <a:p xmlns:a="http://schemas.openxmlformats.org/drawingml/2006/main">
            <a:r>
              <a:rPr lang="en-US" sz="1600">
                <a:solidFill>
                  <a:srgbClr val="C8E6C9"/>
                </a:solidFill>
                <a:latin typeface="Calibri"/>
                <a:ea typeface="Calibri"/>
              </a:rPr>
              <a:t>▪ Probabilistic until measured</a:t>
            </a:r>
          </a:p>
          <a:p xmlns:a="http://schemas.openxmlformats.org/drawingml/2006/main">
            <a:r>
              <a:rPr lang="en-US" sz="1600">
                <a:solidFill>
                  <a:srgbClr val="C8E6C9"/>
                </a:solidFill>
                <a:latin typeface="Calibri"/>
                <a:ea typeface="Calibri"/>
              </a:rPr>
              <a:t>▪ Encoded via photon polarization, electron spin, etc.</a:t>
            </a:r>
          </a:p>
          <a:p xmlns:a="http://schemas.openxmlformats.org/drawingml/2006/main">
            <a:r>
              <a:rPr lang="en-US" sz="1600">
                <a:solidFill>
                  <a:srgbClr val="C8E6C9"/>
                </a:solidFill>
                <a:latin typeface="Calibri"/>
                <a:ea typeface="Calibri"/>
              </a:rPr>
              <a:t>▪ n qubits represent 2ⁿ states simultaneously</a:t>
            </a:r>
          </a:p>
          <a:p xmlns:a="http://schemas.openxmlformats.org/drawingml/2006/main">
            <a:r>
              <a:rPr lang="en-US" sz="1600">
                <a:solidFill>
                  <a:srgbClr val="C8E6C9"/>
                </a:solidFill>
                <a:latin typeface="Calibri"/>
                <a:ea typeface="Calibri"/>
              </a:rPr>
              <a:t>▪ Exponential parallelism through interference</a:t>
            </a:r>
          </a:p>
        </p:txBody>
      </p:sp>
      <p:pic>
        <p:nvPicPr>
          <p:cNvPr id="100206" name="ClassicalVsQubit"/>
          <p:cNvPicPr>
            <a:picLocks noChangeAspect="1"/>
          </p:cNvPicPr>
          <p:nvPr/>
        </p:nvPicPr>
        <p:blipFill>
          <a:blip xmlns:r="http://schemas.openxmlformats.org/officeDocument/2006/relationships" r:embed="Rdde1676f5dc74de8">
            <a:extLst>
              <a:ext uri="{96DAC541-7B7A-43D3-8B79-37D633B846F1}">
                <asvg:svgBlip xmlns:asvg="http://schemas.microsoft.com/office/drawing/2016/SVG/main" r:embed="R83cea40272dd4ada"/>
              </a:ext>
            </a:extLst>
          </a:blip>
          <a:stretch>
            <a:fillRect/>
          </a:stretch>
        </p:blipFill>
        <p:spPr>
          <a:xfrm>
            <a:off x="540000" y="5112000"/>
            <a:ext cx="10800000" cy="1368000"/>
          </a:xfrm>
          <a:prstGeom prst="rect">
            <a:avLst/>
          </a:prstGeom>
        </p:spPr>
      </p:pic>
      <p:sp>
        <p:nvSpPr>
          <p:cNvPr id="100230"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79"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28"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5.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2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22" name="SlideNum"/>
          <p:cNvSpPr txBox="1"/>
          <p:nvPr/>
        </p:nvSpPr>
        <p:spPr>
          <a:xfrm xmlns:a="http://schemas.openxmlformats.org/drawingml/2006/main">
            <a:off x="7200000" y="216000"/>
            <a:ext cx="45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05 / 50  |  SUPERPOSITION</a:t>
            </a:r>
          </a:p>
        </p:txBody>
      </p:sp>
      <p:sp>
        <p:nvSpPr>
          <p:cNvPr id="10002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Superposition — Being in Two Places at Once</a:t>
            </a:r>
          </a:p>
        </p:txBody>
      </p:sp>
      <p:sp>
        <p:nvSpPr>
          <p:cNvPr id="100024"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Definition: A qubit exists in a linear combination of |0⟩ and |1⟩ states until measured.</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Mathematically:  |ψ⟩ = α|0⟩ + β|1⟩</a:t>
            </a:r>
          </a:p>
          <a:p xmlns:a="http://schemas.openxmlformats.org/drawingml/2006/main">
            <a:r>
              <a:rPr lang="en-US" sz="1600">
                <a:solidFill>
                  <a:srgbClr val="E3F2FD"/>
                </a:solidFill>
                <a:latin typeface="Calibri"/>
                <a:ea typeface="Calibri"/>
              </a:rPr>
              <a:t>  where  |α|² + |β|² = 1  (Born rule — probabilities sum to 1)</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Key Insight:</a:t>
            </a:r>
          </a:p>
          <a:p xmlns:a="http://schemas.openxmlformats.org/drawingml/2006/main">
            <a:r>
              <a:rPr lang="en-US" sz="1600">
                <a:solidFill>
                  <a:srgbClr val="E3F2FD"/>
                </a:solidFill>
                <a:latin typeface="Calibri"/>
                <a:ea typeface="Calibri"/>
              </a:rPr>
              <a:t>  ▪ α and β are complex probability amplitudes</a:t>
            </a:r>
          </a:p>
          <a:p xmlns:a="http://schemas.openxmlformats.org/drawingml/2006/main">
            <a:r>
              <a:rPr lang="en-US" sz="1600">
                <a:solidFill>
                  <a:srgbClr val="E3F2FD"/>
                </a:solidFill>
                <a:latin typeface="Calibri"/>
                <a:ea typeface="Calibri"/>
              </a:rPr>
              <a:t>  ▪ Measurement collapses the superposition to |0⟩ or |1⟩</a:t>
            </a:r>
          </a:p>
          <a:p xmlns:a="http://schemas.openxmlformats.org/drawingml/2006/main">
            <a:r>
              <a:rPr lang="en-US" sz="1600">
                <a:solidFill>
                  <a:srgbClr val="E3F2FD"/>
                </a:solidFill>
                <a:latin typeface="Calibri"/>
                <a:ea typeface="Calibri"/>
              </a:rPr>
              <a:t>  ▪ A register of n qubits in superposition explores 2ⁿ paths in parallel</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Analogy:</a:t>
            </a:r>
          </a:p>
          <a:p xmlns:a="http://schemas.openxmlformats.org/drawingml/2006/main">
            <a:r>
              <a:rPr lang="en-US" sz="1600">
                <a:solidFill>
                  <a:srgbClr val="E3F2FD"/>
                </a:solidFill>
                <a:latin typeface="Calibri"/>
                <a:ea typeface="Calibri"/>
              </a:rPr>
              <a:t>  ▪ Maze-solving: classical computer tries every path one by one</a:t>
            </a:r>
          </a:p>
          <a:p xmlns:a="http://schemas.openxmlformats.org/drawingml/2006/main">
            <a:r>
              <a:rPr lang="en-US" sz="1600">
                <a:solidFill>
                  <a:srgbClr val="E3F2FD"/>
                </a:solidFill>
                <a:latin typeface="Calibri"/>
                <a:ea typeface="Calibri"/>
              </a:rPr>
              <a:t>  ▪ Quantum computer enters all paths simultaneously — then interference selects the solution</a:t>
            </a:r>
          </a:p>
        </p:txBody>
      </p:sp>
      <p:pic>
        <p:nvPicPr>
          <p:cNvPr id="100207" name="SuperpositionDiagram"/>
          <p:cNvPicPr>
            <a:picLocks noChangeAspect="1"/>
          </p:cNvPicPr>
          <p:nvPr/>
        </p:nvPicPr>
        <p:blipFill>
          <a:blip xmlns:r="http://schemas.openxmlformats.org/officeDocument/2006/relationships" r:embed="R93620820a3984ac7">
            <a:extLst>
              <a:ext uri="{96DAC541-7B7A-43D3-8B79-37D633B846F1}">
                <asvg:svgBlip xmlns:asvg="http://schemas.microsoft.com/office/drawing/2016/SVG/main" r:embed="R07cf134aac414b3b"/>
              </a:ext>
            </a:extLst>
          </a:blip>
          <a:stretch>
            <a:fillRect/>
          </a:stretch>
        </p:blipFill>
        <p:spPr>
          <a:xfrm>
            <a:off x="540000" y="5112000"/>
            <a:ext cx="10800000" cy="1368000"/>
          </a:xfrm>
          <a:prstGeom prst="rect">
            <a:avLst/>
          </a:prstGeom>
        </p:spPr>
      </p:pic>
      <p:sp>
        <p:nvSpPr>
          <p:cNvPr id="100231"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0"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29"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6.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2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26" name="SlideNum"/>
          <p:cNvSpPr txBox="1"/>
          <p:nvPr/>
        </p:nvSpPr>
        <p:spPr>
          <a:xfrm xmlns:a="http://schemas.openxmlformats.org/drawingml/2006/main">
            <a:off x="7200000" y="216000"/>
            <a:ext cx="45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06 / 50  |  BLOCH SPHERE</a:t>
            </a:r>
          </a:p>
        </p:txBody>
      </p:sp>
      <p:sp>
        <p:nvSpPr>
          <p:cNvPr id="100027"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The Bloch Sphere — Visualizing a Qubit</a:t>
            </a:r>
          </a:p>
        </p:txBody>
      </p:sp>
      <p:sp>
        <p:nvSpPr>
          <p:cNvPr id="100028" name="Body"/>
          <p:cNvSpPr txBox="1"/>
          <p:nvPr/>
        </p:nvSpPr>
        <p:spPr>
          <a:xfrm xmlns:a="http://schemas.openxmlformats.org/drawingml/2006/main">
            <a:off x="540000" y="1116000"/>
            <a:ext cx="54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The Bloch Sphere is the standard geometric representation of a single qubit state.</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|ψ⟩ = cos(θ/2)|0⟩ + e^(iφ) sin(θ/2)|1⟩</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  ▪ North Pole  →  |0⟩  (pure zero state)</a:t>
            </a:r>
          </a:p>
          <a:p xmlns:a="http://schemas.openxmlformats.org/drawingml/2006/main">
            <a:r>
              <a:rPr lang="en-US" sz="1600">
                <a:solidFill>
                  <a:srgbClr val="E3F2FD"/>
                </a:solidFill>
                <a:latin typeface="Calibri"/>
                <a:ea typeface="Calibri"/>
              </a:rPr>
              <a:t>  ▪ South Pole  →  |1⟩  (pure one state)</a:t>
            </a:r>
          </a:p>
          <a:p xmlns:a="http://schemas.openxmlformats.org/drawingml/2006/main">
            <a:r>
              <a:rPr lang="en-US" sz="1600">
                <a:solidFill>
                  <a:srgbClr val="E3F2FD"/>
                </a:solidFill>
                <a:latin typeface="Calibri"/>
                <a:ea typeface="Calibri"/>
              </a:rPr>
              <a:t>  ▪ Equator     →  Equal superposition (e.g. |+⟩ state)</a:t>
            </a:r>
          </a:p>
          <a:p xmlns:a="http://schemas.openxmlformats.org/drawingml/2006/main">
            <a:r>
              <a:rPr lang="en-US" sz="1600">
                <a:solidFill>
                  <a:srgbClr val="E3F2FD"/>
                </a:solidFill>
                <a:latin typeface="Calibri"/>
                <a:ea typeface="Calibri"/>
              </a:rPr>
              <a:t>  ▪ θ (theta)   →  polar angle (amplitude ratio)</a:t>
            </a:r>
          </a:p>
          <a:p xmlns:a="http://schemas.openxmlformats.org/drawingml/2006/main">
            <a:r>
              <a:rPr lang="en-US" sz="1600">
                <a:solidFill>
                  <a:srgbClr val="E3F2FD"/>
                </a:solidFill>
                <a:latin typeface="Calibri"/>
                <a:ea typeface="Calibri"/>
              </a:rPr>
              <a:t>  ▪ φ (phi)     →  azimuthal angle (relative phase)</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Why Phase Matters:</a:t>
            </a:r>
          </a:p>
          <a:p xmlns:a="http://schemas.openxmlformats.org/drawingml/2006/main">
            <a:r>
              <a:rPr lang="en-US" sz="1600">
                <a:solidFill>
                  <a:srgbClr val="E3F2FD"/>
                </a:solidFill>
                <a:latin typeface="Calibri"/>
                <a:ea typeface="Calibri"/>
              </a:rPr>
              <a:t>  Phase is invisible at measurement but drives quantum interference — the engine of quantum speedup.</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Advanced Note: Two parameters (θ, φ) fully describe a qubit — vastly richer than a classical bit's single value.</a:t>
            </a:r>
          </a:p>
        </p:txBody>
      </p:sp>
      <p:pic>
        <p:nvPicPr>
          <p:cNvPr id="100208" name="BlochSphere"/>
          <p:cNvPicPr>
            <a:picLocks noChangeAspect="1"/>
          </p:cNvPicPr>
          <p:nvPr/>
        </p:nvPicPr>
        <p:blipFill>
          <a:blip xmlns:r="http://schemas.openxmlformats.org/officeDocument/2006/relationships" r:embed="Rd93ef3628d5146b5">
            <a:extLst>
              <a:ext uri="{96DAC541-7B7A-43D3-8B79-37D633B846F1}">
                <asvg:svgBlip xmlns:asvg="http://schemas.microsoft.com/office/drawing/2016/SVG/main" r:embed="R15c57e377fbe486c"/>
              </a:ext>
            </a:extLst>
          </a:blip>
          <a:stretch>
            <a:fillRect/>
          </a:stretch>
        </p:blipFill>
        <p:spPr>
          <a:xfrm>
            <a:off x="5940000" y="1008000"/>
            <a:ext cx="5400000" cy="5040000"/>
          </a:xfrm>
          <a:prstGeom prst="rect">
            <a:avLst/>
          </a:prstGeom>
        </p:spPr>
      </p:pic>
      <p:sp>
        <p:nvSpPr>
          <p:cNvPr id="100232"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1"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0"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7.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2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30" name="SlideNum"/>
          <p:cNvSpPr txBox="1"/>
          <p:nvPr/>
        </p:nvSpPr>
        <p:spPr>
          <a:xfrm xmlns:a="http://schemas.openxmlformats.org/drawingml/2006/main">
            <a:off x="7200000" y="216000"/>
            <a:ext cx="45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07 / 50  |  ENTANGLEMENT</a:t>
            </a:r>
          </a:p>
        </p:txBody>
      </p:sp>
      <p:sp>
        <p:nvSpPr>
          <p:cNvPr id="100031"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Entanglement — Spooky Action at a Distance</a:t>
            </a:r>
          </a:p>
        </p:txBody>
      </p:sp>
      <p:sp>
        <p:nvSpPr>
          <p:cNvPr id="100032"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Definition: Two or more qubits are entangled when the quantum state of each cannot be described independently.</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Bell State (maximally entangled):</a:t>
            </a:r>
          </a:p>
          <a:p xmlns:a="http://schemas.openxmlformats.org/drawingml/2006/main">
            <a:r>
              <a:rPr lang="en-US" sz="1600">
                <a:solidFill>
                  <a:srgbClr val="E3F2FD"/>
                </a:solidFill>
                <a:latin typeface="Calibri"/>
                <a:ea typeface="Calibri"/>
              </a:rPr>
              <a:t>  |Φ⁺⟩ = (1/√2)(|00⟩ + |11⟩)</a:t>
            </a:r>
          </a:p>
          <a:p xmlns:a="http://schemas.openxmlformats.org/drawingml/2006/main">
            <a:r>
              <a:rPr lang="en-US" sz="1600">
                <a:solidFill>
                  <a:srgbClr val="E3F2FD"/>
                </a:solidFill>
                <a:latin typeface="Calibri"/>
                <a:ea typeface="Calibri"/>
              </a:rPr>
              <a:t>  Measure qubit A → instantly know qubit B, regardless of distance.</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Key Properties:</a:t>
            </a:r>
          </a:p>
          <a:p xmlns:a="http://schemas.openxmlformats.org/drawingml/2006/main">
            <a:r>
              <a:rPr lang="en-US" sz="1600">
                <a:solidFill>
                  <a:srgbClr val="E3F2FD"/>
                </a:solidFill>
                <a:latin typeface="Calibri"/>
                <a:ea typeface="Calibri"/>
              </a:rPr>
              <a:t>  ▪ Non-local correlations — no classical communication needed</a:t>
            </a:r>
          </a:p>
          <a:p xmlns:a="http://schemas.openxmlformats.org/drawingml/2006/main">
            <a:r>
              <a:rPr lang="en-US" sz="1600">
                <a:solidFill>
                  <a:srgbClr val="E3F2FD"/>
                </a:solidFill>
                <a:latin typeface="Calibri"/>
                <a:ea typeface="Calibri"/>
              </a:rPr>
              <a:t>  ▪ Violates Bell inequalities (proven experimentally — Nobel Prize 2022: Aspect, Clauser, Zeilinger)</a:t>
            </a:r>
          </a:p>
          <a:p xmlns:a="http://schemas.openxmlformats.org/drawingml/2006/main">
            <a:r>
              <a:rPr lang="en-US" sz="1600">
                <a:solidFill>
                  <a:srgbClr val="E3F2FD"/>
                </a:solidFill>
                <a:latin typeface="Calibri"/>
                <a:ea typeface="Calibri"/>
              </a:rPr>
              <a:t>  ▪ Powers quantum teleportation, superdense coding, and quantum key distribution</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Common Misconception: Entanglement cannot transmit information faster than light — it provides correlations, not communication (no-communication theorem).</a:t>
            </a:r>
          </a:p>
        </p:txBody>
      </p:sp>
      <p:pic>
        <p:nvPicPr>
          <p:cNvPr id="100209" name="EntanglementCircuit"/>
          <p:cNvPicPr>
            <a:picLocks noChangeAspect="1"/>
          </p:cNvPicPr>
          <p:nvPr/>
        </p:nvPicPr>
        <p:blipFill>
          <a:blip xmlns:r="http://schemas.openxmlformats.org/officeDocument/2006/relationships" r:embed="R6f2409e52698475b">
            <a:extLst>
              <a:ext uri="{96DAC541-7B7A-43D3-8B79-37D633B846F1}">
                <asvg:svgBlip xmlns:asvg="http://schemas.microsoft.com/office/drawing/2016/SVG/main" r:embed="Rb188e07988b545cc"/>
              </a:ext>
            </a:extLst>
          </a:blip>
          <a:stretch>
            <a:fillRect/>
          </a:stretch>
        </p:blipFill>
        <p:spPr>
          <a:xfrm>
            <a:off x="540000" y="5112000"/>
            <a:ext cx="10800000" cy="1368000"/>
          </a:xfrm>
          <a:prstGeom prst="rect">
            <a:avLst/>
          </a:prstGeom>
        </p:spPr>
      </p:pic>
      <p:sp>
        <p:nvSpPr>
          <p:cNvPr id="100233"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2"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1"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8.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3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34" name="SlideNum"/>
          <p:cNvSpPr txBox="1"/>
          <p:nvPr/>
        </p:nvSpPr>
        <p:spPr>
          <a:xfrm xmlns:a="http://schemas.openxmlformats.org/drawingml/2006/main">
            <a:off x="7200000" y="216000"/>
            <a:ext cx="45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08 / 50  |  INTERFERENCE</a:t>
            </a:r>
          </a:p>
        </p:txBody>
      </p:sp>
      <p:sp>
        <p:nvSpPr>
          <p:cNvPr id="100035"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Interference — Amplify the Right Answer</a:t>
            </a:r>
          </a:p>
        </p:txBody>
      </p:sp>
      <p:sp>
        <p:nvSpPr>
          <p:cNvPr id="100036"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Interference is the mechanism that makes quantum algorithms powerful.</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Constructive Interference: Amplifies probability amplitudes leading to the correct answer</a:t>
            </a:r>
          </a:p>
          <a:p xmlns:a="http://schemas.openxmlformats.org/drawingml/2006/main">
            <a:r>
              <a:rPr lang="en-US" sz="1600">
                <a:solidFill>
                  <a:srgbClr val="E3F2FD"/>
                </a:solidFill>
                <a:latin typeface="Calibri"/>
                <a:ea typeface="Calibri"/>
              </a:rPr>
              <a:t>Destructive Interference: Cancels probability amplitudes leading to wrong answers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Analogy:</a:t>
            </a:r>
          </a:p>
          <a:p xmlns:a="http://schemas.openxmlformats.org/drawingml/2006/main">
            <a:r>
              <a:rPr lang="en-US" sz="1600">
                <a:solidFill>
                  <a:srgbClr val="E3F2FD"/>
                </a:solidFill>
                <a:latin typeface="Calibri"/>
                <a:ea typeface="Calibri"/>
              </a:rPr>
              <a:t>  ▪ Like noise-canceling headphones — destructive waves cancel noise, constructive waves amplify signal</a:t>
            </a:r>
          </a:p>
          <a:p xmlns:a="http://schemas.openxmlformats.org/drawingml/2006/main">
            <a:r>
              <a:rPr lang="en-US" sz="1600">
                <a:solidFill>
                  <a:srgbClr val="E3F2FD"/>
                </a:solidFill>
                <a:latin typeface="Calibri"/>
                <a:ea typeface="Calibri"/>
              </a:rPr>
              <a:t>  ▪ Double-slit experiment: particles interfere with themselves, producing a wave pattern</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Role in Algorithms:</a:t>
            </a:r>
          </a:p>
          <a:p xmlns:a="http://schemas.openxmlformats.org/drawingml/2006/main">
            <a:r>
              <a:rPr lang="en-US" sz="1600">
                <a:solidFill>
                  <a:srgbClr val="E3F2FD"/>
                </a:solidFill>
                <a:latin typeface="Calibri"/>
                <a:ea typeface="Calibri"/>
              </a:rPr>
              <a:t>  ▪ Grover's Search — interference amplifies the target item's amplitude after each oracle query</a:t>
            </a:r>
          </a:p>
          <a:p xmlns:a="http://schemas.openxmlformats.org/drawingml/2006/main">
            <a:r>
              <a:rPr lang="en-US" sz="1600">
                <a:solidFill>
                  <a:srgbClr val="E3F2FD"/>
                </a:solidFill>
                <a:latin typeface="Calibri"/>
                <a:ea typeface="Calibri"/>
              </a:rPr>
              <a:t>  ▪ Shor's Algorithm — Quantum Fourier Transform uses interference to find prime factors</a:t>
            </a:r>
          </a:p>
          <a:p xmlns:a="http://schemas.openxmlformats.org/drawingml/2006/main">
            <a:r>
              <a:rPr lang="en-US" sz="1600">
                <a:solidFill>
                  <a:srgbClr val="E3F2FD"/>
                </a:solidFill>
                <a:latin typeface="Calibri"/>
                <a:ea typeface="Calibri"/>
              </a:rPr>
              <a:t>  ▪ VQE &amp; QAOA — variational algorithms exploit interference in their energy landscapes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Key Insight: Quantum speedup comes from superposition + interference working together.</a:t>
            </a:r>
          </a:p>
        </p:txBody>
      </p:sp>
      <p:pic>
        <p:nvPicPr>
          <p:cNvPr id="100210" name="InterferenceDiagram"/>
          <p:cNvPicPr>
            <a:picLocks noChangeAspect="1"/>
          </p:cNvPicPr>
          <p:nvPr/>
        </p:nvPicPr>
        <p:blipFill>
          <a:blip xmlns:r="http://schemas.openxmlformats.org/officeDocument/2006/relationships" r:embed="R2dd42b3596cc443f">
            <a:extLst>
              <a:ext uri="{96DAC541-7B7A-43D3-8B79-37D633B846F1}">
                <asvg:svgBlip xmlns:asvg="http://schemas.microsoft.com/office/drawing/2016/SVG/main" r:embed="Rbd540646f1574e70"/>
              </a:ext>
            </a:extLst>
          </a:blip>
          <a:stretch>
            <a:fillRect/>
          </a:stretch>
        </p:blipFill>
        <p:spPr>
          <a:xfrm>
            <a:off x="540000" y="5112000"/>
            <a:ext cx="10800000" cy="1368000"/>
          </a:xfrm>
          <a:prstGeom prst="rect">
            <a:avLst/>
          </a:prstGeom>
        </p:spPr>
      </p:pic>
      <p:sp>
        <p:nvSpPr>
          <p:cNvPr id="100234"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3"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2"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9.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3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38" name="SlideNum"/>
          <p:cNvSpPr txBox="1"/>
          <p:nvPr/>
        </p:nvSpPr>
        <p:spPr>
          <a:xfrm xmlns:a="http://schemas.openxmlformats.org/drawingml/2006/main">
            <a:off x="7200000" y="216000"/>
            <a:ext cx="45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09 / 50  |  GATES</a:t>
            </a:r>
          </a:p>
        </p:txBody>
      </p:sp>
      <p:sp>
        <p:nvSpPr>
          <p:cNvPr id="10003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Gates — The Building Blocks</a:t>
            </a:r>
          </a:p>
        </p:txBody>
      </p:sp>
      <p:sp>
        <p:nvSpPr>
          <p:cNvPr id="100040"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Quantum gates are unitary matrices that transform qubit states. They are always reversible.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Single-Qubit Gates:</a:t>
            </a:r>
          </a:p>
          <a:p xmlns:a="http://schemas.openxmlformats.org/drawingml/2006/main">
            <a:r>
              <a:rPr lang="en-US" sz="1500">
                <a:solidFill>
                  <a:srgbClr val="E3F2FD"/>
                </a:solidFill>
                <a:latin typeface="Calibri"/>
                <a:ea typeface="Calibri"/>
              </a:rPr>
              <a:t>  ▪ X Gate (NOT)     : |0⟩ → |1⟩, |1⟩ → |0⟩       Matrix: [[0,1],[1,0]]</a:t>
            </a:r>
          </a:p>
          <a:p xmlns:a="http://schemas.openxmlformats.org/drawingml/2006/main">
            <a:r>
              <a:rPr lang="en-US" sz="1500">
                <a:solidFill>
                  <a:srgbClr val="E3F2FD"/>
                </a:solidFill>
                <a:latin typeface="Calibri"/>
                <a:ea typeface="Calibri"/>
              </a:rPr>
              <a:t>  ▪ H Gate (Hadamard): |0⟩ → |+⟩ (superposition)   Creates equal superposition</a:t>
            </a:r>
          </a:p>
          <a:p xmlns:a="http://schemas.openxmlformats.org/drawingml/2006/main">
            <a:r>
              <a:rPr lang="en-US" sz="1500">
                <a:solidFill>
                  <a:srgbClr val="E3F2FD"/>
                </a:solidFill>
                <a:latin typeface="Calibri"/>
                <a:ea typeface="Calibri"/>
              </a:rPr>
              <a:t>  ▪ Z Gate (Phase)   : |1⟩ → -|1⟩                  Flips phase of |1⟩</a:t>
            </a:r>
          </a:p>
          <a:p xmlns:a="http://schemas.openxmlformats.org/drawingml/2006/main">
            <a:r>
              <a:rPr lang="en-US" sz="1500">
                <a:solidFill>
                  <a:srgbClr val="E3F2FD"/>
                </a:solidFill>
                <a:latin typeface="Calibri"/>
                <a:ea typeface="Calibri"/>
              </a:rPr>
              <a:t>  ▪ T &amp; S Gates      : π/8 and π/4 phase rotations  Essential for universality</a:t>
            </a:r>
          </a:p>
          <a:p xmlns:a="http://schemas.openxmlformats.org/drawingml/2006/main">
            <a:r>
              <a:rPr lang="en-US" sz="1500">
                <a:solidFill>
                  <a:srgbClr val="E3F2FD"/>
                </a:solidFill>
                <a:latin typeface="Calibri"/>
                <a:ea typeface="Calibri"/>
              </a:rPr>
              <a:t>  ▪ Rx, Ry, Rz       : Continuous rotations on Bloch Sphere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Two-Qubit Gates:</a:t>
            </a:r>
          </a:p>
          <a:p xmlns:a="http://schemas.openxmlformats.org/drawingml/2006/main">
            <a:r>
              <a:rPr lang="en-US" sz="1500">
                <a:solidFill>
                  <a:srgbClr val="E3F2FD"/>
                </a:solidFill>
                <a:latin typeface="Calibri"/>
                <a:ea typeface="Calibri"/>
              </a:rPr>
              <a:t>  ▪ CNOT (Controlled-NOT): Flips target if control is |1⟩ — generates entanglement</a:t>
            </a:r>
          </a:p>
          <a:p xmlns:a="http://schemas.openxmlformats.org/drawingml/2006/main">
            <a:r>
              <a:rPr lang="en-US" sz="1500">
                <a:solidFill>
                  <a:srgbClr val="E3F2FD"/>
                </a:solidFill>
                <a:latin typeface="Calibri"/>
                <a:ea typeface="Calibri"/>
              </a:rPr>
              <a:t>  ▪ SWAP               : Exchanges states of two qubits</a:t>
            </a:r>
          </a:p>
          <a:p xmlns:a="http://schemas.openxmlformats.org/drawingml/2006/main">
            <a:r>
              <a:rPr lang="en-US" sz="1500">
                <a:solidFill>
                  <a:srgbClr val="E3F2FD"/>
                </a:solidFill>
                <a:latin typeface="Calibri"/>
                <a:ea typeface="Calibri"/>
              </a:rPr>
              <a:t>  ▪ Toffoli (CCNOT)    : 3-qubit gate — universal for classical + quantum computation</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Universality: {H, T, CNOT} gate set is universal — any computation can be expressed with these three.</a:t>
            </a:r>
          </a:p>
        </p:txBody>
      </p:sp>
      <p:pic>
        <p:nvPicPr>
          <p:cNvPr id="100211" name="GatesDiagram"/>
          <p:cNvPicPr>
            <a:picLocks noChangeAspect="1"/>
          </p:cNvPicPr>
          <p:nvPr/>
        </p:nvPicPr>
        <p:blipFill>
          <a:blip xmlns:r="http://schemas.openxmlformats.org/officeDocument/2006/relationships" r:embed="Rbdd0aca5650d4a0e">
            <a:extLst>
              <a:ext uri="{96DAC541-7B7A-43D3-8B79-37D633B846F1}">
                <asvg:svgBlip xmlns:asvg="http://schemas.microsoft.com/office/drawing/2016/SVG/main" r:embed="R8f066c4d86c84f30"/>
              </a:ext>
            </a:extLst>
          </a:blip>
          <a:stretch>
            <a:fillRect/>
          </a:stretch>
        </p:blipFill>
        <p:spPr>
          <a:xfrm>
            <a:off x="540000" y="5112000"/>
            <a:ext cx="10800000" cy="1368000"/>
          </a:xfrm>
          <a:prstGeom prst="rect">
            <a:avLst/>
          </a:prstGeom>
        </p:spPr>
      </p:pic>
      <p:sp>
        <p:nvSpPr>
          <p:cNvPr id="100235"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4"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3"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10.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4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42" name="SlideNum"/>
          <p:cNvSpPr txBox="1"/>
          <p:nvPr/>
        </p:nvSpPr>
        <p:spPr>
          <a:xfrm xmlns:a="http://schemas.openxmlformats.org/drawingml/2006/main">
            <a:off x="7200000" y="216000"/>
            <a:ext cx="45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10 / 50  |  CIRCUITS</a:t>
            </a:r>
          </a:p>
        </p:txBody>
      </p:sp>
      <p:sp>
        <p:nvSpPr>
          <p:cNvPr id="10004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Circuits — Putting Gates Together</a:t>
            </a:r>
          </a:p>
        </p:txBody>
      </p:sp>
      <p:sp>
        <p:nvSpPr>
          <p:cNvPr id="100044"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A quantum circuit is a sequence of quantum gates applied to qubits, read left to right.</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Anatomy of a Quantum Circuit:</a:t>
            </a:r>
          </a:p>
          <a:p xmlns:a="http://schemas.openxmlformats.org/drawingml/2006/main">
            <a:r>
              <a:rPr lang="en-US" sz="1500">
                <a:solidFill>
                  <a:srgbClr val="E3F2FD"/>
                </a:solidFill>
                <a:latin typeface="Calibri"/>
                <a:ea typeface="Calibri"/>
              </a:rPr>
              <a:t>  ─── q₀ ──[H]──●──────[M]───   (qubit 0: Hadamard, then CNOT control, then measure)</a:t>
            </a:r>
          </a:p>
          <a:p xmlns:a="http://schemas.openxmlformats.org/drawingml/2006/main">
            <a:r>
              <a:rPr lang="en-US" sz="1500">
                <a:solidFill>
                  <a:srgbClr val="E3F2FD"/>
                </a:solidFill>
                <a:latin typeface="Calibri"/>
                <a:ea typeface="Calibri"/>
              </a:rPr>
              <a:t>  ─── q₁ ───────⊕──────[M]───   (qubit 1: CNOT target, then measure)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Result: Bell State |Φ⁺⟩ — two entangled qubits</a:t>
            </a:r>
          </a:p>
          <a:p xmlns:a="http://schemas.openxmlformats.org/drawingml/2006/main">
            <a:r>
              <a:rPr lang="en-US" sz="1500">
                <a:solidFill>
                  <a:srgbClr val="E3F2FD"/>
                </a:solidFill>
                <a:latin typeface="Calibri"/>
                <a:ea typeface="Calibri"/>
              </a:rPr>
              <a:t>  Measure both → always get 00 or 11 (never 01 or 10)</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Circuit Metrics:</a:t>
            </a:r>
          </a:p>
          <a:p xmlns:a="http://schemas.openxmlformats.org/drawingml/2006/main">
            <a:r>
              <a:rPr lang="en-US" sz="1500">
                <a:solidFill>
                  <a:srgbClr val="E3F2FD"/>
                </a:solidFill>
                <a:latin typeface="Calibri"/>
                <a:ea typeface="Calibri"/>
              </a:rPr>
              <a:t>  ▪ Width    : Number of qubits (horizontal lines)</a:t>
            </a:r>
          </a:p>
          <a:p xmlns:a="http://schemas.openxmlformats.org/drawingml/2006/main">
            <a:r>
              <a:rPr lang="en-US" sz="1500">
                <a:solidFill>
                  <a:srgbClr val="E3F2FD"/>
                </a:solidFill>
                <a:latin typeface="Calibri"/>
                <a:ea typeface="Calibri"/>
              </a:rPr>
              <a:t>  ▪ Depth    : Number of sequential gate layers (circuit 'time')</a:t>
            </a:r>
          </a:p>
          <a:p xmlns:a="http://schemas.openxmlformats.org/drawingml/2006/main">
            <a:r>
              <a:rPr lang="en-US" sz="1500">
                <a:solidFill>
                  <a:srgbClr val="E3F2FD"/>
                </a:solidFill>
                <a:latin typeface="Calibri"/>
                <a:ea typeface="Calibri"/>
              </a:rPr>
              <a:t>  ▪ T-count  : Number of T-gates (resource cost for fault tolerance)</a:t>
            </a:r>
          </a:p>
          <a:p xmlns:a="http://schemas.openxmlformats.org/drawingml/2006/main">
            <a:r>
              <a:rPr lang="en-US" sz="1500">
                <a:solidFill>
                  <a:srgbClr val="E3F2FD"/>
                </a:solidFill>
                <a:latin typeface="Calibri"/>
                <a:ea typeface="Calibri"/>
              </a:rPr>
              <a:t>  ▪ Gate Fidelity: Probability a gate operates correctly (current NISQ: 99.5% for 2-qubit gates)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NISQ Constraint: Circuits must be shallow (low depth) to run before decoherence destroys the quantum state.</a:t>
            </a:r>
          </a:p>
        </p:txBody>
      </p:sp>
      <p:pic>
        <p:nvPicPr>
          <p:cNvPr id="100212" name="CircuitDiagram"/>
          <p:cNvPicPr>
            <a:picLocks noChangeAspect="1"/>
          </p:cNvPicPr>
          <p:nvPr/>
        </p:nvPicPr>
        <p:blipFill>
          <a:blip xmlns:r="http://schemas.openxmlformats.org/officeDocument/2006/relationships" r:embed="R007cea3fafd2406f">
            <a:extLst>
              <a:ext uri="{96DAC541-7B7A-43D3-8B79-37D633B846F1}">
                <asvg:svgBlip xmlns:asvg="http://schemas.microsoft.com/office/drawing/2016/SVG/main" r:embed="Ra6af204a1ec34b2d"/>
              </a:ext>
            </a:extLst>
          </a:blip>
          <a:stretch>
            <a:fillRect/>
          </a:stretch>
        </p:blipFill>
        <p:spPr>
          <a:xfrm>
            <a:off x="540000" y="5112000"/>
            <a:ext cx="10800000" cy="1368000"/>
          </a:xfrm>
          <a:prstGeom prst="rect">
            <a:avLst/>
          </a:prstGeom>
        </p:spPr>
      </p:pic>
      <p:sp>
        <p:nvSpPr>
          <p:cNvPr id="100236"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5"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4" name="SectionBadge"/>
          <p:cNvSpPr txBox="1"/>
          <p:nvPr/>
        </p:nvSpPr>
        <p:spPr>
          <a:xfrm>
            <a:off x="540000" y="198000"/>
            <a:ext cx="1260000" cy="180000"/>
          </a:xfrm>
          <a:prstGeom prst="rect">
            <a:avLst/>
          </a:prstGeom>
          <a:solidFill>
            <a:srgbClr val="1E3A5F"/>
          </a:solidFill>
        </p:spPr>
        <p:txBody>
          <a:bodyPr/>
          <a:lstStyle/>
          <a:p>
            <a:r>
              <a:rPr lang="en-US" sz="800" b="1">
                <a:solidFill>
                  <a:srgbClr val="90CAF9"/>
                </a:solidFill>
                <a:latin typeface="Calibri"/>
                <a:ea typeface="Calibri"/>
              </a:rPr>
              <a:t>FOUNDATIONS</a:t>
            </a:r>
          </a:p>
        </p:txBody>
      </p:sp>
    </p:spTree>
  </p:cSld>
</p:sld>
</file>

<file path=ppt/slides/slide11.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4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46" name="SlideNum"/>
          <p:cNvSpPr txBox="1"/>
          <p:nvPr/>
        </p:nvSpPr>
        <p:spPr>
          <a:xfrm xmlns:a="http://schemas.openxmlformats.org/drawingml/2006/main">
            <a:off x="6840000" y="216000"/>
            <a:ext cx="486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11 / 50  |  DECOHERENCE</a:t>
            </a:r>
          </a:p>
        </p:txBody>
      </p:sp>
      <p:sp>
        <p:nvSpPr>
          <p:cNvPr id="100047"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Decoherence — The Enemy of Quantum State</a:t>
            </a:r>
          </a:p>
        </p:txBody>
      </p:sp>
      <p:sp>
        <p:nvSpPr>
          <p:cNvPr id="100048"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Decoherence is the process by which a qubit loses its quantum properties through interaction with the environment.</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Types of Errors:</a:t>
            </a:r>
          </a:p>
          <a:p xmlns:a="http://schemas.openxmlformats.org/drawingml/2006/main">
            <a:r>
              <a:rPr lang="en-US" sz="1500">
                <a:solidFill>
                  <a:srgbClr val="E3F2FD"/>
                </a:solidFill>
                <a:latin typeface="Calibri"/>
                <a:ea typeface="Calibri"/>
              </a:rPr>
              <a:t>  ▪ T1 (Energy Relaxation): Qubit spontaneously flips |1⟩ → |0⟩  (decay time: ~100–500 μs for superconducting)</a:t>
            </a:r>
          </a:p>
          <a:p xmlns:a="http://schemas.openxmlformats.org/drawingml/2006/main">
            <a:r>
              <a:rPr lang="en-US" sz="1500">
                <a:solidFill>
                  <a:srgbClr val="E3F2FD"/>
                </a:solidFill>
                <a:latin typeface="Calibri"/>
                <a:ea typeface="Calibri"/>
              </a:rPr>
              <a:t>  ▪ T2 (Dephasing): Relative phase between |0⟩ and |1⟩ is randomized (coherence time)</a:t>
            </a:r>
          </a:p>
          <a:p xmlns:a="http://schemas.openxmlformats.org/drawingml/2006/main">
            <a:r>
              <a:rPr lang="en-US" sz="1500">
                <a:solidFill>
                  <a:srgbClr val="E3F2FD"/>
                </a:solidFill>
                <a:latin typeface="Calibri"/>
                <a:ea typeface="Calibri"/>
              </a:rPr>
              <a:t>  ▪ Gate Errors: Imperfect implementation of unitary operations</a:t>
            </a:r>
          </a:p>
          <a:p xmlns:a="http://schemas.openxmlformats.org/drawingml/2006/main">
            <a:r>
              <a:rPr lang="en-US" sz="1500">
                <a:solidFill>
                  <a:srgbClr val="E3F2FD"/>
                </a:solidFill>
                <a:latin typeface="Calibri"/>
                <a:ea typeface="Calibri"/>
              </a:rPr>
              <a:t>  ▪ Readout Errors: Measurement distinguishes |0⟩/|1⟩ incorrectly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Why It Matters:</a:t>
            </a:r>
          </a:p>
          <a:p xmlns:a="http://schemas.openxmlformats.org/drawingml/2006/main">
            <a:r>
              <a:rPr lang="en-US" sz="1500">
                <a:solidFill>
                  <a:srgbClr val="E3F2FD"/>
                </a:solidFill>
                <a:latin typeface="Calibri"/>
                <a:ea typeface="Calibri"/>
              </a:rPr>
              <a:t>  ▪ Limits circuit depth — must finish computation before coherence is lost</a:t>
            </a:r>
          </a:p>
          <a:p xmlns:a="http://schemas.openxmlformats.org/drawingml/2006/main">
            <a:r>
              <a:rPr lang="en-US" sz="1500">
                <a:solidFill>
                  <a:srgbClr val="E3F2FD"/>
                </a:solidFill>
                <a:latin typeface="Calibri"/>
                <a:ea typeface="Calibri"/>
              </a:rPr>
              <a:t>  ▪ Today's NISQ computers operate with 0.1%–1% error per gate</a:t>
            </a:r>
          </a:p>
          <a:p xmlns:a="http://schemas.openxmlformats.org/drawingml/2006/main">
            <a:r>
              <a:rPr lang="en-US" sz="1500">
                <a:solidFill>
                  <a:srgbClr val="E3F2FD"/>
                </a:solidFill>
                <a:latin typeface="Calibri"/>
                <a:ea typeface="Calibri"/>
              </a:rPr>
              <a:t>  ▪ Error rates must reach &lt; 0.01% for fault-tolerant quantum computing</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Mitigation Strategies (near-term):</a:t>
            </a:r>
          </a:p>
          <a:p xmlns:a="http://schemas.openxmlformats.org/drawingml/2006/main">
            <a:r>
              <a:rPr lang="en-US" sz="1500">
                <a:solidFill>
                  <a:srgbClr val="E3F2FD"/>
                </a:solidFill>
                <a:latin typeface="Calibri"/>
                <a:ea typeface="Calibri"/>
              </a:rPr>
              <a:t>  ▪ Zero-Noise Extrapolation (ZNE)</a:t>
            </a:r>
          </a:p>
          <a:p xmlns:a="http://schemas.openxmlformats.org/drawingml/2006/main">
            <a:r>
              <a:rPr lang="en-US" sz="1500">
                <a:solidFill>
                  <a:srgbClr val="E3F2FD"/>
                </a:solidFill>
                <a:latin typeface="Calibri"/>
                <a:ea typeface="Calibri"/>
              </a:rPr>
              <a:t>  ▪ Probabilistic Error Cancellation (PEC)</a:t>
            </a:r>
          </a:p>
          <a:p xmlns:a="http://schemas.openxmlformats.org/drawingml/2006/main">
            <a:r>
              <a:rPr lang="en-US" sz="1500">
                <a:solidFill>
                  <a:srgbClr val="E3F2FD"/>
                </a:solidFill>
                <a:latin typeface="Calibri"/>
                <a:ea typeface="Calibri"/>
              </a:rPr>
              <a:t>  ▪ Dynamical Decoupling (DD)</a:t>
            </a:r>
          </a:p>
        </p:txBody>
      </p:sp>
      <p:pic>
        <p:nvPicPr>
          <p:cNvPr id="100213" name="DecoherenceDiagram"/>
          <p:cNvPicPr>
            <a:picLocks noChangeAspect="1"/>
          </p:cNvPicPr>
          <p:nvPr/>
        </p:nvPicPr>
        <p:blipFill>
          <a:blip xmlns:r="http://schemas.openxmlformats.org/officeDocument/2006/relationships" r:embed="R306a732e337149bf">
            <a:extLst>
              <a:ext uri="{96DAC541-7B7A-43D3-8B79-37D633B846F1}">
                <asvg:svgBlip xmlns:asvg="http://schemas.microsoft.com/office/drawing/2016/SVG/main" r:embed="R8e5a39a358a3442a"/>
              </a:ext>
            </a:extLst>
          </a:blip>
          <a:stretch>
            <a:fillRect/>
          </a:stretch>
        </p:blipFill>
        <p:spPr>
          <a:xfrm>
            <a:off x="540000" y="5112000"/>
            <a:ext cx="10800000" cy="1368000"/>
          </a:xfrm>
          <a:prstGeom prst="rect">
            <a:avLst/>
          </a:prstGeom>
        </p:spPr>
      </p:pic>
      <p:sp>
        <p:nvSpPr>
          <p:cNvPr id="100237"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6"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5" name="SectionBadge"/>
          <p:cNvSpPr txBox="1"/>
          <p:nvPr/>
        </p:nvSpPr>
        <p:spPr>
          <a:xfrm>
            <a:off x="540000" y="198000"/>
            <a:ext cx="1080000" cy="180000"/>
          </a:xfrm>
          <a:prstGeom prst="rect">
            <a:avLst/>
          </a:prstGeom>
          <a:solidFill>
            <a:srgbClr val="1A3A2A"/>
          </a:solidFill>
        </p:spPr>
        <p:txBody>
          <a:bodyPr/>
          <a:lstStyle/>
          <a:p>
            <a:r>
              <a:rPr lang="en-US" sz="800" b="1">
                <a:solidFill>
                  <a:srgbClr val="A5D6A7"/>
                </a:solidFill>
                <a:latin typeface="Calibri"/>
                <a:ea typeface="Calibri"/>
              </a:rPr>
              <a:t>HARDWARE</a:t>
            </a:r>
          </a:p>
        </p:txBody>
      </p:sp>
    </p:spTree>
  </p:cSld>
</p:sld>
</file>

<file path=ppt/slides/slide12.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4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50" name="SlideNum"/>
          <p:cNvSpPr txBox="1"/>
          <p:nvPr/>
        </p:nvSpPr>
        <p:spPr>
          <a:xfrm xmlns:a="http://schemas.openxmlformats.org/drawingml/2006/main">
            <a:off x="6480000" y="216000"/>
            <a:ext cx="522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12 / 50  |  ERROR CORRECTION</a:t>
            </a:r>
          </a:p>
        </p:txBody>
      </p:sp>
      <p:sp>
        <p:nvSpPr>
          <p:cNvPr id="100051"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Error Correction — Protecting Quantum Information</a:t>
            </a:r>
          </a:p>
        </p:txBody>
      </p:sp>
      <p:sp>
        <p:nvSpPr>
          <p:cNvPr id="100052"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Problem: You cannot copy a qubit (No-Cloning Theorem) and measuring destroys superposition. How do you protect quantum information?</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Solution: Quantum Error Correction (QEC) — encode one logical qubit in multiple physical qubits.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Key QEC Codes:</a:t>
            </a:r>
          </a:p>
          <a:p xmlns:a="http://schemas.openxmlformats.org/drawingml/2006/main">
            <a:r>
              <a:rPr lang="en-US" sz="1500">
                <a:solidFill>
                  <a:srgbClr val="E3F2FD"/>
                </a:solidFill>
                <a:latin typeface="Calibri"/>
                <a:ea typeface="Calibri"/>
              </a:rPr>
              <a:t>  ▪ Shor Code        : 9 physical qubits protect 1 logical qubit (first QEC code — Shor 1995)</a:t>
            </a:r>
          </a:p>
          <a:p xmlns:a="http://schemas.openxmlformats.org/drawingml/2006/main">
            <a:r>
              <a:rPr lang="en-US" sz="1500">
                <a:solidFill>
                  <a:srgbClr val="E3F2FD"/>
                </a:solidFill>
                <a:latin typeface="Calibri"/>
                <a:ea typeface="Calibri"/>
              </a:rPr>
              <a:t>  ▪ Steane Code      : 7-qubit code corrects any single-qubit error</a:t>
            </a:r>
          </a:p>
          <a:p xmlns:a="http://schemas.openxmlformats.org/drawingml/2006/main">
            <a:r>
              <a:rPr lang="en-US" sz="1500">
                <a:solidFill>
                  <a:srgbClr val="E3F2FD"/>
                </a:solidFill>
                <a:latin typeface="Calibri"/>
                <a:ea typeface="Calibri"/>
              </a:rPr>
              <a:t>  ▪ Surface Code     : Dominant near-term QEC — 2D lattice of ~1,000 physical qubits per logical qubit</a:t>
            </a:r>
          </a:p>
          <a:p xmlns:a="http://schemas.openxmlformats.org/drawingml/2006/main">
            <a:r>
              <a:rPr lang="en-US" sz="1500">
                <a:solidFill>
                  <a:srgbClr val="E3F2FD"/>
                </a:solidFill>
                <a:latin typeface="Calibri"/>
                <a:ea typeface="Calibri"/>
              </a:rPr>
              <a:t>  ▪ Bosonic Codes    : Cat qubits and GKP — use continuous variables for efficiency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Milestones:</a:t>
            </a:r>
          </a:p>
          <a:p xmlns:a="http://schemas.openxmlformats.org/drawingml/2006/main">
            <a:r>
              <a:rPr lang="en-US" sz="1500">
                <a:solidFill>
                  <a:srgbClr val="E3F2FD"/>
                </a:solidFill>
                <a:latin typeface="Calibri"/>
                <a:ea typeface="Calibri"/>
              </a:rPr>
              <a:t>  ▪ 2023: Google demonstrated below-threshold error rates with Surface Code on 49 qubits (Nature 2023)</a:t>
            </a:r>
          </a:p>
          <a:p xmlns:a="http://schemas.openxmlformats.org/drawingml/2006/main">
            <a:r>
              <a:rPr lang="en-US" sz="1500">
                <a:solidFill>
                  <a:srgbClr val="E3F2FD"/>
                </a:solidFill>
                <a:latin typeface="Calibri"/>
                <a:ea typeface="Calibri"/>
              </a:rPr>
              <a:t>  ▪ 2024: Microsoft achieved topological qubit prototype with improved coherence</a:t>
            </a:r>
          </a:p>
          <a:p xmlns:a="http://schemas.openxmlformats.org/drawingml/2006/main">
            <a:r>
              <a:rPr lang="en-US" sz="1500">
                <a:solidFill>
                  <a:srgbClr val="E3F2FD"/>
                </a:solidFill>
                <a:latin typeface="Calibri"/>
                <a:ea typeface="Calibri"/>
              </a:rPr>
              <a:t>  ▪ Target: ~1 million physical qubits for large fault-tolerant algorithms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Threshold Theorem: If physical error rate &lt; threshold (~1%), then more qubits = more reliable computation.</a:t>
            </a:r>
          </a:p>
        </p:txBody>
      </p:sp>
      <p:pic>
        <p:nvPicPr>
          <p:cNvPr id="100214" name="QECDiagram"/>
          <p:cNvPicPr>
            <a:picLocks noChangeAspect="1"/>
          </p:cNvPicPr>
          <p:nvPr/>
        </p:nvPicPr>
        <p:blipFill>
          <a:blip xmlns:r="http://schemas.openxmlformats.org/officeDocument/2006/relationships" r:embed="Ra4841e4bb32f44da">
            <a:extLst>
              <a:ext uri="{96DAC541-7B7A-43D3-8B79-37D633B846F1}">
                <asvg:svgBlip xmlns:asvg="http://schemas.microsoft.com/office/drawing/2016/SVG/main" r:embed="R0dad6ce902fe401d"/>
              </a:ext>
            </a:extLst>
          </a:blip>
          <a:stretch>
            <a:fillRect/>
          </a:stretch>
        </p:blipFill>
        <p:spPr>
          <a:xfrm>
            <a:off x="540000" y="5112000"/>
            <a:ext cx="10800000" cy="1368000"/>
          </a:xfrm>
          <a:prstGeom prst="rect">
            <a:avLst/>
          </a:prstGeom>
        </p:spPr>
      </p:pic>
      <p:sp>
        <p:nvSpPr>
          <p:cNvPr id="100238"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7"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6" name="SectionBadge"/>
          <p:cNvSpPr txBox="1"/>
          <p:nvPr/>
        </p:nvSpPr>
        <p:spPr>
          <a:xfrm>
            <a:off x="540000" y="198000"/>
            <a:ext cx="1080000" cy="180000"/>
          </a:xfrm>
          <a:prstGeom prst="rect">
            <a:avLst/>
          </a:prstGeom>
          <a:solidFill>
            <a:srgbClr val="1A3A2A"/>
          </a:solidFill>
        </p:spPr>
        <p:txBody>
          <a:bodyPr/>
          <a:lstStyle/>
          <a:p>
            <a:r>
              <a:rPr lang="en-US" sz="800" b="1">
                <a:solidFill>
                  <a:srgbClr val="A5D6A7"/>
                </a:solidFill>
                <a:latin typeface="Calibri"/>
                <a:ea typeface="Calibri"/>
              </a:rPr>
              <a:t>HARDWARE</a:t>
            </a:r>
          </a:p>
        </p:txBody>
      </p:sp>
    </p:spTree>
  </p:cSld>
</p:sld>
</file>

<file path=ppt/slides/slide13.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5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54" name="SlideNum"/>
          <p:cNvSpPr txBox="1"/>
          <p:nvPr/>
        </p:nvSpPr>
        <p:spPr>
          <a:xfrm xmlns:a="http://schemas.openxmlformats.org/drawingml/2006/main">
            <a:off x="6120000" y="216000"/>
            <a:ext cx="558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13 / 50  |  ALGORITHMS OVERVIEW</a:t>
            </a:r>
          </a:p>
        </p:txBody>
      </p:sp>
      <p:sp>
        <p:nvSpPr>
          <p:cNvPr id="100055"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Algorithms — Overview</a:t>
            </a:r>
          </a:p>
        </p:txBody>
      </p:sp>
      <p:sp>
        <p:nvSpPr>
          <p:cNvPr id="100056"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Quantum algorithms exploit superposition, entanglement and interference to solve specific problems faster than any known classical algorithm.</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Speedup Categories:</a:t>
            </a:r>
          </a:p>
          <a:p xmlns:a="http://schemas.openxmlformats.org/drawingml/2006/main">
            <a:r>
              <a:rPr lang="en-US" sz="1500">
                <a:solidFill>
                  <a:srgbClr val="E3F2FD"/>
                </a:solidFill>
                <a:latin typeface="Calibri"/>
                <a:ea typeface="Calibri"/>
              </a:rPr>
              <a:t>  ▪ Exponential Speedup : Shor's factoring — O(log²N · log log N) vs classical O(e^N^(1/3))</a:t>
            </a:r>
          </a:p>
          <a:p xmlns:a="http://schemas.openxmlformats.org/drawingml/2006/main">
            <a:r>
              <a:rPr lang="en-US" sz="1500">
                <a:solidFill>
                  <a:srgbClr val="E3F2FD"/>
                </a:solidFill>
                <a:latin typeface="Calibri"/>
                <a:ea typeface="Calibri"/>
              </a:rPr>
              <a:t>  ▪ Quadratic Speedup   : Grover's search — O(√N) vs classical O(N)</a:t>
            </a:r>
          </a:p>
          <a:p xmlns:a="http://schemas.openxmlformats.org/drawingml/2006/main">
            <a:r>
              <a:rPr lang="en-US" sz="1500">
                <a:solidFill>
                  <a:srgbClr val="E3F2FD"/>
                </a:solidFill>
                <a:latin typeface="Calibri"/>
                <a:ea typeface="Calibri"/>
              </a:rPr>
              <a:t>  ▪ Polynomial Speedup  : Quantum simulation, QLSP (linear systems)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Zoo of Notable Algorithms:</a:t>
            </a:r>
          </a:p>
          <a:p xmlns:a="http://schemas.openxmlformats.org/drawingml/2006/main">
            <a:r>
              <a:rPr lang="en-US" sz="1500">
                <a:solidFill>
                  <a:srgbClr val="E3F2FD"/>
                </a:solidFill>
                <a:latin typeface="Calibri"/>
                <a:ea typeface="Calibri"/>
              </a:rPr>
              <a:t>  Algorithm             Problem                         Speedup</a:t>
            </a:r>
          </a:p>
          <a:p xmlns:a="http://schemas.openxmlformats.org/drawingml/2006/main">
            <a:r>
              <a:rPr lang="en-US" sz="1500">
                <a:solidFill>
                  <a:srgbClr val="E3F2FD"/>
                </a:solidFill>
                <a:latin typeface="Calibri"/>
                <a:ea typeface="Calibri"/>
              </a:rPr>
              <a:t>  ─────────────────────────────────────────────────────────────</a:t>
            </a:r>
          </a:p>
          <a:p xmlns:a="http://schemas.openxmlformats.org/drawingml/2006/main">
            <a:r>
              <a:rPr lang="en-US" sz="1500">
                <a:solidFill>
                  <a:srgbClr val="E3F2FD"/>
                </a:solidFill>
                <a:latin typeface="Calibri"/>
                <a:ea typeface="Calibri"/>
              </a:rPr>
              <a:t>  Deutsch-Jozsa (1992)  Constant vs. balanced function  Exponential</a:t>
            </a:r>
          </a:p>
          <a:p xmlns:a="http://schemas.openxmlformats.org/drawingml/2006/main">
            <a:r>
              <a:rPr lang="en-US" sz="1500">
                <a:solidFill>
                  <a:srgbClr val="E3F2FD"/>
                </a:solidFill>
                <a:latin typeface="Calibri"/>
                <a:ea typeface="Calibri"/>
              </a:rPr>
              <a:t>  Bernstein-Vazirani    Hidden binary string             Polynomial</a:t>
            </a:r>
          </a:p>
          <a:p xmlns:a="http://schemas.openxmlformats.org/drawingml/2006/main">
            <a:r>
              <a:rPr lang="en-US" sz="1500">
                <a:solidFill>
                  <a:srgbClr val="E3F2FD"/>
                </a:solidFill>
                <a:latin typeface="Calibri"/>
                <a:ea typeface="Calibri"/>
              </a:rPr>
              <a:t>  Simon's Algorithm     Hidden period                   Exponential</a:t>
            </a:r>
          </a:p>
          <a:p xmlns:a="http://schemas.openxmlformats.org/drawingml/2006/main">
            <a:r>
              <a:rPr lang="en-US" sz="1500">
                <a:solidFill>
                  <a:srgbClr val="E3F2FD"/>
                </a:solidFill>
                <a:latin typeface="Calibri"/>
                <a:ea typeface="Calibri"/>
              </a:rPr>
              <a:t>  Shor's Algorithm      Integer factorization           Exponential</a:t>
            </a:r>
          </a:p>
          <a:p xmlns:a="http://schemas.openxmlformats.org/drawingml/2006/main">
            <a:r>
              <a:rPr lang="en-US" sz="1500">
                <a:solidFill>
                  <a:srgbClr val="E3F2FD"/>
                </a:solidFill>
                <a:latin typeface="Calibri"/>
                <a:ea typeface="Calibri"/>
              </a:rPr>
              <a:t>  Grover's Search       Unstructured database search    Quadratic</a:t>
            </a:r>
          </a:p>
          <a:p xmlns:a="http://schemas.openxmlformats.org/drawingml/2006/main">
            <a:r>
              <a:rPr lang="en-US" sz="1500">
                <a:solidFill>
                  <a:srgbClr val="E3F2FD"/>
                </a:solidFill>
                <a:latin typeface="Calibri"/>
                <a:ea typeface="Calibri"/>
              </a:rPr>
              <a:t>  HHL Algorithm         Linear systems Ax=b             Exponential*</a:t>
            </a:r>
          </a:p>
          <a:p xmlns:a="http://schemas.openxmlformats.org/drawingml/2006/main">
            <a:r>
              <a:rPr lang="en-US" sz="1500">
                <a:solidFill>
                  <a:srgbClr val="E3F2FD"/>
                </a:solidFill>
                <a:latin typeface="Calibri"/>
                <a:ea typeface="Calibri"/>
              </a:rPr>
              <a:t>  VQE                   Ground state energy             Heuristic</a:t>
            </a:r>
          </a:p>
          <a:p xmlns:a="http://schemas.openxmlformats.org/drawingml/2006/main">
            <a:r>
              <a:rPr lang="en-US" sz="1500">
                <a:solidFill>
                  <a:srgbClr val="E3F2FD"/>
                </a:solidFill>
                <a:latin typeface="Calibri"/>
                <a:ea typeface="Calibri"/>
              </a:rPr>
              <a:t>  QAOA                  Combinatorial optimization      Heuristic</a:t>
            </a:r>
          </a:p>
          <a:p xmlns:a="http://schemas.openxmlformats.org/drawingml/2006/main">
            <a:r>
              <a:rPr lang="en-US" sz="1500">
                <a:solidFill>
                  <a:srgbClr val="E3F2FD"/>
                </a:solidFill>
                <a:latin typeface="Calibri"/>
                <a:ea typeface="Calibri"/>
              </a:rPr>
              <a:t>  QFT                   Fourier Transform               Exponential</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*Exponential speedup under specific conditions.</a:t>
            </a:r>
          </a:p>
        </p:txBody>
      </p:sp>
      <p:sp>
        <p:nvSpPr>
          <p:cNvPr id="100239"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8"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7" name="SectionBadge"/>
          <p:cNvSpPr txBox="1"/>
          <p:nvPr/>
        </p:nvSpPr>
        <p:spPr>
          <a:xfrm>
            <a:off x="540000" y="198000"/>
            <a:ext cx="1152000" cy="180000"/>
          </a:xfrm>
          <a:prstGeom prst="rect">
            <a:avLst/>
          </a:prstGeom>
          <a:solidFill>
            <a:srgbClr val="2A1A3A"/>
          </a:solidFill>
        </p:spPr>
        <p:txBody>
          <a:bodyPr/>
          <a:lstStyle/>
          <a:p>
            <a:r>
              <a:rPr lang="en-US" sz="800" b="1">
                <a:solidFill>
                  <a:srgbClr val="CE93D8"/>
                </a:solidFill>
                <a:latin typeface="Calibri"/>
                <a:ea typeface="Calibri"/>
              </a:rPr>
              <a:t>ALGORITHMS</a:t>
            </a:r>
          </a:p>
        </p:txBody>
      </p:sp>
    </p:spTree>
  </p:cSld>
</p:sld>
</file>

<file path=ppt/slides/slide14.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5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58" name="SlideNum"/>
          <p:cNvSpPr txBox="1"/>
          <p:nvPr/>
        </p:nvSpPr>
        <p:spPr>
          <a:xfrm xmlns:a="http://schemas.openxmlformats.org/drawingml/2006/main">
            <a:off x="6840000" y="216000"/>
            <a:ext cx="486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14 / 50  |  DEUTSCH-JOZSA</a:t>
            </a:r>
          </a:p>
        </p:txBody>
      </p:sp>
      <p:sp>
        <p:nvSpPr>
          <p:cNvPr id="10005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Deutsch-Jozsa Algorithm — First Quantum Advantage</a:t>
            </a:r>
          </a:p>
        </p:txBody>
      </p:sp>
      <p:sp>
        <p:nvSpPr>
          <p:cNvPr id="100060"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Year: 1992 (Deutsch &amp; Jozsa, extended by Bernstein &amp; Vazirani 1993)</a:t>
            </a:r>
          </a:p>
          <a:p xmlns:a="http://schemas.openxmlformats.org/drawingml/2006/main">
            <a:r>
              <a:rPr lang="en-US" sz="1500">
                <a:solidFill>
                  <a:srgbClr val="E3F2FD"/>
                </a:solidFill>
                <a:latin typeface="Calibri"/>
                <a:ea typeface="Calibri"/>
              </a:rPr>
              <a:t>Problem: Given a black-box function f : {0,1}ⁿ → {0,1}, determine if f is:</a:t>
            </a:r>
          </a:p>
          <a:p xmlns:a="http://schemas.openxmlformats.org/drawingml/2006/main">
            <a:r>
              <a:rPr lang="en-US" sz="1500">
                <a:solidFill>
                  <a:srgbClr val="E3F2FD"/>
                </a:solidFill>
                <a:latin typeface="Calibri"/>
                <a:ea typeface="Calibri"/>
              </a:rPr>
              <a:t>  ▪ Constant   (always outputs 0 or always outputs 1), OR</a:t>
            </a:r>
          </a:p>
          <a:p xmlns:a="http://schemas.openxmlformats.org/drawingml/2006/main">
            <a:r>
              <a:rPr lang="en-US" sz="1500">
                <a:solidFill>
                  <a:srgbClr val="E3F2FD"/>
                </a:solidFill>
                <a:latin typeface="Calibri"/>
                <a:ea typeface="Calibri"/>
              </a:rPr>
              <a:t>  ▪ Balanced   (outputs 0 for exactly half inputs, 1 for the other half)</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Classical Solution: Worst case requires 2^(n-1)+1 queries to be certain.</a:t>
            </a:r>
          </a:p>
          <a:p xmlns:a="http://schemas.openxmlformats.org/drawingml/2006/main">
            <a:r>
              <a:rPr lang="en-US" sz="1500">
                <a:solidFill>
                  <a:srgbClr val="E3F2FD"/>
                </a:solidFill>
                <a:latin typeface="Calibri"/>
                <a:ea typeface="Calibri"/>
              </a:rPr>
              <a:t>Quantum Solution: EXACTLY 1 query — exponential speedup!</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Circuit:</a:t>
            </a:r>
          </a:p>
          <a:p xmlns:a="http://schemas.openxmlformats.org/drawingml/2006/main">
            <a:r>
              <a:rPr lang="en-US" sz="1500">
                <a:solidFill>
                  <a:srgbClr val="E3F2FD"/>
                </a:solidFill>
                <a:latin typeface="Calibri"/>
                <a:ea typeface="Calibri"/>
              </a:rPr>
              <a:t>  1. Initialize |0⟩|1⟩</a:t>
            </a:r>
          </a:p>
          <a:p xmlns:a="http://schemas.openxmlformats.org/drawingml/2006/main">
            <a:r>
              <a:rPr lang="en-US" sz="1500">
                <a:solidFill>
                  <a:srgbClr val="E3F2FD"/>
                </a:solidFill>
                <a:latin typeface="Calibri"/>
                <a:ea typeface="Calibri"/>
              </a:rPr>
              <a:t>  2. Apply Hadamard to all qubits — creates superposition over all inputs</a:t>
            </a:r>
          </a:p>
          <a:p xmlns:a="http://schemas.openxmlformats.org/drawingml/2006/main">
            <a:r>
              <a:rPr lang="en-US" sz="1500">
                <a:solidFill>
                  <a:srgbClr val="E3F2FD"/>
                </a:solidFill>
                <a:latin typeface="Calibri"/>
                <a:ea typeface="Calibri"/>
              </a:rPr>
              <a:t>  3. Apply oracle Uf (the black-box function)</a:t>
            </a:r>
          </a:p>
          <a:p xmlns:a="http://schemas.openxmlformats.org/drawingml/2006/main">
            <a:r>
              <a:rPr lang="en-US" sz="1500">
                <a:solidFill>
                  <a:srgbClr val="E3F2FD"/>
                </a:solidFill>
                <a:latin typeface="Calibri"/>
                <a:ea typeface="Calibri"/>
              </a:rPr>
              <a:t>  4. Apply Hadamard again</a:t>
            </a:r>
          </a:p>
          <a:p xmlns:a="http://schemas.openxmlformats.org/drawingml/2006/main">
            <a:r>
              <a:rPr lang="en-US" sz="1500">
                <a:solidFill>
                  <a:srgbClr val="E3F2FD"/>
                </a:solidFill>
                <a:latin typeface="Calibri"/>
                <a:ea typeface="Calibri"/>
              </a:rPr>
              <a:t>  5. Measure — all zeros → constant; any non-zero → balanced</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Key Insight: The quantum computer queries f on ALL inputs simultaneously through superposition, then uses interference to distinguish the two cases in one shot.</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Historical Significance: First proof that quantum computers can outperform classical computers on a specific problem — the seed of the quantum algorithm field.</a:t>
            </a:r>
          </a:p>
        </p:txBody>
      </p:sp>
      <p:sp>
        <p:nvSpPr>
          <p:cNvPr id="100240"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89"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8" name="SectionBadge"/>
          <p:cNvSpPr txBox="1"/>
          <p:nvPr/>
        </p:nvSpPr>
        <p:spPr>
          <a:xfrm>
            <a:off x="540000" y="198000"/>
            <a:ext cx="1152000" cy="180000"/>
          </a:xfrm>
          <a:prstGeom prst="rect">
            <a:avLst/>
          </a:prstGeom>
          <a:solidFill>
            <a:srgbClr val="2A1A3A"/>
          </a:solidFill>
        </p:spPr>
        <p:txBody>
          <a:bodyPr/>
          <a:lstStyle/>
          <a:p>
            <a:r>
              <a:rPr lang="en-US" sz="800" b="1">
                <a:solidFill>
                  <a:srgbClr val="CE93D8"/>
                </a:solidFill>
                <a:latin typeface="Calibri"/>
                <a:ea typeface="Calibri"/>
              </a:rPr>
              <a:t>ALGORITHMS</a:t>
            </a:r>
          </a:p>
        </p:txBody>
      </p:sp>
    </p:spTree>
  </p:cSld>
</p:sld>
</file>

<file path=ppt/slides/slide15.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6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62" name="SlideNum"/>
          <p:cNvSpPr txBox="1"/>
          <p:nvPr/>
        </p:nvSpPr>
        <p:spPr>
          <a:xfrm xmlns:a="http://schemas.openxmlformats.org/drawingml/2006/main">
            <a:off x="6660000" y="216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15 / 50  |  GROVER'S SEARCH</a:t>
            </a:r>
          </a:p>
        </p:txBody>
      </p:sp>
      <p:sp>
        <p:nvSpPr>
          <p:cNvPr id="10006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Grover's Search Algorithm — Quadratic Speedup</a:t>
            </a:r>
          </a:p>
        </p:txBody>
      </p:sp>
      <p:sp>
        <p:nvSpPr>
          <p:cNvPr id="100064"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Year: 1996 (Lov Grover, Bell Labs)</a:t>
            </a:r>
          </a:p>
          <a:p xmlns:a="http://schemas.openxmlformats.org/drawingml/2006/main">
            <a:r>
              <a:rPr lang="en-US" sz="1500">
                <a:solidFill>
                  <a:srgbClr val="E3F2FD"/>
                </a:solidFill>
                <a:latin typeface="Calibri"/>
                <a:ea typeface="Calibri"/>
              </a:rPr>
              <a:t>Problem: Search an unsorted database of N items for a marked item.</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Classical: O(N) queries on average      Quantum: O(√N) queries — quadratic speedup</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Example: N = 1,000,000 items</a:t>
            </a:r>
          </a:p>
          <a:p xmlns:a="http://schemas.openxmlformats.org/drawingml/2006/main">
            <a:r>
              <a:rPr lang="en-US" sz="1500">
                <a:solidFill>
                  <a:srgbClr val="E3F2FD"/>
                </a:solidFill>
                <a:latin typeface="Calibri"/>
                <a:ea typeface="Calibri"/>
              </a:rPr>
              <a:t>  Classical average: 500,000 queries</a:t>
            </a:r>
          </a:p>
          <a:p xmlns:a="http://schemas.openxmlformats.org/drawingml/2006/main">
            <a:r>
              <a:rPr lang="en-US" sz="1500">
                <a:solidFill>
                  <a:srgbClr val="E3F2FD"/>
                </a:solidFill>
                <a:latin typeface="Calibri"/>
                <a:ea typeface="Calibri"/>
              </a:rPr>
              <a:t>  Grover's quantum:  ~1,000 queries  (√1,000,000 = 1,000)</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How It Works — Grover Iteration (amplitude amplification):</a:t>
            </a:r>
          </a:p>
          <a:p xmlns:a="http://schemas.openxmlformats.org/drawingml/2006/main">
            <a:r>
              <a:rPr lang="en-US" sz="1500">
                <a:solidFill>
                  <a:srgbClr val="E3F2FD"/>
                </a:solidFill>
                <a:latin typeface="Calibri"/>
                <a:ea typeface="Calibri"/>
              </a:rPr>
              <a:t>  1. Initialize: H⊗ⁿ|0⟩ᵙ — equal superposition over all N items</a:t>
            </a:r>
          </a:p>
          <a:p xmlns:a="http://schemas.openxmlformats.org/drawingml/2006/main">
            <a:r>
              <a:rPr lang="en-US" sz="1500">
                <a:solidFill>
                  <a:srgbClr val="E3F2FD"/>
                </a:solidFill>
                <a:latin typeface="Calibri"/>
                <a:ea typeface="Calibri"/>
              </a:rPr>
              <a:t>  2. Oracle Phase Kick: Negate amplitude of the marked item |x*⟩</a:t>
            </a:r>
          </a:p>
          <a:p xmlns:a="http://schemas.openxmlformats.org/drawingml/2006/main">
            <a:r>
              <a:rPr lang="en-US" sz="1500">
                <a:solidFill>
                  <a:srgbClr val="E3F2FD"/>
                </a:solidFill>
                <a:latin typeface="Calibri"/>
                <a:ea typeface="Calibri"/>
              </a:rPr>
              <a:t>  3. Diffusion Operator: Invert all amplitudes about their average</a:t>
            </a:r>
          </a:p>
          <a:p xmlns:a="http://schemas.openxmlformats.org/drawingml/2006/main">
            <a:r>
              <a:rPr lang="en-US" sz="1500">
                <a:solidFill>
                  <a:srgbClr val="E3F2FD"/>
                </a:solidFill>
                <a:latin typeface="Calibri"/>
                <a:ea typeface="Calibri"/>
              </a:rPr>
              <a:t>  4. Repeat ~π/4 · √N times</a:t>
            </a:r>
          </a:p>
          <a:p xmlns:a="http://schemas.openxmlformats.org/drawingml/2006/main">
            <a:r>
              <a:rPr lang="en-US" sz="1500">
                <a:solidFill>
                  <a:srgbClr val="E3F2FD"/>
                </a:solidFill>
                <a:latin typeface="Calibri"/>
                <a:ea typeface="Calibri"/>
              </a:rPr>
              <a:t>  5. Measure — marked item found with high probability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Applications:</a:t>
            </a:r>
          </a:p>
          <a:p xmlns:a="http://schemas.openxmlformats.org/drawingml/2006/main">
            <a:r>
              <a:rPr lang="en-US" sz="1500">
                <a:solidFill>
                  <a:srgbClr val="E3F2FD"/>
                </a:solidFill>
                <a:latin typeface="Calibri"/>
                <a:ea typeface="Calibri"/>
              </a:rPr>
              <a:t>  ▪ Cryptanalysis: Reduces AES-128 effective key security to AES-64 equivalent</a:t>
            </a:r>
          </a:p>
          <a:p xmlns:a="http://schemas.openxmlformats.org/drawingml/2006/main">
            <a:r>
              <a:rPr lang="en-US" sz="1500">
                <a:solidFill>
                  <a:srgbClr val="E3F2FD"/>
                </a:solidFill>
                <a:latin typeface="Calibri"/>
                <a:ea typeface="Calibri"/>
              </a:rPr>
              <a:t>  ▪ Optimization: Sub-routines in combinatorial solvers</a:t>
            </a:r>
          </a:p>
          <a:p xmlns:a="http://schemas.openxmlformats.org/drawingml/2006/main">
            <a:r>
              <a:rPr lang="en-US" sz="1500">
                <a:solidFill>
                  <a:srgbClr val="E3F2FD"/>
                </a:solidFill>
                <a:latin typeface="Calibri"/>
                <a:ea typeface="Calibri"/>
              </a:rPr>
              <a:t>  ▪ Collision finding, element distinctness, graph connectivity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Optimality: Proven to be the best possible quantum search algorithm (lower bound).</a:t>
            </a:r>
          </a:p>
        </p:txBody>
      </p:sp>
      <p:pic>
        <p:nvPicPr>
          <p:cNvPr id="100215" name="GroverDiagram"/>
          <p:cNvPicPr>
            <a:picLocks noChangeAspect="1"/>
          </p:cNvPicPr>
          <p:nvPr/>
        </p:nvPicPr>
        <p:blipFill>
          <a:blip xmlns:r="http://schemas.openxmlformats.org/officeDocument/2006/relationships" r:embed="R6f61b39be7b24ee3">
            <a:extLst>
              <a:ext uri="{96DAC541-7B7A-43D3-8B79-37D633B846F1}">
                <asvg:svgBlip xmlns:asvg="http://schemas.microsoft.com/office/drawing/2016/SVG/main" r:embed="R8df6c97579204ec6"/>
              </a:ext>
            </a:extLst>
          </a:blip>
          <a:stretch>
            <a:fillRect/>
          </a:stretch>
        </p:blipFill>
        <p:spPr>
          <a:xfrm>
            <a:off x="540000" y="5112000"/>
            <a:ext cx="10800000" cy="1368000"/>
          </a:xfrm>
          <a:prstGeom prst="rect">
            <a:avLst/>
          </a:prstGeom>
        </p:spPr>
      </p:pic>
      <p:sp>
        <p:nvSpPr>
          <p:cNvPr id="100241"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0"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39" name="SectionBadge"/>
          <p:cNvSpPr txBox="1"/>
          <p:nvPr/>
        </p:nvSpPr>
        <p:spPr>
          <a:xfrm>
            <a:off x="540000" y="198000"/>
            <a:ext cx="1152000" cy="180000"/>
          </a:xfrm>
          <a:prstGeom prst="rect">
            <a:avLst/>
          </a:prstGeom>
          <a:solidFill>
            <a:srgbClr val="2A1A3A"/>
          </a:solidFill>
        </p:spPr>
        <p:txBody>
          <a:bodyPr/>
          <a:lstStyle/>
          <a:p>
            <a:r>
              <a:rPr lang="en-US" sz="800" b="1">
                <a:solidFill>
                  <a:srgbClr val="CE93D8"/>
                </a:solidFill>
                <a:latin typeface="Calibri"/>
                <a:ea typeface="Calibri"/>
              </a:rPr>
              <a:t>ALGORITHMS</a:t>
            </a:r>
          </a:p>
        </p:txBody>
      </p:sp>
    </p:spTree>
  </p:cSld>
</p:sld>
</file>

<file path=ppt/slides/slide16.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6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66" name="SlideNum"/>
          <p:cNvSpPr txBox="1"/>
          <p:nvPr/>
        </p:nvSpPr>
        <p:spPr>
          <a:xfrm xmlns:a="http://schemas.openxmlformats.org/drawingml/2006/main">
            <a:off x="6660000" y="216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16 / 50  |  SHOR'S ALGORITHM</a:t>
            </a:r>
          </a:p>
        </p:txBody>
      </p:sp>
      <p:sp>
        <p:nvSpPr>
          <p:cNvPr id="100067"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Shor's Algorithm — The RSA Killer</a:t>
            </a:r>
          </a:p>
        </p:txBody>
      </p:sp>
      <p:sp>
        <p:nvSpPr>
          <p:cNvPr id="100068"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Year: 1994 (Peter Shor, Bell Labs)</a:t>
            </a:r>
          </a:p>
          <a:p xmlns:a="http://schemas.openxmlformats.org/drawingml/2006/main">
            <a:r>
              <a:rPr lang="en-US" sz="1500">
                <a:solidFill>
                  <a:srgbClr val="E3F2FD"/>
                </a:solidFill>
                <a:latin typeface="Calibri"/>
                <a:ea typeface="Calibri"/>
              </a:rPr>
              <a:t>Problem: Factor a large integer N into its prime factors.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Classical Best (General Number Field Sieve): O(exp(1.9 · (log N)^(1/3) · (log log N)^(2/3)))</a:t>
            </a:r>
          </a:p>
          <a:p xmlns:a="http://schemas.openxmlformats.org/drawingml/2006/main">
            <a:r>
              <a:rPr lang="en-US" sz="1500">
                <a:solidFill>
                  <a:srgbClr val="E3F2FD"/>
                </a:solidFill>
                <a:latin typeface="Calibri"/>
                <a:ea typeface="Calibri"/>
              </a:rPr>
              <a:t>Shor's Quantum: O((log N)² · log log N · log log log N) — exponential speedup!</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Why It Matters:</a:t>
            </a:r>
          </a:p>
          <a:p xmlns:a="http://schemas.openxmlformats.org/drawingml/2006/main">
            <a:r>
              <a:rPr lang="en-US" sz="1500">
                <a:solidFill>
                  <a:srgbClr val="E3F2FD"/>
                </a:solidFill>
                <a:latin typeface="Calibri"/>
                <a:ea typeface="Calibri"/>
              </a:rPr>
              <a:t>  RSA-2048 encryption relies on the fact that factoring a 2048-bit number is classically intractable.</a:t>
            </a:r>
          </a:p>
          <a:p xmlns:a="http://schemas.openxmlformats.org/drawingml/2006/main">
            <a:r>
              <a:rPr lang="en-US" sz="1500">
                <a:solidFill>
                  <a:srgbClr val="E3F2FD"/>
                </a:solidFill>
                <a:latin typeface="Calibri"/>
                <a:ea typeface="Calibri"/>
              </a:rPr>
              <a:t>  A large enough quantum computer running Shor's algorithm could break RSA, ECC, and Diffie-Hellman.</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How It Works (conceptual):</a:t>
            </a:r>
          </a:p>
          <a:p xmlns:a="http://schemas.openxmlformats.org/drawingml/2006/main">
            <a:r>
              <a:rPr lang="en-US" sz="1500">
                <a:solidFill>
                  <a:srgbClr val="E3F2FD"/>
                </a:solidFill>
                <a:latin typeface="Calibri"/>
                <a:ea typeface="Calibri"/>
              </a:rPr>
              <a:t>  1. Reduce factoring to period-finding of f(x) = aˣ mod N</a:t>
            </a:r>
          </a:p>
          <a:p xmlns:a="http://schemas.openxmlformats.org/drawingml/2006/main">
            <a:r>
              <a:rPr lang="en-US" sz="1500">
                <a:solidFill>
                  <a:srgbClr val="E3F2FD"/>
                </a:solidFill>
                <a:latin typeface="Calibri"/>
                <a:ea typeface="Calibri"/>
              </a:rPr>
              <a:t>  2. Quantum Fourier Transform (QFT) finds the period r efficiently</a:t>
            </a:r>
          </a:p>
          <a:p xmlns:a="http://schemas.openxmlformats.org/drawingml/2006/main">
            <a:r>
              <a:rPr lang="en-US" sz="1500">
                <a:solidFill>
                  <a:srgbClr val="E3F2FD"/>
                </a:solidFill>
                <a:latin typeface="Calibri"/>
                <a:ea typeface="Calibri"/>
              </a:rPr>
              <a:t>  3. Classical post-processing extracts the factors using GCD</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Current State:</a:t>
            </a:r>
          </a:p>
          <a:p xmlns:a="http://schemas.openxmlformats.org/drawingml/2006/main">
            <a:r>
              <a:rPr lang="en-US" sz="1500">
                <a:solidFill>
                  <a:srgbClr val="E3F2FD"/>
                </a:solidFill>
                <a:latin typeface="Calibri"/>
                <a:ea typeface="Calibri"/>
              </a:rPr>
              <a:t>  ▪ RSA-2048 requires ~4,000 fault-tolerant logical qubits (~4 million physical qubits)</a:t>
            </a:r>
          </a:p>
          <a:p xmlns:a="http://schemas.openxmlformats.org/drawingml/2006/main">
            <a:r>
              <a:rPr lang="en-US" sz="1500">
                <a:solidFill>
                  <a:srgbClr val="E3F2FD"/>
                </a:solidFill>
                <a:latin typeface="Calibri"/>
                <a:ea typeface="Calibri"/>
              </a:rPr>
              <a:t>  ▪ Largest factored number to date: 21 = 3 × 7 (IBM, 2012)</a:t>
            </a:r>
          </a:p>
          <a:p xmlns:a="http://schemas.openxmlformats.org/drawingml/2006/main">
            <a:r>
              <a:rPr lang="en-US" sz="1500">
                <a:solidFill>
                  <a:srgbClr val="E3F2FD"/>
                </a:solidFill>
                <a:latin typeface="Calibri"/>
                <a:ea typeface="Calibri"/>
              </a:rPr>
              <a:t>  ▪ Timeline estimate: 10–15 years to cryptographically relevant scale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Implication: The reason NIST finalized post-quantum cryptographic standards in 2024.</a:t>
            </a:r>
          </a:p>
        </p:txBody>
      </p:sp>
      <p:pic>
        <p:nvPicPr>
          <p:cNvPr id="100216" name="ShorDiagram"/>
          <p:cNvPicPr>
            <a:picLocks noChangeAspect="1"/>
          </p:cNvPicPr>
          <p:nvPr/>
        </p:nvPicPr>
        <p:blipFill>
          <a:blip xmlns:r="http://schemas.openxmlformats.org/officeDocument/2006/relationships" r:embed="R71fedde4b33e47fa">
            <a:extLst>
              <a:ext uri="{96DAC541-7B7A-43D3-8B79-37D633B846F1}">
                <asvg:svgBlip xmlns:asvg="http://schemas.microsoft.com/office/drawing/2016/SVG/main" r:embed="R034269e8db3d4ac2"/>
              </a:ext>
            </a:extLst>
          </a:blip>
          <a:stretch>
            <a:fillRect/>
          </a:stretch>
        </p:blipFill>
        <p:spPr>
          <a:xfrm>
            <a:off x="540000" y="5112000"/>
            <a:ext cx="10800000" cy="1368000"/>
          </a:xfrm>
          <a:prstGeom prst="rect">
            <a:avLst/>
          </a:prstGeom>
        </p:spPr>
      </p:pic>
      <p:sp>
        <p:nvSpPr>
          <p:cNvPr id="100242"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1"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0" name="SectionBadge"/>
          <p:cNvSpPr txBox="1"/>
          <p:nvPr/>
        </p:nvSpPr>
        <p:spPr>
          <a:xfrm>
            <a:off x="540000" y="198000"/>
            <a:ext cx="1152000" cy="180000"/>
          </a:xfrm>
          <a:prstGeom prst="rect">
            <a:avLst/>
          </a:prstGeom>
          <a:solidFill>
            <a:srgbClr val="2A1A3A"/>
          </a:solidFill>
        </p:spPr>
        <p:txBody>
          <a:bodyPr/>
          <a:lstStyle/>
          <a:p>
            <a:r>
              <a:rPr lang="en-US" sz="800" b="1">
                <a:solidFill>
                  <a:srgbClr val="CE93D8"/>
                </a:solidFill>
                <a:latin typeface="Calibri"/>
                <a:ea typeface="Calibri"/>
              </a:rPr>
              <a:t>ALGORITHMS</a:t>
            </a:r>
          </a:p>
        </p:txBody>
      </p:sp>
    </p:spTree>
  </p:cSld>
</p:sld>
</file>

<file path=ppt/slides/slide17.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6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70" name="SlideNum"/>
          <p:cNvSpPr txBox="1"/>
          <p:nvPr/>
        </p:nvSpPr>
        <p:spPr>
          <a:xfrm xmlns:a="http://schemas.openxmlformats.org/drawingml/2006/main">
            <a:off x="7200000" y="216000"/>
            <a:ext cx="45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17 / 50  |  COMPLEXITY</a:t>
            </a:r>
          </a:p>
        </p:txBody>
      </p:sp>
      <p:sp>
        <p:nvSpPr>
          <p:cNvPr id="100071"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Complexity Theory</a:t>
            </a:r>
          </a:p>
        </p:txBody>
      </p:sp>
      <p:sp>
        <p:nvSpPr>
          <p:cNvPr id="100072"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Complexity theory classifies problems by the resources (time, space) required to solve them.</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Classical Classes:</a:t>
            </a:r>
          </a:p>
          <a:p xmlns:a="http://schemas.openxmlformats.org/drawingml/2006/main">
            <a:r>
              <a:rPr lang="en-US" sz="1500">
                <a:solidFill>
                  <a:srgbClr val="E3F2FD"/>
                </a:solidFill>
                <a:latin typeface="Calibri"/>
                <a:ea typeface="Calibri"/>
              </a:rPr>
              <a:t>  ▪ P    : Solvable in polynomial time (easy)</a:t>
            </a:r>
          </a:p>
          <a:p xmlns:a="http://schemas.openxmlformats.org/drawingml/2006/main">
            <a:r>
              <a:rPr lang="en-US" sz="1500">
                <a:solidFill>
                  <a:srgbClr val="E3F2FD"/>
                </a:solidFill>
                <a:latin typeface="Calibri"/>
                <a:ea typeface="Calibri"/>
              </a:rPr>
              <a:t>  ▪ NP   : Verifiable in polynomial time (solutions easy to check, hard to find)</a:t>
            </a:r>
          </a:p>
          <a:p xmlns:a="http://schemas.openxmlformats.org/drawingml/2006/main">
            <a:r>
              <a:rPr lang="en-US" sz="1500">
                <a:solidFill>
                  <a:srgbClr val="E3F2FD"/>
                </a:solidFill>
                <a:latin typeface="Calibri"/>
                <a:ea typeface="Calibri"/>
              </a:rPr>
              <a:t>  ▪ NP-Hard: At least as hard as any NP problem</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Quantum Classes:</a:t>
            </a:r>
          </a:p>
          <a:p xmlns:a="http://schemas.openxmlformats.org/drawingml/2006/main">
            <a:r>
              <a:rPr lang="en-US" sz="1500">
                <a:solidFill>
                  <a:srgbClr val="E3F2FD"/>
                </a:solidFill>
                <a:latin typeface="Calibri"/>
                <a:ea typeface="Calibri"/>
              </a:rPr>
              <a:t>  ▪ BQP  : Bounded-Error Quantum Polynomial time — problems solvable efficiently on a quantum computer</a:t>
            </a:r>
          </a:p>
          <a:p xmlns:a="http://schemas.openxmlformats.org/drawingml/2006/main">
            <a:r>
              <a:rPr lang="en-US" sz="1500">
                <a:solidFill>
                  <a:srgbClr val="E3F2FD"/>
                </a:solidFill>
                <a:latin typeface="Calibri"/>
                <a:ea typeface="Calibri"/>
              </a:rPr>
              <a:t>           P ⊆ BQP ⊆ PSPACE</a:t>
            </a:r>
          </a:p>
          <a:p xmlns:a="http://schemas.openxmlformats.org/drawingml/2006/main">
            <a:r>
              <a:rPr lang="en-US" sz="1500">
                <a:solidFill>
                  <a:srgbClr val="E3F2FD"/>
                </a:solidFill>
                <a:latin typeface="Calibri"/>
                <a:ea typeface="Calibri"/>
              </a:rPr>
              <a:t>  ▪ QMA  : Quantum Merlin-Arthur — quantum analog of NP (verifiable with quantum proof)</a:t>
            </a:r>
          </a:p>
          <a:p xmlns:a="http://schemas.openxmlformats.org/drawingml/2006/main">
            <a:r>
              <a:rPr lang="en-US" sz="1500">
                <a:solidFill>
                  <a:srgbClr val="E3F2FD"/>
                </a:solidFill>
                <a:latin typeface="Calibri"/>
                <a:ea typeface="Calibri"/>
              </a:rPr>
              <a:t>  ▪ PostBQP : BQP with post-selection = PP (Scott Aaronson, 2004)</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Key Questions (unsolved):</a:t>
            </a:r>
          </a:p>
          <a:p xmlns:a="http://schemas.openxmlformats.org/drawingml/2006/main">
            <a:r>
              <a:rPr lang="en-US" sz="1500">
                <a:solidFill>
                  <a:srgbClr val="E3F2FD"/>
                </a:solidFill>
                <a:latin typeface="Calibri"/>
                <a:ea typeface="Calibri"/>
              </a:rPr>
              <a:t>  ▪ Does P = NP?  (One of the Clay Millennium Prize Problems)</a:t>
            </a:r>
          </a:p>
          <a:p xmlns:a="http://schemas.openxmlformats.org/drawingml/2006/main">
            <a:r>
              <a:rPr lang="en-US" sz="1500">
                <a:solidFill>
                  <a:srgbClr val="E3F2FD"/>
                </a:solidFill>
                <a:latin typeface="Calibri"/>
                <a:ea typeface="Calibri"/>
              </a:rPr>
              <a:t>  ▪ Does BQP contain NP?  (Widely believed: NO — quantum computers do NOT solve all NP-hard problems)</a:t>
            </a:r>
          </a:p>
          <a:p xmlns:a="http://schemas.openxmlformats.org/drawingml/2006/main">
            <a:r>
              <a:rPr lang="en-US" sz="1500">
                <a:solidFill>
                  <a:srgbClr val="E3F2FD"/>
                </a:solidFill>
                <a:latin typeface="Calibri"/>
                <a:ea typeface="Calibri"/>
              </a:rPr>
              <a:t>  ▪ Is factoring in P?  (Unknown — currently believed NOT in P but IS in BQP)</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Takeaway: Quantum computers are not magic — they provide targeted speedups, not universal dominance.</a:t>
            </a:r>
          </a:p>
        </p:txBody>
      </p:sp>
      <p:sp>
        <p:nvSpPr>
          <p:cNvPr id="100243"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2"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1" name="SectionBadge"/>
          <p:cNvSpPr txBox="1"/>
          <p:nvPr/>
        </p:nvSpPr>
        <p:spPr>
          <a:xfrm>
            <a:off x="540000" y="198000"/>
            <a:ext cx="1152000" cy="180000"/>
          </a:xfrm>
          <a:prstGeom prst="rect">
            <a:avLst/>
          </a:prstGeom>
          <a:solidFill>
            <a:srgbClr val="2A1A3A"/>
          </a:solidFill>
        </p:spPr>
        <p:txBody>
          <a:bodyPr/>
          <a:lstStyle/>
          <a:p>
            <a:r>
              <a:rPr lang="en-US" sz="800" b="1">
                <a:solidFill>
                  <a:srgbClr val="CE93D8"/>
                </a:solidFill>
                <a:latin typeface="Calibri"/>
                <a:ea typeface="Calibri"/>
              </a:rPr>
              <a:t>ALGORITHMS</a:t>
            </a:r>
          </a:p>
        </p:txBody>
      </p:sp>
    </p:spTree>
  </p:cSld>
</p:sld>
</file>

<file path=ppt/slides/slide18.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7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74" name="SlideNum"/>
          <p:cNvSpPr txBox="1"/>
          <p:nvPr/>
        </p:nvSpPr>
        <p:spPr>
          <a:xfrm xmlns:a="http://schemas.openxmlformats.org/drawingml/2006/main">
            <a:off x="6300000" y="216000"/>
            <a:ext cx="54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18 / 50  |  HARDWARE LANDSCAPE</a:t>
            </a:r>
          </a:p>
        </p:txBody>
      </p:sp>
      <p:sp>
        <p:nvSpPr>
          <p:cNvPr id="100075"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Hardware — The Physical Landscape</a:t>
            </a:r>
          </a:p>
        </p:txBody>
      </p:sp>
      <p:sp>
        <p:nvSpPr>
          <p:cNvPr id="100076"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Multiple physical platforms are competing to realize scalable quantum computers: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Technology            Company / Lab           Qubits (2024)   Key Advantage</a:t>
            </a:r>
          </a:p>
          <a:p xmlns:a="http://schemas.openxmlformats.org/drawingml/2006/main">
            <a:r>
              <a:rPr lang="en-US" sz="1500">
                <a:solidFill>
                  <a:srgbClr val="E3F2FD"/>
                </a:solidFill>
                <a:latin typeface="Calibri"/>
                <a:ea typeface="Calibri"/>
              </a:rPr>
              <a:t>  ────────────────────────────────────────────────────────────────────────────</a:t>
            </a:r>
          </a:p>
          <a:p xmlns:a="http://schemas.openxmlformats.org/drawingml/2006/main">
            <a:r>
              <a:rPr lang="en-US" sz="1500">
                <a:solidFill>
                  <a:srgbClr val="E3F2FD"/>
                </a:solidFill>
                <a:latin typeface="Calibri"/>
                <a:ea typeface="Calibri"/>
              </a:rPr>
              <a:t>  Superconducting       IBM, Google, Rigetti     1,000+          Fast gates, scalable fabrication</a:t>
            </a:r>
          </a:p>
          <a:p xmlns:a="http://schemas.openxmlformats.org/drawingml/2006/main">
            <a:r>
              <a:rPr lang="en-US" sz="1500">
                <a:solidFill>
                  <a:srgbClr val="E3F2FD"/>
                </a:solidFill>
                <a:latin typeface="Calibri"/>
                <a:ea typeface="Calibri"/>
              </a:rPr>
              <a:t>  Trapped Ions          IonQ, Quantinuum         32–56           High fidelity, long coherence</a:t>
            </a:r>
          </a:p>
          <a:p xmlns:a="http://schemas.openxmlformats.org/drawingml/2006/main">
            <a:r>
              <a:rPr lang="en-US" sz="1500">
                <a:solidFill>
                  <a:srgbClr val="E3F2FD"/>
                </a:solidFill>
                <a:latin typeface="Calibri"/>
                <a:ea typeface="Calibri"/>
              </a:rPr>
              <a:t>  Photonic              PsiQuantum, Xanadu       Variable        Room temperature, networked</a:t>
            </a:r>
          </a:p>
          <a:p xmlns:a="http://schemas.openxmlformats.org/drawingml/2006/main">
            <a:r>
              <a:rPr lang="en-US" sz="1500">
                <a:solidFill>
                  <a:srgbClr val="E3F2FD"/>
                </a:solidFill>
                <a:latin typeface="Calibri"/>
                <a:ea typeface="Calibri"/>
              </a:rPr>
              <a:t>  Neutral Atoms         QuEra, Pasqal            256–1000+       Reconfigurable, long coherence</a:t>
            </a:r>
          </a:p>
          <a:p xmlns:a="http://schemas.openxmlformats.org/drawingml/2006/main">
            <a:r>
              <a:rPr lang="en-US" sz="1500">
                <a:solidFill>
                  <a:srgbClr val="E3F2FD"/>
                </a:solidFill>
                <a:latin typeface="Calibri"/>
                <a:ea typeface="Calibri"/>
              </a:rPr>
              <a:t>  Spin Qubits           Intel, Delft             Prototype       CMOS compatible, dense packing</a:t>
            </a:r>
          </a:p>
          <a:p xmlns:a="http://schemas.openxmlformats.org/drawingml/2006/main">
            <a:r>
              <a:rPr lang="en-US" sz="1500">
                <a:solidFill>
                  <a:srgbClr val="E3F2FD"/>
                </a:solidFill>
                <a:latin typeface="Calibri"/>
                <a:ea typeface="Calibri"/>
              </a:rPr>
              <a:t>  Topological           Microsoft                Prototype       Inherently error-resistant</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IBM Quantum Roadmap:</a:t>
            </a:r>
          </a:p>
          <a:p xmlns:a="http://schemas.openxmlformats.org/drawingml/2006/main">
            <a:r>
              <a:rPr lang="en-US" sz="1500">
                <a:solidFill>
                  <a:srgbClr val="E3F2FD"/>
                </a:solidFill>
                <a:latin typeface="Calibri"/>
                <a:ea typeface="Calibri"/>
              </a:rPr>
              <a:t>  2021: Eagle 127Q → 2022: Osprey 433Q → 2023: Condor 1,121Q</a:t>
            </a:r>
          </a:p>
          <a:p xmlns:a="http://schemas.openxmlformats.org/drawingml/2006/main">
            <a:r>
              <a:rPr lang="en-US" sz="1500">
                <a:solidFill>
                  <a:srgbClr val="E3F2FD"/>
                </a:solidFill>
                <a:latin typeface="Calibri"/>
                <a:ea typeface="Calibri"/>
              </a:rPr>
              <a:t>  2024: Heron (133Q, best-in-class gate fidelity)</a:t>
            </a:r>
          </a:p>
          <a:p xmlns:a="http://schemas.openxmlformats.org/drawingml/2006/main">
            <a:r>
              <a:rPr lang="en-US" sz="1500">
                <a:solidFill>
                  <a:srgbClr val="E3F2FD"/>
                </a:solidFill>
                <a:latin typeface="Calibri"/>
                <a:ea typeface="Calibri"/>
              </a:rPr>
              <a:t>  2025+: Error-corrected logical qubits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Google Quantum:</a:t>
            </a:r>
          </a:p>
          <a:p xmlns:a="http://schemas.openxmlformats.org/drawingml/2006/main">
            <a:r>
              <a:rPr lang="en-US" sz="1500">
                <a:solidFill>
                  <a:srgbClr val="E3F2FD"/>
                </a:solidFill>
                <a:latin typeface="Calibri"/>
                <a:ea typeface="Calibri"/>
              </a:rPr>
              <a:t>  2019: Sycamore 53Q — claimed quantum supremacy (Nature 2019)</a:t>
            </a:r>
          </a:p>
          <a:p xmlns:a="http://schemas.openxmlformats.org/drawingml/2006/main">
            <a:r>
              <a:rPr lang="en-US" sz="1500">
                <a:solidFill>
                  <a:srgbClr val="E3F2FD"/>
                </a:solidFill>
                <a:latin typeface="Calibri"/>
                <a:ea typeface="Calibri"/>
              </a:rPr>
              <a:t>  2023: Surface Code below threshold (Nature 2023)</a:t>
            </a:r>
          </a:p>
        </p:txBody>
      </p:sp>
      <p:pic>
        <p:nvPicPr>
          <p:cNvPr id="100217" name="HardwareLandscape"/>
          <p:cNvPicPr>
            <a:picLocks noChangeAspect="1"/>
          </p:cNvPicPr>
          <p:nvPr/>
        </p:nvPicPr>
        <p:blipFill>
          <a:blip xmlns:r="http://schemas.openxmlformats.org/officeDocument/2006/relationships" r:embed="Re1571ff5b4a743e1">
            <a:extLst>
              <a:ext uri="{96DAC541-7B7A-43D3-8B79-37D633B846F1}">
                <asvg:svgBlip xmlns:asvg="http://schemas.microsoft.com/office/drawing/2016/SVG/main" r:embed="R74b765cd583a4cb9"/>
              </a:ext>
            </a:extLst>
          </a:blip>
          <a:stretch>
            <a:fillRect/>
          </a:stretch>
        </p:blipFill>
        <p:spPr>
          <a:xfrm>
            <a:off x="540000" y="5112000"/>
            <a:ext cx="10800000" cy="1368000"/>
          </a:xfrm>
          <a:prstGeom prst="rect">
            <a:avLst/>
          </a:prstGeom>
        </p:spPr>
      </p:pic>
      <p:sp>
        <p:nvSpPr>
          <p:cNvPr id="100244"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3"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2" name="SectionBadge"/>
          <p:cNvSpPr txBox="1"/>
          <p:nvPr/>
        </p:nvSpPr>
        <p:spPr>
          <a:xfrm>
            <a:off x="540000" y="198000"/>
            <a:ext cx="1080000" cy="180000"/>
          </a:xfrm>
          <a:prstGeom prst="rect">
            <a:avLst/>
          </a:prstGeom>
          <a:solidFill>
            <a:srgbClr val="1A3A2A"/>
          </a:solidFill>
        </p:spPr>
        <p:txBody>
          <a:bodyPr/>
          <a:lstStyle/>
          <a:p>
            <a:r>
              <a:rPr lang="en-US" sz="800" b="1">
                <a:solidFill>
                  <a:srgbClr val="A5D6A7"/>
                </a:solidFill>
                <a:latin typeface="Calibri"/>
                <a:ea typeface="Calibri"/>
              </a:rPr>
              <a:t>HARDWARE</a:t>
            </a:r>
          </a:p>
        </p:txBody>
      </p:sp>
    </p:spTree>
  </p:cSld>
</p:sld>
</file>

<file path=ppt/slides/slide19.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7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78" name="SlideNum"/>
          <p:cNvSpPr txBox="1"/>
          <p:nvPr/>
        </p:nvSpPr>
        <p:spPr>
          <a:xfrm xmlns:a="http://schemas.openxmlformats.org/drawingml/2006/main">
            <a:off x="6660000" y="216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19 / 50  |  SUPERCONDUCTING</a:t>
            </a:r>
          </a:p>
        </p:txBody>
      </p:sp>
      <p:sp>
        <p:nvSpPr>
          <p:cNvPr id="10007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Superconducting Qubits — How IBM Quantum Works</a:t>
            </a:r>
          </a:p>
        </p:txBody>
      </p:sp>
      <p:sp>
        <p:nvSpPr>
          <p:cNvPr id="100080"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Superconducting qubits are the most mature and widely deployed quantum computing technology.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Physical Basis:</a:t>
            </a:r>
          </a:p>
          <a:p xmlns:a="http://schemas.openxmlformats.org/drawingml/2006/main">
            <a:r>
              <a:rPr lang="en-US" sz="1500">
                <a:solidFill>
                  <a:srgbClr val="E3F2FD"/>
                </a:solidFill>
                <a:latin typeface="Calibri"/>
                <a:ea typeface="Calibri"/>
              </a:rPr>
              <a:t>  ▪ Josephson Junction: Two superconductors separated by a thin insulator — creates a non-linear inductor</a:t>
            </a:r>
          </a:p>
          <a:p xmlns:a="http://schemas.openxmlformats.org/drawingml/2006/main">
            <a:r>
              <a:rPr lang="en-US" sz="1500">
                <a:solidFill>
                  <a:srgbClr val="E3F2FD"/>
                </a:solidFill>
                <a:latin typeface="Calibri"/>
                <a:ea typeface="Calibri"/>
              </a:rPr>
              <a:t>  ▪ At ~15 millikelvin (colder than outer space) superconductivity eliminates resistance</a:t>
            </a:r>
          </a:p>
          <a:p xmlns:a="http://schemas.openxmlformats.org/drawingml/2006/main">
            <a:r>
              <a:rPr lang="en-US" sz="1500">
                <a:solidFill>
                  <a:srgbClr val="E3F2FD"/>
                </a:solidFill>
                <a:latin typeface="Calibri"/>
                <a:ea typeface="Calibri"/>
              </a:rPr>
              <a:t>  ▪ Circuit energy levels are quantized — two lowest levels form the qubit (|0⟩, |1⟩)</a:t>
            </a:r>
          </a:p>
          <a:p xmlns:a="http://schemas.openxmlformats.org/drawingml/2006/main">
            <a:r>
              <a:rPr lang="en-US" sz="1500">
                <a:solidFill>
                  <a:srgbClr val="E3F2FD"/>
                </a:solidFill>
                <a:latin typeface="Calibri"/>
                <a:ea typeface="Calibri"/>
              </a:rPr>
              <a:t>  ▪ Qubit type: Transmon (IBM, Google) — best balance of coherence and control</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Control &amp; Readout:</a:t>
            </a:r>
          </a:p>
          <a:p xmlns:a="http://schemas.openxmlformats.org/drawingml/2006/main">
            <a:r>
              <a:rPr lang="en-US" sz="1500">
                <a:solidFill>
                  <a:srgbClr val="E3F2FD"/>
                </a:solidFill>
                <a:latin typeface="Calibri"/>
                <a:ea typeface="Calibri"/>
              </a:rPr>
              <a:t>  ▪ Microwave pulses manipulate qubit states (gate operations)</a:t>
            </a:r>
          </a:p>
          <a:p xmlns:a="http://schemas.openxmlformats.org/drawingml/2006/main">
            <a:r>
              <a:rPr lang="en-US" sz="1500">
                <a:solidFill>
                  <a:srgbClr val="E3F2FD"/>
                </a:solidFill>
                <a:latin typeface="Calibri"/>
                <a:ea typeface="Calibri"/>
              </a:rPr>
              <a:t>  ▪ Dispersive readout — resonator frequency shift reveals qubit state</a:t>
            </a:r>
          </a:p>
          <a:p xmlns:a="http://schemas.openxmlformats.org/drawingml/2006/main">
            <a:r>
              <a:rPr lang="en-US" sz="1500">
                <a:solidFill>
                  <a:srgbClr val="E3F2FD"/>
                </a:solidFill>
                <a:latin typeface="Calibri"/>
                <a:ea typeface="Calibri"/>
              </a:rPr>
              <a:t>  ▪ Gate times: ~30–50 ns (single-qubit), ~300 ns (two-qubit CNOT)</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Challenges:</a:t>
            </a:r>
          </a:p>
          <a:p xmlns:a="http://schemas.openxmlformats.org/drawingml/2006/main">
            <a:r>
              <a:rPr lang="en-US" sz="1500">
                <a:solidFill>
                  <a:srgbClr val="E3F2FD"/>
                </a:solidFill>
                <a:latin typeface="Calibri"/>
                <a:ea typeface="Calibri"/>
              </a:rPr>
              <a:t>  ▪ Requires extreme cooling (dilution refrigerators ~$1M each)</a:t>
            </a:r>
          </a:p>
          <a:p xmlns:a="http://schemas.openxmlformats.org/drawingml/2006/main">
            <a:r>
              <a:rPr lang="en-US" sz="1500">
                <a:solidFill>
                  <a:srgbClr val="E3F2FD"/>
                </a:solidFill>
                <a:latin typeface="Calibri"/>
                <a:ea typeface="Calibri"/>
              </a:rPr>
              <a:t>  ▪ Cross-talk between neighboring qubits</a:t>
            </a:r>
          </a:p>
          <a:p xmlns:a="http://schemas.openxmlformats.org/drawingml/2006/main">
            <a:r>
              <a:rPr lang="en-US" sz="1500">
                <a:solidFill>
                  <a:srgbClr val="E3F2FD"/>
                </a:solidFill>
                <a:latin typeface="Calibri"/>
                <a:ea typeface="Calibri"/>
              </a:rPr>
              <a:t>  ▪ Frequency crowding at scale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IBM Heron (2024): 133 qubits, 99.9% single-qubit fidelity, 99.5% two-qubit fidelity, ~2,000 μs T1 time.</a:t>
            </a:r>
          </a:p>
        </p:txBody>
      </p:sp>
      <p:pic>
        <p:nvPicPr>
          <p:cNvPr id="100218" name="SuperconductingDiagram"/>
          <p:cNvPicPr>
            <a:picLocks noChangeAspect="1"/>
          </p:cNvPicPr>
          <p:nvPr/>
        </p:nvPicPr>
        <p:blipFill>
          <a:blip xmlns:r="http://schemas.openxmlformats.org/officeDocument/2006/relationships" r:embed="Ra7467a2f7ce64ca7">
            <a:extLst>
              <a:ext uri="{96DAC541-7B7A-43D3-8B79-37D633B846F1}">
                <asvg:svgBlip xmlns:asvg="http://schemas.microsoft.com/office/drawing/2016/SVG/main" r:embed="R178a022dc0924a40"/>
              </a:ext>
            </a:extLst>
          </a:blip>
          <a:stretch>
            <a:fillRect/>
          </a:stretch>
        </p:blipFill>
        <p:spPr>
          <a:xfrm>
            <a:off x="540000" y="5040000"/>
            <a:ext cx="10800000" cy="1440000"/>
          </a:xfrm>
          <a:prstGeom prst="rect">
            <a:avLst/>
          </a:prstGeom>
        </p:spPr>
      </p:pic>
      <p:sp>
        <p:nvSpPr>
          <p:cNvPr id="100245"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4"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3" name="SectionBadge"/>
          <p:cNvSpPr txBox="1"/>
          <p:nvPr/>
        </p:nvSpPr>
        <p:spPr>
          <a:xfrm>
            <a:off x="540000" y="198000"/>
            <a:ext cx="1080000" cy="180000"/>
          </a:xfrm>
          <a:prstGeom prst="rect">
            <a:avLst/>
          </a:prstGeom>
          <a:solidFill>
            <a:srgbClr val="1A3A2A"/>
          </a:solidFill>
        </p:spPr>
        <p:txBody>
          <a:bodyPr/>
          <a:lstStyle/>
          <a:p>
            <a:r>
              <a:rPr lang="en-US" sz="800" b="1">
                <a:solidFill>
                  <a:srgbClr val="A5D6A7"/>
                </a:solidFill>
                <a:latin typeface="Calibri"/>
                <a:ea typeface="Calibri"/>
              </a:rPr>
              <a:t>HARDWARE</a:t>
            </a:r>
          </a:p>
        </p:txBody>
      </p:sp>
    </p:spTree>
  </p:cSld>
</p:sld>
</file>

<file path=ppt/slides/slide20.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8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82" name="SlideNum"/>
          <p:cNvSpPr txBox="1"/>
          <p:nvPr/>
        </p:nvSpPr>
        <p:spPr>
          <a:xfrm xmlns:a="http://schemas.openxmlformats.org/drawingml/2006/main">
            <a:off x="7020000" y="216000"/>
            <a:ext cx="468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20 / 50  |  TRAPPED IONS</a:t>
            </a:r>
          </a:p>
        </p:txBody>
      </p:sp>
      <p:sp>
        <p:nvSpPr>
          <p:cNvPr id="10008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Trapped Ions &amp; Neutral Atoms — Alternative Approaches</a:t>
            </a:r>
          </a:p>
        </p:txBody>
      </p:sp>
      <p:sp>
        <p:nvSpPr>
          <p:cNvPr id="100084"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TRAPPED ION QUBITS (IonQ, Quantinuum)</a:t>
            </a:r>
          </a:p>
          <a:p xmlns:a="http://schemas.openxmlformats.org/drawingml/2006/main">
            <a:r>
              <a:rPr lang="en-US" sz="1500">
                <a:solidFill>
                  <a:srgbClr val="E3F2FD"/>
                </a:solidFill>
                <a:latin typeface="Calibri"/>
                <a:ea typeface="Calibri"/>
              </a:rPr>
              <a:t>  ▪ Individual atomic ions (e.g. Ytterbium-171, Barium-133) suspended in electromagnetic trap</a:t>
            </a:r>
          </a:p>
          <a:p xmlns:a="http://schemas.openxmlformats.org/drawingml/2006/main">
            <a:r>
              <a:rPr lang="en-US" sz="1500">
                <a:solidFill>
                  <a:srgbClr val="E3F2FD"/>
                </a:solidFill>
                <a:latin typeface="Calibri"/>
                <a:ea typeface="Calibri"/>
              </a:rPr>
              <a:t>  ▪ Qubit states: two electronic energy levels of the ion</a:t>
            </a:r>
          </a:p>
          <a:p xmlns:a="http://schemas.openxmlformats.org/drawingml/2006/main">
            <a:r>
              <a:rPr lang="en-US" sz="1500">
                <a:solidFill>
                  <a:srgbClr val="E3F2FD"/>
                </a:solidFill>
                <a:latin typeface="Calibri"/>
                <a:ea typeface="Calibri"/>
              </a:rPr>
              <a:t>  ▪ Gates via laser pulses (optical) or microwave radiation</a:t>
            </a:r>
          </a:p>
          <a:p xmlns:a="http://schemas.openxmlformats.org/drawingml/2006/main">
            <a:r>
              <a:rPr lang="en-US" sz="1500">
                <a:solidFill>
                  <a:srgbClr val="E3F2FD"/>
                </a:solidFill>
                <a:latin typeface="Calibri"/>
                <a:ea typeface="Calibri"/>
              </a:rPr>
              <a:t>  ▪ Advantage: Identical qubits (all same atom), long coherence times (seconds vs. microseconds)</a:t>
            </a:r>
          </a:p>
          <a:p xmlns:a="http://schemas.openxmlformats.org/drawingml/2006/main">
            <a:r>
              <a:rPr lang="en-US" sz="1500">
                <a:solidFill>
                  <a:srgbClr val="E3F2FD"/>
                </a:solidFill>
                <a:latin typeface="Calibri"/>
                <a:ea typeface="Calibri"/>
              </a:rPr>
              <a:t>  ▪ Advantage: All-to-all connectivity — any qubit can interact with any other</a:t>
            </a:r>
          </a:p>
          <a:p xmlns:a="http://schemas.openxmlformats.org/drawingml/2006/main">
            <a:r>
              <a:rPr lang="en-US" sz="1500">
                <a:solidFill>
                  <a:srgbClr val="E3F2FD"/>
                </a:solidFill>
                <a:latin typeface="Calibri"/>
                <a:ea typeface="Calibri"/>
              </a:rPr>
              <a:t>  ▪ Challenge: Slow gates (~1 μs vs. ~30 ns for superconducting); hard to scale to thousands</a:t>
            </a:r>
          </a:p>
          <a:p xmlns:a="http://schemas.openxmlformats.org/drawingml/2006/main">
            <a:r>
              <a:rPr lang="en-US" sz="1500">
                <a:solidFill>
                  <a:srgbClr val="E3F2FD"/>
                </a:solidFill>
                <a:latin typeface="Calibri"/>
                <a:ea typeface="Calibri"/>
              </a:rPr>
              <a:t>  ▪ Best fidelity today: 99.9%+ two-qubit gate fidelity (Quantinuum 2024)</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NEUTRAL ATOM QUBITS (QuEra, Pasqual, Atom Computing)</a:t>
            </a:r>
          </a:p>
          <a:p xmlns:a="http://schemas.openxmlformats.org/drawingml/2006/main">
            <a:r>
              <a:rPr lang="en-US" sz="1500">
                <a:solidFill>
                  <a:srgbClr val="E3F2FD"/>
                </a:solidFill>
                <a:latin typeface="Calibri"/>
                <a:ea typeface="Calibri"/>
              </a:rPr>
              <a:t>  ▪ Individual neutral atoms trapped in optical tweezer arrays</a:t>
            </a:r>
          </a:p>
          <a:p xmlns:a="http://schemas.openxmlformats.org/drawingml/2006/main">
            <a:r>
              <a:rPr lang="en-US" sz="1500">
                <a:solidFill>
                  <a:srgbClr val="E3F2FD"/>
                </a:solidFill>
                <a:latin typeface="Calibri"/>
                <a:ea typeface="Calibri"/>
              </a:rPr>
              <a:t>  ▪ Gates via Rydberg interactions (excited high-n atomic states)</a:t>
            </a:r>
          </a:p>
          <a:p xmlns:a="http://schemas.openxmlformats.org/drawingml/2006/main">
            <a:r>
              <a:rPr lang="en-US" sz="1500">
                <a:solidFill>
                  <a:srgbClr val="E3F2FD"/>
                </a:solidFill>
                <a:latin typeface="Calibri"/>
                <a:ea typeface="Calibri"/>
              </a:rPr>
              <a:t>  ▪ Advantage: Reconfigurable — atoms can be moved mid-circuit</a:t>
            </a:r>
          </a:p>
          <a:p xmlns:a="http://schemas.openxmlformats.org/drawingml/2006/main">
            <a:r>
              <a:rPr lang="en-US" sz="1500">
                <a:solidFill>
                  <a:srgbClr val="E3F2FD"/>
                </a:solidFill>
                <a:latin typeface="Calibri"/>
                <a:ea typeface="Calibri"/>
              </a:rPr>
              <a:t>  ▪ Advantage: Large scale possible — QuEra 256 atom system; 10,000+ qubit roadmap</a:t>
            </a:r>
          </a:p>
          <a:p xmlns:a="http://schemas.openxmlformats.org/drawingml/2006/main">
            <a:r>
              <a:rPr lang="en-US" sz="1500">
                <a:solidFill>
                  <a:srgbClr val="E3F2FD"/>
                </a:solidFill>
                <a:latin typeface="Calibri"/>
                <a:ea typeface="Calibri"/>
              </a:rPr>
              <a:t>  ▪ Advantage: Room temperature trap hardware (though lasers needed)</a:t>
            </a:r>
          </a:p>
          <a:p xmlns:a="http://schemas.openxmlformats.org/drawingml/2006/main">
            <a:r>
              <a:rPr lang="en-US" sz="1500">
                <a:solidFill>
                  <a:srgbClr val="E3F2FD"/>
                </a:solidFill>
                <a:latin typeface="Calibri"/>
                <a:ea typeface="Calibri"/>
              </a:rPr>
              <a:t>  ▪ Challenge: Rydberg gates still maturing in fidelity</a:t>
            </a:r>
          </a:p>
          <a:p xmlns:a="http://schemas.openxmlformats.org/drawingml/2006/main">
            <a:r>
              <a:rPr lang="en-US" sz="1500">
                <a:solidFill>
                  <a:srgbClr val="E3F2FD"/>
                </a:solidFill>
                <a:latin typeface="Calibri"/>
                <a:ea typeface="Calibri"/>
              </a:rPr>
              <a:t>  ▪ 2023: First demonstration of logical qubits with neutral atoms (Bluvstein et al., Nature 2023)</a:t>
            </a:r>
          </a:p>
        </p:txBody>
      </p:sp>
      <p:sp>
        <p:nvSpPr>
          <p:cNvPr id="100246"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5"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4" name="SectionBadge"/>
          <p:cNvSpPr txBox="1"/>
          <p:nvPr/>
        </p:nvSpPr>
        <p:spPr>
          <a:xfrm>
            <a:off x="540000" y="198000"/>
            <a:ext cx="1080000" cy="180000"/>
          </a:xfrm>
          <a:prstGeom prst="rect">
            <a:avLst/>
          </a:prstGeom>
          <a:solidFill>
            <a:srgbClr val="1A3A2A"/>
          </a:solidFill>
        </p:spPr>
        <p:txBody>
          <a:bodyPr/>
          <a:lstStyle/>
          <a:p>
            <a:r>
              <a:rPr lang="en-US" sz="800" b="1">
                <a:solidFill>
                  <a:srgbClr val="A5D6A7"/>
                </a:solidFill>
                <a:latin typeface="Calibri"/>
                <a:ea typeface="Calibri"/>
              </a:rPr>
              <a:t>HARDWARE</a:t>
            </a:r>
          </a:p>
        </p:txBody>
      </p:sp>
    </p:spTree>
  </p:cSld>
</p:sld>
</file>

<file path=ppt/slides/slide21.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8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86"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21</a:t>
            </a:r>
          </a:p>
        </p:txBody>
      </p:sp>
      <p:sp>
        <p:nvSpPr>
          <p:cNvPr id="100087"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Simulation — Nature's Own Language</a:t>
            </a:r>
          </a:p>
        </p:txBody>
      </p:sp>
      <p:sp>
        <p:nvSpPr>
          <p:cNvPr id="100088"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"Nature isn't classical, dammit, and if you want to make a simulation of nature, you'd better make it quantum mechanical." — Richard Feynman, 1981</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The Problem with Classical Simulation:</a:t>
            </a:r>
          </a:p>
          <a:p xmlns:a="http://schemas.openxmlformats.org/drawingml/2006/main">
            <a:r>
              <a:rPr lang="en-US" sz="1700">
                <a:solidFill>
                  <a:srgbClr val="E3F2FD"/>
                </a:solidFill>
                <a:latin typeface="Calibri"/>
                <a:ea typeface="Calibri"/>
              </a:rPr>
              <a:t>  ▪ Simulating 50 electrons in a molecule requires 2^50 ≈ 10^15 complex numbers</a:t>
            </a:r>
          </a:p>
          <a:p xmlns:a="http://schemas.openxmlformats.org/drawingml/2006/main">
            <a:r>
              <a:rPr lang="en-US" sz="1700">
                <a:solidFill>
                  <a:srgbClr val="E3F2FD"/>
                </a:solidFill>
                <a:latin typeface="Calibri"/>
                <a:ea typeface="Calibri"/>
              </a:rPr>
              <a:t>  ▪ Beyond ~50 electrons: classically intractable even for supercomputers</a:t>
            </a:r>
          </a:p>
          <a:p xmlns:a="http://schemas.openxmlformats.org/drawingml/2006/main">
            <a:r>
              <a:rPr lang="en-US" sz="1700">
                <a:solidFill>
                  <a:srgbClr val="E3F2FD"/>
                </a:solidFill>
                <a:latin typeface="Calibri"/>
                <a:ea typeface="Calibri"/>
              </a:rPr>
              <a:t>  ▪ This is the exact domain where quantum computing naturally shines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Quantum Simulation Targets:</a:t>
            </a:r>
          </a:p>
          <a:p xmlns:a="http://schemas.openxmlformats.org/drawingml/2006/main">
            <a:r>
              <a:rPr lang="en-US" sz="1700">
                <a:solidFill>
                  <a:srgbClr val="E3F2FD"/>
                </a:solidFill>
                <a:latin typeface="Calibri"/>
                <a:ea typeface="Calibri"/>
              </a:rPr>
              <a:t>  Domain                    Application</a:t>
            </a:r>
          </a:p>
          <a:p xmlns:a="http://schemas.openxmlformats.org/drawingml/2006/main">
            <a:r>
              <a:rPr lang="en-US" sz="1700">
                <a:solidFill>
                  <a:srgbClr val="E3F2FD"/>
                </a:solidFill>
                <a:latin typeface="Calibri"/>
                <a:ea typeface="Calibri"/>
              </a:rPr>
              <a:t>  ─────────────────────────────────────────────────────────────</a:t>
            </a:r>
          </a:p>
          <a:p xmlns:a="http://schemas.openxmlformats.org/drawingml/2006/main">
            <a:r>
              <a:rPr lang="en-US" sz="1700">
                <a:solidFill>
                  <a:srgbClr val="E3F2FD"/>
                </a:solidFill>
                <a:latin typeface="Calibri"/>
                <a:ea typeface="Calibri"/>
              </a:rPr>
              <a:t>  Quantum Chemistry         Molecular ground state energies (drug design, materials)</a:t>
            </a:r>
          </a:p>
          <a:p xmlns:a="http://schemas.openxmlformats.org/drawingml/2006/main">
            <a:r>
              <a:rPr lang="en-US" sz="1700">
                <a:solidFill>
                  <a:srgbClr val="E3F2FD"/>
                </a:solidFill>
                <a:latin typeface="Calibri"/>
                <a:ea typeface="Calibri"/>
              </a:rPr>
              <a:t>  Condensed Matter          High-temperature superconductors, topological phases</a:t>
            </a:r>
          </a:p>
          <a:p xmlns:a="http://schemas.openxmlformats.org/drawingml/2006/main">
            <a:r>
              <a:rPr lang="en-US" sz="1700">
                <a:solidFill>
                  <a:srgbClr val="E3F2FD"/>
                </a:solidFill>
                <a:latin typeface="Calibri"/>
                <a:ea typeface="Calibri"/>
              </a:rPr>
              <a:t>  Nuclear Physics           QCD lattice simulations, nuclear forces</a:t>
            </a:r>
          </a:p>
          <a:p xmlns:a="http://schemas.openxmlformats.org/drawingml/2006/main">
            <a:r>
              <a:rPr lang="en-US" sz="1700">
                <a:solidFill>
                  <a:srgbClr val="E3F2FD"/>
                </a:solidFill>
                <a:latin typeface="Calibri"/>
                <a:ea typeface="Calibri"/>
              </a:rPr>
              <a:t>  High Energy Physics       Quantum field theories, particle collisions</a:t>
            </a:r>
          </a:p>
          <a:p xmlns:a="http://schemas.openxmlformats.org/drawingml/2006/main">
            <a:r>
              <a:rPr lang="en-US" sz="1700">
                <a:solidFill>
                  <a:srgbClr val="E3F2FD"/>
                </a:solidFill>
                <a:latin typeface="Calibri"/>
                <a:ea typeface="Calibri"/>
              </a:rPr>
              <a:t>  Quantum Biology           Photosynthesis efficiency, enzyme catalysis</a:t>
            </a:r>
          </a:p>
          <a:p xmlns:a="http://schemas.openxmlformats.org/drawingml/2006/main">
            <a:r>
              <a:rPr lang="en-US" sz="1700">
                <a:solidFill>
                  <a:srgbClr val="E3F2FD"/>
                </a:solidFill>
                <a:latin typeface="Calibri"/>
                <a:ea typeface="Calibri"/>
              </a:rPr>
              <a:t>  Finance                   Stochastic differential equations, option pricing</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Current Progress:</a:t>
            </a:r>
          </a:p>
          <a:p xmlns:a="http://schemas.openxmlformats.org/drawingml/2006/main">
            <a:r>
              <a:rPr lang="en-US" sz="1700">
                <a:solidFill>
                  <a:srgbClr val="E3F2FD"/>
                </a:solidFill>
                <a:latin typeface="Calibri"/>
                <a:ea typeface="Calibri"/>
              </a:rPr>
              <a:t>  ▪ VQE demonstrated on H₂, LiH, BeH₂ molecules on IBM Quantum</a:t>
            </a:r>
          </a:p>
          <a:p xmlns:a="http://schemas.openxmlformats.org/drawingml/2006/main">
            <a:r>
              <a:rPr lang="en-US" sz="1700">
                <a:solidFill>
                  <a:srgbClr val="E3F2FD"/>
                </a:solidFill>
                <a:latin typeface="Calibri"/>
                <a:ea typeface="Calibri"/>
              </a:rPr>
              <a:t>  ▪ 2022: Google simulated correlated electron dynamics beyond classical verification</a:t>
            </a:r>
          </a:p>
        </p:txBody>
      </p:sp>
      <p:pic>
        <p:nvPicPr>
          <p:cNvPr id="100219" name="SimulationDiagram"/>
          <p:cNvPicPr>
            <a:picLocks noChangeAspect="1"/>
          </p:cNvPicPr>
          <p:nvPr/>
        </p:nvPicPr>
        <p:blipFill>
          <a:blip xmlns:r="http://schemas.openxmlformats.org/officeDocument/2006/relationships" r:embed="Rec33ab143f0b4f07">
            <a:extLst>
              <a:ext uri="{96DAC541-7B7A-43D3-8B79-37D633B846F1}">
                <asvg:svgBlip xmlns:asvg="http://schemas.microsoft.com/office/drawing/2016/SVG/main" r:embed="Rc757b2b15cc44e69"/>
              </a:ext>
            </a:extLst>
          </a:blip>
          <a:stretch>
            <a:fillRect/>
          </a:stretch>
        </p:blipFill>
        <p:spPr>
          <a:xfrm>
            <a:off x="540000" y="5112000"/>
            <a:ext cx="10800000" cy="1368000"/>
          </a:xfrm>
          <a:prstGeom prst="rect">
            <a:avLst/>
          </a:prstGeom>
        </p:spPr>
      </p:pic>
      <p:sp>
        <p:nvSpPr>
          <p:cNvPr id="100247"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6"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5" name="SectionBadge"/>
          <p:cNvSpPr txBox="1"/>
          <p:nvPr/>
        </p:nvSpPr>
        <p:spPr>
          <a:xfrm>
            <a:off x="540000" y="198000"/>
            <a:ext cx="1296000" cy="180000"/>
          </a:xfrm>
          <a:prstGeom prst="rect">
            <a:avLst/>
          </a:prstGeom>
          <a:solidFill>
            <a:srgbClr val="2A2A1A"/>
          </a:solidFill>
        </p:spPr>
        <p:txBody>
          <a:bodyPr/>
          <a:lstStyle/>
          <a:p>
            <a:r>
              <a:rPr lang="en-US" sz="800" b="1">
                <a:solidFill>
                  <a:srgbClr val="FFE082"/>
                </a:solidFill>
                <a:latin typeface="Calibri"/>
                <a:ea typeface="Calibri"/>
              </a:rPr>
              <a:t>APPLICATIONS</a:t>
            </a:r>
          </a:p>
        </p:txBody>
      </p:sp>
    </p:spTree>
  </p:cSld>
</p:sld>
</file>

<file path=ppt/slides/slide22.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8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90"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22</a:t>
            </a:r>
          </a:p>
        </p:txBody>
      </p:sp>
      <p:sp>
        <p:nvSpPr>
          <p:cNvPr id="100091"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Chemistry &amp; Drug Discovery</a:t>
            </a:r>
          </a:p>
        </p:txBody>
      </p:sp>
      <p:sp>
        <p:nvSpPr>
          <p:cNvPr id="100092"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Drug Discovery Today:</a:t>
            </a:r>
          </a:p>
          <a:p xmlns:a="http://schemas.openxmlformats.org/drawingml/2006/main">
            <a:r>
              <a:rPr lang="en-US" sz="1700">
                <a:solidFill>
                  <a:srgbClr val="E3F2FD"/>
                </a:solidFill>
                <a:latin typeface="Calibri"/>
                <a:ea typeface="Calibri"/>
              </a:rPr>
              <a:t>  ▪ Average cost: $2.6 billion per approved drug (Tufts Center, 2021)</a:t>
            </a:r>
          </a:p>
          <a:p xmlns:a="http://schemas.openxmlformats.org/drawingml/2006/main">
            <a:r>
              <a:rPr lang="en-US" sz="1700">
                <a:solidFill>
                  <a:srgbClr val="E3F2FD"/>
                </a:solidFill>
                <a:latin typeface="Calibri"/>
                <a:ea typeface="Calibri"/>
              </a:rPr>
              <a:t>  ▪ Average timeline: 10–15 years from discovery to approval</a:t>
            </a:r>
          </a:p>
          <a:p xmlns:a="http://schemas.openxmlformats.org/drawingml/2006/main">
            <a:r>
              <a:rPr lang="en-US" sz="1700">
                <a:solidFill>
                  <a:srgbClr val="E3F2FD"/>
                </a:solidFill>
                <a:latin typeface="Calibri"/>
                <a:ea typeface="Calibri"/>
              </a:rPr>
              <a:t>  ▪ Failure rate: &gt;90% of clinical candidates fail</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Where Quantum Helps:</a:t>
            </a:r>
          </a:p>
          <a:p xmlns:a="http://schemas.openxmlformats.org/drawingml/2006/main">
            <a:r>
              <a:rPr lang="en-US" sz="1700">
                <a:solidFill>
                  <a:srgbClr val="E3F2FD"/>
                </a:solidFill>
                <a:latin typeface="Calibri"/>
                <a:ea typeface="Calibri"/>
              </a:rPr>
              <a:t>  ▪ Accurate simulation of molecular binding energies (protein-ligand docking)</a:t>
            </a:r>
          </a:p>
          <a:p xmlns:a="http://schemas.openxmlformats.org/drawingml/2006/main">
            <a:r>
              <a:rPr lang="en-US" sz="1700">
                <a:solidFill>
                  <a:srgbClr val="E3F2FD"/>
                </a:solidFill>
                <a:latin typeface="Calibri"/>
                <a:ea typeface="Calibri"/>
              </a:rPr>
              <a:t>  ▪ Precise computation of reaction pathways and transition states</a:t>
            </a:r>
          </a:p>
          <a:p xmlns:a="http://schemas.openxmlformats.org/drawingml/2006/main">
            <a:r>
              <a:rPr lang="en-US" sz="1700">
                <a:solidFill>
                  <a:srgbClr val="E3F2FD"/>
                </a:solidFill>
                <a:latin typeface="Calibri"/>
                <a:ea typeface="Calibri"/>
              </a:rPr>
              <a:t>  ▪ Discovery of novel materials for drug carriers and delivery systems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Key Quantum Algorithm — VQE (Variational Quantum Eigensolver):</a:t>
            </a:r>
          </a:p>
          <a:p xmlns:a="http://schemas.openxmlformats.org/drawingml/2006/main">
            <a:r>
              <a:rPr lang="en-US" sz="1700">
                <a:solidFill>
                  <a:srgbClr val="E3F2FD"/>
                </a:solidFill>
                <a:latin typeface="Calibri"/>
                <a:ea typeface="Calibri"/>
              </a:rPr>
              <a:t>  ▪ Hybrid classical-quantum algorithm to find molecular ground state energy</a:t>
            </a:r>
          </a:p>
          <a:p xmlns:a="http://schemas.openxmlformats.org/drawingml/2006/main">
            <a:r>
              <a:rPr lang="en-US" sz="1700">
                <a:solidFill>
                  <a:srgbClr val="E3F2FD"/>
                </a:solidFill>
                <a:latin typeface="Calibri"/>
                <a:ea typeface="Calibri"/>
              </a:rPr>
              <a:t>  ▪ Prepares trial quantum state (ansatz) on quantum hardware</a:t>
            </a:r>
          </a:p>
          <a:p xmlns:a="http://schemas.openxmlformats.org/drawingml/2006/main">
            <a:r>
              <a:rPr lang="en-US" sz="1700">
                <a:solidFill>
                  <a:srgbClr val="E3F2FD"/>
                </a:solidFill>
                <a:latin typeface="Calibri"/>
                <a:ea typeface="Calibri"/>
              </a:rPr>
              <a:t>  ▪ Classical optimizer minimizes energy expectation value</a:t>
            </a:r>
          </a:p>
          <a:p xmlns:a="http://schemas.openxmlformats.org/drawingml/2006/main">
            <a:r>
              <a:rPr lang="en-US" sz="1700">
                <a:solidFill>
                  <a:srgbClr val="E3F2FD"/>
                </a:solidFill>
                <a:latin typeface="Calibri"/>
                <a:ea typeface="Calibri"/>
              </a:rPr>
              <a:t>  ▪ Demonstrated on H₂, LiH, H₂O, N₂ on IBM Quantum</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Industry Investments:</a:t>
            </a:r>
          </a:p>
          <a:p xmlns:a="http://schemas.openxmlformats.org/drawingml/2006/main">
            <a:r>
              <a:rPr lang="en-US" sz="1700">
                <a:solidFill>
                  <a:srgbClr val="E3F2FD"/>
                </a:solidFill>
                <a:latin typeface="Calibri"/>
                <a:ea typeface="Calibri"/>
              </a:rPr>
              <a:t>  ▪ Pfizer, Merck, Biogen — partnered with IBM Quantum for drug molecule simulation</a:t>
            </a:r>
          </a:p>
          <a:p xmlns:a="http://schemas.openxmlformats.org/drawingml/2006/main">
            <a:r>
              <a:rPr lang="en-US" sz="1700">
                <a:solidFill>
                  <a:srgbClr val="E3F2FD"/>
                </a:solidFill>
                <a:latin typeface="Calibri"/>
                <a:ea typeface="Calibri"/>
              </a:rPr>
              <a:t>  ▪ AstraZeneca &amp; Quantinuum — quantum computational chemistry program</a:t>
            </a:r>
          </a:p>
          <a:p xmlns:a="http://schemas.openxmlformats.org/drawingml/2006/main">
            <a:r>
              <a:rPr lang="en-US" sz="1700">
                <a:solidFill>
                  <a:srgbClr val="E3F2FD"/>
                </a:solidFill>
                <a:latin typeface="Calibri"/>
                <a:ea typeface="Calibri"/>
              </a:rPr>
              <a:t>  ▪ Roche — exploring protein folding and catalyst design</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Timeline: Practical quantum chemistry advantage expected within 5–10 years (fault-tolerant era).</a:t>
            </a:r>
          </a:p>
        </p:txBody>
      </p:sp>
      <p:sp>
        <p:nvSpPr>
          <p:cNvPr id="100248"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7"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6" name="SectionBadge"/>
          <p:cNvSpPr txBox="1"/>
          <p:nvPr/>
        </p:nvSpPr>
        <p:spPr>
          <a:xfrm>
            <a:off x="540000" y="198000"/>
            <a:ext cx="1296000" cy="180000"/>
          </a:xfrm>
          <a:prstGeom prst="rect">
            <a:avLst/>
          </a:prstGeom>
          <a:solidFill>
            <a:srgbClr val="2A2A1A"/>
          </a:solidFill>
        </p:spPr>
        <p:txBody>
          <a:bodyPr/>
          <a:lstStyle/>
          <a:p>
            <a:r>
              <a:rPr lang="en-US" sz="800" b="1">
                <a:solidFill>
                  <a:srgbClr val="FFE082"/>
                </a:solidFill>
                <a:latin typeface="Calibri"/>
                <a:ea typeface="Calibri"/>
              </a:rPr>
              <a:t>APPLICATIONS</a:t>
            </a:r>
          </a:p>
        </p:txBody>
      </p:sp>
    </p:spTree>
  </p:cSld>
</p:sld>
</file>

<file path=ppt/slides/slide23.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9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94"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23</a:t>
            </a:r>
          </a:p>
        </p:txBody>
      </p:sp>
      <p:sp>
        <p:nvSpPr>
          <p:cNvPr id="100095"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Optimization — Solving the Unsolvable</a:t>
            </a:r>
          </a:p>
        </p:txBody>
      </p:sp>
      <p:sp>
        <p:nvSpPr>
          <p:cNvPr id="100096"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Many real-world optimization problems are NP-Hard — they grow exponentially with problem size:</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Examples of Hard Optimization Problems:</a:t>
            </a:r>
          </a:p>
          <a:p xmlns:a="http://schemas.openxmlformats.org/drawingml/2006/main">
            <a:r>
              <a:rPr lang="en-US" sz="1700">
                <a:solidFill>
                  <a:srgbClr val="E3F2FD"/>
                </a:solidFill>
                <a:latin typeface="Calibri"/>
                <a:ea typeface="Calibri"/>
              </a:rPr>
              <a:t>  ▪ Travelling Salesman Problem (TSP): Shortest route visiting N cities</a:t>
            </a:r>
          </a:p>
          <a:p xmlns:a="http://schemas.openxmlformats.org/drawingml/2006/main">
            <a:r>
              <a:rPr lang="en-US" sz="1700">
                <a:solidFill>
                  <a:srgbClr val="E3F2FD"/>
                </a:solidFill>
                <a:latin typeface="Calibri"/>
                <a:ea typeface="Calibri"/>
              </a:rPr>
              <a:t>  ▪ Portfolio Optimization: Best asset allocation under risk constraints</a:t>
            </a:r>
          </a:p>
          <a:p xmlns:a="http://schemas.openxmlformats.org/drawingml/2006/main">
            <a:r>
              <a:rPr lang="en-US" sz="1700">
                <a:solidFill>
                  <a:srgbClr val="E3F2FD"/>
                </a:solidFill>
                <a:latin typeface="Calibri"/>
                <a:ea typeface="Calibri"/>
              </a:rPr>
              <a:t>  ▪ Supply Chain: Minimize cost/time across millions of delivery routes</a:t>
            </a:r>
          </a:p>
          <a:p xmlns:a="http://schemas.openxmlformats.org/drawingml/2006/main">
            <a:r>
              <a:rPr lang="en-US" sz="1700">
                <a:solidFill>
                  <a:srgbClr val="E3F2FD"/>
                </a:solidFill>
                <a:latin typeface="Calibri"/>
                <a:ea typeface="Calibri"/>
              </a:rPr>
              <a:t>  ▪ Drug Scheduling: Optimal clinical trial design</a:t>
            </a:r>
          </a:p>
          <a:p xmlns:a="http://schemas.openxmlformats.org/drawingml/2006/main">
            <a:r>
              <a:rPr lang="en-US" sz="1700">
                <a:solidFill>
                  <a:srgbClr val="E3F2FD"/>
                </a:solidFill>
                <a:latin typeface="Calibri"/>
                <a:ea typeface="Calibri"/>
              </a:rPr>
              <a:t>  ▪ Network Routing: Telecommunications, power grid optimization</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Quantum Approaches:</a:t>
            </a:r>
          </a:p>
          <a:p xmlns:a="http://schemas.openxmlformats.org/drawingml/2006/main">
            <a:r>
              <a:rPr lang="en-US" sz="1700">
                <a:solidFill>
                  <a:srgbClr val="E3F2FD"/>
                </a:solidFill>
                <a:latin typeface="Calibri"/>
                <a:ea typeface="Calibri"/>
              </a:rPr>
              <a:t>  QAOA (Quantum Approximate Optimization Algorithm):</a:t>
            </a:r>
          </a:p>
          <a:p xmlns:a="http://schemas.openxmlformats.org/drawingml/2006/main">
            <a:r>
              <a:rPr lang="en-US" sz="1700">
                <a:solidFill>
                  <a:srgbClr val="E3F2FD"/>
                </a:solidFill>
                <a:latin typeface="Calibri"/>
                <a:ea typeface="Calibri"/>
              </a:rPr>
              <a:t>    ▪ Farhi et al., 2014 — variational hybrid quantum-classical algorithm</a:t>
            </a:r>
          </a:p>
          <a:p xmlns:a="http://schemas.openxmlformats.org/drawingml/2006/main">
            <a:r>
              <a:rPr lang="en-US" sz="1700">
                <a:solidFill>
                  <a:srgbClr val="E3F2FD"/>
                </a:solidFill>
                <a:latin typeface="Calibri"/>
                <a:ea typeface="Calibri"/>
              </a:rPr>
              <a:t>    ▪ Maps optimization to finding ground state of a cost Hamiltonian</a:t>
            </a:r>
          </a:p>
          <a:p xmlns:a="http://schemas.openxmlformats.org/drawingml/2006/main">
            <a:r>
              <a:rPr lang="en-US" sz="1700">
                <a:solidFill>
                  <a:srgbClr val="E3F2FD"/>
                </a:solidFill>
                <a:latin typeface="Calibri"/>
                <a:ea typeface="Calibri"/>
              </a:rPr>
              <a:t>    ▪ Demonstrated on MaxCut, TSP, portfolio problems on IBM Quantum</a:t>
            </a:r>
          </a:p>
          <a:p xmlns:a="http://schemas.openxmlformats.org/drawingml/2006/main">
            <a:r>
              <a:rPr lang="en-US" sz="1700">
                <a:solidFill>
                  <a:srgbClr val="E3F2FD"/>
                </a:solidFill>
                <a:latin typeface="Calibri"/>
                <a:ea typeface="Calibri"/>
              </a:rPr>
              <a:t>    ▪ p-layer QAOA: deeper circuits → better approximation ratio</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  Quantum Annealing (D-Wave):</a:t>
            </a:r>
          </a:p>
          <a:p xmlns:a="http://schemas.openxmlformats.org/drawingml/2006/main">
            <a:r>
              <a:rPr lang="en-US" sz="1700">
                <a:solidFill>
                  <a:srgbClr val="E3F2FD"/>
                </a:solidFill>
                <a:latin typeface="Calibri"/>
                <a:ea typeface="Calibri"/>
              </a:rPr>
              <a:t>    ▪ Specialized hardware for combinatorial optimization</a:t>
            </a:r>
          </a:p>
          <a:p xmlns:a="http://schemas.openxmlformats.org/drawingml/2006/main">
            <a:r>
              <a:rPr lang="en-US" sz="1700">
                <a:solidFill>
                  <a:srgbClr val="E3F2FD"/>
                </a:solidFill>
                <a:latin typeface="Calibri"/>
                <a:ea typeface="Calibri"/>
              </a:rPr>
              <a:t>    ▪ 5,000+ qubit D-Wave Advantage system</a:t>
            </a:r>
          </a:p>
          <a:p xmlns:a="http://schemas.openxmlformats.org/drawingml/2006/main">
            <a:r>
              <a:rPr lang="en-US" sz="1700">
                <a:solidFill>
                  <a:srgbClr val="E3F2FD"/>
                </a:solidFill>
                <a:latin typeface="Calibri"/>
                <a:ea typeface="Calibri"/>
              </a:rPr>
              <a:t>    ▪ Applications: vehicle routing (Volkswagen), drug interaction (Biogen)</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Current Reality: Quantum advantage for optimization not yet demonstrated — active research frontier.</a:t>
            </a:r>
          </a:p>
        </p:txBody>
      </p:sp>
      <p:sp>
        <p:nvSpPr>
          <p:cNvPr id="100249"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8"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7" name="SectionBadge"/>
          <p:cNvSpPr txBox="1"/>
          <p:nvPr/>
        </p:nvSpPr>
        <p:spPr>
          <a:xfrm>
            <a:off x="540000" y="198000"/>
            <a:ext cx="1296000" cy="180000"/>
          </a:xfrm>
          <a:prstGeom prst="rect">
            <a:avLst/>
          </a:prstGeom>
          <a:solidFill>
            <a:srgbClr val="2A2A1A"/>
          </a:solidFill>
        </p:spPr>
        <p:txBody>
          <a:bodyPr/>
          <a:lstStyle/>
          <a:p>
            <a:r>
              <a:rPr lang="en-US" sz="800" b="1">
                <a:solidFill>
                  <a:srgbClr val="FFE082"/>
                </a:solidFill>
                <a:latin typeface="Calibri"/>
                <a:ea typeface="Calibri"/>
              </a:rPr>
              <a:t>APPLICATIONS</a:t>
            </a:r>
          </a:p>
        </p:txBody>
      </p:sp>
    </p:spTree>
  </p:cSld>
</p:sld>
</file>

<file path=ppt/slides/slide24.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09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098"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24</a:t>
            </a:r>
          </a:p>
        </p:txBody>
      </p:sp>
      <p:sp>
        <p:nvSpPr>
          <p:cNvPr id="100099"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Finance — Monte Carlo to Quantum</a:t>
            </a:r>
          </a:p>
        </p:txBody>
      </p:sp>
      <p:sp>
        <p:nvSpPr>
          <p:cNvPr id="100100"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Financial institutions process trillions of dollars daily using complex mathematical models.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Classical Pain Points:</a:t>
            </a:r>
          </a:p>
          <a:p xmlns:a="http://schemas.openxmlformats.org/drawingml/2006/main">
            <a:r>
              <a:rPr lang="en-US" sz="1700">
                <a:solidFill>
                  <a:srgbClr val="E3F2FD"/>
                </a:solidFill>
                <a:latin typeface="Calibri"/>
                <a:ea typeface="Calibri"/>
              </a:rPr>
              <a:t>  ▪ Monte Carlo simulations: millions of random paths to price derivatives (hours of compute)</a:t>
            </a:r>
          </a:p>
          <a:p xmlns:a="http://schemas.openxmlformats.org/drawingml/2006/main">
            <a:r>
              <a:rPr lang="en-US" sz="1700">
                <a:solidFill>
                  <a:srgbClr val="E3F2FD"/>
                </a:solidFill>
                <a:latin typeface="Calibri"/>
                <a:ea typeface="Calibri"/>
              </a:rPr>
              <a:t>  ▪ Value-at-Risk (VaR): Requires large portfolio simulation at daily frequency</a:t>
            </a:r>
          </a:p>
          <a:p xmlns:a="http://schemas.openxmlformats.org/drawingml/2006/main">
            <a:r>
              <a:rPr lang="en-US" sz="1700">
                <a:solidFill>
                  <a:srgbClr val="E3F2FD"/>
                </a:solidFill>
                <a:latin typeface="Calibri"/>
                <a:ea typeface="Calibri"/>
              </a:rPr>
              <a:t>  ▪ Credit risk: Correlated default modeling is exponential in portfolio size</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Quantum Finance Algorithms:</a:t>
            </a:r>
          </a:p>
          <a:p xmlns:a="http://schemas.openxmlformats.org/drawingml/2006/main">
            <a:r>
              <a:rPr lang="en-US" sz="1700">
                <a:solidFill>
                  <a:srgbClr val="E3F2FD"/>
                </a:solidFill>
                <a:latin typeface="Calibri"/>
                <a:ea typeface="Calibri"/>
              </a:rPr>
              <a:t>  ▪ Quantum Monte Carlo (QMC): Quadratic speedup via amplitude estimation — O(1/ε) vs O(1/ε²) classical</a:t>
            </a:r>
          </a:p>
          <a:p xmlns:a="http://schemas.openxmlformats.org/drawingml/2006/main">
            <a:r>
              <a:rPr lang="en-US" sz="1700">
                <a:solidFill>
                  <a:srgbClr val="E3F2FD"/>
                </a:solidFill>
                <a:latin typeface="Calibri"/>
                <a:ea typeface="Calibri"/>
              </a:rPr>
              <a:t>  ▪ Quantum Amplitude Estimation (QAE): Core building block replacing Monte Carlo sampling</a:t>
            </a:r>
          </a:p>
          <a:p xmlns:a="http://schemas.openxmlformats.org/drawingml/2006/main">
            <a:r>
              <a:rPr lang="en-US" sz="1700">
                <a:solidFill>
                  <a:srgbClr val="E3F2FD"/>
                </a:solidFill>
                <a:latin typeface="Calibri"/>
                <a:ea typeface="Calibri"/>
              </a:rPr>
              <a:t>  ▪ Quantum Phase Estimation: Pricing American options (early exercise boundary)</a:t>
            </a:r>
          </a:p>
          <a:p xmlns:a="http://schemas.openxmlformats.org/drawingml/2006/main">
            <a:r>
              <a:rPr lang="en-US" sz="1700">
                <a:solidFill>
                  <a:srgbClr val="E3F2FD"/>
                </a:solidFill>
                <a:latin typeface="Calibri"/>
                <a:ea typeface="Calibri"/>
              </a:rPr>
              <a:t>  ▪ HHL for portfolio optimization: Solving linear systems for risk factor models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Industry Activity (2024):</a:t>
            </a:r>
          </a:p>
          <a:p xmlns:a="http://schemas.openxmlformats.org/drawingml/2006/main">
            <a:r>
              <a:rPr lang="en-US" sz="1700">
                <a:solidFill>
                  <a:srgbClr val="E3F2FD"/>
                </a:solidFill>
                <a:latin typeface="Calibri"/>
                <a:ea typeface="Calibri"/>
              </a:rPr>
              <a:t>  ▪ JPMorgan Chase — quantum derivative pricing, equity index options</a:t>
            </a:r>
          </a:p>
          <a:p xmlns:a="http://schemas.openxmlformats.org/drawingml/2006/main">
            <a:r>
              <a:rPr lang="en-US" sz="1700">
                <a:solidFill>
                  <a:srgbClr val="E3F2FD"/>
                </a:solidFill>
                <a:latin typeface="Calibri"/>
                <a:ea typeface="Calibri"/>
              </a:rPr>
              <a:t>  ▪ Goldman Sachs — QAE for option pricing (published Nature 2023)</a:t>
            </a:r>
          </a:p>
          <a:p xmlns:a="http://schemas.openxmlformats.org/drawingml/2006/main">
            <a:r>
              <a:rPr lang="en-US" sz="1700">
                <a:solidFill>
                  <a:srgbClr val="E3F2FD"/>
                </a:solidFill>
                <a:latin typeface="Calibri"/>
                <a:ea typeface="Calibri"/>
              </a:rPr>
              <a:t>  ▪ BBVA — quantum optimization for credit portfolio</a:t>
            </a:r>
          </a:p>
          <a:p xmlns:a="http://schemas.openxmlformats.org/drawingml/2006/main">
            <a:r>
              <a:rPr lang="en-US" sz="1700">
                <a:solidFill>
                  <a:srgbClr val="E3F2FD"/>
                </a:solidFill>
                <a:latin typeface="Calibri"/>
                <a:ea typeface="Calibri"/>
              </a:rPr>
              <a:t>  ▪ IBM Research — Qiskit Finance module with 10+ financial use-case tutorials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Timeline: Quadratic speedup for Monte Carlo: ~5–7 years (fault-tolerant era needed).</a:t>
            </a:r>
          </a:p>
        </p:txBody>
      </p:sp>
      <p:sp>
        <p:nvSpPr>
          <p:cNvPr id="100250"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299"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8" name="SectionBadge"/>
          <p:cNvSpPr txBox="1"/>
          <p:nvPr/>
        </p:nvSpPr>
        <p:spPr>
          <a:xfrm>
            <a:off x="540000" y="198000"/>
            <a:ext cx="1296000" cy="180000"/>
          </a:xfrm>
          <a:prstGeom prst="rect">
            <a:avLst/>
          </a:prstGeom>
          <a:solidFill>
            <a:srgbClr val="2A2A1A"/>
          </a:solidFill>
        </p:spPr>
        <p:txBody>
          <a:bodyPr/>
          <a:lstStyle/>
          <a:p>
            <a:r>
              <a:rPr lang="en-US" sz="800" b="1">
                <a:solidFill>
                  <a:srgbClr val="FFE082"/>
                </a:solidFill>
                <a:latin typeface="Calibri"/>
                <a:ea typeface="Calibri"/>
              </a:rPr>
              <a:t>APPLICATIONS</a:t>
            </a:r>
          </a:p>
        </p:txBody>
      </p:sp>
    </p:spTree>
  </p:cSld>
</p:sld>
</file>

<file path=ppt/slides/slide25.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0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02"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25</a:t>
            </a:r>
          </a:p>
        </p:txBody>
      </p:sp>
      <p:sp>
        <p:nvSpPr>
          <p:cNvPr id="100103"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Machine Learning — Hype vs. Reality</a:t>
            </a:r>
          </a:p>
        </p:txBody>
      </p:sp>
      <p:sp>
        <p:nvSpPr>
          <p:cNvPr id="100104"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Quantum Machine Learning (QML) combines quantum computing with machine learning techniques.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Promising QML Algorithms:</a:t>
            </a:r>
          </a:p>
          <a:p xmlns:a="http://schemas.openxmlformats.org/drawingml/2006/main">
            <a:r>
              <a:rPr lang="en-US" sz="1600">
                <a:solidFill>
                  <a:srgbClr val="E3F2FD"/>
                </a:solidFill>
                <a:latin typeface="Calibri"/>
                <a:ea typeface="Calibri"/>
              </a:rPr>
              <a:t>  ▪ Quantum Support Vector Machine (QSVM): Quantum kernel methods — O(log N) feature mapping</a:t>
            </a:r>
          </a:p>
          <a:p xmlns:a="http://schemas.openxmlformats.org/drawingml/2006/main">
            <a:r>
              <a:rPr lang="en-US" sz="1600">
                <a:solidFill>
                  <a:srgbClr val="E3F2FD"/>
                </a:solidFill>
                <a:latin typeface="Calibri"/>
                <a:ea typeface="Calibri"/>
              </a:rPr>
              <a:t>  ▪ Quantum Neural Networks (QNN): Parameterized quantum circuits as trainable models</a:t>
            </a:r>
          </a:p>
          <a:p xmlns:a="http://schemas.openxmlformats.org/drawingml/2006/main">
            <a:r>
              <a:rPr lang="en-US" sz="1600">
                <a:solidFill>
                  <a:srgbClr val="E3F2FD"/>
                </a:solidFill>
                <a:latin typeface="Calibri"/>
                <a:ea typeface="Calibri"/>
              </a:rPr>
              <a:t>  ▪ Quantum PCA: HHL-based dimensionality reduction with exponential speedup*</a:t>
            </a:r>
          </a:p>
          <a:p xmlns:a="http://schemas.openxmlformats.org/drawingml/2006/main">
            <a:r>
              <a:rPr lang="en-US" sz="1600">
                <a:solidFill>
                  <a:srgbClr val="E3F2FD"/>
                </a:solidFill>
                <a:latin typeface="Calibri"/>
                <a:ea typeface="Calibri"/>
              </a:rPr>
              <a:t>  ▪ Quantum Boltzmann Machine: Quantum sampling for generative models</a:t>
            </a:r>
          </a:p>
          <a:p xmlns:a="http://schemas.openxmlformats.org/drawingml/2006/main">
            <a:r>
              <a:rPr lang="en-US" sz="1600">
                <a:solidFill>
                  <a:srgbClr val="E3F2FD"/>
                </a:solidFill>
                <a:latin typeface="Calibri"/>
                <a:ea typeface="Calibri"/>
              </a:rPr>
              <a:t>  ▪ QGAN: Quantum Generative Adversarial Networks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Hybrid Classical-Quantum Approach (near-term):</a:t>
            </a:r>
          </a:p>
          <a:p xmlns:a="http://schemas.openxmlformats.org/drawingml/2006/main">
            <a:r>
              <a:rPr lang="en-US" sz="1600">
                <a:solidFill>
                  <a:srgbClr val="E3F2FD"/>
                </a:solidFill>
                <a:latin typeface="Calibri"/>
                <a:ea typeface="Calibri"/>
              </a:rPr>
              <a:t>  ▪ Quantum circuits as feature maps in classical ML pipelines</a:t>
            </a:r>
          </a:p>
          <a:p xmlns:a="http://schemas.openxmlformats.org/drawingml/2006/main">
            <a:r>
              <a:rPr lang="en-US" sz="1600">
                <a:solidFill>
                  <a:srgbClr val="E3F2FD"/>
                </a:solidFill>
                <a:latin typeface="Calibri"/>
                <a:ea typeface="Calibri"/>
              </a:rPr>
              <a:t>  ▪ Demonstrated on fraud detection, image classification (IBM Research 2022)</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Critical Caution — The Dequantization Problem:</a:t>
            </a:r>
          </a:p>
          <a:p xmlns:a="http://schemas.openxmlformats.org/drawingml/2006/main">
            <a:r>
              <a:rPr lang="en-US" sz="1600">
                <a:solidFill>
                  <a:srgbClr val="E3F2FD"/>
                </a:solidFill>
                <a:latin typeface="Calibri"/>
                <a:ea typeface="Calibri"/>
              </a:rPr>
              <a:t>  ▪ Tang (2018): Classical 'quantum-inspired' algorithms can match many claimed QML speedups</a:t>
            </a:r>
          </a:p>
          <a:p xmlns:a="http://schemas.openxmlformats.org/drawingml/2006/main">
            <a:r>
              <a:rPr lang="en-US" sz="1600">
                <a:solidFill>
                  <a:srgbClr val="E3F2FD"/>
                </a:solidFill>
                <a:latin typeface="Calibri"/>
                <a:ea typeface="Calibri"/>
              </a:rPr>
              <a:t>  ▪ Key issue: Data loading (QRAM) is a major unsolved bottleneck</a:t>
            </a:r>
          </a:p>
          <a:p xmlns:a="http://schemas.openxmlformats.org/drawingml/2006/main">
            <a:r>
              <a:rPr lang="en-US" sz="1600">
                <a:solidFill>
                  <a:srgbClr val="E3F2FD"/>
                </a:solidFill>
                <a:latin typeface="Calibri"/>
                <a:ea typeface="Calibri"/>
              </a:rPr>
              <a:t>  ▪ Speedup requires quantum-accessible data — not met by most classical datasets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Honest Assessment:</a:t>
            </a:r>
          </a:p>
          <a:p xmlns:a="http://schemas.openxmlformats.org/drawingml/2006/main">
            <a:r>
              <a:rPr lang="en-US" sz="1600">
                <a:solidFill>
                  <a:srgbClr val="E3F2FD"/>
                </a:solidFill>
                <a:latin typeface="Calibri"/>
                <a:ea typeface="Calibri"/>
              </a:rPr>
              <a:t>  ▪ Near-term QML: Research tool, not production advantage</a:t>
            </a:r>
          </a:p>
          <a:p xmlns:a="http://schemas.openxmlformats.org/drawingml/2006/main">
            <a:r>
              <a:rPr lang="en-US" sz="1600">
                <a:solidFill>
                  <a:srgbClr val="E3F2FD"/>
                </a:solidFill>
                <a:latin typeface="Calibri"/>
                <a:ea typeface="Calibri"/>
              </a:rPr>
              <a:t>  ▪ Long-term: Strong potential when fault-tolerant hardware and QRAM mature</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*Exponential speedup requires QRAM, which does not yet exist at scale.</a:t>
            </a:r>
          </a:p>
        </p:txBody>
      </p:sp>
      <p:sp>
        <p:nvSpPr>
          <p:cNvPr id="100251"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0"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49" name="SectionBadge"/>
          <p:cNvSpPr txBox="1"/>
          <p:nvPr/>
        </p:nvSpPr>
        <p:spPr>
          <a:xfrm>
            <a:off x="540000" y="198000"/>
            <a:ext cx="1296000" cy="180000"/>
          </a:xfrm>
          <a:prstGeom prst="rect">
            <a:avLst/>
          </a:prstGeom>
          <a:solidFill>
            <a:srgbClr val="2A2A1A"/>
          </a:solidFill>
        </p:spPr>
        <p:txBody>
          <a:bodyPr/>
          <a:lstStyle/>
          <a:p>
            <a:r>
              <a:rPr lang="en-US" sz="800" b="1">
                <a:solidFill>
                  <a:srgbClr val="FFE082"/>
                </a:solidFill>
                <a:latin typeface="Calibri"/>
                <a:ea typeface="Calibri"/>
              </a:rPr>
              <a:t>APPLICATIONS</a:t>
            </a:r>
          </a:p>
        </p:txBody>
      </p:sp>
    </p:spTree>
  </p:cSld>
</p:sld>
</file>

<file path=ppt/slides/slide26.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0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06"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26</a:t>
            </a:r>
          </a:p>
        </p:txBody>
      </p:sp>
      <p:sp>
        <p:nvSpPr>
          <p:cNvPr id="100107"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Networks &amp; Quantum Internet</a:t>
            </a:r>
          </a:p>
        </p:txBody>
      </p:sp>
      <p:sp>
        <p:nvSpPr>
          <p:cNvPr id="100108"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The Quantum Internet is a global network that transmits quantum information (qubits) instead of classical bits.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Building Blocks:</a:t>
            </a:r>
          </a:p>
          <a:p xmlns:a="http://schemas.openxmlformats.org/drawingml/2006/main">
            <a:r>
              <a:rPr lang="en-US" sz="1700">
                <a:solidFill>
                  <a:srgbClr val="E3F2FD"/>
                </a:solidFill>
                <a:latin typeface="Calibri"/>
                <a:ea typeface="Calibri"/>
              </a:rPr>
              <a:t>  ▪ Quantum Repeaters: Extend quantum communication over long distances (entanglement swapping)</a:t>
            </a:r>
          </a:p>
          <a:p xmlns:a="http://schemas.openxmlformats.org/drawingml/2006/main">
            <a:r>
              <a:rPr lang="en-US" sz="1700">
                <a:solidFill>
                  <a:srgbClr val="E3F2FD"/>
                </a:solidFill>
                <a:latin typeface="Calibri"/>
                <a:ea typeface="Calibri"/>
              </a:rPr>
              <a:t>  ▪ Quantum Memory: Store quantum states while waiting for entanglement (cold atoms, rare-earth)</a:t>
            </a:r>
          </a:p>
          <a:p xmlns:a="http://schemas.openxmlformats.org/drawingml/2006/main">
            <a:r>
              <a:rPr lang="en-US" sz="1700">
                <a:solidFill>
                  <a:srgbClr val="E3F2FD"/>
                </a:solidFill>
                <a:latin typeface="Calibri"/>
                <a:ea typeface="Calibri"/>
              </a:rPr>
              <a:t>  ▪ Bell State Measurement: Teleport quantum states — no physical particle transmission needed</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Quantum Teleportation:</a:t>
            </a:r>
          </a:p>
          <a:p xmlns:a="http://schemas.openxmlformats.org/drawingml/2006/main">
            <a:r>
              <a:rPr lang="en-US" sz="1700">
                <a:solidFill>
                  <a:srgbClr val="E3F2FD"/>
                </a:solidFill>
                <a:latin typeface="Calibri"/>
                <a:ea typeface="Calibri"/>
              </a:rPr>
              <a:t>  ▪ Transfer of quantum state |ψ⟩ using entanglement + classical communication</a:t>
            </a:r>
          </a:p>
          <a:p xmlns:a="http://schemas.openxmlformats.org/drawingml/2006/main">
            <a:r>
              <a:rPr lang="en-US" sz="1700">
                <a:solidFill>
                  <a:srgbClr val="E3F2FD"/>
                </a:solidFill>
                <a:latin typeface="Calibri"/>
                <a:ea typeface="Calibri"/>
              </a:rPr>
              <a:t>  ▪ First demonstrated (1997, Innsbruck). Long-distance: 1,400 km via Micius satellite (2017)</a:t>
            </a:r>
          </a:p>
          <a:p xmlns:a="http://schemas.openxmlformats.org/drawingml/2006/main">
            <a:r>
              <a:rPr lang="en-US" sz="1700">
                <a:solidFill>
                  <a:srgbClr val="E3F2FD"/>
                </a:solidFill>
                <a:latin typeface="Calibri"/>
                <a:ea typeface="Calibri"/>
              </a:rPr>
              <a:t>  ▪ Does NOT transfer matter or information faster than light</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Quantum Network Layers (Wehner et al., Science 2018):</a:t>
            </a:r>
          </a:p>
          <a:p xmlns:a="http://schemas.openxmlformats.org/drawingml/2006/main">
            <a:r>
              <a:rPr lang="en-US" sz="1700">
                <a:solidFill>
                  <a:srgbClr val="E3F2FD"/>
                </a:solidFill>
                <a:latin typeface="Calibri"/>
                <a:ea typeface="Calibri"/>
              </a:rPr>
              <a:t>  Level 1: Trusted node QKD networks (deployed today — China 4,600 km)</a:t>
            </a:r>
          </a:p>
          <a:p xmlns:a="http://schemas.openxmlformats.org/drawingml/2006/main">
            <a:r>
              <a:rPr lang="en-US" sz="1700">
                <a:solidFill>
                  <a:srgbClr val="E3F2FD"/>
                </a:solidFill>
                <a:latin typeface="Calibri"/>
                <a:ea typeface="Calibri"/>
              </a:rPr>
              <a:t>  Level 2: Prepare-and-measure networks</a:t>
            </a:r>
          </a:p>
          <a:p xmlns:a="http://schemas.openxmlformats.org/drawingml/2006/main">
            <a:r>
              <a:rPr lang="en-US" sz="1700">
                <a:solidFill>
                  <a:srgbClr val="E3F2FD"/>
                </a:solidFill>
                <a:latin typeface="Calibri"/>
                <a:ea typeface="Calibri"/>
              </a:rPr>
              <a:t>  Level 3: Entanglement distribution networks</a:t>
            </a:r>
          </a:p>
          <a:p xmlns:a="http://schemas.openxmlformats.org/drawingml/2006/main">
            <a:r>
              <a:rPr lang="en-US" sz="1700">
                <a:solidFill>
                  <a:srgbClr val="E3F2FD"/>
                </a:solidFill>
                <a:latin typeface="Calibri"/>
                <a:ea typeface="Calibri"/>
              </a:rPr>
              <a:t>  Level 4–6: Full quantum internet (fault-tolerant, universal quantum computation)</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Active Projects:</a:t>
            </a:r>
          </a:p>
          <a:p xmlns:a="http://schemas.openxmlformats.org/drawingml/2006/main">
            <a:r>
              <a:rPr lang="en-US" sz="1700">
                <a:solidFill>
                  <a:srgbClr val="E3F2FD"/>
                </a:solidFill>
                <a:latin typeface="Calibri"/>
                <a:ea typeface="Calibri"/>
              </a:rPr>
              <a:t>  ▪ EU Quantum Internet Alliance — Delft–The Hague quantum link (2023)</a:t>
            </a:r>
          </a:p>
          <a:p xmlns:a="http://schemas.openxmlformats.org/drawingml/2006/main">
            <a:r>
              <a:rPr lang="en-US" sz="1700">
                <a:solidFill>
                  <a:srgbClr val="E3F2FD"/>
                </a:solidFill>
                <a:latin typeface="Calibri"/>
                <a:ea typeface="Calibri"/>
              </a:rPr>
              <a:t>  ▪ US DOE Quantum Internet Blueprint</a:t>
            </a:r>
          </a:p>
          <a:p xmlns:a="http://schemas.openxmlformats.org/drawingml/2006/main">
            <a:r>
              <a:rPr lang="en-US" sz="1700">
                <a:solidFill>
                  <a:srgbClr val="E3F2FD"/>
                </a:solidFill>
                <a:latin typeface="Calibri"/>
                <a:ea typeface="Calibri"/>
              </a:rPr>
              <a:t>  ▪ China Micius Satellite Network (2,000+ km)</a:t>
            </a:r>
          </a:p>
          <a:p xmlns:a="http://schemas.openxmlformats.org/drawingml/2006/main">
            <a:r>
              <a:rPr lang="en-US" sz="1700">
                <a:solidFill>
                  <a:srgbClr val="E3F2FD"/>
                </a:solidFill>
                <a:latin typeface="Calibri"/>
                <a:ea typeface="Calibri"/>
              </a:rPr>
              <a:t>  ▪ IBM Quantum Network — 250+ organizations</a:t>
            </a:r>
          </a:p>
        </p:txBody>
      </p:sp>
      <p:sp>
        <p:nvSpPr>
          <p:cNvPr id="100252"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1"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0" name="SectionBadge"/>
          <p:cNvSpPr txBox="1"/>
          <p:nvPr/>
        </p:nvSpPr>
        <p:spPr>
          <a:xfrm>
            <a:off x="540000" y="198000"/>
            <a:ext cx="1296000" cy="180000"/>
          </a:xfrm>
          <a:prstGeom prst="rect">
            <a:avLst/>
          </a:prstGeom>
          <a:solidFill>
            <a:srgbClr val="2A2A1A"/>
          </a:solidFill>
        </p:spPr>
        <p:txBody>
          <a:bodyPr/>
          <a:lstStyle/>
          <a:p>
            <a:r>
              <a:rPr lang="en-US" sz="800" b="1">
                <a:solidFill>
                  <a:srgbClr val="FFE082"/>
                </a:solidFill>
                <a:latin typeface="Calibri"/>
                <a:ea typeface="Calibri"/>
              </a:rPr>
              <a:t>APPLICATIONS</a:t>
            </a:r>
          </a:p>
        </p:txBody>
      </p:sp>
    </p:spTree>
  </p:cSld>
</p:sld>
</file>

<file path=ppt/slides/slide27.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0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10"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27</a:t>
            </a:r>
          </a:p>
        </p:txBody>
      </p:sp>
      <p:sp>
        <p:nvSpPr>
          <p:cNvPr id="100111"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Key Distribution (QKD) — Unbreakable Encryption</a:t>
            </a:r>
          </a:p>
        </p:txBody>
      </p:sp>
      <p:sp>
        <p:nvSpPr>
          <p:cNvPr id="100112"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QKD uses quantum mechanics to distribute cryptographic keys with information-theoretic security.</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BB84 Protocol (Bennett &amp; Brassard, 1984) — Most Widely Deployed QKD Protocol:</a:t>
            </a:r>
          </a:p>
          <a:p xmlns:a="http://schemas.openxmlformats.org/drawingml/2006/main">
            <a:r>
              <a:rPr lang="en-US" sz="1700">
                <a:solidFill>
                  <a:srgbClr val="E3F2FD"/>
                </a:solidFill>
                <a:latin typeface="Calibri"/>
                <a:ea typeface="Calibri"/>
              </a:rPr>
              <a:t>  Step 1: Alice sends photons randomly polarized in one of 4 states (| , —, /, \)</a:t>
            </a:r>
          </a:p>
          <a:p xmlns:a="http://schemas.openxmlformats.org/drawingml/2006/main">
            <a:r>
              <a:rPr lang="en-US" sz="1700">
                <a:solidFill>
                  <a:srgbClr val="E3F2FD"/>
                </a:solidFill>
                <a:latin typeface="Calibri"/>
                <a:ea typeface="Calibri"/>
              </a:rPr>
              <a:t>  Step 2: Bob measures each photon randomly in one of 2 bases</a:t>
            </a:r>
          </a:p>
          <a:p xmlns:a="http://schemas.openxmlformats.org/drawingml/2006/main">
            <a:r>
              <a:rPr lang="en-US" sz="1700">
                <a:solidFill>
                  <a:srgbClr val="E3F2FD"/>
                </a:solidFill>
                <a:latin typeface="Calibri"/>
                <a:ea typeface="Calibri"/>
              </a:rPr>
              <a:t>  Step 3: Alice and Bob publicly compare their basis choices (not measurements)</a:t>
            </a:r>
          </a:p>
          <a:p xmlns:a="http://schemas.openxmlformats.org/drawingml/2006/main">
            <a:r>
              <a:rPr lang="en-US" sz="1700">
                <a:solidFill>
                  <a:srgbClr val="E3F2FD"/>
                </a:solidFill>
                <a:latin typeface="Calibri"/>
                <a:ea typeface="Calibri"/>
              </a:rPr>
              <a:t>  Step 4: Keep bits where bases matched — this becomes the shared secret key</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Security Proof:</a:t>
            </a:r>
          </a:p>
          <a:p xmlns:a="http://schemas.openxmlformats.org/drawingml/2006/main">
            <a:r>
              <a:rPr lang="en-US" sz="1700">
                <a:solidFill>
                  <a:srgbClr val="E3F2FD"/>
                </a:solidFill>
                <a:latin typeface="Calibri"/>
                <a:ea typeface="Calibri"/>
              </a:rPr>
              <a:t>  ▪ Any eavesdropper (Eve) must measure photons → disturbs quantum state → detectable</a:t>
            </a:r>
          </a:p>
          <a:p xmlns:a="http://schemas.openxmlformats.org/drawingml/2006/main">
            <a:r>
              <a:rPr lang="en-US" sz="1700">
                <a:solidFill>
                  <a:srgbClr val="E3F2FD"/>
                </a:solidFill>
                <a:latin typeface="Calibri"/>
                <a:ea typeface="Calibri"/>
              </a:rPr>
              <a:t>  ▪ Proven unconditionally secure under quantum mechanics (Mayers 1996, Lo &amp; Chau 1999)</a:t>
            </a:r>
          </a:p>
          <a:p xmlns:a="http://schemas.openxmlformats.org/drawingml/2006/main">
            <a:r>
              <a:rPr lang="en-US" sz="1700">
                <a:solidFill>
                  <a:srgbClr val="E3F2FD"/>
                </a:solidFill>
                <a:latin typeface="Calibri"/>
                <a:ea typeface="Calibri"/>
              </a:rPr>
              <a:t>  ▪ Security does NOT depend on computational hardness assumptions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Deployed QKD Networks Today:</a:t>
            </a:r>
          </a:p>
          <a:p xmlns:a="http://schemas.openxmlformats.org/drawingml/2006/main">
            <a:r>
              <a:rPr lang="en-US" sz="1700">
                <a:solidFill>
                  <a:srgbClr val="E3F2FD"/>
                </a:solidFill>
                <a:latin typeface="Calibri"/>
                <a:ea typeface="Calibri"/>
              </a:rPr>
              <a:t>  ▪ China: 4,600 km Beijing–Shanghai fiber + Micius satellite link</a:t>
            </a:r>
          </a:p>
          <a:p xmlns:a="http://schemas.openxmlformats.org/drawingml/2006/main">
            <a:r>
              <a:rPr lang="en-US" sz="1700">
                <a:solidFill>
                  <a:srgbClr val="E3F2FD"/>
                </a:solidFill>
                <a:latin typeface="Calibri"/>
                <a:ea typeface="Calibri"/>
              </a:rPr>
              <a:t>  ▪ Europe: OpenQKD (23 sites across 9 countries)</a:t>
            </a:r>
          </a:p>
          <a:p xmlns:a="http://schemas.openxmlformats.org/drawingml/2006/main">
            <a:r>
              <a:rPr lang="en-US" sz="1700">
                <a:solidFill>
                  <a:srgbClr val="E3F2FD"/>
                </a:solidFill>
                <a:latin typeface="Calibri"/>
                <a:ea typeface="Calibri"/>
              </a:rPr>
              <a:t>  ▪ Japan: Tokyo QKD testbed (Toshiba, NEC, NTT)</a:t>
            </a:r>
          </a:p>
          <a:p xmlns:a="http://schemas.openxmlformats.org/drawingml/2006/main">
            <a:r>
              <a:rPr lang="en-US" sz="1700">
                <a:solidFill>
                  <a:srgbClr val="E3F2FD"/>
                </a:solidFill>
                <a:latin typeface="Calibri"/>
                <a:ea typeface="Calibri"/>
              </a:rPr>
              <a:t>  ▪ US: DOE Quantum Internet Blueprint quantum channels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Limitation: QKD secures the KEY distribution only — data must still be encrypted with symmetric cipher (AES).</a:t>
            </a:r>
          </a:p>
        </p:txBody>
      </p:sp>
      <p:pic>
        <p:nvPicPr>
          <p:cNvPr id="100220" name="QKDDiagram"/>
          <p:cNvPicPr>
            <a:picLocks noChangeAspect="1"/>
          </p:cNvPicPr>
          <p:nvPr/>
        </p:nvPicPr>
        <p:blipFill>
          <a:blip xmlns:r="http://schemas.openxmlformats.org/officeDocument/2006/relationships" r:embed="Rb1a2206c49104cbb">
            <a:extLst>
              <a:ext uri="{96DAC541-7B7A-43D3-8B79-37D633B846F1}">
                <asvg:svgBlip xmlns:asvg="http://schemas.microsoft.com/office/drawing/2016/SVG/main" r:embed="R0e1170b42326401d"/>
              </a:ext>
            </a:extLst>
          </a:blip>
          <a:stretch>
            <a:fillRect/>
          </a:stretch>
        </p:blipFill>
        <p:spPr>
          <a:xfrm>
            <a:off x="540000" y="5112000"/>
            <a:ext cx="10800000" cy="1368000"/>
          </a:xfrm>
          <a:prstGeom prst="rect">
            <a:avLst/>
          </a:prstGeom>
        </p:spPr>
      </p:pic>
      <p:sp>
        <p:nvSpPr>
          <p:cNvPr id="100253"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2"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1" name="SectionBadge"/>
          <p:cNvSpPr txBox="1"/>
          <p:nvPr/>
        </p:nvSpPr>
        <p:spPr>
          <a:xfrm>
            <a:off x="540000" y="198000"/>
            <a:ext cx="1008000" cy="180000"/>
          </a:xfrm>
          <a:prstGeom prst="rect">
            <a:avLst/>
          </a:prstGeom>
          <a:solidFill>
            <a:srgbClr val="3A1A1A"/>
          </a:solidFill>
        </p:spPr>
        <p:txBody>
          <a:bodyPr/>
          <a:lstStyle/>
          <a:p>
            <a:r>
              <a:rPr lang="en-US" sz="800" b="1">
                <a:solidFill>
                  <a:srgbClr val="FFCDD2"/>
                </a:solidFill>
                <a:latin typeface="Calibri"/>
                <a:ea typeface="Calibri"/>
              </a:rPr>
              <a:t>SECURITY</a:t>
            </a:r>
          </a:p>
        </p:txBody>
      </p:sp>
    </p:spTree>
  </p:cSld>
</p:sld>
</file>

<file path=ppt/slides/slide28.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1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14"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28</a:t>
            </a:r>
          </a:p>
        </p:txBody>
      </p:sp>
      <p:sp>
        <p:nvSpPr>
          <p:cNvPr id="100115"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Post-Quantum Cryptography — Preparing for Y2Q</a:t>
            </a:r>
          </a:p>
        </p:txBody>
      </p:sp>
      <p:sp>
        <p:nvSpPr>
          <p:cNvPr id="100116"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Y2Q (Year to Quantum): The anticipated date when a quantum computer can break current encryption.</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Vulnerable Algorithms (broken by Shor's Algorithm):</a:t>
            </a:r>
          </a:p>
          <a:p xmlns:a="http://schemas.openxmlformats.org/drawingml/2006/main">
            <a:r>
              <a:rPr lang="en-US" sz="1600">
                <a:solidFill>
                  <a:srgbClr val="E3F2FD"/>
                </a:solidFill>
                <a:latin typeface="Calibri"/>
                <a:ea typeface="Calibri"/>
              </a:rPr>
              <a:t>  ▪ RSA-2048, RSA-4096            Public-key encryption (banking, TLS, email)</a:t>
            </a:r>
          </a:p>
          <a:p xmlns:a="http://schemas.openxmlformats.org/drawingml/2006/main">
            <a:r>
              <a:rPr lang="en-US" sz="1600">
                <a:solidFill>
                  <a:srgbClr val="E3F2FD"/>
                </a:solidFill>
                <a:latin typeface="Calibri"/>
                <a:ea typeface="Calibri"/>
              </a:rPr>
              <a:t>  ▪ ECC (Elliptic Curve Crypto)   Used in Bitcoin, TLS, government systems</a:t>
            </a:r>
          </a:p>
          <a:p xmlns:a="http://schemas.openxmlformats.org/drawingml/2006/main">
            <a:r>
              <a:rPr lang="en-US" sz="1600">
                <a:solidFill>
                  <a:srgbClr val="E3F2FD"/>
                </a:solidFill>
                <a:latin typeface="Calibri"/>
                <a:ea typeface="Calibri"/>
              </a:rPr>
              <a:t>  ▪ Diffie-Hellman Key Exchange   Foundation of secure web communications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Post-Quantum Cryptography (PQC):</a:t>
            </a:r>
          </a:p>
          <a:p xmlns:a="http://schemas.openxmlformats.org/drawingml/2006/main">
            <a:r>
              <a:rPr lang="en-US" sz="1600">
                <a:solidFill>
                  <a:srgbClr val="E3F2FD"/>
                </a:solidFill>
                <a:latin typeface="Calibri"/>
                <a:ea typeface="Calibri"/>
              </a:rPr>
              <a:t>  Algorithms whose hardness does NOT rely on factoring or discrete log:</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  NIST PQC Standards Finalized — August 2024:</a:t>
            </a:r>
          </a:p>
          <a:p xmlns:a="http://schemas.openxmlformats.org/drawingml/2006/main">
            <a:r>
              <a:rPr lang="en-US" sz="1600">
                <a:solidFill>
                  <a:srgbClr val="E3F2FD"/>
                </a:solidFill>
                <a:latin typeface="Calibri"/>
                <a:ea typeface="Calibri"/>
              </a:rPr>
              <a:t>  Standard       Algorithm     Basis                Use</a:t>
            </a:r>
          </a:p>
          <a:p xmlns:a="http://schemas.openxmlformats.org/drawingml/2006/main">
            <a:r>
              <a:rPr lang="en-US" sz="1600">
                <a:solidFill>
                  <a:srgbClr val="E3F2FD"/>
                </a:solidFill>
                <a:latin typeface="Calibri"/>
                <a:ea typeface="Calibri"/>
              </a:rPr>
              <a:t>  ──────────────────────────────────────────────────────────────────</a:t>
            </a:r>
          </a:p>
          <a:p xmlns:a="http://schemas.openxmlformats.org/drawingml/2006/main">
            <a:r>
              <a:rPr lang="en-US" sz="1600">
                <a:solidFill>
                  <a:srgbClr val="E3F2FD"/>
                </a:solidFill>
                <a:latin typeface="Calibri"/>
                <a:ea typeface="Calibri"/>
              </a:rPr>
              <a:t>  FIPS 203       CRYSTALS-Kyber    LWE lattice       Key encapsulation (KEM)</a:t>
            </a:r>
          </a:p>
          <a:p xmlns:a="http://schemas.openxmlformats.org/drawingml/2006/main">
            <a:r>
              <a:rPr lang="en-US" sz="1600">
                <a:solidFill>
                  <a:srgbClr val="E3F2FD"/>
                </a:solidFill>
                <a:latin typeface="Calibri"/>
                <a:ea typeface="Calibri"/>
              </a:rPr>
              <a:t>  FIPS 204       CRYSTALS-Dilithium MLWE lattice     Digital signatures</a:t>
            </a:r>
          </a:p>
          <a:p xmlns:a="http://schemas.openxmlformats.org/drawingml/2006/main">
            <a:r>
              <a:rPr lang="en-US" sz="1600">
                <a:solidFill>
                  <a:srgbClr val="E3F2FD"/>
                </a:solidFill>
                <a:latin typeface="Calibri"/>
                <a:ea typeface="Calibri"/>
              </a:rPr>
              <a:t>  FIPS 205       SPHINCS+          Hash-based         Digital signatures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Harvest Now, Decrypt Later (HNDL):</a:t>
            </a:r>
          </a:p>
          <a:p xmlns:a="http://schemas.openxmlformats.org/drawingml/2006/main">
            <a:r>
              <a:rPr lang="en-US" sz="1600">
                <a:solidFill>
                  <a:srgbClr val="E3F2FD"/>
                </a:solidFill>
                <a:latin typeface="Calibri"/>
                <a:ea typeface="Calibri"/>
              </a:rPr>
              <a:t>  ▪ Adversaries are capturing encrypted traffic TODAY to decrypt when quantum computers arrive</a:t>
            </a:r>
          </a:p>
          <a:p xmlns:a="http://schemas.openxmlformats.org/drawingml/2006/main">
            <a:r>
              <a:rPr lang="en-US" sz="1600">
                <a:solidFill>
                  <a:srgbClr val="E3F2FD"/>
                </a:solidFill>
                <a:latin typeface="Calibri"/>
                <a:ea typeface="Calibri"/>
              </a:rPr>
              <a:t>  ▪ Government and financial data encrypted now must remain secure for 10–30 years</a:t>
            </a:r>
          </a:p>
          <a:p xmlns:a="http://schemas.openxmlformats.org/drawingml/2006/main">
            <a:r>
              <a:rPr lang="en-US" sz="1600">
                <a:solidFill>
                  <a:srgbClr val="E3F2FD"/>
                </a:solidFill>
                <a:latin typeface="Calibri"/>
                <a:ea typeface="Calibri"/>
              </a:rPr>
              <a:t>  ▪ Migration MUST begin now — NIST urges all organizations to inventory cryptographic assets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Action: NIST SP 800-208, NSA CNSA 2.0 — migrate critical systems by 2030.</a:t>
            </a:r>
          </a:p>
        </p:txBody>
      </p:sp>
      <p:pic>
        <p:nvPicPr>
          <p:cNvPr id="100221" name="PQCDiagram"/>
          <p:cNvPicPr>
            <a:picLocks noChangeAspect="1"/>
          </p:cNvPicPr>
          <p:nvPr/>
        </p:nvPicPr>
        <p:blipFill>
          <a:blip xmlns:r="http://schemas.openxmlformats.org/officeDocument/2006/relationships" r:embed="Re4ff4009197648f8">
            <a:extLst>
              <a:ext uri="{96DAC541-7B7A-43D3-8B79-37D633B846F1}">
                <asvg:svgBlip xmlns:asvg="http://schemas.microsoft.com/office/drawing/2016/SVG/main" r:embed="R22193a0bd5e54ede"/>
              </a:ext>
            </a:extLst>
          </a:blip>
          <a:stretch>
            <a:fillRect/>
          </a:stretch>
        </p:blipFill>
        <p:spPr>
          <a:xfrm>
            <a:off x="540000" y="5112000"/>
            <a:ext cx="10800000" cy="1368000"/>
          </a:xfrm>
          <a:prstGeom prst="rect">
            <a:avLst/>
          </a:prstGeom>
        </p:spPr>
      </p:pic>
      <p:sp>
        <p:nvSpPr>
          <p:cNvPr id="100254"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3"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2" name="SectionBadge"/>
          <p:cNvSpPr txBox="1"/>
          <p:nvPr/>
        </p:nvSpPr>
        <p:spPr>
          <a:xfrm>
            <a:off x="540000" y="198000"/>
            <a:ext cx="1008000" cy="180000"/>
          </a:xfrm>
          <a:prstGeom prst="rect">
            <a:avLst/>
          </a:prstGeom>
          <a:solidFill>
            <a:srgbClr val="3A1A1A"/>
          </a:solidFill>
        </p:spPr>
        <p:txBody>
          <a:bodyPr/>
          <a:lstStyle/>
          <a:p>
            <a:r>
              <a:rPr lang="en-US" sz="800" b="1">
                <a:solidFill>
                  <a:srgbClr val="FFCDD2"/>
                </a:solidFill>
                <a:latin typeface="Calibri"/>
                <a:ea typeface="Calibri"/>
              </a:rPr>
              <a:t>SECURITY</a:t>
            </a:r>
          </a:p>
        </p:txBody>
      </p:sp>
    </p:spTree>
  </p:cSld>
</p:sld>
</file>

<file path=ppt/slides/slide29.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1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18"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29</a:t>
            </a:r>
          </a:p>
        </p:txBody>
      </p:sp>
      <p:sp>
        <p:nvSpPr>
          <p:cNvPr id="100119"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Qiskit — IBM's Open-Source Quantum SDK</a:t>
            </a:r>
          </a:p>
        </p:txBody>
      </p:sp>
      <p:sp>
        <p:nvSpPr>
          <p:cNvPr id="100120"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Qiskit is the world's most widely used quantum software development kit (SDK).</a:t>
            </a:r>
          </a:p>
          <a:p xmlns:a="http://schemas.openxmlformats.org/drawingml/2006/main">
            <a:r>
              <a:rPr lang="en-US" sz="1600">
                <a:solidFill>
                  <a:srgbClr val="E3F2FD"/>
                </a:solidFill>
                <a:latin typeface="Calibri"/>
                <a:ea typeface="Calibri"/>
              </a:rPr>
              <a:t>Open-source, Python-based, 550,000+ registered users, 500+ publications (IBM 2024)</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Qiskit Architecture:</a:t>
            </a:r>
          </a:p>
          <a:p xmlns:a="http://schemas.openxmlformats.org/drawingml/2006/main">
            <a:r>
              <a:rPr lang="en-US" sz="1600">
                <a:solidFill>
                  <a:srgbClr val="E3F2FD"/>
                </a:solidFill>
                <a:latin typeface="Calibri"/>
                <a:ea typeface="Calibri"/>
              </a:rPr>
              <a:t>  Layer 1 — Qiskit SDK         : Build, visualize and execute quantum circuits</a:t>
            </a:r>
          </a:p>
          <a:p xmlns:a="http://schemas.openxmlformats.org/drawingml/2006/main">
            <a:r>
              <a:rPr lang="en-US" sz="1600">
                <a:solidFill>
                  <a:srgbClr val="E3F2FD"/>
                </a:solidFill>
                <a:latin typeface="Calibri"/>
                <a:ea typeface="Calibri"/>
              </a:rPr>
              <a:t>  Layer 2 — Qiskit Runtime     : Execute circuits on IBM Quantum systems efficiently</a:t>
            </a:r>
          </a:p>
          <a:p xmlns:a="http://schemas.openxmlformats.org/drawingml/2006/main">
            <a:r>
              <a:rPr lang="en-US" sz="1600">
                <a:solidFill>
                  <a:srgbClr val="E3F2FD"/>
                </a:solidFill>
                <a:latin typeface="Calibri"/>
                <a:ea typeface="Calibri"/>
              </a:rPr>
              <a:t>  Layer 3 — Qiskit Transpiler  : Optimize circuits for target hardware topology</a:t>
            </a:r>
          </a:p>
          <a:p xmlns:a="http://schemas.openxmlformats.org/drawingml/2006/main">
            <a:r>
              <a:rPr lang="en-US" sz="1600">
                <a:solidFill>
                  <a:srgbClr val="E3F2FD"/>
                </a:solidFill>
                <a:latin typeface="Calibri"/>
                <a:ea typeface="Calibri"/>
              </a:rPr>
              <a:t>  Layer 4 — Qiskit Primitives  : Sampler (measurement) + Estimator (expectation values)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Hello World — Bell State in Qiskit:</a:t>
            </a:r>
          </a:p>
          <a:p xmlns:a="http://schemas.openxmlformats.org/drawingml/2006/main">
            <a:r>
              <a:rPr lang="en-US" sz="1600">
                <a:solidFill>
                  <a:srgbClr val="E3F2FD"/>
                </a:solidFill>
                <a:latin typeface="Calibri"/>
                <a:ea typeface="Calibri"/>
              </a:rPr>
              <a:t>  from qiskit import QuantumCircuit</a:t>
            </a:r>
          </a:p>
          <a:p xmlns:a="http://schemas.openxmlformats.org/drawingml/2006/main">
            <a:r>
              <a:rPr lang="en-US" sz="1600">
                <a:solidFill>
                  <a:srgbClr val="E3F2FD"/>
                </a:solidFill>
                <a:latin typeface="Calibri"/>
                <a:ea typeface="Calibri"/>
              </a:rPr>
              <a:t>  qc = QuantumCircuit(2, 2)     # 2 qubits, 2 classical bits</a:t>
            </a:r>
          </a:p>
          <a:p xmlns:a="http://schemas.openxmlformats.org/drawingml/2006/main">
            <a:r>
              <a:rPr lang="en-US" sz="1600">
                <a:solidFill>
                  <a:srgbClr val="E3F2FD"/>
                </a:solidFill>
                <a:latin typeface="Calibri"/>
                <a:ea typeface="Calibri"/>
              </a:rPr>
              <a:t>  qc.h(0)                       # Hadamard on qubit 0</a:t>
            </a:r>
          </a:p>
          <a:p xmlns:a="http://schemas.openxmlformats.org/drawingml/2006/main">
            <a:r>
              <a:rPr lang="en-US" sz="1600">
                <a:solidFill>
                  <a:srgbClr val="E3F2FD"/>
                </a:solidFill>
                <a:latin typeface="Calibri"/>
                <a:ea typeface="Calibri"/>
              </a:rPr>
              <a:t>  qc.cx(0, 1)                   # CNOT: qubit 0 control, qubit 1 target</a:t>
            </a:r>
          </a:p>
          <a:p xmlns:a="http://schemas.openxmlformats.org/drawingml/2006/main">
            <a:r>
              <a:rPr lang="en-US" sz="1600">
                <a:solidFill>
                  <a:srgbClr val="E3F2FD"/>
                </a:solidFill>
                <a:latin typeface="Calibri"/>
                <a:ea typeface="Calibri"/>
              </a:rPr>
              <a:t>  qc.measure([0,1], [0,1])      # Measure both qubits</a:t>
            </a:r>
          </a:p>
          <a:p xmlns:a="http://schemas.openxmlformats.org/drawingml/2006/main">
            <a:r>
              <a:rPr lang="en-US" sz="1600">
                <a:solidFill>
                  <a:srgbClr val="E3F2FD"/>
                </a:solidFill>
                <a:latin typeface="Calibri"/>
                <a:ea typeface="Calibri"/>
              </a:rPr>
              <a:t>  print(qc.draw())              # Visualize circuit</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To Run on Real IBM Quantum Hardware:</a:t>
            </a:r>
          </a:p>
          <a:p xmlns:a="http://schemas.openxmlformats.org/drawingml/2006/main">
            <a:r>
              <a:rPr lang="en-US" sz="1600">
                <a:solidFill>
                  <a:srgbClr val="E3F2FD"/>
                </a:solidFill>
                <a:latin typeface="Calibri"/>
                <a:ea typeface="Calibri"/>
              </a:rPr>
              <a:t>  from qiskit_ibm_runtime import QiskitRuntimeService</a:t>
            </a:r>
          </a:p>
          <a:p xmlns:a="http://schemas.openxmlformats.org/drawingml/2006/main">
            <a:r>
              <a:rPr lang="en-US" sz="1600">
                <a:solidFill>
                  <a:srgbClr val="E3F2FD"/>
                </a:solidFill>
                <a:latin typeface="Calibri"/>
                <a:ea typeface="Calibri"/>
              </a:rPr>
              <a:t>  service = QiskitRuntimeService(channel='ibm_quantum')</a:t>
            </a:r>
          </a:p>
          <a:p xmlns:a="http://schemas.openxmlformats.org/drawingml/2006/main">
            <a:r>
              <a:rPr lang="en-US" sz="1600">
                <a:solidFill>
                  <a:srgbClr val="E3F2FD"/>
                </a:solidFill>
                <a:latin typeface="Calibri"/>
                <a:ea typeface="Calibri"/>
              </a:rPr>
              <a:t>  backend = service.least_busy(simulator=False)</a:t>
            </a:r>
          </a:p>
          <a:p xmlns:a="http://schemas.openxmlformats.org/drawingml/2006/main">
            <a:r>
              <a:rPr lang="en-US" sz="1600">
                <a:solidFill>
                  <a:srgbClr val="E3F2FD"/>
                </a:solidFill>
                <a:latin typeface="Calibri"/>
                <a:ea typeface="Calibri"/>
              </a:rPr>
              <a:t>  # Submit, run, get results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Free Access: quantum.ibm.com — up to 127-qubit systems free via IBM Quantum Network</a:t>
            </a:r>
          </a:p>
        </p:txBody>
      </p:sp>
      <p:pic>
        <p:nvPicPr>
          <p:cNvPr id="100222" name="QiskitStack"/>
          <p:cNvPicPr>
            <a:picLocks noChangeAspect="1"/>
          </p:cNvPicPr>
          <p:nvPr/>
        </p:nvPicPr>
        <p:blipFill>
          <a:blip xmlns:r="http://schemas.openxmlformats.org/officeDocument/2006/relationships" r:embed="Rf67063cce7524dca">
            <a:extLst>
              <a:ext uri="{96DAC541-7B7A-43D3-8B79-37D633B846F1}">
                <asvg:svgBlip xmlns:asvg="http://schemas.microsoft.com/office/drawing/2016/SVG/main" r:embed="R43fccc8002974464"/>
              </a:ext>
            </a:extLst>
          </a:blip>
          <a:stretch>
            <a:fillRect/>
          </a:stretch>
        </p:blipFill>
        <p:spPr>
          <a:xfrm>
            <a:off x="540000" y="5112000"/>
            <a:ext cx="10800000" cy="1368000"/>
          </a:xfrm>
          <a:prstGeom prst="rect">
            <a:avLst/>
          </a:prstGeom>
        </p:spPr>
      </p:pic>
      <p:sp>
        <p:nvSpPr>
          <p:cNvPr id="100255"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4"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3" name="SectionBadge"/>
          <p:cNvSpPr txBox="1"/>
          <p:nvPr/>
        </p:nvSpPr>
        <p:spPr>
          <a:xfrm>
            <a:off x="540000" y="198000"/>
            <a:ext cx="1080000" cy="180000"/>
          </a:xfrm>
          <a:prstGeom prst="rect">
            <a:avLst/>
          </a:prstGeom>
          <a:solidFill>
            <a:srgbClr val="1A2A3A"/>
          </a:solidFill>
        </p:spPr>
        <p:txBody>
          <a:bodyPr/>
          <a:lstStyle/>
          <a:p>
            <a:r>
              <a:rPr lang="en-US" sz="800" b="1">
                <a:solidFill>
                  <a:srgbClr val="B3E5FC"/>
                </a:solidFill>
                <a:latin typeface="Calibri"/>
                <a:ea typeface="Calibri"/>
              </a:rPr>
              <a:t>SOFTWARE</a:t>
            </a:r>
          </a:p>
        </p:txBody>
      </p:sp>
    </p:spTree>
  </p:cSld>
</p:sld>
</file>

<file path=ppt/slides/slide30.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2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22"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30</a:t>
            </a:r>
          </a:p>
        </p:txBody>
      </p:sp>
      <p:sp>
        <p:nvSpPr>
          <p:cNvPr id="100123"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Running Your First Quantum Program on IBM Quantum</a:t>
            </a:r>
          </a:p>
        </p:txBody>
      </p:sp>
      <p:sp>
        <p:nvSpPr>
          <p:cNvPr id="100124"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Step-by-Step: From Browser to Quantum Computer in 5 Minutes</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Step 1: Create a Free Account</a:t>
            </a:r>
          </a:p>
          <a:p xmlns:a="http://schemas.openxmlformats.org/drawingml/2006/main">
            <a:r>
              <a:rPr lang="en-US" sz="1600">
                <a:solidFill>
                  <a:srgbClr val="E3F2FD"/>
                </a:solidFill>
                <a:latin typeface="Calibri"/>
                <a:ea typeface="Calibri"/>
              </a:rPr>
              <a:t>  → quantum.ibm.com → Sign Up → Get API Token</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Step 2: Install Qiskit</a:t>
            </a:r>
          </a:p>
          <a:p xmlns:a="http://schemas.openxmlformats.org/drawingml/2006/main">
            <a:r>
              <a:rPr lang="en-US" sz="1600">
                <a:solidFill>
                  <a:srgbClr val="E3F2FD"/>
                </a:solidFill>
                <a:latin typeface="Calibri"/>
                <a:ea typeface="Calibri"/>
              </a:rPr>
              <a:t>  pip install qiskit qiskit-ibm-runtime</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Step 3: Build Your Bell State Circuit</a:t>
            </a:r>
          </a:p>
          <a:p xmlns:a="http://schemas.openxmlformats.org/drawingml/2006/main">
            <a:r>
              <a:rPr lang="en-US" sz="1600">
                <a:solidFill>
                  <a:srgbClr val="E3F2FD"/>
                </a:solidFill>
                <a:latin typeface="Calibri"/>
                <a:ea typeface="Calibri"/>
              </a:rPr>
              <a:t>  from qiskit import QuantumCircuit</a:t>
            </a:r>
          </a:p>
          <a:p xmlns:a="http://schemas.openxmlformats.org/drawingml/2006/main">
            <a:r>
              <a:rPr lang="en-US" sz="1600">
                <a:solidFill>
                  <a:srgbClr val="E3F2FD"/>
                </a:solidFill>
                <a:latin typeface="Calibri"/>
                <a:ea typeface="Calibri"/>
              </a:rPr>
              <a:t>  qc = QuantumCircuit(2, 2)</a:t>
            </a:r>
          </a:p>
          <a:p xmlns:a="http://schemas.openxmlformats.org/drawingml/2006/main">
            <a:r>
              <a:rPr lang="en-US" sz="1600">
                <a:solidFill>
                  <a:srgbClr val="E3F2FD"/>
                </a:solidFill>
                <a:latin typeface="Calibri"/>
                <a:ea typeface="Calibri"/>
              </a:rPr>
              <a:t>  qc.h(0)</a:t>
            </a:r>
          </a:p>
          <a:p xmlns:a="http://schemas.openxmlformats.org/drawingml/2006/main">
            <a:r>
              <a:rPr lang="en-US" sz="1600">
                <a:solidFill>
                  <a:srgbClr val="E3F2FD"/>
                </a:solidFill>
                <a:latin typeface="Calibri"/>
                <a:ea typeface="Calibri"/>
              </a:rPr>
              <a:t>  qc.cx(0, 1)</a:t>
            </a:r>
          </a:p>
          <a:p xmlns:a="http://schemas.openxmlformats.org/drawingml/2006/main">
            <a:r>
              <a:rPr lang="en-US" sz="1600">
                <a:solidFill>
                  <a:srgbClr val="E3F2FD"/>
                </a:solidFill>
                <a:latin typeface="Calibri"/>
                <a:ea typeface="Calibri"/>
              </a:rPr>
              <a:t>  qc.measure_all()</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Step 4: Run on a Simulator (Instant)</a:t>
            </a:r>
          </a:p>
          <a:p xmlns:a="http://schemas.openxmlformats.org/drawingml/2006/main">
            <a:r>
              <a:rPr lang="en-US" sz="1600">
                <a:solidFill>
                  <a:srgbClr val="E3F2FD"/>
                </a:solidFill>
                <a:latin typeface="Calibri"/>
                <a:ea typeface="Calibri"/>
              </a:rPr>
              <a:t>  from qiskit_aer import AerSimulator</a:t>
            </a:r>
          </a:p>
          <a:p xmlns:a="http://schemas.openxmlformats.org/drawingml/2006/main">
            <a:r>
              <a:rPr lang="en-US" sz="1600">
                <a:solidFill>
                  <a:srgbClr val="E3F2FD"/>
                </a:solidFill>
                <a:latin typeface="Calibri"/>
                <a:ea typeface="Calibri"/>
              </a:rPr>
              <a:t>  sim = AerSimulator()</a:t>
            </a:r>
          </a:p>
          <a:p xmlns:a="http://schemas.openxmlformats.org/drawingml/2006/main">
            <a:r>
              <a:rPr lang="en-US" sz="1600">
                <a:solidFill>
                  <a:srgbClr val="E3F2FD"/>
                </a:solidFill>
                <a:latin typeface="Calibri"/>
                <a:ea typeface="Calibri"/>
              </a:rPr>
              <a:t>  result = sim.run(qc, shots=1024).result()</a:t>
            </a:r>
          </a:p>
          <a:p xmlns:a="http://schemas.openxmlformats.org/drawingml/2006/main">
            <a:r>
              <a:rPr lang="en-US" sz="1600">
                <a:solidFill>
                  <a:srgbClr val="E3F2FD"/>
                </a:solidFill>
                <a:latin typeface="Calibri"/>
                <a:ea typeface="Calibri"/>
              </a:rPr>
              <a:t>  counts = result.get_counts()</a:t>
            </a:r>
          </a:p>
          <a:p xmlns:a="http://schemas.openxmlformats.org/drawingml/2006/main">
            <a:r>
              <a:rPr lang="en-US" sz="1600">
                <a:solidFill>
                  <a:srgbClr val="E3F2FD"/>
                </a:solidFill>
                <a:latin typeface="Calibri"/>
                <a:ea typeface="Calibri"/>
              </a:rPr>
              <a:t>  # Expected: {'00': ~512, '11': ~512}</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Step 5: Run on Real Quantum Hardware (Free)</a:t>
            </a:r>
          </a:p>
          <a:p xmlns:a="http://schemas.openxmlformats.org/drawingml/2006/main">
            <a:r>
              <a:rPr lang="en-US" sz="1600">
                <a:solidFill>
                  <a:srgbClr val="E3F2FD"/>
                </a:solidFill>
                <a:latin typeface="Calibri"/>
                <a:ea typeface="Calibri"/>
              </a:rPr>
              <a:t>  from qiskit_ibm_runtime import QiskitRuntimeService, Sampler</a:t>
            </a:r>
          </a:p>
          <a:p xmlns:a="http://schemas.openxmlformats.org/drawingml/2006/main">
            <a:r>
              <a:rPr lang="en-US" sz="1600">
                <a:solidFill>
                  <a:srgbClr val="E3F2FD"/>
                </a:solidFill>
                <a:latin typeface="Calibri"/>
                <a:ea typeface="Calibri"/>
              </a:rPr>
              <a:t>  service = QiskitRuntimeService(token='YOUR_API_TOKEN')</a:t>
            </a:r>
          </a:p>
          <a:p xmlns:a="http://schemas.openxmlformats.org/drawingml/2006/main">
            <a:r>
              <a:rPr lang="en-US" sz="1600">
                <a:solidFill>
                  <a:srgbClr val="E3F2FD"/>
                </a:solidFill>
                <a:latin typeface="Calibri"/>
                <a:ea typeface="Calibri"/>
              </a:rPr>
              <a:t>  backend = service.least_busy(operational=True, simulator=False)</a:t>
            </a:r>
          </a:p>
          <a:p xmlns:a="http://schemas.openxmlformats.org/drawingml/2006/main">
            <a:r>
              <a:rPr lang="en-US" sz="1600">
                <a:solidFill>
                  <a:srgbClr val="E3F2FD"/>
                </a:solidFill>
                <a:latin typeface="Calibri"/>
                <a:ea typeface="Calibri"/>
              </a:rPr>
              <a:t>  sampler = Sampler(backend)</a:t>
            </a:r>
          </a:p>
          <a:p xmlns:a="http://schemas.openxmlformats.org/drawingml/2006/main">
            <a:r>
              <a:rPr lang="en-US" sz="1600">
                <a:solidFill>
                  <a:srgbClr val="E3F2FD"/>
                </a:solidFill>
                <a:latin typeface="Calibri"/>
                <a:ea typeface="Calibri"/>
              </a:rPr>
              <a:t>  job = sampler.run([qc])</a:t>
            </a:r>
          </a:p>
          <a:p xmlns:a="http://schemas.openxmlformats.org/drawingml/2006/main">
            <a:r>
              <a:rPr lang="en-US" sz="1600">
                <a:solidFill>
                  <a:srgbClr val="E3F2FD"/>
                </a:solidFill>
                <a:latin typeface="Calibri"/>
                <a:ea typeface="Calibri"/>
              </a:rPr>
              <a:t>  print(job.result())</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Resources: IBM Quantum Learning Platform — https://learning.quantum.ibm.com</a:t>
            </a:r>
          </a:p>
        </p:txBody>
      </p:sp>
      <p:sp>
        <p:nvSpPr>
          <p:cNvPr id="100256"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5"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4" name="SectionBadge"/>
          <p:cNvSpPr txBox="1"/>
          <p:nvPr/>
        </p:nvSpPr>
        <p:spPr>
          <a:xfrm>
            <a:off x="540000" y="198000"/>
            <a:ext cx="1080000" cy="180000"/>
          </a:xfrm>
          <a:prstGeom prst="rect">
            <a:avLst/>
          </a:prstGeom>
          <a:solidFill>
            <a:srgbClr val="1A2A3A"/>
          </a:solidFill>
        </p:spPr>
        <p:txBody>
          <a:bodyPr/>
          <a:lstStyle/>
          <a:p>
            <a:r>
              <a:rPr lang="en-US" sz="800" b="1">
                <a:solidFill>
                  <a:srgbClr val="B3E5FC"/>
                </a:solidFill>
                <a:latin typeface="Calibri"/>
                <a:ea typeface="Calibri"/>
              </a:rPr>
              <a:t>SOFTWARE</a:t>
            </a:r>
          </a:p>
        </p:txBody>
      </p:sp>
    </p:spTree>
  </p:cSld>
</p:sld>
</file>

<file path=ppt/slides/slide31.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2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26" name="SlideNum"/>
          <p:cNvSpPr txBox="1"/>
          <p:nvPr/>
        </p:nvSpPr>
        <p:spPr>
          <a:xfrm xmlns:a="http://schemas.openxmlformats.org/drawingml/2006/main">
            <a:off x="5760000" y="216000"/>
            <a:ext cx="59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31 / 50  |  SUPREMACY vs. ADVANTAGE</a:t>
            </a:r>
          </a:p>
        </p:txBody>
      </p:sp>
      <p:sp>
        <p:nvSpPr>
          <p:cNvPr id="100127"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Advantage vs. Quantum Supremacy</a:t>
            </a:r>
          </a:p>
        </p:txBody>
      </p:sp>
      <p:sp>
        <p:nvSpPr>
          <p:cNvPr id="100128"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Two frequently confused terms — precise definitions matter:</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Quantum Supremacy (Quantum Computational Supremacy):</a:t>
            </a:r>
          </a:p>
          <a:p xmlns:a="http://schemas.openxmlformats.org/drawingml/2006/main">
            <a:r>
              <a:rPr lang="en-US" sz="1500">
                <a:solidFill>
                  <a:srgbClr val="E3F2FD"/>
                </a:solidFill>
                <a:latin typeface="Calibri"/>
                <a:ea typeface="Calibri"/>
              </a:rPr>
              <a:t>  Definition: A quantum computer performs any task that no classical computer can practically complete</a:t>
            </a:r>
          </a:p>
          <a:p xmlns:a="http://schemas.openxmlformats.org/drawingml/2006/main">
            <a:r>
              <a:rPr lang="en-US" sz="1500">
                <a:solidFill>
                  <a:srgbClr val="E3F2FD"/>
                </a:solidFill>
                <a:latin typeface="Calibri"/>
                <a:ea typeface="Calibri"/>
              </a:rPr>
              <a:t>              in a reasonable timeframe — regardless of the task's usefulness.</a:t>
            </a:r>
          </a:p>
          <a:p xmlns:a="http://schemas.openxmlformats.org/drawingml/2006/main">
            <a:r>
              <a:rPr lang="en-US" sz="1500">
                <a:solidFill>
                  <a:srgbClr val="E3F2FD"/>
                </a:solidFill>
                <a:latin typeface="Calibri"/>
                <a:ea typeface="Calibri"/>
              </a:rPr>
              <a:t>  Example   : Google's Sycamore (2019) — random circuit sampling in 200s vs. claimed 10,000 years classically</a:t>
            </a:r>
          </a:p>
          <a:p xmlns:a="http://schemas.openxmlformats.org/drawingml/2006/main">
            <a:r>
              <a:rPr lang="en-US" sz="1500">
                <a:solidFill>
                  <a:srgbClr val="E3F2FD"/>
                </a:solidFill>
                <a:latin typeface="Calibri"/>
                <a:ea typeface="Calibri"/>
              </a:rPr>
              <a:t>  Controversy: IBM disputed: classical simulation time revised to 2.5 days (IBM 2022)</a:t>
            </a:r>
          </a:p>
          <a:p xmlns:a="http://schemas.openxmlformats.org/drawingml/2006/main">
            <a:r>
              <a:rPr lang="en-US" sz="1500">
                <a:solidFill>
                  <a:srgbClr val="E3F2FD"/>
                </a:solidFill>
                <a:latin typeface="Calibri"/>
                <a:ea typeface="Calibri"/>
              </a:rPr>
              <a:t>  Status    : Demonstrated for narrow artificial benchmarks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Quantum Advantage:</a:t>
            </a:r>
          </a:p>
          <a:p xmlns:a="http://schemas.openxmlformats.org/drawingml/2006/main">
            <a:r>
              <a:rPr lang="en-US" sz="1500">
                <a:solidFill>
                  <a:srgbClr val="E3F2FD"/>
                </a:solidFill>
                <a:latin typeface="Calibri"/>
                <a:ea typeface="Calibri"/>
              </a:rPr>
              <a:t>  Definition: A quantum computer solves a PRACTICALLY USEFUL problem faster or more accurately</a:t>
            </a:r>
          </a:p>
          <a:p xmlns:a="http://schemas.openxmlformats.org/drawingml/2006/main">
            <a:r>
              <a:rPr lang="en-US" sz="1500">
                <a:solidFill>
                  <a:srgbClr val="E3F2FD"/>
                </a:solidFill>
                <a:latin typeface="Calibri"/>
                <a:ea typeface="Calibri"/>
              </a:rPr>
              <a:t>              than the best classical approach.</a:t>
            </a:r>
          </a:p>
          <a:p xmlns:a="http://schemas.openxmlformats.org/drawingml/2006/main">
            <a:r>
              <a:rPr lang="en-US" sz="1500">
                <a:solidFill>
                  <a:srgbClr val="E3F2FD"/>
                </a:solidFill>
                <a:latin typeface="Calibri"/>
                <a:ea typeface="Calibri"/>
              </a:rPr>
              <a:t>  Status    : Not yet demonstrated for any commercially relevant problem</a:t>
            </a:r>
          </a:p>
          <a:p xmlns:a="http://schemas.openxmlformats.org/drawingml/2006/main">
            <a:r>
              <a:rPr lang="en-US" sz="1500">
                <a:solidFill>
                  <a:srgbClr val="E3F2FD"/>
                </a:solidFill>
                <a:latin typeface="Calibri"/>
                <a:ea typeface="Calibri"/>
              </a:rPr>
              <a:t>  Outlook   : Near-term (5–7 years): Quantum chemistry, optimization sub-routines</a:t>
            </a:r>
          </a:p>
          <a:p xmlns:a="http://schemas.openxmlformats.org/drawingml/2006/main">
            <a:r>
              <a:rPr lang="en-US" sz="1500">
                <a:solidFill>
                  <a:srgbClr val="E3F2FD"/>
                </a:solidFill>
                <a:latin typeface="Calibri"/>
                <a:ea typeface="Calibri"/>
              </a:rPr>
              <a:t>              Long-term (10–15 years): Cryptanalysis, logistics, drug design at scale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Hype Correction — Common Misconceptions:</a:t>
            </a:r>
          </a:p>
          <a:p xmlns:a="http://schemas.openxmlformats.org/drawingml/2006/main">
            <a:r>
              <a:rPr lang="en-US" sz="1500">
                <a:solidFill>
                  <a:srgbClr val="E3F2FD"/>
                </a:solidFill>
                <a:latin typeface="Calibri"/>
                <a:ea typeface="Calibri"/>
              </a:rPr>
              <a:t>  MYTH: 'Quantum computers are already faster than classical computers for everything.'</a:t>
            </a:r>
          </a:p>
          <a:p xmlns:a="http://schemas.openxmlformats.org/drawingml/2006/main">
            <a:r>
              <a:rPr lang="en-US" sz="1500">
                <a:solidFill>
                  <a:srgbClr val="E3F2FD"/>
                </a:solidFill>
                <a:latin typeface="Calibri"/>
                <a:ea typeface="Calibri"/>
              </a:rPr>
              <a:t>  FACT: Quantum computers are slower for most tasks — they excel in specific problem classes.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MYTH: 'Quantum computers run all algorithms exponentially faster.'</a:t>
            </a:r>
          </a:p>
          <a:p xmlns:a="http://schemas.openxmlformats.org/drawingml/2006/main">
            <a:r>
              <a:rPr lang="en-US" sz="1500">
                <a:solidFill>
                  <a:srgbClr val="E3F2FD"/>
                </a:solidFill>
                <a:latin typeface="Calibri"/>
                <a:ea typeface="Calibri"/>
              </a:rPr>
              <a:t>  FACT: Provable speedups exist only for specific problems (factoring, search, simulation).</a:t>
            </a:r>
          </a:p>
        </p:txBody>
      </p:sp>
      <p:pic>
        <p:nvPicPr>
          <p:cNvPr id="100223" name="SupremacyDiagram"/>
          <p:cNvPicPr>
            <a:picLocks noChangeAspect="1"/>
          </p:cNvPicPr>
          <p:nvPr/>
        </p:nvPicPr>
        <p:blipFill>
          <a:blip xmlns:r="http://schemas.openxmlformats.org/officeDocument/2006/relationships" r:embed="R3d59f87e2afc42ac">
            <a:extLst>
              <a:ext uri="{96DAC541-7B7A-43D3-8B79-37D633B846F1}">
                <asvg:svgBlip xmlns:asvg="http://schemas.microsoft.com/office/drawing/2016/SVG/main" r:embed="R13037b5b53774534"/>
              </a:ext>
            </a:extLst>
          </a:blip>
          <a:stretch>
            <a:fillRect/>
          </a:stretch>
        </p:blipFill>
        <p:spPr>
          <a:xfrm>
            <a:off x="540000" y="5112000"/>
            <a:ext cx="10800000" cy="1368000"/>
          </a:xfrm>
          <a:prstGeom prst="rect">
            <a:avLst/>
          </a:prstGeom>
        </p:spPr>
      </p:pic>
      <p:sp>
        <p:nvSpPr>
          <p:cNvPr id="100257"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6"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5" name="SectionBadge"/>
          <p:cNvSpPr txBox="1"/>
          <p:nvPr/>
        </p:nvSpPr>
        <p:spPr>
          <a:xfrm>
            <a:off x="540000" y="198000"/>
            <a:ext cx="1008000" cy="180000"/>
          </a:xfrm>
          <a:prstGeom prst="rect">
            <a:avLst/>
          </a:prstGeom>
          <a:solidFill>
            <a:srgbClr val="2A1A0A"/>
          </a:solidFill>
        </p:spPr>
        <p:txBody>
          <a:bodyPr/>
          <a:lstStyle/>
          <a:p>
            <a:r>
              <a:rPr lang="en-US" sz="800" b="1">
                <a:solidFill>
                  <a:srgbClr val="FFCC80"/>
                </a:solidFill>
                <a:latin typeface="Calibri"/>
                <a:ea typeface="Calibri"/>
              </a:rPr>
              <a:t>CONTEXT</a:t>
            </a:r>
          </a:p>
        </p:txBody>
      </p:sp>
    </p:spTree>
  </p:cSld>
</p:sld>
</file>

<file path=ppt/slides/slide32.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2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30" name="SlideNum"/>
          <p:cNvSpPr txBox="1"/>
          <p:nvPr/>
        </p:nvSpPr>
        <p:spPr>
          <a:xfrm xmlns:a="http://schemas.openxmlformats.org/drawingml/2006/main">
            <a:off x="6480000" y="216000"/>
            <a:ext cx="522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32 / 50  |  GLOBAL INVESTMENT</a:t>
            </a:r>
          </a:p>
        </p:txBody>
      </p:sp>
      <p:sp>
        <p:nvSpPr>
          <p:cNvPr id="100131"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Global Quantum Investment &amp; Policy Landscape</a:t>
            </a:r>
          </a:p>
        </p:txBody>
      </p:sp>
      <p:sp>
        <p:nvSpPr>
          <p:cNvPr id="100132"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Quantum computing has become a national strategic priority across the world:</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Public Investment (2024 estimates):</a:t>
            </a:r>
          </a:p>
          <a:p xmlns:a="http://schemas.openxmlformats.org/drawingml/2006/main">
            <a:r>
              <a:rPr lang="en-US" sz="1400">
                <a:solidFill>
                  <a:srgbClr val="E3F2FD"/>
                </a:solidFill>
                <a:latin typeface="Calibri"/>
                <a:ea typeface="Calibri"/>
              </a:rPr>
              <a:t>  Country / Region       Commitment          Key Focus</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United States          $3.7B+ (NQI)        Computing, networking, sensing</a:t>
            </a:r>
          </a:p>
          <a:p xmlns:a="http://schemas.openxmlformats.org/drawingml/2006/main">
            <a:r>
              <a:rPr lang="en-US" sz="1400">
                <a:solidFill>
                  <a:srgbClr val="E3F2FD"/>
                </a:solidFill>
                <a:latin typeface="Calibri"/>
                <a:ea typeface="Calibri"/>
              </a:rPr>
              <a:t>  European Union         €7.2B (Quantum FP)  Quantum Internet, error correction</a:t>
            </a:r>
          </a:p>
          <a:p xmlns:a="http://schemas.openxmlformats.org/drawingml/2006/main">
            <a:r>
              <a:rPr lang="en-US" sz="1400">
                <a:solidFill>
                  <a:srgbClr val="E3F2FD"/>
                </a:solidFill>
                <a:latin typeface="Calibri"/>
                <a:ea typeface="Calibri"/>
              </a:rPr>
              <a:t>  China                  $15B+ (estimated)   Quantum communication, computing</a:t>
            </a:r>
          </a:p>
          <a:p xmlns:a="http://schemas.openxmlformats.org/drawingml/2006/main">
            <a:r>
              <a:rPr lang="en-US" sz="1400">
                <a:solidFill>
                  <a:srgbClr val="E3F2FD"/>
                </a:solidFill>
                <a:latin typeface="Calibri"/>
                <a:ea typeface="Calibri"/>
              </a:rPr>
              <a:t>  Germany                €3B                 Quantum processors, standards</a:t>
            </a:r>
          </a:p>
          <a:p xmlns:a="http://schemas.openxmlformats.org/drawingml/2006/main">
            <a:r>
              <a:rPr lang="en-US" sz="1400">
                <a:solidFill>
                  <a:srgbClr val="E3F2FD"/>
                </a:solidFill>
                <a:latin typeface="Calibri"/>
                <a:ea typeface="Calibri"/>
              </a:rPr>
              <a:t>  United Kingdom         £2.5B               Photonics, trapped ions, finance</a:t>
            </a:r>
          </a:p>
          <a:p xmlns:a="http://schemas.openxmlformats.org/drawingml/2006/main">
            <a:r>
              <a:rPr lang="en-US" sz="1400">
                <a:solidFill>
                  <a:srgbClr val="E3F2FD"/>
                </a:solidFill>
                <a:latin typeface="Calibri"/>
                <a:ea typeface="Calibri"/>
              </a:rPr>
              <a:t>  Japan                  ¥100B+              RIKEN superconducting, Fujitsu</a:t>
            </a:r>
          </a:p>
          <a:p xmlns:a="http://schemas.openxmlformats.org/drawingml/2006/main">
            <a:r>
              <a:rPr lang="en-US" sz="1400">
                <a:solidFill>
                  <a:srgbClr val="E3F2FD"/>
                </a:solidFill>
                <a:latin typeface="Calibri"/>
                <a:ea typeface="Calibri"/>
              </a:rPr>
              <a:t>  India                  ₹6,003 Cr (NM-QTA)  Quantum computing, communication</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US National Quantum Initiative (NQI) Act:</a:t>
            </a:r>
          </a:p>
          <a:p xmlns:a="http://schemas.openxmlformats.org/drawingml/2006/main">
            <a:r>
              <a:rPr lang="en-US" sz="1400">
                <a:solidFill>
                  <a:srgbClr val="E3F2FD"/>
                </a:solidFill>
                <a:latin typeface="Calibri"/>
                <a:ea typeface="Calibri"/>
              </a:rPr>
              <a:t>  ▪ Signed December 2018 — first US quantum strategy</a:t>
            </a:r>
          </a:p>
          <a:p xmlns:a="http://schemas.openxmlformats.org/drawingml/2006/main">
            <a:r>
              <a:rPr lang="en-US" sz="1400">
                <a:solidFill>
                  <a:srgbClr val="E3F2FD"/>
                </a:solidFill>
                <a:latin typeface="Calibri"/>
                <a:ea typeface="Calibri"/>
              </a:rPr>
              <a:t>  ▪ National Quantum Coordinating Office (NQCO)</a:t>
            </a:r>
          </a:p>
          <a:p xmlns:a="http://schemas.openxmlformats.org/drawingml/2006/main">
            <a:r>
              <a:rPr lang="en-US" sz="1400">
                <a:solidFill>
                  <a:srgbClr val="E3F2FD"/>
                </a:solidFill>
                <a:latin typeface="Calibri"/>
                <a:ea typeface="Calibri"/>
              </a:rPr>
              <a:t>  ▪ 5 National QIS Research Centers (Argonne, Oak Ridge, Brookhaven, Fermilab, LBNL)</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Private Sector Investment:</a:t>
            </a:r>
          </a:p>
          <a:p xmlns:a="http://schemas.openxmlformats.org/drawingml/2006/main">
            <a:r>
              <a:rPr lang="en-US" sz="1400">
                <a:solidFill>
                  <a:srgbClr val="E3F2FD"/>
                </a:solidFill>
                <a:latin typeface="Calibri"/>
                <a:ea typeface="Calibri"/>
              </a:rPr>
              <a:t>  ▪ Total private quantum investment 2023: ~$1.6B (Pitchbook / McKinsey)</a:t>
            </a:r>
          </a:p>
          <a:p xmlns:a="http://schemas.openxmlformats.org/drawingml/2006/main">
            <a:r>
              <a:rPr lang="en-US" sz="1400">
                <a:solidFill>
                  <a:srgbClr val="E3F2FD"/>
                </a:solidFill>
                <a:latin typeface="Calibri"/>
                <a:ea typeface="Calibri"/>
              </a:rPr>
              <a:t>  ▪ Top fundings: PsiQuantum ($665M), IonQ (NASDAQ: IONQ), Quantinuum, Atom Computing</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Standards Bodies: NIST (PQC), ISO/IEC JTC 1/SC 27, ETSI, ITU-T SG13</a:t>
            </a:r>
          </a:p>
        </p:txBody>
      </p:sp>
      <p:sp>
        <p:nvSpPr>
          <p:cNvPr id="100258"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7"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6" name="SectionBadge"/>
          <p:cNvSpPr txBox="1"/>
          <p:nvPr/>
        </p:nvSpPr>
        <p:spPr>
          <a:xfrm>
            <a:off x="540000" y="198000"/>
            <a:ext cx="1008000" cy="180000"/>
          </a:xfrm>
          <a:prstGeom prst="rect">
            <a:avLst/>
          </a:prstGeom>
          <a:solidFill>
            <a:srgbClr val="2A1A0A"/>
          </a:solidFill>
        </p:spPr>
        <p:txBody>
          <a:bodyPr/>
          <a:lstStyle/>
          <a:p>
            <a:r>
              <a:rPr lang="en-US" sz="800" b="1">
                <a:solidFill>
                  <a:srgbClr val="FFCC80"/>
                </a:solidFill>
                <a:latin typeface="Calibri"/>
                <a:ea typeface="Calibri"/>
              </a:rPr>
              <a:t>CONTEXT</a:t>
            </a:r>
          </a:p>
        </p:txBody>
      </p:sp>
    </p:spTree>
  </p:cSld>
</p:sld>
</file>

<file path=ppt/slides/slide33.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3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34" name="SlideNum"/>
          <p:cNvSpPr txBox="1"/>
          <p:nvPr/>
        </p:nvSpPr>
        <p:spPr>
          <a:xfrm xmlns:a="http://schemas.openxmlformats.org/drawingml/2006/main">
            <a:off x="7740000" y="216000"/>
            <a:ext cx="396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33 / 50  |  ROADMAP</a:t>
            </a:r>
          </a:p>
        </p:txBody>
      </p:sp>
      <p:sp>
        <p:nvSpPr>
          <p:cNvPr id="100135"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Technology Timeline — The Road Ahead</a:t>
            </a:r>
          </a:p>
        </p:txBody>
      </p:sp>
      <p:sp>
        <p:nvSpPr>
          <p:cNvPr id="100136" name="Body"/>
          <p:cNvSpPr txBox="1"/>
          <p:nvPr/>
        </p:nvSpPr>
        <p:spPr>
          <a:xfrm xmlns:a="http://schemas.openxmlformats.org/drawingml/2006/main">
            <a:off x="540000" y="1116000"/>
            <a:ext cx="10800000" cy="37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Phase 1 — NISQ Era (Now — ~2027): Noisy Intermediate-Scale Quantum</a:t>
            </a:r>
          </a:p>
          <a:p xmlns:a="http://schemas.openxmlformats.org/drawingml/2006/main">
            <a:r>
              <a:rPr lang="en-US" sz="1500">
                <a:solidFill>
                  <a:srgbClr val="E3F2FD"/>
                </a:solidFill>
                <a:latin typeface="Calibri"/>
                <a:ea typeface="Calibri"/>
              </a:rPr>
              <a:t>  ▪ 100–1,000+ physical qubits, no fault tolerance</a:t>
            </a:r>
          </a:p>
          <a:p xmlns:a="http://schemas.openxmlformats.org/drawingml/2006/main">
            <a:r>
              <a:rPr lang="en-US" sz="1500">
                <a:solidFill>
                  <a:srgbClr val="E3F2FD"/>
                </a:solidFill>
                <a:latin typeface="Calibri"/>
                <a:ea typeface="Calibri"/>
              </a:rPr>
              <a:t>  ▪ Useful for: quantum simulation, VQE, QAOA, QML prototypes</a:t>
            </a:r>
          </a:p>
          <a:p xmlns:a="http://schemas.openxmlformats.org/drawingml/2006/main">
            <a:r>
              <a:rPr lang="en-US" sz="1500">
                <a:solidFill>
                  <a:srgbClr val="E3F2FD"/>
                </a:solidFill>
                <a:latin typeface="Calibri"/>
                <a:ea typeface="Calibri"/>
              </a:rPr>
              <a:t>  ▪ Hardware: IBM Heron, Google Willow, IonQ Forte, QuEra Aquila</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Phase 2 — Early Fault-Tolerant (~2027–2032): Error-Corrected Logical Qubits</a:t>
            </a:r>
          </a:p>
          <a:p xmlns:a="http://schemas.openxmlformats.org/drawingml/2006/main">
            <a:r>
              <a:rPr lang="en-US" sz="1500">
                <a:solidFill>
                  <a:srgbClr val="E3F2FD"/>
                </a:solidFill>
                <a:latin typeface="Calibri"/>
                <a:ea typeface="Calibri"/>
              </a:rPr>
              <a:t>  ▪ First logical qubits with below-threshold error rates</a:t>
            </a:r>
          </a:p>
          <a:p xmlns:a="http://schemas.openxmlformats.org/drawingml/2006/main">
            <a:r>
              <a:rPr lang="en-US" sz="1500">
                <a:solidFill>
                  <a:srgbClr val="E3F2FD"/>
                </a:solidFill>
                <a:latin typeface="Calibri"/>
                <a:ea typeface="Calibri"/>
              </a:rPr>
              <a:t>  ▪ 1,000–10,000 logical qubits possible</a:t>
            </a:r>
          </a:p>
          <a:p xmlns:a="http://schemas.openxmlformats.org/drawingml/2006/main">
            <a:r>
              <a:rPr lang="en-US" sz="1500">
                <a:solidFill>
                  <a:srgbClr val="E3F2FD"/>
                </a:solidFill>
                <a:latin typeface="Calibri"/>
                <a:ea typeface="Calibri"/>
              </a:rPr>
              <a:t>  ▪ Useful for: Better quantum chemistry, early cryptographic relevance, improved optimization</a:t>
            </a:r>
          </a:p>
          <a:p xmlns:a="http://schemas.openxmlformats.org/drawingml/2006/main">
            <a:r>
              <a:rPr lang="en-US" sz="1500">
                <a:solidFill>
                  <a:srgbClr val="E3F2FD"/>
                </a:solidFill>
                <a:latin typeface="Calibri"/>
                <a:ea typeface="Calibri"/>
              </a:rPr>
              <a:t>  ▪ IBM target: Fault-tolerant demonstration by 2029</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Phase 3 — Fault-Tolerant Era (~2032–2040): Large-Scale Quantum Computing</a:t>
            </a:r>
          </a:p>
          <a:p xmlns:a="http://schemas.openxmlformats.org/drawingml/2006/main">
            <a:r>
              <a:rPr lang="en-US" sz="1500">
                <a:solidFill>
                  <a:srgbClr val="E3F2FD"/>
                </a:solidFill>
                <a:latin typeface="Calibri"/>
                <a:ea typeface="Calibri"/>
              </a:rPr>
              <a:t>  ▪ Millions of physical qubits → tens of thousands of logical qubits</a:t>
            </a:r>
          </a:p>
          <a:p xmlns:a="http://schemas.openxmlformats.org/drawingml/2006/main">
            <a:r>
              <a:rPr lang="en-US" sz="1500">
                <a:solidFill>
                  <a:srgbClr val="E3F2FD"/>
                </a:solidFill>
                <a:latin typeface="Calibri"/>
                <a:ea typeface="Calibri"/>
              </a:rPr>
              <a:t>  ▪ Useful for: Shor's algorithm (RSA risk), full molecular simulation, logistics revolution</a:t>
            </a:r>
          </a:p>
          <a:p xmlns:a="http://schemas.openxmlformats.org/drawingml/2006/main">
            <a:r>
              <a:rPr lang="en-US" sz="1500">
                <a:solidFill>
                  <a:srgbClr val="E3F2FD"/>
                </a:solidFill>
                <a:latin typeface="Calibri"/>
                <a:ea typeface="Calibri"/>
              </a:rPr>
              <a:t>  ▪ Requires: QEC overhead solved, scalable manufacturing, full software stack</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Phase 4 — Quantum Internet (~2030–2040+): Networked Quantum Computers</a:t>
            </a:r>
          </a:p>
          <a:p xmlns:a="http://schemas.openxmlformats.org/drawingml/2006/main">
            <a:r>
              <a:rPr lang="en-US" sz="1500">
                <a:solidFill>
                  <a:srgbClr val="E3F2FD"/>
                </a:solidFill>
                <a:latin typeface="Calibri"/>
                <a:ea typeface="Calibri"/>
              </a:rPr>
              <a:t>  ▪ Quantum repeaters + quantum memory enable global quantum network</a:t>
            </a:r>
          </a:p>
          <a:p xmlns:a="http://schemas.openxmlformats.org/drawingml/2006/main">
            <a:r>
              <a:rPr lang="en-US" sz="1500">
                <a:solidFill>
                  <a:srgbClr val="E3F2FD"/>
                </a:solidFill>
                <a:latin typeface="Calibri"/>
                <a:ea typeface="Calibri"/>
              </a:rPr>
              <a:t>  ▪ Enables: Distributed quantum computing, global QKD, blind quantum computing</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Note: All timelines are expert estimates — actual progress may accelerate or decelerate significantly.</a:t>
            </a:r>
          </a:p>
        </p:txBody>
      </p:sp>
      <p:pic>
        <p:nvPicPr>
          <p:cNvPr id="100224" name="TimelineDiagram"/>
          <p:cNvPicPr>
            <a:picLocks noChangeAspect="1"/>
          </p:cNvPicPr>
          <p:nvPr/>
        </p:nvPicPr>
        <p:blipFill>
          <a:blip xmlns:r="http://schemas.openxmlformats.org/officeDocument/2006/relationships" r:embed="R72e914e81ee64824">
            <a:extLst>
              <a:ext uri="{96DAC541-7B7A-43D3-8B79-37D633B846F1}">
                <asvg:svgBlip xmlns:asvg="http://schemas.microsoft.com/office/drawing/2016/SVG/main" r:embed="R43f9ffe68d08443f"/>
              </a:ext>
            </a:extLst>
          </a:blip>
          <a:stretch>
            <a:fillRect/>
          </a:stretch>
        </p:blipFill>
        <p:spPr>
          <a:xfrm>
            <a:off x="540000" y="5112000"/>
            <a:ext cx="10800000" cy="1368000"/>
          </a:xfrm>
          <a:prstGeom prst="rect">
            <a:avLst/>
          </a:prstGeom>
        </p:spPr>
      </p:pic>
      <p:sp>
        <p:nvSpPr>
          <p:cNvPr id="100259"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8"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7" name="SectionBadge"/>
          <p:cNvSpPr txBox="1"/>
          <p:nvPr/>
        </p:nvSpPr>
        <p:spPr>
          <a:xfrm>
            <a:off x="540000" y="198000"/>
            <a:ext cx="1008000" cy="180000"/>
          </a:xfrm>
          <a:prstGeom prst="rect">
            <a:avLst/>
          </a:prstGeom>
          <a:solidFill>
            <a:srgbClr val="2A1A0A"/>
          </a:solidFill>
        </p:spPr>
        <p:txBody>
          <a:bodyPr/>
          <a:lstStyle/>
          <a:p>
            <a:r>
              <a:rPr lang="en-US" sz="800" b="1">
                <a:solidFill>
                  <a:srgbClr val="FFCC80"/>
                </a:solidFill>
                <a:latin typeface="Calibri"/>
                <a:ea typeface="Calibri"/>
              </a:rPr>
              <a:t>CONTEXT</a:t>
            </a:r>
          </a:p>
        </p:txBody>
      </p:sp>
    </p:spTree>
  </p:cSld>
</p:sld>
</file>

<file path=ppt/slides/slide34.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3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38" name="SlideNum"/>
          <p:cNvSpPr txBox="1"/>
          <p:nvPr/>
        </p:nvSpPr>
        <p:spPr>
          <a:xfrm xmlns:a="http://schemas.openxmlformats.org/drawingml/2006/main">
            <a:off x="7020000" y="216000"/>
            <a:ext cx="468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34 / 50  |  WORKFORCE</a:t>
            </a:r>
          </a:p>
        </p:txBody>
      </p:sp>
      <p:sp>
        <p:nvSpPr>
          <p:cNvPr id="10013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Workforce — Skills for the Quantum Age</a:t>
            </a:r>
          </a:p>
        </p:txBody>
      </p:sp>
      <p:sp>
        <p:nvSpPr>
          <p:cNvPr id="100140"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The quantum workforce gap is one of the most critical challenges facing the industry.</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Demand Forecast:</a:t>
            </a:r>
          </a:p>
          <a:p xmlns:a="http://schemas.openxmlformats.org/drawingml/2006/main">
            <a:r>
              <a:rPr lang="en-US" sz="1400">
                <a:solidFill>
                  <a:srgbClr val="E3F2FD"/>
                </a:solidFill>
                <a:latin typeface="Calibri"/>
                <a:ea typeface="Calibri"/>
              </a:rPr>
              <a:t>  ▪ US alone: 65,000–100,000 quantum-literate workers needed by 2030 (NSF / NQI 2023)</a:t>
            </a:r>
          </a:p>
          <a:p xmlns:a="http://schemas.openxmlformats.org/drawingml/2006/main">
            <a:r>
              <a:rPr lang="en-US" sz="1400">
                <a:solidFill>
                  <a:srgbClr val="E3F2FD"/>
                </a:solidFill>
                <a:latin typeface="Calibri"/>
                <a:ea typeface="Calibri"/>
              </a:rPr>
              <a:t>  ▪ IBM Quantum Network: 250+ organizations need quantum-ready engineers NOW</a:t>
            </a:r>
          </a:p>
          <a:p xmlns:a="http://schemas.openxmlformats.org/drawingml/2006/main">
            <a:r>
              <a:rPr lang="en-US" sz="1400">
                <a:solidFill>
                  <a:srgbClr val="E3F2FD"/>
                </a:solidFill>
                <a:latin typeface="Calibri"/>
                <a:ea typeface="Calibri"/>
              </a:rPr>
              <a:t>  ▪ QC job postings grew 300% from 2020–2023 (LinkedIn Economic Graph)</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Quantum Career Pathways:</a:t>
            </a:r>
          </a:p>
          <a:p xmlns:a="http://schemas.openxmlformats.org/drawingml/2006/main">
            <a:r>
              <a:rPr lang="en-US" sz="1400">
                <a:solidFill>
                  <a:srgbClr val="E3F2FD"/>
                </a:solidFill>
                <a:latin typeface="Calibri"/>
                <a:ea typeface="Calibri"/>
              </a:rPr>
              <a:t>  Role                      Required Background</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Quantum Researcher         PhD Physics / Math — develops new algorithms &amp; hardware</a:t>
            </a:r>
          </a:p>
          <a:p xmlns:a="http://schemas.openxmlformats.org/drawingml/2006/main">
            <a:r>
              <a:rPr lang="en-US" sz="1400">
                <a:solidFill>
                  <a:srgbClr val="E3F2FD"/>
                </a:solidFill>
                <a:latin typeface="Calibri"/>
                <a:ea typeface="Calibri"/>
              </a:rPr>
              <a:t>  Quantum Engineer           EE / CS / Physics — builds hardware control systems</a:t>
            </a:r>
          </a:p>
          <a:p xmlns:a="http://schemas.openxmlformats.org/drawingml/2006/main">
            <a:r>
              <a:rPr lang="en-US" sz="1400">
                <a:solidFill>
                  <a:srgbClr val="E3F2FD"/>
                </a:solidFill>
                <a:latin typeface="Calibri"/>
                <a:ea typeface="Calibri"/>
              </a:rPr>
              <a:t>  Quantum Software Developer CS + QC knowledge — writes quantum algorithms in Qiskit, Cirq</a:t>
            </a:r>
          </a:p>
          <a:p xmlns:a="http://schemas.openxmlformats.org/drawingml/2006/main">
            <a:r>
              <a:rPr lang="en-US" sz="1400">
                <a:solidFill>
                  <a:srgbClr val="E3F2FD"/>
                </a:solidFill>
                <a:latin typeface="Calibri"/>
                <a:ea typeface="Calibri"/>
              </a:rPr>
              <a:t>  Quantum Applications       Domain + QC — applies QC to finance, chemistry, logistics</a:t>
            </a:r>
          </a:p>
          <a:p xmlns:a="http://schemas.openxmlformats.org/drawingml/2006/main">
            <a:r>
              <a:rPr lang="en-US" sz="1400">
                <a:solidFill>
                  <a:srgbClr val="E3F2FD"/>
                </a:solidFill>
                <a:latin typeface="Calibri"/>
                <a:ea typeface="Calibri"/>
              </a:rPr>
              <a:t>  Quantum Security Analyst   Cybersecurity + PQC — implements NIST PQC standards</a:t>
            </a:r>
          </a:p>
          <a:p xmlns:a="http://schemas.openxmlformats.org/drawingml/2006/main">
            <a:r>
              <a:rPr lang="en-US" sz="1400">
                <a:solidFill>
                  <a:srgbClr val="E3F2FD"/>
                </a:solidFill>
                <a:latin typeface="Calibri"/>
                <a:ea typeface="Calibri"/>
              </a:rPr>
              <a:t>  Quantum Educator           Teaching + QC — workforce training, outreach</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Skills Needed for Quantum Software:</a:t>
            </a:r>
          </a:p>
          <a:p xmlns:a="http://schemas.openxmlformats.org/drawingml/2006/main">
            <a:r>
              <a:rPr lang="en-US" sz="1400">
                <a:solidFill>
                  <a:srgbClr val="E3F2FD"/>
                </a:solidFill>
                <a:latin typeface="Calibri"/>
                <a:ea typeface="Calibri"/>
              </a:rPr>
              <a:t>  ▪ Linear algebra, complex numbers, probability theory</a:t>
            </a:r>
          </a:p>
          <a:p xmlns:a="http://schemas.openxmlformats.org/drawingml/2006/main">
            <a:r>
              <a:rPr lang="en-US" sz="1400">
                <a:solidFill>
                  <a:srgbClr val="E3F2FD"/>
                </a:solidFill>
                <a:latin typeface="Calibri"/>
                <a:ea typeface="Calibri"/>
              </a:rPr>
              <a:t>  ▪ Python programming</a:t>
            </a:r>
          </a:p>
          <a:p xmlns:a="http://schemas.openxmlformats.org/drawingml/2006/main">
            <a:r>
              <a:rPr lang="en-US" sz="1400">
                <a:solidFill>
                  <a:srgbClr val="E3F2FD"/>
                </a:solidFill>
                <a:latin typeface="Calibri"/>
                <a:ea typeface="Calibri"/>
              </a:rPr>
              <a:t>  ▪ Qiskit (IBM), Cirq (Google), PennyLane (Xanadu), Q# (Microsoft)</a:t>
            </a:r>
          </a:p>
          <a:p xmlns:a="http://schemas.openxmlformats.org/drawingml/2006/main">
            <a:r>
              <a:rPr lang="en-US" sz="1400">
                <a:solidFill>
                  <a:srgbClr val="E3F2FD"/>
                </a:solidFill>
                <a:latin typeface="Calibri"/>
                <a:ea typeface="Calibri"/>
              </a:rPr>
              <a:t>  ▪ Understanding of quantum gates, circuits, and error mitigation</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You can start TODAY at: learning.quantum.ibm.com — free courses, labs, certifications</a:t>
            </a:r>
          </a:p>
        </p:txBody>
      </p:sp>
      <p:sp>
        <p:nvSpPr>
          <p:cNvPr id="100260"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09"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8" name="SectionBadge"/>
          <p:cNvSpPr txBox="1"/>
          <p:nvPr/>
        </p:nvSpPr>
        <p:spPr>
          <a:xfrm>
            <a:off x="540000" y="198000"/>
            <a:ext cx="1008000" cy="180000"/>
          </a:xfrm>
          <a:prstGeom prst="rect">
            <a:avLst/>
          </a:prstGeom>
          <a:solidFill>
            <a:srgbClr val="1A2A2A"/>
          </a:solidFill>
        </p:spPr>
        <p:txBody>
          <a:bodyPr/>
          <a:lstStyle/>
          <a:p>
            <a:r>
              <a:rPr lang="en-US" sz="800" b="1">
                <a:solidFill>
                  <a:srgbClr val="80DEEA"/>
                </a:solidFill>
                <a:latin typeface="Calibri"/>
                <a:ea typeface="Calibri"/>
              </a:rPr>
              <a:t>CAREERS</a:t>
            </a:r>
          </a:p>
        </p:txBody>
      </p:sp>
    </p:spTree>
  </p:cSld>
</p:sld>
</file>

<file path=ppt/slides/slide35.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4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42" name="SlideNum"/>
          <p:cNvSpPr txBox="1"/>
          <p:nvPr/>
        </p:nvSpPr>
        <p:spPr>
          <a:xfrm xmlns:a="http://schemas.openxmlformats.org/drawingml/2006/main">
            <a:off x="6660000" y="216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35 / 50  |  ETHICS &amp; SOCIETY</a:t>
            </a:r>
          </a:p>
        </p:txBody>
      </p:sp>
      <p:sp>
        <p:nvSpPr>
          <p:cNvPr id="10014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Ethics, Society &amp; Responsible Quantum</a:t>
            </a:r>
          </a:p>
        </p:txBody>
      </p:sp>
      <p:sp>
        <p:nvSpPr>
          <p:cNvPr id="100144"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With great computational power comes great responsibility.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Critical Ethical Concerns: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1. Cryptographic Risk:</a:t>
            </a:r>
          </a:p>
          <a:p xmlns:a="http://schemas.openxmlformats.org/drawingml/2006/main">
            <a:r>
              <a:rPr lang="en-US" sz="1500">
                <a:solidFill>
                  <a:srgbClr val="E3F2FD"/>
                </a:solidFill>
                <a:latin typeface="Calibri"/>
                <a:ea typeface="Calibri"/>
              </a:rPr>
              <a:t>   ▪ Nation-state actors are harvesting encrypted communications TODAY for future decryption</a:t>
            </a:r>
          </a:p>
          <a:p xmlns:a="http://schemas.openxmlformats.org/drawingml/2006/main">
            <a:r>
              <a:rPr lang="en-US" sz="1500">
                <a:solidFill>
                  <a:srgbClr val="E3F2FD"/>
                </a:solidFill>
                <a:latin typeface="Calibri"/>
                <a:ea typeface="Calibri"/>
              </a:rPr>
              <a:t>   ▪ Disproportionate impact on civil liberties, private communications, financial systems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2. Access Inequality:</a:t>
            </a:r>
          </a:p>
          <a:p xmlns:a="http://schemas.openxmlformats.org/drawingml/2006/main">
            <a:r>
              <a:rPr lang="en-US" sz="1500">
                <a:solidFill>
                  <a:srgbClr val="E3F2FD"/>
                </a:solidFill>
                <a:latin typeface="Calibri"/>
                <a:ea typeface="Calibri"/>
              </a:rPr>
              <a:t>   ▪ Quantum advantage may concentrate in the hands of governments and corporations</a:t>
            </a:r>
          </a:p>
          <a:p xmlns:a="http://schemas.openxmlformats.org/drawingml/2006/main">
            <a:r>
              <a:rPr lang="en-US" sz="1500">
                <a:solidFill>
                  <a:srgbClr val="E3F2FD"/>
                </a:solidFill>
                <a:latin typeface="Calibri"/>
                <a:ea typeface="Calibri"/>
              </a:rPr>
              <a:t>   ▪ Developing nations risk being left behind in a new 'quantum divide'</a:t>
            </a:r>
          </a:p>
          <a:p xmlns:a="http://schemas.openxmlformats.org/drawingml/2006/main">
            <a:r>
              <a:rPr lang="en-US" sz="1500">
                <a:solidFill>
                  <a:srgbClr val="E3F2FD"/>
                </a:solidFill>
                <a:latin typeface="Calibri"/>
                <a:ea typeface="Calibri"/>
              </a:rPr>
              <a:t>   ▪ Open-access platforms (IBM Quantum free tier) partially address this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3. Dual-Use Dilemma:</a:t>
            </a:r>
          </a:p>
          <a:p xmlns:a="http://schemas.openxmlformats.org/drawingml/2006/main">
            <a:r>
              <a:rPr lang="en-US" sz="1500">
                <a:solidFill>
                  <a:srgbClr val="E3F2FD"/>
                </a:solidFill>
                <a:latin typeface="Calibri"/>
                <a:ea typeface="Calibri"/>
              </a:rPr>
              <a:t>   ▪ Quantum sensing can be used for medical imaging OR surveillance</a:t>
            </a:r>
          </a:p>
          <a:p xmlns:a="http://schemas.openxmlformats.org/drawingml/2006/main">
            <a:r>
              <a:rPr lang="en-US" sz="1500">
                <a:solidFill>
                  <a:srgbClr val="E3F2FD"/>
                </a:solidFill>
                <a:latin typeface="Calibri"/>
                <a:ea typeface="Calibri"/>
              </a:rPr>
              <a:t>   ▪ Quantum algorithms can optimize drug delivery OR autonomous weapons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4. Environmental Impact:</a:t>
            </a:r>
          </a:p>
          <a:p xmlns:a="http://schemas.openxmlformats.org/drawingml/2006/main">
            <a:r>
              <a:rPr lang="en-US" sz="1500">
                <a:solidFill>
                  <a:srgbClr val="E3F2FD"/>
                </a:solidFill>
                <a:latin typeface="Calibri"/>
                <a:ea typeface="Calibri"/>
              </a:rPr>
              <a:t>   ▪ Dilution refrigerators consume significant electricity</a:t>
            </a:r>
          </a:p>
          <a:p xmlns:a="http://schemas.openxmlformats.org/drawingml/2006/main">
            <a:r>
              <a:rPr lang="en-US" sz="1500">
                <a:solidFill>
                  <a:srgbClr val="E3F2FD"/>
                </a:solidFill>
                <a:latin typeface="Calibri"/>
                <a:ea typeface="Calibri"/>
              </a:rPr>
              <a:t>   ▪ Need for responsible manufacturing of exotic materials (qubit substrates)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5. Governance Gaps:</a:t>
            </a:r>
          </a:p>
          <a:p xmlns:a="http://schemas.openxmlformats.org/drawingml/2006/main">
            <a:r>
              <a:rPr lang="en-US" sz="1500">
                <a:solidFill>
                  <a:srgbClr val="E3F2FD"/>
                </a:solidFill>
                <a:latin typeface="Calibri"/>
                <a:ea typeface="Calibri"/>
              </a:rPr>
              <a:t>   ▪ No international treaty framework governing offensive quantum capabilities</a:t>
            </a:r>
          </a:p>
          <a:p xmlns:a="http://schemas.openxmlformats.org/drawingml/2006/main">
            <a:r>
              <a:rPr lang="en-US" sz="1500">
                <a:solidFill>
                  <a:srgbClr val="E3F2FD"/>
                </a:solidFill>
                <a:latin typeface="Calibri"/>
                <a:ea typeface="Calibri"/>
              </a:rPr>
              <a:t>   ▪ Export controls on quantum computing (US BIS 2023 rules)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Call to Action:</a:t>
            </a:r>
          </a:p>
          <a:p xmlns:a="http://schemas.openxmlformats.org/drawingml/2006/main">
            <a:r>
              <a:rPr lang="en-US" sz="1500">
                <a:solidFill>
                  <a:srgbClr val="E3F2FD"/>
                </a:solidFill>
                <a:latin typeface="Calibri"/>
                <a:ea typeface="Calibri"/>
              </a:rPr>
              <a:t>   ▪ Advocate for open quantum access, equitable education programs, and international standards</a:t>
            </a:r>
          </a:p>
          <a:p xmlns:a="http://schemas.openxmlformats.org/drawingml/2006/main">
            <a:r>
              <a:rPr lang="en-US" sz="1500">
                <a:solidFill>
                  <a:srgbClr val="E3F2FD"/>
                </a:solidFill>
                <a:latin typeface="Calibri"/>
                <a:ea typeface="Calibri"/>
              </a:rPr>
              <a:t>   ▪ IEEE Ethics Committee, UN ITU, ETSI ISG-QKD — participate in standards processes</a:t>
            </a:r>
          </a:p>
        </p:txBody>
      </p:sp>
      <p:sp>
        <p:nvSpPr>
          <p:cNvPr id="100261"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0"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59" name="SectionBadge"/>
          <p:cNvSpPr txBox="1"/>
          <p:nvPr/>
        </p:nvSpPr>
        <p:spPr>
          <a:xfrm>
            <a:off x="540000" y="198000"/>
            <a:ext cx="900000" cy="180000"/>
          </a:xfrm>
          <a:prstGeom prst="rect">
            <a:avLst/>
          </a:prstGeom>
          <a:solidFill>
            <a:srgbClr val="2A1A2A"/>
          </a:solidFill>
        </p:spPr>
        <p:txBody>
          <a:bodyPr/>
          <a:lstStyle/>
          <a:p>
            <a:r>
              <a:rPr lang="en-US" sz="800" b="1">
                <a:solidFill>
                  <a:srgbClr val="F48FB1"/>
                </a:solidFill>
                <a:latin typeface="Calibri"/>
                <a:ea typeface="Calibri"/>
              </a:rPr>
              <a:t>ETHICS</a:t>
            </a:r>
          </a:p>
        </p:txBody>
      </p:sp>
    </p:spTree>
  </p:cSld>
</p:sld>
</file>

<file path=ppt/slides/slide36.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4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46" name="SlideNum"/>
          <p:cNvSpPr txBox="1"/>
          <p:nvPr/>
        </p:nvSpPr>
        <p:spPr>
          <a:xfrm xmlns:a="http://schemas.openxmlformats.org/drawingml/2006/main">
            <a:off x="7020000" y="216000"/>
            <a:ext cx="468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36 / 50  |  CLOUD ACCESS</a:t>
            </a:r>
          </a:p>
        </p:txBody>
      </p:sp>
      <p:sp>
        <p:nvSpPr>
          <p:cNvPr id="100147"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in the Cloud — Accessing Real Quantum Hardware Today</a:t>
            </a:r>
          </a:p>
        </p:txBody>
      </p:sp>
      <p:sp>
        <p:nvSpPr>
          <p:cNvPr id="100148"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You do not need to build a quantum computer to use one. Cloud access is available TODAY.</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Cloud Quantum Platforms (2024):</a:t>
            </a:r>
          </a:p>
          <a:p xmlns:a="http://schemas.openxmlformats.org/drawingml/2006/main">
            <a:r>
              <a:rPr lang="en-US" sz="1400">
                <a:solidFill>
                  <a:srgbClr val="E3F2FD"/>
                </a:solidFill>
                <a:latin typeface="Calibri"/>
                <a:ea typeface="Calibri"/>
              </a:rPr>
              <a:t>  Platform                      Provider     Qubits         Access Model</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IBM Quantum Platform           IBM          Up to 133Q     Free (127Q) / Premium</a:t>
            </a:r>
          </a:p>
          <a:p xmlns:a="http://schemas.openxmlformats.org/drawingml/2006/main">
            <a:r>
              <a:rPr lang="en-US" sz="1400">
                <a:solidFill>
                  <a:srgbClr val="E3F2FD"/>
                </a:solidFill>
                <a:latin typeface="Calibri"/>
                <a:ea typeface="Calibri"/>
              </a:rPr>
              <a:t>  Amazon Braket                  AWS          Multiple HW    Pay-per-shot</a:t>
            </a:r>
          </a:p>
          <a:p xmlns:a="http://schemas.openxmlformats.org/drawingml/2006/main">
            <a:r>
              <a:rPr lang="en-US" sz="1400">
                <a:solidFill>
                  <a:srgbClr val="E3F2FD"/>
                </a:solidFill>
                <a:latin typeface="Calibri"/>
                <a:ea typeface="Calibri"/>
              </a:rPr>
              <a:t>  Azure Quantum                  Microsoft    IonQ, Quantinuum,  Pay-per-use</a:t>
            </a:r>
          </a:p>
          <a:p xmlns:a="http://schemas.openxmlformats.org/drawingml/2006/main">
            <a:r>
              <a:rPr lang="en-US" sz="1400">
                <a:solidFill>
                  <a:srgbClr val="E3F2FD"/>
                </a:solidFill>
                <a:latin typeface="Calibri"/>
                <a:ea typeface="Calibri"/>
              </a:rPr>
              <a:t>                                             Rigetti</a:t>
            </a:r>
          </a:p>
          <a:p xmlns:a="http://schemas.openxmlformats.org/drawingml/2006/main">
            <a:r>
              <a:rPr lang="en-US" sz="1400">
                <a:solidFill>
                  <a:srgbClr val="E3F2FD"/>
                </a:solidFill>
                <a:latin typeface="Calibri"/>
                <a:ea typeface="Calibri"/>
              </a:rPr>
              <a:t>  Google Quantum AI (Sandbox)    Google       Limited        Research partners</a:t>
            </a:r>
          </a:p>
          <a:p xmlns:a="http://schemas.openxmlformats.org/drawingml/2006/main">
            <a:r>
              <a:rPr lang="en-US" sz="1400">
                <a:solidFill>
                  <a:srgbClr val="E3F2FD"/>
                </a:solidFill>
                <a:latin typeface="Calibri"/>
                <a:ea typeface="Calibri"/>
              </a:rPr>
              <a:t>  IonQ Cloud                     IonQ         32–56Q         Subscription</a:t>
            </a:r>
          </a:p>
          <a:p xmlns:a="http://schemas.openxmlformats.org/drawingml/2006/main">
            <a:r>
              <a:rPr lang="en-US" sz="1400">
                <a:solidFill>
                  <a:srgbClr val="E3F2FD"/>
                </a:solidFill>
                <a:latin typeface="Calibri"/>
                <a:ea typeface="Calibri"/>
              </a:rPr>
              <a:t>  Quantinuum H-Series            Quantinuum   56Q            Commercial</a:t>
            </a:r>
          </a:p>
          <a:p xmlns:a="http://schemas.openxmlformats.org/drawingml/2006/main">
            <a:r>
              <a:rPr lang="en-US" sz="1400">
                <a:solidFill>
                  <a:srgbClr val="E3F2FD"/>
                </a:solidFill>
                <a:latin typeface="Calibri"/>
                <a:ea typeface="Calibri"/>
              </a:rPr>
              <a:t>  Xanadu Cloud (PennyLane)       Xanadu       Photonic       Academic/commercial</a:t>
            </a:r>
          </a:p>
          <a:p xmlns:a="http://schemas.openxmlformats.org/drawingml/2006/main">
            <a:r>
              <a:rPr lang="en-US" sz="1400">
                <a:solidFill>
                  <a:srgbClr val="E3F2FD"/>
                </a:solidFill>
                <a:latin typeface="Calibri"/>
                <a:ea typeface="Calibri"/>
              </a:rPr>
              <a:t>  QMware                         Europe       Simulator+HW   Cloud HPC</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IBM Quantum Network (Free Access):</a:t>
            </a:r>
          </a:p>
          <a:p xmlns:a="http://schemas.openxmlformats.org/drawingml/2006/main">
            <a:r>
              <a:rPr lang="en-US" sz="1400">
                <a:solidFill>
                  <a:srgbClr val="E3F2FD"/>
                </a:solidFill>
                <a:latin typeface="Calibri"/>
                <a:ea typeface="Calibri"/>
              </a:rPr>
              <a:t>  ▪ Register at quantum.ibm.com — no cost, no credit card</a:t>
            </a:r>
          </a:p>
          <a:p xmlns:a="http://schemas.openxmlformats.org/drawingml/2006/main">
            <a:r>
              <a:rPr lang="en-US" sz="1400">
                <a:solidFill>
                  <a:srgbClr val="E3F2FD"/>
                </a:solidFill>
                <a:latin typeface="Calibri"/>
                <a:ea typeface="Calibri"/>
              </a:rPr>
              <a:t>  ▪ Access IBM Eagle 127Q, Falcon, Heron 133Q systems</a:t>
            </a:r>
          </a:p>
          <a:p xmlns:a="http://schemas.openxmlformats.org/drawingml/2006/main">
            <a:r>
              <a:rPr lang="en-US" sz="1400">
                <a:solidFill>
                  <a:srgbClr val="E3F2FD"/>
                </a:solidFill>
                <a:latin typeface="Calibri"/>
                <a:ea typeface="Calibri"/>
              </a:rPr>
              <a:t>  ▪ Queue time: 1–60 minutes depending on system load</a:t>
            </a:r>
          </a:p>
          <a:p xmlns:a="http://schemas.openxmlformats.org/drawingml/2006/main">
            <a:r>
              <a:rPr lang="en-US" sz="1400">
                <a:solidFill>
                  <a:srgbClr val="E3F2FD"/>
                </a:solidFill>
                <a:latin typeface="Calibri"/>
                <a:ea typeface="Calibri"/>
              </a:rPr>
              <a:t>  ▪ Simulator: AerSimulator — instant, runs locally or in cloud</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Best Practice for Learners:</a:t>
            </a:r>
          </a:p>
          <a:p xmlns:a="http://schemas.openxmlformats.org/drawingml/2006/main">
            <a:r>
              <a:rPr lang="en-US" sz="1400">
                <a:solidFill>
                  <a:srgbClr val="E3F2FD"/>
                </a:solidFill>
                <a:latin typeface="Calibri"/>
                <a:ea typeface="Calibri"/>
              </a:rPr>
              <a:t>  1. Develop and test on AerSimulator (free, instant)</a:t>
            </a:r>
          </a:p>
          <a:p xmlns:a="http://schemas.openxmlformats.org/drawingml/2006/main">
            <a:r>
              <a:rPr lang="en-US" sz="1400">
                <a:solidFill>
                  <a:srgbClr val="E3F2FD"/>
                </a:solidFill>
                <a:latin typeface="Calibri"/>
                <a:ea typeface="Calibri"/>
              </a:rPr>
              <a:t>  2. Validate on real hardware occasionally for noise effects</a:t>
            </a:r>
          </a:p>
          <a:p xmlns:a="http://schemas.openxmlformats.org/drawingml/2006/main">
            <a:r>
              <a:rPr lang="en-US" sz="1400">
                <a:solidFill>
                  <a:srgbClr val="E3F2FD"/>
                </a:solidFill>
                <a:latin typeface="Calibri"/>
                <a:ea typeface="Calibri"/>
              </a:rPr>
              <a:t>  3. Use IBM Quantum Learning labs for guided exercises</a:t>
            </a:r>
          </a:p>
        </p:txBody>
      </p:sp>
      <p:sp>
        <p:nvSpPr>
          <p:cNvPr id="100262"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1"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0" name="SectionBadge"/>
          <p:cNvSpPr txBox="1"/>
          <p:nvPr/>
        </p:nvSpPr>
        <p:spPr>
          <a:xfrm>
            <a:off x="540000" y="198000"/>
            <a:ext cx="1080000" cy="180000"/>
          </a:xfrm>
          <a:prstGeom prst="rect">
            <a:avLst/>
          </a:prstGeom>
          <a:solidFill>
            <a:srgbClr val="1A2A3A"/>
          </a:solidFill>
        </p:spPr>
        <p:txBody>
          <a:bodyPr/>
          <a:lstStyle/>
          <a:p>
            <a:r>
              <a:rPr lang="en-US" sz="800" b="1">
                <a:solidFill>
                  <a:srgbClr val="B3E5FC"/>
                </a:solidFill>
                <a:latin typeface="Calibri"/>
                <a:ea typeface="Calibri"/>
              </a:rPr>
              <a:t>SOFTWARE</a:t>
            </a:r>
          </a:p>
        </p:txBody>
      </p:sp>
    </p:spTree>
  </p:cSld>
</p:sld>
</file>

<file path=ppt/slides/slide37.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4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50" name="SlideNum"/>
          <p:cNvSpPr txBox="1"/>
          <p:nvPr/>
        </p:nvSpPr>
        <p:spPr>
          <a:xfrm xmlns:a="http://schemas.openxmlformats.org/drawingml/2006/main">
            <a:off x="7740000" y="216000"/>
            <a:ext cx="396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37 / 50  |  QRNG</a:t>
            </a:r>
          </a:p>
        </p:txBody>
      </p:sp>
      <p:sp>
        <p:nvSpPr>
          <p:cNvPr id="100151"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Random Number Generation (QRNG)</a:t>
            </a:r>
          </a:p>
        </p:txBody>
      </p:sp>
      <p:sp>
        <p:nvSpPr>
          <p:cNvPr id="100152"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Randomness is fundamental to cryptography, simulation, gaming, and scientific research.</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Classical vs. Quantum Randomness:</a:t>
            </a:r>
          </a:p>
          <a:p xmlns:a="http://schemas.openxmlformats.org/drawingml/2006/main">
            <a:r>
              <a:rPr lang="en-US" sz="1500">
                <a:solidFill>
                  <a:srgbClr val="E3F2FD"/>
                </a:solidFill>
                <a:latin typeface="Calibri"/>
                <a:ea typeface="Calibri"/>
              </a:rPr>
              <a:t>  ▪ Classical PRNG (Pseudo-Random Number Generators): Deterministic algorithms — NOT truly random</a:t>
            </a:r>
          </a:p>
          <a:p xmlns:a="http://schemas.openxmlformats.org/drawingml/2006/main">
            <a:r>
              <a:rPr lang="en-US" sz="1500">
                <a:solidFill>
                  <a:srgbClr val="E3F2FD"/>
                </a:solidFill>
                <a:latin typeface="Calibri"/>
                <a:ea typeface="Calibri"/>
              </a:rPr>
              <a:t>  ▪ Hardware RNG: Based on physical noise (thermal, shot noise) — truly random but limited speed</a:t>
            </a:r>
          </a:p>
          <a:p xmlns:a="http://schemas.openxmlformats.org/drawingml/2006/main">
            <a:r>
              <a:rPr lang="en-US" sz="1500">
                <a:solidFill>
                  <a:srgbClr val="E3F2FD"/>
                </a:solidFill>
                <a:latin typeface="Calibri"/>
                <a:ea typeface="Calibri"/>
              </a:rPr>
              <a:t>  ▪ QRNG: Based on quantum measurement outcomes — provably and fundamentally random</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How QRNG Works:</a:t>
            </a:r>
          </a:p>
          <a:p xmlns:a="http://schemas.openxmlformats.org/drawingml/2006/main">
            <a:r>
              <a:rPr lang="en-US" sz="1500">
                <a:solidFill>
                  <a:srgbClr val="E3F2FD"/>
                </a:solidFill>
                <a:latin typeface="Calibri"/>
                <a:ea typeface="Calibri"/>
              </a:rPr>
              <a:t>  1. Prepare qubit in superposition:  |ψ⟩ = (1/√2)(|0⟩ + |1⟩)</a:t>
            </a:r>
          </a:p>
          <a:p xmlns:a="http://schemas.openxmlformats.org/drawingml/2006/main">
            <a:r>
              <a:rPr lang="en-US" sz="1500">
                <a:solidFill>
                  <a:srgbClr val="E3F2FD"/>
                </a:solidFill>
                <a:latin typeface="Calibri"/>
                <a:ea typeface="Calibri"/>
              </a:rPr>
              <a:t>  2. Measure: Returns 0 or 1 with equal probability — genuinely indeterminate until measured</a:t>
            </a:r>
          </a:p>
          <a:p xmlns:a="http://schemas.openxmlformats.org/drawingml/2006/main">
            <a:r>
              <a:rPr lang="en-US" sz="1500">
                <a:solidFill>
                  <a:srgbClr val="E3F2FD"/>
                </a:solidFill>
                <a:latin typeface="Calibri"/>
                <a:ea typeface="Calibri"/>
              </a:rPr>
              <a:t>  3. Repeat at high rate: Generate cryptographically secure random bit streams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Difference from Classical:</a:t>
            </a:r>
          </a:p>
          <a:p xmlns:a="http://schemas.openxmlformats.org/drawingml/2006/main">
            <a:r>
              <a:rPr lang="en-US" sz="1500">
                <a:solidFill>
                  <a:srgbClr val="E3F2FD"/>
                </a:solidFill>
                <a:latin typeface="Calibri"/>
                <a:ea typeface="Calibri"/>
              </a:rPr>
              <a:t>  ▪ Classical: if you know the seed, you know all future values</a:t>
            </a:r>
          </a:p>
          <a:p xmlns:a="http://schemas.openxmlformats.org/drawingml/2006/main">
            <a:r>
              <a:rPr lang="en-US" sz="1500">
                <a:solidFill>
                  <a:srgbClr val="E3F2FD"/>
                </a:solidFill>
                <a:latin typeface="Calibri"/>
                <a:ea typeface="Calibri"/>
              </a:rPr>
              <a:t>  ▪ Quantum: no hidden variable — the universe itself does not know the outcome before measurement</a:t>
            </a:r>
          </a:p>
          <a:p xmlns:a="http://schemas.openxmlformats.org/drawingml/2006/main">
            <a:r>
              <a:rPr lang="en-US" sz="1500">
                <a:solidFill>
                  <a:srgbClr val="E3F2FD"/>
                </a:solidFill>
                <a:latin typeface="Calibri"/>
                <a:ea typeface="Calibri"/>
              </a:rPr>
              <a:t>  ▪ This is guaranteed by Bell's theorem and experimental violations of local realism</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Deployed QRNG Products (2024):</a:t>
            </a:r>
          </a:p>
          <a:p xmlns:a="http://schemas.openxmlformats.org/drawingml/2006/main">
            <a:r>
              <a:rPr lang="en-US" sz="1500">
                <a:solidFill>
                  <a:srgbClr val="E3F2FD"/>
                </a:solidFill>
                <a:latin typeface="Calibri"/>
                <a:ea typeface="Calibri"/>
              </a:rPr>
              <a:t>  ▪ ID Quantique (Geneva) — QRNG chips in Samsung Galaxy S-series phones</a:t>
            </a:r>
          </a:p>
          <a:p xmlns:a="http://schemas.openxmlformats.org/drawingml/2006/main">
            <a:r>
              <a:rPr lang="en-US" sz="1500">
                <a:solidFill>
                  <a:srgbClr val="E3F2FD"/>
                </a:solidFill>
                <a:latin typeface="Calibri"/>
                <a:ea typeface="Calibri"/>
              </a:rPr>
              <a:t>  ▪ QuintessenceLabs (Canberra) — QRNG for financial and government applications</a:t>
            </a:r>
          </a:p>
          <a:p xmlns:a="http://schemas.openxmlformats.org/drawingml/2006/main">
            <a:r>
              <a:rPr lang="en-US" sz="1500">
                <a:solidFill>
                  <a:srgbClr val="E3F2FD"/>
                </a:solidFill>
                <a:latin typeface="Calibri"/>
                <a:ea typeface="Calibri"/>
              </a:rPr>
              <a:t>  ▪ Cambridge Quantum (Quantinuum) — IronBridge quantum randomness platform</a:t>
            </a:r>
          </a:p>
          <a:p xmlns:a="http://schemas.openxmlformats.org/drawingml/2006/main">
            <a:r>
              <a:rPr lang="en-US" sz="1500">
                <a:solidFill>
                  <a:srgbClr val="E3F2FD"/>
                </a:solidFill>
                <a:latin typeface="Calibri"/>
                <a:ea typeface="Calibri"/>
              </a:rPr>
              <a:t>  ▪ NIST Randomness Beacon — public QRNG service for cryptographic seeding</a:t>
            </a:r>
          </a:p>
        </p:txBody>
      </p:sp>
      <p:sp>
        <p:nvSpPr>
          <p:cNvPr id="100263"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2"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1" name="SectionBadge"/>
          <p:cNvSpPr txBox="1"/>
          <p:nvPr/>
        </p:nvSpPr>
        <p:spPr>
          <a:xfrm>
            <a:off x="540000" y="198000"/>
            <a:ext cx="1224000" cy="180000"/>
          </a:xfrm>
          <a:prstGeom prst="rect">
            <a:avLst/>
          </a:prstGeom>
          <a:solidFill>
            <a:srgbClr val="1A2A2A"/>
          </a:solidFill>
        </p:spPr>
        <p:txBody>
          <a:bodyPr/>
          <a:lstStyle/>
          <a:p>
            <a:r>
              <a:rPr lang="en-US" sz="800" b="1">
                <a:solidFill>
                  <a:srgbClr val="80DEEA"/>
                </a:solidFill>
                <a:latin typeface="Calibri"/>
                <a:ea typeface="Calibri"/>
              </a:rPr>
              <a:t>TECHNOLOGY</a:t>
            </a:r>
          </a:p>
        </p:txBody>
      </p:sp>
    </p:spTree>
  </p:cSld>
</p:sld>
</file>

<file path=ppt/slides/slide38.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5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54" name="SlideNum"/>
          <p:cNvSpPr txBox="1"/>
          <p:nvPr/>
        </p:nvSpPr>
        <p:spPr>
          <a:xfrm xmlns:a="http://schemas.openxmlformats.org/drawingml/2006/main">
            <a:off x="6660000" y="216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38 / 50  |  QUANTUM SENSING</a:t>
            </a:r>
          </a:p>
        </p:txBody>
      </p:sp>
      <p:sp>
        <p:nvSpPr>
          <p:cNvPr id="100155"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Sensing — Measuring the Unmeasurable</a:t>
            </a:r>
          </a:p>
        </p:txBody>
      </p:sp>
      <p:sp>
        <p:nvSpPr>
          <p:cNvPr id="100156"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Quantum sensors exploit quantum phenomena (superposition, entanglement, squeezing) to achieve unprecedented measurement precision.</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The Heisenberg Uncertainty Principle sets classical measurement limits — quantum metrology beats them using entanglement.</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Quantum Sensing Technologies:</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Atomic Clocks (Most Precise):</a:t>
            </a:r>
          </a:p>
          <a:p xmlns:a="http://schemas.openxmlformats.org/drawingml/2006/main">
            <a:r>
              <a:rPr lang="en-US" sz="1400">
                <a:solidFill>
                  <a:srgbClr val="E3F2FD"/>
                </a:solidFill>
                <a:latin typeface="Calibri"/>
                <a:ea typeface="Calibri"/>
              </a:rPr>
              <a:t>    ▪ NIST-F2: Loses 1 second every 300 million years</a:t>
            </a:r>
          </a:p>
          <a:p xmlns:a="http://schemas.openxmlformats.org/drawingml/2006/main">
            <a:r>
              <a:rPr lang="en-US" sz="1400">
                <a:solidFill>
                  <a:srgbClr val="E3F2FD"/>
                </a:solidFill>
                <a:latin typeface="Calibri"/>
                <a:ea typeface="Calibri"/>
              </a:rPr>
              <a:t>    ▪ Optical lattice clocks: accurate to 1 part in 10^18</a:t>
            </a:r>
          </a:p>
          <a:p xmlns:a="http://schemas.openxmlformats.org/drawingml/2006/main">
            <a:r>
              <a:rPr lang="en-US" sz="1400">
                <a:solidFill>
                  <a:srgbClr val="E3F2FD"/>
                </a:solidFill>
                <a:latin typeface="Calibri"/>
                <a:ea typeface="Calibri"/>
              </a:rPr>
              <a:t>    ▪ GPS, financial timestamps, telecommunications synchronization</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Quantum Gravimeters:</a:t>
            </a:r>
          </a:p>
          <a:p xmlns:a="http://schemas.openxmlformats.org/drawingml/2006/main">
            <a:r>
              <a:rPr lang="en-US" sz="1400">
                <a:solidFill>
                  <a:srgbClr val="E3F2FD"/>
                </a:solidFill>
                <a:latin typeface="Calibri"/>
                <a:ea typeface="Calibri"/>
              </a:rPr>
              <a:t>    ▪ Cold atom interferometry detects sub-mm underground structures</a:t>
            </a:r>
          </a:p>
          <a:p xmlns:a="http://schemas.openxmlformats.org/drawingml/2006/main">
            <a:r>
              <a:rPr lang="en-US" sz="1400">
                <a:solidFill>
                  <a:srgbClr val="E3F2FD"/>
                </a:solidFill>
                <a:latin typeface="Calibri"/>
                <a:ea typeface="Calibri"/>
              </a:rPr>
              <a:t>    ▪ Applications: Oil/gas exploration, earthquake prediction, tunnel detection</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Quantum Magnetometers (SQUIDS, NV Centers):</a:t>
            </a:r>
          </a:p>
          <a:p xmlns:a="http://schemas.openxmlformats.org/drawingml/2006/main">
            <a:r>
              <a:rPr lang="en-US" sz="1400">
                <a:solidFill>
                  <a:srgbClr val="E3F2FD"/>
                </a:solidFill>
                <a:latin typeface="Calibri"/>
                <a:ea typeface="Calibri"/>
              </a:rPr>
              <a:t>    ▪ Superconducting Quantum Interference Devices</a:t>
            </a:r>
          </a:p>
          <a:p xmlns:a="http://schemas.openxmlformats.org/drawingml/2006/main">
            <a:r>
              <a:rPr lang="en-US" sz="1400">
                <a:solidFill>
                  <a:srgbClr val="E3F2FD"/>
                </a:solidFill>
                <a:latin typeface="Calibri"/>
                <a:ea typeface="Calibri"/>
              </a:rPr>
              <a:t>    ▪ Brain imaging (MEG), cardiac monitoring (MCG), geological surveys</a:t>
            </a:r>
          </a:p>
          <a:p xmlns:a="http://schemas.openxmlformats.org/drawingml/2006/main">
            <a:r>
              <a:rPr lang="en-US" sz="1400">
                <a:solidFill>
                  <a:srgbClr val="E3F2FD"/>
                </a:solidFill>
                <a:latin typeface="Calibri"/>
                <a:ea typeface="Calibri"/>
              </a:rPr>
              <a:t>    ▪ Diamond NV centers: nanoscale MRI of single molecules (IBM 2021)</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Quantum LiDAR / Imaging:</a:t>
            </a:r>
          </a:p>
          <a:p xmlns:a="http://schemas.openxmlformats.org/drawingml/2006/main">
            <a:r>
              <a:rPr lang="en-US" sz="1400">
                <a:solidFill>
                  <a:srgbClr val="E3F2FD"/>
                </a:solidFill>
                <a:latin typeface="Calibri"/>
                <a:ea typeface="Calibri"/>
              </a:rPr>
              <a:t>    ▪ Ghost imaging, quantum-enhanced resolution beyond Rayleigh limit</a:t>
            </a:r>
          </a:p>
          <a:p xmlns:a="http://schemas.openxmlformats.org/drawingml/2006/main">
            <a:r>
              <a:rPr lang="en-US" sz="1400">
                <a:solidFill>
                  <a:srgbClr val="E3F2FD"/>
                </a:solidFill>
                <a:latin typeface="Calibri"/>
                <a:ea typeface="Calibri"/>
              </a:rPr>
              <a:t>    ▪ DARPA-funded quantum illumination research</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Timeline: Quantum sensing is the NEAREST-TERM commercial quantum technology after QRNG.</a:t>
            </a:r>
          </a:p>
        </p:txBody>
      </p:sp>
      <p:sp>
        <p:nvSpPr>
          <p:cNvPr id="100264"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3"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2" name="SectionBadge"/>
          <p:cNvSpPr txBox="1"/>
          <p:nvPr/>
        </p:nvSpPr>
        <p:spPr>
          <a:xfrm>
            <a:off x="540000" y="198000"/>
            <a:ext cx="1224000" cy="180000"/>
          </a:xfrm>
          <a:prstGeom prst="rect">
            <a:avLst/>
          </a:prstGeom>
          <a:solidFill>
            <a:srgbClr val="1A2A2A"/>
          </a:solidFill>
        </p:spPr>
        <p:txBody>
          <a:bodyPr/>
          <a:lstStyle/>
          <a:p>
            <a:r>
              <a:rPr lang="en-US" sz="800" b="1">
                <a:solidFill>
                  <a:srgbClr val="80DEEA"/>
                </a:solidFill>
                <a:latin typeface="Calibri"/>
                <a:ea typeface="Calibri"/>
              </a:rPr>
              <a:t>TECHNOLOGY</a:t>
            </a:r>
          </a:p>
        </p:txBody>
      </p:sp>
    </p:spTree>
  </p:cSld>
</p:sld>
</file>

<file path=ppt/slides/slide39.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5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58" name="SlideNum"/>
          <p:cNvSpPr txBox="1"/>
          <p:nvPr/>
        </p:nvSpPr>
        <p:spPr>
          <a:xfrm xmlns:a="http://schemas.openxmlformats.org/drawingml/2006/main">
            <a:off x="7560000" y="216000"/>
            <a:ext cx="41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39 / 50  |  QC vs. AI</a:t>
            </a:r>
          </a:p>
        </p:txBody>
      </p:sp>
      <p:sp>
        <p:nvSpPr>
          <p:cNvPr id="10015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Computing vs. AI — Collaboration, Not Competition</a:t>
            </a:r>
          </a:p>
        </p:txBody>
      </p:sp>
      <p:sp>
        <p:nvSpPr>
          <p:cNvPr id="100160"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A common question: 'Can AI replace quantum computing or vice versa?'</a:t>
            </a:r>
          </a:p>
          <a:p xmlns:a="http://schemas.openxmlformats.org/drawingml/2006/main">
            <a:r>
              <a:rPr lang="en-US" sz="1400">
                <a:solidFill>
                  <a:srgbClr val="E3F2FD"/>
                </a:solidFill>
                <a:latin typeface="Calibri"/>
                <a:ea typeface="Calibri"/>
              </a:rPr>
              <a:t>Answer: They solve different problems and can be powerfully combined.</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Key Differences:</a:t>
            </a:r>
          </a:p>
          <a:p xmlns:a="http://schemas.openxmlformats.org/drawingml/2006/main">
            <a:r>
              <a:rPr lang="en-US" sz="1400">
                <a:solidFill>
                  <a:srgbClr val="E3F2FD"/>
                </a:solidFill>
                <a:latin typeface="Calibri"/>
                <a:ea typeface="Calibri"/>
              </a:rPr>
              <a:t>                    Classical AI (ML)           Quantum Computing</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Basis            Statistical patterns         Quantum mechanics</a:t>
            </a:r>
          </a:p>
          <a:p xmlns:a="http://schemas.openxmlformats.org/drawingml/2006/main">
            <a:r>
              <a:rPr lang="en-US" sz="1400">
                <a:solidFill>
                  <a:srgbClr val="E3F2FD"/>
                </a:solidFill>
                <a:latin typeface="Calibri"/>
                <a:ea typeface="Calibri"/>
              </a:rPr>
              <a:t>  Strength         Pattern recognition, NLP     Exponential optimization, simulation</a:t>
            </a:r>
          </a:p>
          <a:p xmlns:a="http://schemas.openxmlformats.org/drawingml/2006/main">
            <a:r>
              <a:rPr lang="en-US" sz="1400">
                <a:solidFill>
                  <a:srgbClr val="E3F2FD"/>
                </a:solidFill>
                <a:latin typeface="Calibri"/>
                <a:ea typeface="Calibri"/>
              </a:rPr>
              <a:t>  Hardware         GPUs (classical)             Quantum processors</a:t>
            </a:r>
          </a:p>
          <a:p xmlns:a="http://schemas.openxmlformats.org/drawingml/2006/main">
            <a:r>
              <a:rPr lang="en-US" sz="1400">
                <a:solidFill>
                  <a:srgbClr val="E3F2FD"/>
                </a:solidFill>
                <a:latin typeface="Calibri"/>
                <a:ea typeface="Calibri"/>
              </a:rPr>
              <a:t>  Current maturity Production-ready (LLMs)      NISQ — research/prototype</a:t>
            </a:r>
          </a:p>
          <a:p xmlns:a="http://schemas.openxmlformats.org/drawingml/2006/main">
            <a:r>
              <a:rPr lang="en-US" sz="1400">
                <a:solidFill>
                  <a:srgbClr val="E3F2FD"/>
                </a:solidFill>
                <a:latin typeface="Calibri"/>
                <a:ea typeface="Calibri"/>
              </a:rPr>
              <a:t>  Data type        Classical data               Quantum/classical data</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Where Quantum Enhances AI:</a:t>
            </a:r>
          </a:p>
          <a:p xmlns:a="http://schemas.openxmlformats.org/drawingml/2006/main">
            <a:r>
              <a:rPr lang="en-US" sz="1400">
                <a:solidFill>
                  <a:srgbClr val="E3F2FD"/>
                </a:solidFill>
                <a:latin typeface="Calibri"/>
                <a:ea typeface="Calibri"/>
              </a:rPr>
              <a:t>  ▪ Quantum kernel methods: Richer feature spaces for classification</a:t>
            </a:r>
          </a:p>
          <a:p xmlns:a="http://schemas.openxmlformats.org/drawingml/2006/main">
            <a:r>
              <a:rPr lang="en-US" sz="1400">
                <a:solidFill>
                  <a:srgbClr val="E3F2FD"/>
                </a:solidFill>
                <a:latin typeface="Calibri"/>
                <a:ea typeface="Calibri"/>
              </a:rPr>
              <a:t>  ▪ Quantum sampling: Train probabilistic models faster</a:t>
            </a:r>
          </a:p>
          <a:p xmlns:a="http://schemas.openxmlformats.org/drawingml/2006/main">
            <a:r>
              <a:rPr lang="en-US" sz="1400">
                <a:solidFill>
                  <a:srgbClr val="E3F2FD"/>
                </a:solidFill>
                <a:latin typeface="Calibri"/>
                <a:ea typeface="Calibri"/>
              </a:rPr>
              <a:t>  ▪ AI-designed quantum circuits: IBM's AI circuit optimization (2023)</a:t>
            </a:r>
          </a:p>
          <a:p xmlns:a="http://schemas.openxmlformats.org/drawingml/2006/main">
            <a:r>
              <a:rPr lang="en-US" sz="1400">
                <a:solidFill>
                  <a:srgbClr val="E3F2FD"/>
                </a:solidFill>
                <a:latin typeface="Calibri"/>
                <a:ea typeface="Calibri"/>
              </a:rPr>
              <a:t>  ▪ Tensor network methods: Quantum-inspired classical algorithms for AI</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Where AI Enhances Quantum:</a:t>
            </a:r>
          </a:p>
          <a:p xmlns:a="http://schemas.openxmlformats.org/drawingml/2006/main">
            <a:r>
              <a:rPr lang="en-US" sz="1400">
                <a:solidFill>
                  <a:srgbClr val="E3F2FD"/>
                </a:solidFill>
                <a:latin typeface="Calibri"/>
                <a:ea typeface="Calibri"/>
              </a:rPr>
              <a:t>  ▪ ML for error mitigation (IBM REM, Google — ML decoders for QEC)</a:t>
            </a:r>
          </a:p>
          <a:p xmlns:a="http://schemas.openxmlformats.org/drawingml/2006/main">
            <a:r>
              <a:rPr lang="en-US" sz="1400">
                <a:solidFill>
                  <a:srgbClr val="E3F2FD"/>
                </a:solidFill>
                <a:latin typeface="Calibri"/>
                <a:ea typeface="Calibri"/>
              </a:rPr>
              <a:t>  ▪ Reinforcement learning for quantum control pulse optimization</a:t>
            </a:r>
          </a:p>
          <a:p xmlns:a="http://schemas.openxmlformats.org/drawingml/2006/main">
            <a:r>
              <a:rPr lang="en-US" sz="1400">
                <a:solidFill>
                  <a:srgbClr val="E3F2FD"/>
                </a:solidFill>
                <a:latin typeface="Calibri"/>
                <a:ea typeface="Calibri"/>
              </a:rPr>
              <a:t>  ▪ AI for quantum circuit compilation and transpilation</a:t>
            </a:r>
          </a:p>
          <a:p xmlns:a="http://schemas.openxmlformats.org/drawingml/2006/main">
            <a:r>
              <a:rPr lang="en-US" sz="1400">
                <a:solidFill>
                  <a:srgbClr val="E3F2FD"/>
                </a:solidFill>
                <a:latin typeface="Calibri"/>
                <a:ea typeface="Calibri"/>
              </a:rPr>
              <a:t>  ▪ LLM-assisted quantum programming (IBM Granite for Qiskit)</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Future: Hybrid AI-Quantum systems may represent the most powerful computing architecture.</a:t>
            </a:r>
          </a:p>
        </p:txBody>
      </p:sp>
      <p:sp>
        <p:nvSpPr>
          <p:cNvPr id="100265"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4"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3" name="SectionBadge"/>
          <p:cNvSpPr txBox="1"/>
          <p:nvPr/>
        </p:nvSpPr>
        <p:spPr>
          <a:xfrm>
            <a:off x="540000" y="198000"/>
            <a:ext cx="1224000" cy="180000"/>
          </a:xfrm>
          <a:prstGeom prst="rect">
            <a:avLst/>
          </a:prstGeom>
          <a:solidFill>
            <a:srgbClr val="1A2A2A"/>
          </a:solidFill>
        </p:spPr>
        <p:txBody>
          <a:bodyPr/>
          <a:lstStyle/>
          <a:p>
            <a:r>
              <a:rPr lang="en-US" sz="800" b="1">
                <a:solidFill>
                  <a:srgbClr val="80DEEA"/>
                </a:solidFill>
                <a:latin typeface="Calibri"/>
                <a:ea typeface="Calibri"/>
              </a:rPr>
              <a:t>TECHNOLOGY</a:t>
            </a:r>
          </a:p>
        </p:txBody>
      </p:sp>
    </p:spTree>
  </p:cSld>
</p:sld>
</file>

<file path=ppt/slides/slide40.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6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62" name="SlideNum"/>
          <p:cNvSpPr txBox="1"/>
          <p:nvPr/>
        </p:nvSpPr>
        <p:spPr>
          <a:xfrm xmlns:a="http://schemas.openxmlformats.org/drawingml/2006/main">
            <a:off x="6480000" y="216000"/>
            <a:ext cx="522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40 / 50  |  ERROR MITIGATION</a:t>
            </a:r>
          </a:p>
        </p:txBody>
      </p:sp>
      <p:sp>
        <p:nvSpPr>
          <p:cNvPr id="10016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Quantum Error Mitigation — Extracting Signal from Noise</a:t>
            </a:r>
          </a:p>
        </p:txBody>
      </p:sp>
      <p:sp>
        <p:nvSpPr>
          <p:cNvPr id="100164"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While full error correction requires thousands of physical qubits per logical qubit,</a:t>
            </a:r>
          </a:p>
          <a:p xmlns:a="http://schemas.openxmlformats.org/drawingml/2006/main">
            <a:r>
              <a:rPr lang="en-US" sz="1500">
                <a:solidFill>
                  <a:srgbClr val="E3F2FD"/>
                </a:solidFill>
                <a:latin typeface="Calibri"/>
                <a:ea typeface="Calibri"/>
              </a:rPr>
              <a:t>error mitigation techniques improve NISQ results NOW without extra qubits.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Error Mitigation vs. Error Correction:</a:t>
            </a:r>
          </a:p>
          <a:p xmlns:a="http://schemas.openxmlformats.org/drawingml/2006/main">
            <a:r>
              <a:rPr lang="en-US" sz="1500">
                <a:solidFill>
                  <a:srgbClr val="E3F2FD"/>
                </a:solidFill>
                <a:latin typeface="Calibri"/>
                <a:ea typeface="Calibri"/>
              </a:rPr>
              <a:t>  ▪ Error Correction: Prevent errors from occurring — requires massive overhead</a:t>
            </a:r>
          </a:p>
          <a:p xmlns:a="http://schemas.openxmlformats.org/drawingml/2006/main">
            <a:r>
              <a:rPr lang="en-US" sz="1500">
                <a:solidFill>
                  <a:srgbClr val="E3F2FD"/>
                </a:solidFill>
                <a:latin typeface="Calibri"/>
                <a:ea typeface="Calibri"/>
              </a:rPr>
              <a:t>  ▪ Error Mitigation: Post-process noisy results to estimate the ideal (noiseless) result</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Key Error Mitigation Techniques: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Zero-Noise Extrapolation (ZNE):</a:t>
            </a:r>
          </a:p>
          <a:p xmlns:a="http://schemas.openxmlformats.org/drawingml/2006/main">
            <a:r>
              <a:rPr lang="en-US" sz="1500">
                <a:solidFill>
                  <a:srgbClr val="E3F2FD"/>
                </a:solidFill>
                <a:latin typeface="Calibri"/>
                <a:ea typeface="Calibri"/>
              </a:rPr>
              <a:t>    ▪ Run circuit at amplified noise levels; extrapolate back to zero noise</a:t>
            </a:r>
          </a:p>
          <a:p xmlns:a="http://schemas.openxmlformats.org/drawingml/2006/main">
            <a:r>
              <a:rPr lang="en-US" sz="1500">
                <a:solidFill>
                  <a:srgbClr val="E3F2FD"/>
                </a:solidFill>
                <a:latin typeface="Calibri"/>
                <a:ea typeface="Calibri"/>
              </a:rPr>
              <a:t>    ▪ IBM Quantum (2023): ZNE + PEC demonstrated 127-qubit Ising model beyond classical simulation</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Probabilistic Error Cancellation (PEC):</a:t>
            </a:r>
          </a:p>
          <a:p xmlns:a="http://schemas.openxmlformats.org/drawingml/2006/main">
            <a:r>
              <a:rPr lang="en-US" sz="1500">
                <a:solidFill>
                  <a:srgbClr val="E3F2FD"/>
                </a:solidFill>
                <a:latin typeface="Calibri"/>
                <a:ea typeface="Calibri"/>
              </a:rPr>
              <a:t>    ▪ Samples from a decomposition of ideal operations using noisy gate set</a:t>
            </a:r>
          </a:p>
          <a:p xmlns:a="http://schemas.openxmlformats.org/drawingml/2006/main">
            <a:r>
              <a:rPr lang="en-US" sz="1500">
                <a:solidFill>
                  <a:srgbClr val="E3F2FD"/>
                </a:solidFill>
                <a:latin typeface="Calibri"/>
                <a:ea typeface="Calibri"/>
              </a:rPr>
              <a:t>    ▪ Unbiased estimator of ideal expectation values — exponential sampling overhead</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Measurement Error Mitigation (MEM):</a:t>
            </a:r>
          </a:p>
          <a:p xmlns:a="http://schemas.openxmlformats.org/drawingml/2006/main">
            <a:r>
              <a:rPr lang="en-US" sz="1500">
                <a:solidFill>
                  <a:srgbClr val="E3F2FD"/>
                </a:solidFill>
                <a:latin typeface="Calibri"/>
                <a:ea typeface="Calibri"/>
              </a:rPr>
              <a:t>    ▪ Calibration matrix corrects readout errors</a:t>
            </a:r>
          </a:p>
          <a:p xmlns:a="http://schemas.openxmlformats.org/drawingml/2006/main">
            <a:r>
              <a:rPr lang="en-US" sz="1500">
                <a:solidFill>
                  <a:srgbClr val="E3F2FD"/>
                </a:solidFill>
                <a:latin typeface="Calibri"/>
                <a:ea typeface="Calibri"/>
              </a:rPr>
              <a:t>    ▪ Built into Qiskit Runtime M3 package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Dynamical Decoupling (DD):</a:t>
            </a:r>
          </a:p>
          <a:p xmlns:a="http://schemas.openxmlformats.org/drawingml/2006/main">
            <a:r>
              <a:rPr lang="en-US" sz="1500">
                <a:solidFill>
                  <a:srgbClr val="E3F2FD"/>
                </a:solidFill>
                <a:latin typeface="Calibri"/>
                <a:ea typeface="Calibri"/>
              </a:rPr>
              <a:t>    ▪ Insert identity pulse sequences to protect idle qubits from decoherence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Qiskit Runtime Built-in Mitigation:</a:t>
            </a:r>
          </a:p>
          <a:p xmlns:a="http://schemas.openxmlformats.org/drawingml/2006/main">
            <a:r>
              <a:rPr lang="en-US" sz="1500">
                <a:solidFill>
                  <a:srgbClr val="E3F2FD"/>
                </a:solidFill>
                <a:latin typeface="Calibri"/>
                <a:ea typeface="Calibri"/>
              </a:rPr>
              <a:t>    ▪ Resilience levels 0–2 in Estimator primitive</a:t>
            </a:r>
          </a:p>
          <a:p xmlns:a="http://schemas.openxmlformats.org/drawingml/2006/main">
            <a:r>
              <a:rPr lang="en-US" sz="1500">
                <a:solidFill>
                  <a:srgbClr val="E3F2FD"/>
                </a:solidFill>
                <a:latin typeface="Calibri"/>
                <a:ea typeface="Calibri"/>
              </a:rPr>
              <a:t>    ▪ Level 0: None. Level 1: MEM. Level 2: ZNE</a:t>
            </a:r>
          </a:p>
        </p:txBody>
      </p:sp>
      <p:sp>
        <p:nvSpPr>
          <p:cNvPr id="100266"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5"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4" name="SectionBadge"/>
          <p:cNvSpPr txBox="1"/>
          <p:nvPr/>
        </p:nvSpPr>
        <p:spPr>
          <a:xfrm>
            <a:off x="540000" y="198000"/>
            <a:ext cx="1080000" cy="180000"/>
          </a:xfrm>
          <a:prstGeom prst="rect">
            <a:avLst/>
          </a:prstGeom>
          <a:solidFill>
            <a:srgbClr val="1A3A2A"/>
          </a:solidFill>
        </p:spPr>
        <p:txBody>
          <a:bodyPr/>
          <a:lstStyle/>
          <a:p>
            <a:r>
              <a:rPr lang="en-US" sz="800" b="1">
                <a:solidFill>
                  <a:srgbClr val="A5D6A7"/>
                </a:solidFill>
                <a:latin typeface="Calibri"/>
                <a:ea typeface="Calibri"/>
              </a:rPr>
              <a:t>HARDWARE</a:t>
            </a:r>
          </a:p>
        </p:txBody>
      </p:sp>
    </p:spTree>
  </p:cSld>
</p:sld>
</file>

<file path=ppt/slides/slide41.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6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66"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41</a:t>
            </a:r>
          </a:p>
        </p:txBody>
      </p:sp>
      <p:sp>
        <p:nvSpPr>
          <p:cNvPr id="100167"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Utility — Crossing the Classical Simulation Boundary</a:t>
            </a:r>
          </a:p>
        </p:txBody>
      </p:sp>
      <p:sp>
        <p:nvSpPr>
          <p:cNvPr id="100168"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Quantum Utility (IBM definition, 2023): Performing computations beyond what brute-force classical methods can easily achieve, even if no exponential speedup has been proven.</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Landmark Result — IBM Nature 2023 (Kim et al.):</a:t>
            </a:r>
          </a:p>
          <a:p xmlns:a="http://schemas.openxmlformats.org/drawingml/2006/main">
            <a:r>
              <a:rPr lang="en-US" sz="1700">
                <a:solidFill>
                  <a:srgbClr val="E3F2FD"/>
                </a:solidFill>
                <a:latin typeface="Calibri"/>
                <a:ea typeface="Calibri"/>
              </a:rPr>
              <a:t>  ▪ 127-qubit Eagle processor ran 2D Ising model simulation (60 layers deep)</a:t>
            </a:r>
          </a:p>
          <a:p xmlns:a="http://schemas.openxmlformats.org/drawingml/2006/main">
            <a:r>
              <a:rPr lang="en-US" sz="1700">
                <a:solidFill>
                  <a:srgbClr val="E3F2FD"/>
                </a:solidFill>
                <a:latin typeface="Calibri"/>
                <a:ea typeface="Calibri"/>
              </a:rPr>
              <a:t>  ▪ Classical tensor network methods could not accurately simulate the same depth</a:t>
            </a:r>
          </a:p>
          <a:p xmlns:a="http://schemas.openxmlformats.org/drawingml/2006/main">
            <a:r>
              <a:rPr lang="en-US" sz="1700">
                <a:solidFill>
                  <a:srgbClr val="E3F2FD"/>
                </a:solidFill>
                <a:latin typeface="Calibri"/>
                <a:ea typeface="Calibri"/>
              </a:rPr>
              <a:t>  ▪ IBM used Zero-Noise Extrapolation (ZNE) to extract accurate results from noisy hardware</a:t>
            </a:r>
          </a:p>
          <a:p xmlns:a="http://schemas.openxmlformats.org/drawingml/2006/main">
            <a:r>
              <a:rPr lang="en-US" sz="1700">
                <a:solidFill>
                  <a:srgbClr val="E3F2FD"/>
                </a:solidFill>
                <a:latin typeface="Calibri"/>
                <a:ea typeface="Calibri"/>
              </a:rPr>
              <a:t>  ▪ Published in Nature, June 2023 — first demonstration of 'quantum utility'</a:t>
            </a:r>
          </a:p>
          <a:p xmlns:a="http://schemas.openxmlformats.org/drawingml/2006/main">
            <a:r>
              <a:rPr lang="en-US" sz="1700">
                <a:solidFill>
                  <a:srgbClr val="E3F2FD"/>
                </a:solidFill>
                <a:latin typeface="Calibri"/>
                <a:ea typeface="Calibri"/>
              </a:rPr>
              <a:t>  ▪ Controversies: Some argued the circuit was specifically chosen to favor quantum hardware</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What This Means:</a:t>
            </a:r>
          </a:p>
          <a:p xmlns:a="http://schemas.openxmlformats.org/drawingml/2006/main">
            <a:r>
              <a:rPr lang="en-US" sz="1700">
                <a:solidFill>
                  <a:srgbClr val="E3F2FD"/>
                </a:solidFill>
                <a:latin typeface="Calibri"/>
                <a:ea typeface="Calibri"/>
              </a:rPr>
              <a:t>  ▪ NISQ-era hardware can already outperform classical simulation for specific use cases</a:t>
            </a:r>
          </a:p>
          <a:p xmlns:a="http://schemas.openxmlformats.org/drawingml/2006/main">
            <a:r>
              <a:rPr lang="en-US" sz="1700">
                <a:solidFill>
                  <a:srgbClr val="E3F2FD"/>
                </a:solidFill>
                <a:latin typeface="Calibri"/>
                <a:ea typeface="Calibri"/>
              </a:rPr>
              <a:t>  ▪ Error mitigation is powerful enough to extract scientific value from noisy hardware</a:t>
            </a:r>
          </a:p>
          <a:p xmlns:a="http://schemas.openxmlformats.org/drawingml/2006/main">
            <a:r>
              <a:rPr lang="en-US" sz="1700">
                <a:solidFill>
                  <a:srgbClr val="E3F2FD"/>
                </a:solidFill>
                <a:latin typeface="Calibri"/>
                <a:ea typeface="Calibri"/>
              </a:rPr>
              <a:t>  ▪ Moves the narrative from 'when will quantum be useful' to 'quantum is useful NOW for specific problems'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Path to Broad Utility:</a:t>
            </a:r>
          </a:p>
          <a:p xmlns:a="http://schemas.openxmlformats.org/drawingml/2006/main">
            <a:r>
              <a:rPr lang="en-US" sz="1700">
                <a:solidFill>
                  <a:srgbClr val="E3F2FD"/>
                </a:solidFill>
                <a:latin typeface="Calibri"/>
                <a:ea typeface="Calibri"/>
              </a:rPr>
              <a:t>  1. Expand to more problem classes beyond Ising models</a:t>
            </a:r>
          </a:p>
          <a:p xmlns:a="http://schemas.openxmlformats.org/drawingml/2006/main">
            <a:r>
              <a:rPr lang="en-US" sz="1700">
                <a:solidFill>
                  <a:srgbClr val="E3F2FD"/>
                </a:solidFill>
                <a:latin typeface="Calibri"/>
                <a:ea typeface="Calibri"/>
              </a:rPr>
              <a:t>  2. Improve hardware error rates to extend circuit depth</a:t>
            </a:r>
          </a:p>
          <a:p xmlns:a="http://schemas.openxmlformats.org/drawingml/2006/main">
            <a:r>
              <a:rPr lang="en-US" sz="1700">
                <a:solidFill>
                  <a:srgbClr val="E3F2FD"/>
                </a:solidFill>
                <a:latin typeface="Calibri"/>
                <a:ea typeface="Calibri"/>
              </a:rPr>
              <a:t>  3. Develop better classical-quantum hybrid algorithms</a:t>
            </a:r>
          </a:p>
          <a:p xmlns:a="http://schemas.openxmlformats.org/drawingml/2006/main">
            <a:r>
              <a:rPr lang="en-US" sz="1700">
                <a:solidFill>
                  <a:srgbClr val="E3F2FD"/>
                </a:solidFill>
                <a:latin typeface="Calibri"/>
                <a:ea typeface="Calibri"/>
              </a:rPr>
              <a:t>  4. Scale up with fault-tolerant error correction</a:t>
            </a:r>
          </a:p>
        </p:txBody>
      </p:sp>
      <p:sp>
        <p:nvSpPr>
          <p:cNvPr id="100267"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6"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5" name="SectionBadge"/>
          <p:cNvSpPr txBox="1"/>
          <p:nvPr/>
        </p:nvSpPr>
        <p:spPr>
          <a:xfrm>
            <a:off x="540000" y="198000"/>
            <a:ext cx="1008000" cy="180000"/>
          </a:xfrm>
          <a:prstGeom prst="rect">
            <a:avLst/>
          </a:prstGeom>
          <a:solidFill>
            <a:srgbClr val="2A1A0A"/>
          </a:solidFill>
        </p:spPr>
        <p:txBody>
          <a:bodyPr/>
          <a:lstStyle/>
          <a:p>
            <a:r>
              <a:rPr lang="en-US" sz="800" b="1">
                <a:solidFill>
                  <a:srgbClr val="FFCC80"/>
                </a:solidFill>
                <a:latin typeface="Calibri"/>
                <a:ea typeface="Calibri"/>
              </a:rPr>
              <a:t>CONTEXT</a:t>
            </a:r>
          </a:p>
        </p:txBody>
      </p:sp>
    </p:spTree>
  </p:cSld>
</p:sld>
</file>

<file path=ppt/slides/slide42.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6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70"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42</a:t>
            </a:r>
          </a:p>
        </p:txBody>
      </p:sp>
      <p:sp>
        <p:nvSpPr>
          <p:cNvPr id="100171"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Mathematical Prerequisites for Quantum Computing</a:t>
            </a:r>
          </a:p>
        </p:txBody>
      </p:sp>
      <p:sp>
        <p:nvSpPr>
          <p:cNvPr id="100172"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You do not need a physics PhD to learn quantum computing — but these math foundations help.</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Essential Mathematics (Priority Order):</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1. Complex Numbers</a:t>
            </a:r>
          </a:p>
          <a:p xmlns:a="http://schemas.openxmlformats.org/drawingml/2006/main">
            <a:r>
              <a:rPr lang="en-US" sz="1700">
                <a:solidFill>
                  <a:srgbClr val="E3F2FD"/>
                </a:solidFill>
                <a:latin typeface="Calibri"/>
                <a:ea typeface="Calibri"/>
              </a:rPr>
              <a:t>   ▪ i² = -1, Euler's formula: e^(iθ) = cos θ + i sin θ</a:t>
            </a:r>
          </a:p>
          <a:p xmlns:a="http://schemas.openxmlformats.org/drawingml/2006/main">
            <a:r>
              <a:rPr lang="en-US" sz="1700">
                <a:solidFill>
                  <a:srgbClr val="E3F2FD"/>
                </a:solidFill>
                <a:latin typeface="Calibri"/>
                <a:ea typeface="Calibri"/>
              </a:rPr>
              <a:t>   ▪ Modulus, conjugate, polar form — critical for probability amplitudes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2. Linear Algebra</a:t>
            </a:r>
          </a:p>
          <a:p xmlns:a="http://schemas.openxmlformats.org/drawingml/2006/main">
            <a:r>
              <a:rPr lang="en-US" sz="1700">
                <a:solidFill>
                  <a:srgbClr val="E3F2FD"/>
                </a:solidFill>
                <a:latin typeface="Calibri"/>
                <a:ea typeface="Calibri"/>
              </a:rPr>
              <a:t>   ▪ Vectors (column vectors = quantum states)</a:t>
            </a:r>
          </a:p>
          <a:p xmlns:a="http://schemas.openxmlformats.org/drawingml/2006/main">
            <a:r>
              <a:rPr lang="en-US" sz="1700">
                <a:solidFill>
                  <a:srgbClr val="E3F2FD"/>
                </a:solidFill>
                <a:latin typeface="Calibri"/>
                <a:ea typeface="Calibri"/>
              </a:rPr>
              <a:t>   ▪ Matrices (quantum gates as matrix multiplication)</a:t>
            </a:r>
          </a:p>
          <a:p xmlns:a="http://schemas.openxmlformats.org/drawingml/2006/main">
            <a:r>
              <a:rPr lang="en-US" sz="1700">
                <a:solidFill>
                  <a:srgbClr val="E3F2FD"/>
                </a:solidFill>
                <a:latin typeface="Calibri"/>
                <a:ea typeface="Calibri"/>
              </a:rPr>
              <a:t>   ▪ Eigenvalues/eigenvectors (Hamiltonians, measurement)</a:t>
            </a:r>
          </a:p>
          <a:p xmlns:a="http://schemas.openxmlformats.org/drawingml/2006/main">
            <a:r>
              <a:rPr lang="en-US" sz="1700">
                <a:solidFill>
                  <a:srgbClr val="E3F2FD"/>
                </a:solidFill>
                <a:latin typeface="Calibri"/>
                <a:ea typeface="Calibri"/>
              </a:rPr>
              <a:t>   ▪ Inner products, tensor products (Hilbert space, multi-qubit systems)</a:t>
            </a:r>
          </a:p>
          <a:p xmlns:a="http://schemas.openxmlformats.org/drawingml/2006/main">
            <a:r>
              <a:rPr lang="en-US" sz="1700">
                <a:solidFill>
                  <a:srgbClr val="E3F2FD"/>
                </a:solidFill>
                <a:latin typeface="Calibri"/>
                <a:ea typeface="Calibri"/>
              </a:rPr>
              <a:t>   ▪ Unitary matrices: U†U = I (quantum gate reversibility)</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3. Probability Theory</a:t>
            </a:r>
          </a:p>
          <a:p xmlns:a="http://schemas.openxmlformats.org/drawingml/2006/main">
            <a:r>
              <a:rPr lang="en-US" sz="1700">
                <a:solidFill>
                  <a:srgbClr val="E3F2FD"/>
                </a:solidFill>
                <a:latin typeface="Calibri"/>
                <a:ea typeface="Calibri"/>
              </a:rPr>
              <a:t>   ▪ Born rule: Probability of measuring |0⟩ = |α|²</a:t>
            </a:r>
          </a:p>
          <a:p xmlns:a="http://schemas.openxmlformats.org/drawingml/2006/main">
            <a:r>
              <a:rPr lang="en-US" sz="1700">
                <a:solidFill>
                  <a:srgbClr val="E3F2FD"/>
                </a:solidFill>
                <a:latin typeface="Calibri"/>
                <a:ea typeface="Calibri"/>
              </a:rPr>
              <a:t>   ▪ Conditional probability, expectation values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4. Fourier Analysis (for advanced algorithms)</a:t>
            </a:r>
          </a:p>
          <a:p xmlns:a="http://schemas.openxmlformats.org/drawingml/2006/main">
            <a:r>
              <a:rPr lang="en-US" sz="1700">
                <a:solidFill>
                  <a:srgbClr val="E3F2FD"/>
                </a:solidFill>
                <a:latin typeface="Calibri"/>
                <a:ea typeface="Calibri"/>
              </a:rPr>
              <a:t>   ▪ Discrete Fourier Transform — foundation of QFT and Shor's Algorithm</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Recommended Self-Study Path:</a:t>
            </a:r>
          </a:p>
          <a:p xmlns:a="http://schemas.openxmlformats.org/drawingml/2006/main">
            <a:r>
              <a:rPr lang="en-US" sz="1700">
                <a:solidFill>
                  <a:srgbClr val="E3F2FD"/>
                </a:solidFill>
                <a:latin typeface="Calibri"/>
                <a:ea typeface="Calibri"/>
              </a:rPr>
              <a:t>  Week 1–2 : 3Blue1Brown 'Essence of Linear Algebra' (free YouTube series)</a:t>
            </a:r>
          </a:p>
          <a:p xmlns:a="http://schemas.openxmlformats.org/drawingml/2006/main">
            <a:r>
              <a:rPr lang="en-US" sz="1700">
                <a:solidFill>
                  <a:srgbClr val="E3F2FD"/>
                </a:solidFill>
                <a:latin typeface="Calibri"/>
                <a:ea typeface="Calibri"/>
              </a:rPr>
              <a:t>  Week 3–4 : Khan Academy complex numbers + probability</a:t>
            </a:r>
          </a:p>
          <a:p xmlns:a="http://schemas.openxmlformats.org/drawingml/2006/main">
            <a:r>
              <a:rPr lang="en-US" sz="1700">
                <a:solidFill>
                  <a:srgbClr val="E3F2FD"/>
                </a:solidFill>
                <a:latin typeface="Calibri"/>
                <a:ea typeface="Calibri"/>
              </a:rPr>
              <a:t>  Week 5–8 : Qiskit Learning 'Basics of Quantum Information' course (free)</a:t>
            </a:r>
          </a:p>
          <a:p xmlns:a="http://schemas.openxmlformats.org/drawingml/2006/main">
            <a:r>
              <a:rPr lang="en-US" sz="1700">
                <a:solidFill>
                  <a:srgbClr val="E3F2FD"/>
                </a:solidFill>
                <a:latin typeface="Calibri"/>
                <a:ea typeface="Calibri"/>
              </a:rPr>
              <a:t>  Week 9–12: Nielsen &amp; Chuang textbook, Chapter 1–4</a:t>
            </a:r>
          </a:p>
        </p:txBody>
      </p:sp>
      <p:sp>
        <p:nvSpPr>
          <p:cNvPr id="100268"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7"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6" name="SectionBadge"/>
          <p:cNvSpPr txBox="1"/>
          <p:nvPr/>
        </p:nvSpPr>
        <p:spPr>
          <a:xfrm>
            <a:off x="540000" y="198000"/>
            <a:ext cx="1080000" cy="180000"/>
          </a:xfrm>
          <a:prstGeom prst="rect">
            <a:avLst/>
          </a:prstGeom>
          <a:solidFill>
            <a:srgbClr val="1A2A1A"/>
          </a:solidFill>
        </p:spPr>
        <p:txBody>
          <a:bodyPr/>
          <a:lstStyle/>
          <a:p>
            <a:r>
              <a:rPr lang="en-US" sz="800" b="1">
                <a:solidFill>
                  <a:srgbClr val="DCEDC8"/>
                </a:solidFill>
                <a:latin typeface="Calibri"/>
                <a:ea typeface="Calibri"/>
              </a:rPr>
              <a:t>LEARNING</a:t>
            </a:r>
          </a:p>
        </p:txBody>
      </p:sp>
    </p:spTree>
  </p:cSld>
</p:sld>
</file>

<file path=ppt/slides/slide43.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7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74"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43</a:t>
            </a:r>
          </a:p>
        </p:txBody>
      </p:sp>
      <p:sp>
        <p:nvSpPr>
          <p:cNvPr id="100175"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10 Common Quantum Myths — Busted</a:t>
            </a:r>
          </a:p>
        </p:txBody>
      </p:sp>
      <p:sp>
        <p:nvSpPr>
          <p:cNvPr id="100176"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MYTH 1: Quantum computers will replace classical computers.</a:t>
            </a:r>
          </a:p>
          <a:p xmlns:a="http://schemas.openxmlformats.org/drawingml/2006/main">
            <a:r>
              <a:rPr lang="en-US" sz="1500">
                <a:solidFill>
                  <a:srgbClr val="E3F2FD"/>
                </a:solidFill>
                <a:latin typeface="Calibri"/>
                <a:ea typeface="Calibri"/>
              </a:rPr>
              <a:t>FACT: They are specialized tools — classical computers remain optimal for most tasks.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2: Quantum computers try all answers simultaneously.</a:t>
            </a:r>
          </a:p>
          <a:p xmlns:a="http://schemas.openxmlformats.org/drawingml/2006/main">
            <a:r>
              <a:rPr lang="en-US" sz="1500">
                <a:solidFill>
                  <a:srgbClr val="E3F2FD"/>
                </a:solidFill>
                <a:latin typeface="Calibri"/>
                <a:ea typeface="Calibri"/>
              </a:rPr>
              <a:t>FACT: Superposition alone is not enough — interference is needed to amplify the correct answer.</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3: Quantum computing will break ALL encryption.</a:t>
            </a:r>
          </a:p>
          <a:p xmlns:a="http://schemas.openxmlformats.org/drawingml/2006/main">
            <a:r>
              <a:rPr lang="en-US" sz="1500">
                <a:solidFill>
                  <a:srgbClr val="E3F2FD"/>
                </a:solidFill>
                <a:latin typeface="Calibri"/>
                <a:ea typeface="Calibri"/>
              </a:rPr>
              <a:t>FACT: Only public-key cryptography (RSA, ECC) is threatened — AES-256 is quantum-safe with doubling.</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4: More qubits = more powerful quantum computer.</a:t>
            </a:r>
          </a:p>
          <a:p xmlns:a="http://schemas.openxmlformats.org/drawingml/2006/main">
            <a:r>
              <a:rPr lang="en-US" sz="1500">
                <a:solidFill>
                  <a:srgbClr val="E3F2FD"/>
                </a:solidFill>
                <a:latin typeface="Calibri"/>
                <a:ea typeface="Calibri"/>
              </a:rPr>
              <a:t>FACT: Quality (fidelity, coherence time, connectivity) matters as much as quantity.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5: Quantum computers work at room temperature.</a:t>
            </a:r>
          </a:p>
          <a:p xmlns:a="http://schemas.openxmlformats.org/drawingml/2006/main">
            <a:r>
              <a:rPr lang="en-US" sz="1500">
                <a:solidFill>
                  <a:srgbClr val="E3F2FD"/>
                </a:solidFill>
                <a:latin typeface="Calibri"/>
                <a:ea typeface="Calibri"/>
              </a:rPr>
              <a:t>FACT: Superconducting qubits require 15 millikelvin — colder than outer space.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6: Quantum computers are infinitely fast.</a:t>
            </a:r>
          </a:p>
          <a:p xmlns:a="http://schemas.openxmlformats.org/drawingml/2006/main">
            <a:r>
              <a:rPr lang="en-US" sz="1500">
                <a:solidFill>
                  <a:srgbClr val="E3F2FD"/>
                </a:solidFill>
                <a:latin typeface="Calibri"/>
                <a:ea typeface="Calibri"/>
              </a:rPr>
              <a:t>FACT: They are faster only for specific algorithmic problems — many tasks are slower.</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7: Entanglement enables faster-than-light communication.</a:t>
            </a:r>
          </a:p>
          <a:p xmlns:a="http://schemas.openxmlformats.org/drawingml/2006/main">
            <a:r>
              <a:rPr lang="en-US" sz="1500">
                <a:solidFill>
                  <a:srgbClr val="E3F2FD"/>
                </a:solidFill>
                <a:latin typeface="Calibri"/>
                <a:ea typeface="Calibri"/>
              </a:rPr>
              <a:t>FACT: No-communication theorem — entanglement cannot transmit classical information faster than light.</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8: You need a PhD to program quantum computers.</a:t>
            </a:r>
          </a:p>
          <a:p xmlns:a="http://schemas.openxmlformats.org/drawingml/2006/main">
            <a:r>
              <a:rPr lang="en-US" sz="1500">
                <a:solidFill>
                  <a:srgbClr val="E3F2FD"/>
                </a:solidFill>
                <a:latin typeface="Calibri"/>
                <a:ea typeface="Calibri"/>
              </a:rPr>
              <a:t>FACT: High school math + Python is enough to write and run quantum circuits with Qiskit today.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9: Quantum computers already exist at useful scale.</a:t>
            </a:r>
          </a:p>
          <a:p xmlns:a="http://schemas.openxmlformats.org/drawingml/2006/main">
            <a:r>
              <a:rPr lang="en-US" sz="1500">
                <a:solidFill>
                  <a:srgbClr val="E3F2FD"/>
                </a:solidFill>
                <a:latin typeface="Calibri"/>
                <a:ea typeface="Calibri"/>
              </a:rPr>
              <a:t>FACT: We are in the NISQ era — useful for narrow research applications, not yet general purpose.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MYTH 10: D-Wave is a 'real' quantum computer.</a:t>
            </a:r>
          </a:p>
          <a:p xmlns:a="http://schemas.openxmlformats.org/drawingml/2006/main">
            <a:r>
              <a:rPr lang="en-US" sz="1500">
                <a:solidFill>
                  <a:srgbClr val="E3F2FD"/>
                </a:solidFill>
                <a:latin typeface="Calibri"/>
                <a:ea typeface="Calibri"/>
              </a:rPr>
              <a:t>FACT: D-Wave uses quantum annealing — fundamentally different from gate-based quantum computing.</a:t>
            </a:r>
          </a:p>
        </p:txBody>
      </p:sp>
      <p:pic>
        <p:nvPicPr>
          <p:cNvPr id="100225" name="MythsDiagram"/>
          <p:cNvPicPr>
            <a:picLocks noChangeAspect="1"/>
          </p:cNvPicPr>
          <p:nvPr/>
        </p:nvPicPr>
        <p:blipFill>
          <a:blip xmlns:r="http://schemas.openxmlformats.org/officeDocument/2006/relationships" r:embed="R451be098190f4e88">
            <a:extLst>
              <a:ext uri="{96DAC541-7B7A-43D3-8B79-37D633B846F1}">
                <asvg:svgBlip xmlns:asvg="http://schemas.microsoft.com/office/drawing/2016/SVG/main" r:embed="Read3e852328d469f"/>
              </a:ext>
            </a:extLst>
          </a:blip>
          <a:stretch>
            <a:fillRect/>
          </a:stretch>
        </p:blipFill>
        <p:spPr>
          <a:xfrm>
            <a:off x="540000" y="5112000"/>
            <a:ext cx="10800000" cy="1368000"/>
          </a:xfrm>
          <a:prstGeom prst="rect">
            <a:avLst/>
          </a:prstGeom>
        </p:spPr>
      </p:pic>
      <p:sp>
        <p:nvSpPr>
          <p:cNvPr id="100269"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8"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7" name="SectionBadge"/>
          <p:cNvSpPr txBox="1"/>
          <p:nvPr/>
        </p:nvSpPr>
        <p:spPr>
          <a:xfrm>
            <a:off x="540000" y="198000"/>
            <a:ext cx="936000" cy="180000"/>
          </a:xfrm>
          <a:prstGeom prst="rect">
            <a:avLst/>
          </a:prstGeom>
          <a:solidFill>
            <a:srgbClr val="1E3A5F"/>
          </a:solidFill>
        </p:spPr>
        <p:txBody>
          <a:bodyPr/>
          <a:lstStyle/>
          <a:p>
            <a:r>
              <a:rPr lang="en-US" sz="800" b="1">
                <a:solidFill>
                  <a:srgbClr val="90CAF9"/>
                </a:solidFill>
                <a:latin typeface="Calibri"/>
                <a:ea typeface="Calibri"/>
              </a:rPr>
              <a:t>CLARITY</a:t>
            </a:r>
          </a:p>
        </p:txBody>
      </p:sp>
    </p:spTree>
  </p:cSld>
</p:sld>
</file>

<file path=ppt/slides/slide44.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7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78"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44</a:t>
            </a:r>
          </a:p>
        </p:txBody>
      </p:sp>
      <p:sp>
        <p:nvSpPr>
          <p:cNvPr id="100179"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Computing Learning Resources</a:t>
            </a:r>
          </a:p>
        </p:txBody>
      </p:sp>
      <p:sp>
        <p:nvSpPr>
          <p:cNvPr id="100180"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TEXTBOOKS (Peer-Reviewed &amp; Authoritative):</a:t>
            </a:r>
          </a:p>
          <a:p xmlns:a="http://schemas.openxmlformats.org/drawingml/2006/main">
            <a:r>
              <a:rPr lang="en-US" sz="1600">
                <a:solidFill>
                  <a:srgbClr val="E3F2FD"/>
                </a:solidFill>
                <a:latin typeface="Calibri"/>
                <a:ea typeface="Calibri"/>
              </a:rPr>
              <a:t>  ▪ Nielsen &amp; Chuang — 'Quantum Computation and Quantum Information' (Cambridge, 2010) [THE reference]</a:t>
            </a:r>
          </a:p>
          <a:p xmlns:a="http://schemas.openxmlformats.org/drawingml/2006/main">
            <a:r>
              <a:rPr lang="en-US" sz="1600">
                <a:solidFill>
                  <a:srgbClr val="E3F2FD"/>
                </a:solidFill>
                <a:latin typeface="Calibri"/>
                <a:ea typeface="Calibri"/>
              </a:rPr>
              <a:t>  ▪ Preskill — 'Lecture Notes for Physics 219' (Caltech, free online: theory.caltech.edu/~preskill/ph229/)</a:t>
            </a:r>
          </a:p>
          <a:p xmlns:a="http://schemas.openxmlformats.org/drawingml/2006/main">
            <a:r>
              <a:rPr lang="en-US" sz="1600">
                <a:solidFill>
                  <a:srgbClr val="E3F2FD"/>
                </a:solidFill>
                <a:latin typeface="Calibri"/>
                <a:ea typeface="Calibri"/>
              </a:rPr>
              <a:t>  ▪ Aaronson — 'Quantum Computing Since Democritus' (Cambridge, 2013)</a:t>
            </a:r>
          </a:p>
          <a:p xmlns:a="http://schemas.openxmlformats.org/drawingml/2006/main">
            <a:r>
              <a:rPr lang="en-US" sz="1600">
                <a:solidFill>
                  <a:srgbClr val="E3F2FD"/>
                </a:solidFill>
                <a:latin typeface="Calibri"/>
                <a:ea typeface="Calibri"/>
              </a:rPr>
              <a:t>  ▪ Wilde — 'Quantum Information Theory' (Cambridge, 2nd ed., 2017)</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ONLINE LEARNING (Free):</a:t>
            </a:r>
          </a:p>
          <a:p xmlns:a="http://schemas.openxmlformats.org/drawingml/2006/main">
            <a:r>
              <a:rPr lang="en-US" sz="1600">
                <a:solidFill>
                  <a:srgbClr val="E3F2FD"/>
                </a:solidFill>
                <a:latin typeface="Calibri"/>
                <a:ea typeface="Calibri"/>
              </a:rPr>
              <a:t>  ▪ IBM Quantum Learning  — learning.quantum.ibm.com  (courses, labs, certifications)</a:t>
            </a:r>
          </a:p>
          <a:p xmlns:a="http://schemas.openxmlformats.org/drawingml/2006/main">
            <a:r>
              <a:rPr lang="en-US" sz="1600">
                <a:solidFill>
                  <a:srgbClr val="E3F2FD"/>
                </a:solidFill>
                <a:latin typeface="Calibri"/>
                <a:ea typeface="Calibri"/>
              </a:rPr>
              <a:t>  ▪ Qiskit Textbook       — qiskit.org/learn            (interactive, code-first)</a:t>
            </a:r>
          </a:p>
          <a:p xmlns:a="http://schemas.openxmlformats.org/drawingml/2006/main">
            <a:r>
              <a:rPr lang="en-US" sz="1600">
                <a:solidFill>
                  <a:srgbClr val="E3F2FD"/>
                </a:solidFill>
                <a:latin typeface="Calibri"/>
                <a:ea typeface="Calibri"/>
              </a:rPr>
              <a:t>  ▪ Microsoft Q# Learn    — learn.microsoft.com/quantum</a:t>
            </a:r>
          </a:p>
          <a:p xmlns:a="http://schemas.openxmlformats.org/drawingml/2006/main">
            <a:r>
              <a:rPr lang="en-US" sz="1600">
                <a:solidFill>
                  <a:srgbClr val="E3F2FD"/>
                </a:solidFill>
                <a:latin typeface="Calibri"/>
                <a:ea typeface="Calibri"/>
              </a:rPr>
              <a:t>  ▪ Coursera QC Courses   — IBM, MIT, University of Toronto (auditable for free)</a:t>
            </a:r>
          </a:p>
          <a:p xmlns:a="http://schemas.openxmlformats.org/drawingml/2006/main">
            <a:r>
              <a:rPr lang="en-US" sz="1600">
                <a:solidFill>
                  <a:srgbClr val="E3F2FD"/>
                </a:solidFill>
                <a:latin typeface="Calibri"/>
                <a:ea typeface="Calibri"/>
              </a:rPr>
              <a:t>  ▪ edX Quantum Computing — MIT 8.370x (free audit)</a:t>
            </a:r>
          </a:p>
          <a:p xmlns:a="http://schemas.openxmlformats.org/drawingml/2006/main">
            <a:r>
              <a:rPr lang="en-US" sz="1600">
                <a:solidFill>
                  <a:srgbClr val="E3F2FD"/>
                </a:solidFill>
                <a:latin typeface="Calibri"/>
                <a:ea typeface="Calibri"/>
              </a:rPr>
              <a:t>  ▪ Brilliant.org         — Interactive quantum computing course</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VIDEO LECTURES:</a:t>
            </a:r>
          </a:p>
          <a:p xmlns:a="http://schemas.openxmlformats.org/drawingml/2006/main">
            <a:r>
              <a:rPr lang="en-US" sz="1600">
                <a:solidFill>
                  <a:srgbClr val="E3F2FD"/>
                </a:solidFill>
                <a:latin typeface="Calibri"/>
                <a:ea typeface="Calibri"/>
              </a:rPr>
              <a:t>  ▪ Quantum Computing for Computer Scientists — Microsoft Research (YouTube, 2018)</a:t>
            </a:r>
          </a:p>
          <a:p xmlns:a="http://schemas.openxmlformats.org/drawingml/2006/main">
            <a:r>
              <a:rPr lang="en-US" sz="1600">
                <a:solidFill>
                  <a:srgbClr val="E3F2FD"/>
                </a:solidFill>
                <a:latin typeface="Calibri"/>
                <a:ea typeface="Calibri"/>
              </a:rPr>
              <a:t>  ▪ Scott Aaronson CSCI 388 — UT Austin (YouTube)</a:t>
            </a:r>
          </a:p>
          <a:p xmlns:a="http://schemas.openxmlformats.org/drawingml/2006/main">
            <a:r>
              <a:rPr lang="en-US" sz="1600">
                <a:solidFill>
                  <a:srgbClr val="E3F2FD"/>
                </a:solidFill>
                <a:latin typeface="Calibri"/>
                <a:ea typeface="Calibri"/>
              </a:rPr>
              <a:t>  ▪ Umesh Vazirani Quantum Mechanics — UC Berkeley (edX BerkeleyX)</a:t>
            </a:r>
          </a:p>
          <a:p xmlns:a="http://schemas.openxmlformats.org/drawingml/2006/main">
            <a:r>
              <a:rPr lang="en-US" sz="1600">
                <a:solidFill>
                  <a:srgbClr val="E3F2FD"/>
                </a:solidFill>
                <a:latin typeface="Calibri"/>
                <a:ea typeface="Calibri"/>
              </a:rPr>
              <a:t/>
            </a:r>
          </a:p>
          <a:p xmlns:a="http://schemas.openxmlformats.org/drawingml/2006/main">
            <a:r>
              <a:rPr lang="en-US" sz="1600">
                <a:solidFill>
                  <a:srgbClr val="E3F2FD"/>
                </a:solidFill>
                <a:latin typeface="Calibri"/>
                <a:ea typeface="Calibri"/>
              </a:rPr>
              <a:t>COMMUNITIES &amp; EVENTS:</a:t>
            </a:r>
          </a:p>
          <a:p xmlns:a="http://schemas.openxmlformats.org/drawingml/2006/main">
            <a:r>
              <a:rPr lang="en-US" sz="1600">
                <a:solidFill>
                  <a:srgbClr val="E3F2FD"/>
                </a:solidFill>
                <a:latin typeface="Calibri"/>
                <a:ea typeface="Calibri"/>
              </a:rPr>
              <a:t>  ▪ IBM Quantum Network   — quantum.ibm.com/network</a:t>
            </a:r>
          </a:p>
          <a:p xmlns:a="http://schemas.openxmlformats.org/drawingml/2006/main">
            <a:r>
              <a:rPr lang="en-US" sz="1600">
                <a:solidFill>
                  <a:srgbClr val="E3F2FD"/>
                </a:solidFill>
                <a:latin typeface="Calibri"/>
                <a:ea typeface="Calibri"/>
              </a:rPr>
              <a:t>  ▪ Qiskit Slack Community — qiskit.slack.com (40,000+ members)</a:t>
            </a:r>
          </a:p>
          <a:p xmlns:a="http://schemas.openxmlformats.org/drawingml/2006/main">
            <a:r>
              <a:rPr lang="en-US" sz="1600">
                <a:solidFill>
                  <a:srgbClr val="E3F2FD"/>
                </a:solidFill>
                <a:latin typeface="Calibri"/>
                <a:ea typeface="Calibri"/>
              </a:rPr>
              <a:t>  ▪ Quantum Open Source Foundation — qosf.org</a:t>
            </a:r>
          </a:p>
          <a:p xmlns:a="http://schemas.openxmlformats.org/drawingml/2006/main">
            <a:r>
              <a:rPr lang="en-US" sz="1600">
                <a:solidFill>
                  <a:srgbClr val="E3F2FD"/>
                </a:solidFill>
                <a:latin typeface="Calibri"/>
                <a:ea typeface="Calibri"/>
              </a:rPr>
              <a:t>  ▪ IEEE Quantum Week (QCE) — Annual conference</a:t>
            </a:r>
          </a:p>
          <a:p xmlns:a="http://schemas.openxmlformats.org/drawingml/2006/main">
            <a:r>
              <a:rPr lang="en-US" sz="1600">
                <a:solidFill>
                  <a:srgbClr val="E3F2FD"/>
                </a:solidFill>
                <a:latin typeface="Calibri"/>
                <a:ea typeface="Calibri"/>
              </a:rPr>
              <a:t>  ▪ APS March Meeting — Leading physics/quantum computing conference</a:t>
            </a:r>
          </a:p>
        </p:txBody>
      </p:sp>
      <p:sp>
        <p:nvSpPr>
          <p:cNvPr id="100270"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19"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8" name="SectionBadge"/>
          <p:cNvSpPr txBox="1"/>
          <p:nvPr/>
        </p:nvSpPr>
        <p:spPr>
          <a:xfrm>
            <a:off x="540000" y="198000"/>
            <a:ext cx="1080000" cy="180000"/>
          </a:xfrm>
          <a:prstGeom prst="rect">
            <a:avLst/>
          </a:prstGeom>
          <a:solidFill>
            <a:srgbClr val="1A2A1A"/>
          </a:solidFill>
        </p:spPr>
        <p:txBody>
          <a:bodyPr/>
          <a:lstStyle/>
          <a:p>
            <a:r>
              <a:rPr lang="en-US" sz="800" b="1">
                <a:solidFill>
                  <a:srgbClr val="DCEDC8"/>
                </a:solidFill>
                <a:latin typeface="Calibri"/>
                <a:ea typeface="Calibri"/>
              </a:rPr>
              <a:t>LEARNING</a:t>
            </a:r>
          </a:p>
        </p:txBody>
      </p:sp>
    </p:spTree>
  </p:cSld>
</p:sld>
</file>

<file path=ppt/slides/slide45.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8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82"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45</a:t>
            </a:r>
          </a:p>
        </p:txBody>
      </p:sp>
      <p:sp>
        <p:nvSpPr>
          <p:cNvPr id="100183"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Quantum Computing — Historical Timeline</a:t>
            </a:r>
          </a:p>
        </p:txBody>
      </p:sp>
      <p:sp>
        <p:nvSpPr>
          <p:cNvPr id="100184"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3F2FD"/>
                </a:solidFill>
                <a:latin typeface="Calibri"/>
                <a:ea typeface="Calibri"/>
              </a:rPr>
              <a:t>1935  Einstein-Podolsky-Rosen (EPR) paradox — first theoretical discussion of entanglement</a:t>
            </a:r>
          </a:p>
          <a:p xmlns:a="http://schemas.openxmlformats.org/drawingml/2006/main">
            <a:r>
              <a:rPr lang="en-US" sz="1600">
                <a:solidFill>
                  <a:srgbClr val="E3F2FD"/>
                </a:solidFill>
                <a:latin typeface="Calibri"/>
                <a:ea typeface="Calibri"/>
              </a:rPr>
              <a:t>1964  Bell's Theorem — John Bell provides mathematical test for quantum non-locality</a:t>
            </a:r>
          </a:p>
          <a:p xmlns:a="http://schemas.openxmlformats.org/drawingml/2006/main">
            <a:r>
              <a:rPr lang="en-US" sz="1600">
                <a:solidFill>
                  <a:srgbClr val="E3F2FD"/>
                </a:solidFill>
                <a:latin typeface="Calibri"/>
                <a:ea typeface="Calibri"/>
              </a:rPr>
              <a:t>1981  Richard Feynman proposes quantum simulation — founding vision of quantum computing</a:t>
            </a:r>
          </a:p>
          <a:p xmlns:a="http://schemas.openxmlformats.org/drawingml/2006/main">
            <a:r>
              <a:rPr lang="en-US" sz="1600">
                <a:solidFill>
                  <a:srgbClr val="E3F2FD"/>
                </a:solidFill>
                <a:latin typeface="Calibri"/>
                <a:ea typeface="Calibri"/>
              </a:rPr>
              <a:t>1982  David Deutsch proposes the first universal quantum computer model</a:t>
            </a:r>
          </a:p>
          <a:p xmlns:a="http://schemas.openxmlformats.org/drawingml/2006/main">
            <a:r>
              <a:rPr lang="en-US" sz="1600">
                <a:solidFill>
                  <a:srgbClr val="E3F2FD"/>
                </a:solidFill>
                <a:latin typeface="Calibri"/>
                <a:ea typeface="Calibri"/>
              </a:rPr>
              <a:t>1984  Bennett &amp; Brassard: BB84 QKD protocol — quantum cryptography born</a:t>
            </a:r>
          </a:p>
          <a:p xmlns:a="http://schemas.openxmlformats.org/drawingml/2006/main">
            <a:r>
              <a:rPr lang="en-US" sz="1600">
                <a:solidFill>
                  <a:srgbClr val="E3F2FD"/>
                </a:solidFill>
                <a:latin typeface="Calibri"/>
                <a:ea typeface="Calibri"/>
              </a:rPr>
              <a:t>1992  Deutsch-Jozsa Algorithm — first quantum speedup proof</a:t>
            </a:r>
          </a:p>
          <a:p xmlns:a="http://schemas.openxmlformats.org/drawingml/2006/main">
            <a:r>
              <a:rPr lang="en-US" sz="1600">
                <a:solidFill>
                  <a:srgbClr val="E3F2FD"/>
                </a:solidFill>
                <a:latin typeface="Calibri"/>
                <a:ea typeface="Calibri"/>
              </a:rPr>
              <a:t>1993  Charles Bennett: Quantum teleportation protocol proposed</a:t>
            </a:r>
          </a:p>
          <a:p xmlns:a="http://schemas.openxmlformats.org/drawingml/2006/main">
            <a:r>
              <a:rPr lang="en-US" sz="1600">
                <a:solidFill>
                  <a:srgbClr val="E3F2FD"/>
                </a:solidFill>
                <a:latin typeface="Calibri"/>
                <a:ea typeface="Calibri"/>
              </a:rPr>
              <a:t>1994  Peter Shor: Factoring algorithm — quantum security revolution begins</a:t>
            </a:r>
          </a:p>
          <a:p xmlns:a="http://schemas.openxmlformats.org/drawingml/2006/main">
            <a:r>
              <a:rPr lang="en-US" sz="1600">
                <a:solidFill>
                  <a:srgbClr val="E3F2FD"/>
                </a:solidFill>
                <a:latin typeface="Calibri"/>
                <a:ea typeface="Calibri"/>
              </a:rPr>
              <a:t>1995  Peter Shor: First quantum error correction code</a:t>
            </a:r>
          </a:p>
          <a:p xmlns:a="http://schemas.openxmlformats.org/drawingml/2006/main">
            <a:r>
              <a:rPr lang="en-US" sz="1600">
                <a:solidFill>
                  <a:srgbClr val="E3F2FD"/>
                </a:solidFill>
                <a:latin typeface="Calibri"/>
                <a:ea typeface="Calibri"/>
              </a:rPr>
              <a:t>1996  Lov Grover: Database search algorithm — quadratic speedup</a:t>
            </a:r>
          </a:p>
          <a:p xmlns:a="http://schemas.openxmlformats.org/drawingml/2006/main">
            <a:r>
              <a:rPr lang="en-US" sz="1600">
                <a:solidFill>
                  <a:srgbClr val="E3F2FD"/>
                </a:solidFill>
                <a:latin typeface="Calibri"/>
                <a:ea typeface="Calibri"/>
              </a:rPr>
              <a:t>1997  Experimental quantum teleportation (Innsbruck, Rome)</a:t>
            </a:r>
          </a:p>
          <a:p xmlns:a="http://schemas.openxmlformats.org/drawingml/2006/main">
            <a:r>
              <a:rPr lang="en-US" sz="1600">
                <a:solidFill>
                  <a:srgbClr val="E3F2FD"/>
                </a:solidFill>
                <a:latin typeface="Calibri"/>
                <a:ea typeface="Calibri"/>
              </a:rPr>
              <a:t>1998  First NMR quantum computer — 2-qubit demonstration</a:t>
            </a:r>
          </a:p>
          <a:p xmlns:a="http://schemas.openxmlformats.org/drawingml/2006/main">
            <a:r>
              <a:rPr lang="en-US" sz="1600">
                <a:solidFill>
                  <a:srgbClr val="E3F2FD"/>
                </a:solidFill>
                <a:latin typeface="Calibri"/>
                <a:ea typeface="Calibri"/>
              </a:rPr>
              <a:t>2001  IBM: 7-qubit NMR demonstration of Shor's algorithm (N=15=3x5)</a:t>
            </a:r>
          </a:p>
          <a:p xmlns:a="http://schemas.openxmlformats.org/drawingml/2006/main">
            <a:r>
              <a:rPr lang="en-US" sz="1600">
                <a:solidFill>
                  <a:srgbClr val="E3F2FD"/>
                </a:solidFill>
                <a:latin typeface="Calibri"/>
                <a:ea typeface="Calibri"/>
              </a:rPr>
              <a:t>2007  D-Wave announces first commercial quantum annealer</a:t>
            </a:r>
          </a:p>
          <a:p xmlns:a="http://schemas.openxmlformats.org/drawingml/2006/main">
            <a:r>
              <a:rPr lang="en-US" sz="1600">
                <a:solidFill>
                  <a:srgbClr val="E3F2FD"/>
                </a:solidFill>
                <a:latin typeface="Calibri"/>
                <a:ea typeface="Calibri"/>
              </a:rPr>
              <a:t>2016  IBM puts 5-qubit quantum computer on the cloud (IBM Quantum Experience)</a:t>
            </a:r>
          </a:p>
          <a:p xmlns:a="http://schemas.openxmlformats.org/drawingml/2006/main">
            <a:r>
              <a:rPr lang="en-US" sz="1600">
                <a:solidFill>
                  <a:srgbClr val="E3F2FD"/>
                </a:solidFill>
                <a:latin typeface="Calibri"/>
                <a:ea typeface="Calibri"/>
              </a:rPr>
              <a:t>2018  Google Bristlecone 72-qubit chip; US National Quantum Initiative signed</a:t>
            </a:r>
          </a:p>
          <a:p xmlns:a="http://schemas.openxmlformats.org/drawingml/2006/main">
            <a:r>
              <a:rPr lang="en-US" sz="1600">
                <a:solidFill>
                  <a:srgbClr val="E3F2FD"/>
                </a:solidFill>
                <a:latin typeface="Calibri"/>
                <a:ea typeface="Calibri"/>
              </a:rPr>
              <a:t>2019  Google Sycamore 53Q: Quantum supremacy claim (Nature)</a:t>
            </a:r>
          </a:p>
          <a:p xmlns:a="http://schemas.openxmlformats.org/drawingml/2006/main">
            <a:r>
              <a:rPr lang="en-US" sz="1600">
                <a:solidFill>
                  <a:srgbClr val="E3F2FD"/>
                </a:solidFill>
                <a:latin typeface="Calibri"/>
                <a:ea typeface="Calibri"/>
              </a:rPr>
              <a:t>2022  IBM Osprey 433Q; Nobel Prize for Bell inequality experiments</a:t>
            </a:r>
          </a:p>
          <a:p xmlns:a="http://schemas.openxmlformats.org/drawingml/2006/main">
            <a:r>
              <a:rPr lang="en-US" sz="1600">
                <a:solidFill>
                  <a:srgbClr val="E3F2FD"/>
                </a:solidFill>
                <a:latin typeface="Calibri"/>
                <a:ea typeface="Calibri"/>
              </a:rPr>
              <a:t>2023  IBM Eagle 127Q: Quantum utility demonstrated (Nature); NIST PQC draft standards</a:t>
            </a:r>
          </a:p>
          <a:p xmlns:a="http://schemas.openxmlformats.org/drawingml/2006/main">
            <a:r>
              <a:rPr lang="en-US" sz="1600">
                <a:solidFill>
                  <a:srgbClr val="E3F2FD"/>
                </a:solidFill>
                <a:latin typeface="Calibri"/>
                <a:ea typeface="Calibri"/>
              </a:rPr>
              <a:t>2024  IBM Heron 133Q; NIST FIPS 203/204/205 PQC standards finalized; QuEra 48 logical qubits</a:t>
            </a:r>
          </a:p>
        </p:txBody>
      </p:sp>
      <p:pic>
        <p:nvPicPr>
          <p:cNvPr id="100226" name="HistoryTimeline"/>
          <p:cNvPicPr>
            <a:picLocks noChangeAspect="1"/>
          </p:cNvPicPr>
          <p:nvPr/>
        </p:nvPicPr>
        <p:blipFill>
          <a:blip xmlns:r="http://schemas.openxmlformats.org/officeDocument/2006/relationships" r:embed="R05675769f44542d9">
            <a:extLst>
              <a:ext uri="{96DAC541-7B7A-43D3-8B79-37D633B846F1}">
                <asvg:svgBlip xmlns:asvg="http://schemas.microsoft.com/office/drawing/2016/SVG/main" r:embed="Rd7ef6e815cb54413"/>
              </a:ext>
            </a:extLst>
          </a:blip>
          <a:stretch>
            <a:fillRect/>
          </a:stretch>
        </p:blipFill>
        <p:spPr>
          <a:xfrm>
            <a:off x="540000" y="5112000"/>
            <a:ext cx="10800000" cy="1368000"/>
          </a:xfrm>
          <a:prstGeom prst="rect">
            <a:avLst/>
          </a:prstGeom>
        </p:spPr>
      </p:pic>
      <p:sp>
        <p:nvSpPr>
          <p:cNvPr id="100271"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20"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69" name="SectionBadge"/>
          <p:cNvSpPr txBox="1"/>
          <p:nvPr/>
        </p:nvSpPr>
        <p:spPr>
          <a:xfrm>
            <a:off x="540000" y="198000"/>
            <a:ext cx="1008000" cy="180000"/>
          </a:xfrm>
          <a:prstGeom prst="rect">
            <a:avLst/>
          </a:prstGeom>
          <a:solidFill>
            <a:srgbClr val="1E3A5F"/>
          </a:solidFill>
        </p:spPr>
        <p:txBody>
          <a:bodyPr/>
          <a:lstStyle/>
          <a:p>
            <a:r>
              <a:rPr lang="en-US" sz="800" b="1">
                <a:solidFill>
                  <a:srgbClr val="90CAF9"/>
                </a:solidFill>
                <a:latin typeface="Calibri"/>
                <a:ea typeface="Calibri"/>
              </a:rPr>
              <a:t>HISTORY</a:t>
            </a:r>
          </a:p>
        </p:txBody>
      </p:sp>
    </p:spTree>
  </p:cSld>
</p:sld>
</file>

<file path=ppt/slides/slide46.xml><?xml version="1.0" encoding="utf-8"?>
<p:sld xmlns:r="http://schemas.openxmlformats.org/officeDocument/2006/relationships" xmlns:asvg="http://schemas.microsoft.com/office/drawing/2016/SVG/main"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8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86"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46</a:t>
            </a:r>
          </a:p>
        </p:txBody>
      </p:sp>
      <p:sp>
        <p:nvSpPr>
          <p:cNvPr id="100187"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10 Key Takeaways — What to Remember</a:t>
            </a:r>
          </a:p>
        </p:txBody>
      </p:sp>
      <p:sp>
        <p:nvSpPr>
          <p:cNvPr id="100188"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E3F2FD"/>
                </a:solidFill>
                <a:latin typeface="Calibri"/>
                <a:ea typeface="Calibri"/>
              </a:rPr>
              <a:t>1. Quantum computers encode information in qubits that exploit superposition and entanglement.</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2. Quantum gates are unitary (reversible) transformations — unlike most classical gates.</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3. Quantum speedup comes from superposition + interference + entanglement working together — not just 'being parallel.'</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4. Decoherence and errors are the primary practical challenge — error correction requires massive qubit overhead.</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5. Shor's algorithm threatens RSA/ECC encryption — NIST has finalized post-quantum standards (FIPS 203/204/205).</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6. Quantum advantage for practical problems has NOT yet been demonstrated — 'quantum utility' is the near-term milestone.</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7. Three near-term application areas: quantum chemistry/drug discovery, optimization, and quantum sensing.</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8. Multiple hardware platforms exist — superconducting (IBM, Google), trapped ion (IonQ, Quantinuum), neutral atom (QuEra).</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9. Free cloud access is available TODAY — quantum.ibm.com — no hardware needed.</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10. The quantum workforce gap is massive — your opportunity to contribute starts now at learning.quantum.ibm.com.</a:t>
            </a:r>
          </a:p>
        </p:txBody>
      </p:sp>
      <p:pic>
        <p:nvPicPr>
          <p:cNvPr id="100227" name="TakeawaysDiagram"/>
          <p:cNvPicPr>
            <a:picLocks noChangeAspect="1"/>
          </p:cNvPicPr>
          <p:nvPr/>
        </p:nvPicPr>
        <p:blipFill>
          <a:blip xmlns:r="http://schemas.openxmlformats.org/officeDocument/2006/relationships" r:embed="Ra9c309082fb04eb7">
            <a:extLst>
              <a:ext uri="{96DAC541-7B7A-43D3-8B79-37D633B846F1}">
                <asvg:svgBlip xmlns:asvg="http://schemas.microsoft.com/office/drawing/2016/SVG/main" r:embed="Redaab8e0543d4b8c"/>
              </a:ext>
            </a:extLst>
          </a:blip>
          <a:stretch>
            <a:fillRect/>
          </a:stretch>
        </p:blipFill>
        <p:spPr>
          <a:xfrm>
            <a:off x="540000" y="5112000"/>
            <a:ext cx="10800000" cy="1260000"/>
          </a:xfrm>
          <a:prstGeom prst="rect">
            <a:avLst/>
          </a:prstGeom>
        </p:spPr>
      </p:pic>
      <p:sp>
        <p:nvSpPr>
          <p:cNvPr id="100272"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21"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70" name="SectionBadge"/>
          <p:cNvSpPr txBox="1"/>
          <p:nvPr/>
        </p:nvSpPr>
        <p:spPr>
          <a:xfrm>
            <a:off x="540000" y="198000"/>
            <a:ext cx="1080000" cy="180000"/>
          </a:xfrm>
          <a:prstGeom prst="rect">
            <a:avLst/>
          </a:prstGeom>
          <a:solidFill>
            <a:srgbClr val="1E3A5F"/>
          </a:solidFill>
        </p:spPr>
        <p:txBody>
          <a:bodyPr/>
          <a:lstStyle/>
          <a:p>
            <a:r>
              <a:rPr lang="en-US" sz="800" b="1">
                <a:solidFill>
                  <a:srgbClr val="90CAF9"/>
                </a:solidFill>
                <a:latin typeface="Calibri"/>
                <a:ea typeface="Calibri"/>
              </a:rPr>
              <a:t>SUMMARY</a:t>
            </a:r>
          </a:p>
        </p:txBody>
      </p:sp>
    </p:spTree>
  </p:cSld>
</p:sld>
</file>

<file path=ppt/slides/slide47.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8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90"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47</a:t>
            </a:r>
          </a:p>
        </p:txBody>
      </p:sp>
      <p:sp>
        <p:nvSpPr>
          <p:cNvPr id="100191"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What Comes Next — Quantum Fall Fest Series Preview</a:t>
            </a:r>
          </a:p>
        </p:txBody>
      </p:sp>
      <p:sp>
        <p:nvSpPr>
          <p:cNvPr id="100192"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E3F2FD"/>
                </a:solidFill>
                <a:latin typeface="Calibri"/>
                <a:ea typeface="Calibri"/>
              </a:rPr>
              <a:t>Quantum Fall Fest 2026 Lecture Series — Complete Schedule:</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DAY 1 (Today): Introduction to Quantum Computing — Beginner to Advanced</a:t>
            </a:r>
          </a:p>
          <a:p xmlns:a="http://schemas.openxmlformats.org/drawingml/2006/main">
            <a:r>
              <a:rPr lang="en-US" sz="1700">
                <a:solidFill>
                  <a:srgbClr val="E3F2FD"/>
                </a:solidFill>
                <a:latin typeface="Calibri"/>
                <a:ea typeface="Calibri"/>
              </a:rPr>
              <a:t>  → You are here! Core concepts, algorithms, hardware, applications, security</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DAY 2: Quantum Algorithms Deep Dive</a:t>
            </a:r>
          </a:p>
          <a:p xmlns:a="http://schemas.openxmlformats.org/drawingml/2006/main">
            <a:r>
              <a:rPr lang="en-US" sz="1700">
                <a:solidFill>
                  <a:srgbClr val="E3F2FD"/>
                </a:solidFill>
                <a:latin typeface="Calibri"/>
                <a:ea typeface="Calibri"/>
              </a:rPr>
              <a:t>  → Shor's, Grover's, VQE, QAOA, QFT, Quantum Walk, HHL</a:t>
            </a:r>
          </a:p>
          <a:p xmlns:a="http://schemas.openxmlformats.org/drawingml/2006/main">
            <a:r>
              <a:rPr lang="en-US" sz="1700">
                <a:solidFill>
                  <a:srgbClr val="E3F2FD"/>
                </a:solidFill>
                <a:latin typeface="Calibri"/>
                <a:ea typeface="Calibri"/>
              </a:rPr>
              <a:t>  → Algorithm design, circuit decomposition, resource estimation</a:t>
            </a:r>
          </a:p>
          <a:p xmlns:a="http://schemas.openxmlformats.org/drawingml/2006/main">
            <a:r>
              <a:rPr lang="en-US" sz="1700">
                <a:solidFill>
                  <a:srgbClr val="E3F2FD"/>
                </a:solidFill>
                <a:latin typeface="Calibri"/>
                <a:ea typeface="Calibri"/>
              </a:rPr>
              <a:t>  → Hands-on Qiskit algorithm coding</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DAY 3: Quantum Hardware &amp; Error Correction</a:t>
            </a:r>
          </a:p>
          <a:p xmlns:a="http://schemas.openxmlformats.org/drawingml/2006/main">
            <a:r>
              <a:rPr lang="en-US" sz="1700">
                <a:solidFill>
                  <a:srgbClr val="E3F2FD"/>
                </a:solidFill>
                <a:latin typeface="Calibri"/>
                <a:ea typeface="Calibri"/>
              </a:rPr>
              <a:t>  → Superconducting qubit physics, calibration, pulse-level control</a:t>
            </a:r>
          </a:p>
          <a:p xmlns:a="http://schemas.openxmlformats.org/drawingml/2006/main">
            <a:r>
              <a:rPr lang="en-US" sz="1700">
                <a:solidFill>
                  <a:srgbClr val="E3F2FD"/>
                </a:solidFill>
                <a:latin typeface="Calibri"/>
                <a:ea typeface="Calibri"/>
              </a:rPr>
              <a:t>  → Surface code, Steane code, logical qubit architectures</a:t>
            </a:r>
          </a:p>
          <a:p xmlns:a="http://schemas.openxmlformats.org/drawingml/2006/main">
            <a:r>
              <a:rPr lang="en-US" sz="1700">
                <a:solidFill>
                  <a:srgbClr val="E3F2FD"/>
                </a:solidFill>
                <a:latin typeface="Calibri"/>
                <a:ea typeface="Calibri"/>
              </a:rPr>
              <a:t>  → IBM Heron deep dive, qubit connectivity maps</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DAY 4: Quantum Applications &amp; Industry Use Cases</a:t>
            </a:r>
          </a:p>
          <a:p xmlns:a="http://schemas.openxmlformats.org/drawingml/2006/main">
            <a:r>
              <a:rPr lang="en-US" sz="1700">
                <a:solidFill>
                  <a:srgbClr val="E3F2FD"/>
                </a:solidFill>
                <a:latin typeface="Calibri"/>
                <a:ea typeface="Calibri"/>
              </a:rPr>
              <a:t>  → Quantum chemistry, materials science, finance, logistics</a:t>
            </a:r>
          </a:p>
          <a:p xmlns:a="http://schemas.openxmlformats.org/drawingml/2006/main">
            <a:r>
              <a:rPr lang="en-US" sz="1700">
                <a:solidFill>
                  <a:srgbClr val="E3F2FD"/>
                </a:solidFill>
                <a:latin typeface="Calibri"/>
                <a:ea typeface="Calibri"/>
              </a:rPr>
              <a:t>  → Industry partnerships, NISQ applications, hybrid workflows</a:t>
            </a:r>
          </a:p>
          <a:p xmlns:a="http://schemas.openxmlformats.org/drawingml/2006/main">
            <a:r>
              <a:rPr lang="en-US" sz="1700">
                <a:solidFill>
                  <a:srgbClr val="E3F2FD"/>
                </a:solidFill>
                <a:latin typeface="Calibri"/>
                <a:ea typeface="Calibri"/>
              </a:rPr>
              <a:t>  → Guest speaker: IBM Quantum Network partner</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DAY 5: Quantum Security &amp; Post-Quantum Cryptography</a:t>
            </a:r>
          </a:p>
          <a:p xmlns:a="http://schemas.openxmlformats.org/drawingml/2006/main">
            <a:r>
              <a:rPr lang="en-US" sz="1700">
                <a:solidFill>
                  <a:srgbClr val="E3F2FD"/>
                </a:solidFill>
                <a:latin typeface="Calibri"/>
                <a:ea typeface="Calibri"/>
              </a:rPr>
              <a:t>  → Current vulnerabilities, NIST PQC standards (CRYSTALS-Kyber, Dilithium)</a:t>
            </a:r>
          </a:p>
          <a:p xmlns:a="http://schemas.openxmlformats.org/drawingml/2006/main">
            <a:r>
              <a:rPr lang="en-US" sz="1700">
                <a:solidFill>
                  <a:srgbClr val="E3F2FD"/>
                </a:solidFill>
                <a:latin typeface="Calibri"/>
                <a:ea typeface="Calibri"/>
              </a:rPr>
              <a:t>  → QKD implementation, migration strategies, Y2Q planning</a:t>
            </a:r>
          </a:p>
          <a:p xmlns:a="http://schemas.openxmlformats.org/drawingml/2006/main">
            <a:r>
              <a:rPr lang="en-US" sz="1700">
                <a:solidFill>
                  <a:srgbClr val="E3F2FD"/>
                </a:solidFill>
                <a:latin typeface="Calibri"/>
                <a:ea typeface="Calibri"/>
              </a:rPr>
              <a:t>  → Hands-on PQC implementation workshop</a:t>
            </a:r>
          </a:p>
          <a:p xmlns:a="http://schemas.openxmlformats.org/drawingml/2006/main">
            <a:r>
              <a:rPr lang="en-US" sz="1700">
                <a:solidFill>
                  <a:srgbClr val="E3F2FD"/>
                </a:solidFill>
                <a:latin typeface="Calibri"/>
                <a:ea typeface="Calibri"/>
              </a:rPr>
              <a:t/>
            </a:r>
          </a:p>
          <a:p xmlns:a="http://schemas.openxmlformats.org/drawingml/2006/main">
            <a:r>
              <a:rPr lang="en-US" sz="1700">
                <a:solidFill>
                  <a:srgbClr val="E3F2FD"/>
                </a:solidFill>
                <a:latin typeface="Calibri"/>
                <a:ea typeface="Calibri"/>
              </a:rPr>
              <a:t>All sessions will be recorded and slides posted at: quantumfallfest.ibm.com</a:t>
            </a:r>
          </a:p>
        </p:txBody>
      </p:sp>
      <p:sp>
        <p:nvSpPr>
          <p:cNvPr id="100273"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22"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71" name="SectionBadge"/>
          <p:cNvSpPr txBox="1"/>
          <p:nvPr/>
        </p:nvSpPr>
        <p:spPr>
          <a:xfrm>
            <a:off x="540000" y="198000"/>
            <a:ext cx="1152000" cy="180000"/>
          </a:xfrm>
          <a:prstGeom prst="rect">
            <a:avLst/>
          </a:prstGeom>
          <a:solidFill>
            <a:srgbClr val="1E3A5F"/>
          </a:solidFill>
        </p:spPr>
        <p:txBody>
          <a:bodyPr/>
          <a:lstStyle/>
          <a:p>
            <a:r>
              <a:rPr lang="en-US" sz="800" b="1">
                <a:solidFill>
                  <a:srgbClr val="90CAF9"/>
                </a:solidFill>
                <a:latin typeface="Calibri"/>
                <a:ea typeface="Calibri"/>
              </a:rPr>
              <a:t>NEXT STEPS</a:t>
            </a:r>
          </a:p>
        </p:txBody>
      </p:sp>
    </p:spTree>
  </p:cSld>
</p:sld>
</file>

<file path=ppt/slides/slide48.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9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94" name="SlideNum"/>
          <p:cNvSpPr txBox="1"/>
          <p:nvPr/>
        </p:nvSpPr>
        <p:spPr>
          <a:xfrm xmlns:a="http://schemas.openxmlformats.org/drawingml/2006/main">
            <a:off x="540000" y="216000"/>
            <a:ext cx="36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48</a:t>
            </a:r>
          </a:p>
        </p:txBody>
      </p:sp>
      <p:sp>
        <p:nvSpPr>
          <p:cNvPr id="100195"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Q&amp;A — Questions &amp; Discussion</a:t>
            </a:r>
          </a:p>
        </p:txBody>
      </p:sp>
      <p:sp>
        <p:nvSpPr>
          <p:cNvPr id="100196"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E3F2FD"/>
                </a:solidFill>
                <a:latin typeface="Calibri"/>
                <a:ea typeface="Calibri"/>
              </a:rPr>
              <a:t>Thank you for attending Day 1 of the Quantum Fall Fest Lecture Series!</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Suggested Discussion Topics:</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  For Beginners:</a:t>
            </a:r>
          </a:p>
          <a:p xmlns:a="http://schemas.openxmlformats.org/drawingml/2006/main">
            <a:r>
              <a:rPr lang="en-US" sz="1800">
                <a:solidFill>
                  <a:srgbClr val="E3F2FD"/>
                </a:solidFill>
                <a:latin typeface="Calibri"/>
                <a:ea typeface="Calibri"/>
              </a:rPr>
              <a:t>  ▪ Which analogy helped you most — the coin, the maze, or the noise-canceling headphones?</a:t>
            </a:r>
          </a:p>
          <a:p xmlns:a="http://schemas.openxmlformats.org/drawingml/2006/main">
            <a:r>
              <a:rPr lang="en-US" sz="1800">
                <a:solidFill>
                  <a:srgbClr val="E3F2FD"/>
                </a:solidFill>
                <a:latin typeface="Calibri"/>
                <a:ea typeface="Calibri"/>
              </a:rPr>
              <a:t>  ▪ What one quantum concept would you like explained differently?</a:t>
            </a:r>
          </a:p>
          <a:p xmlns:a="http://schemas.openxmlformats.org/drawingml/2006/main">
            <a:r>
              <a:rPr lang="en-US" sz="1800">
                <a:solidFill>
                  <a:srgbClr val="E3F2FD"/>
                </a:solidFill>
                <a:latin typeface="Calibri"/>
                <a:ea typeface="Calibri"/>
              </a:rPr>
              <a:t>  ▪ What would you like to build with quantum computing?</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  For Intermediate Learners:</a:t>
            </a:r>
          </a:p>
          <a:p xmlns:a="http://schemas.openxmlformats.org/drawingml/2006/main">
            <a:r>
              <a:rPr lang="en-US" sz="1800">
                <a:solidFill>
                  <a:srgbClr val="E3F2FD"/>
                </a:solidFill>
                <a:latin typeface="Calibri"/>
                <a:ea typeface="Calibri"/>
              </a:rPr>
              <a:t>  ▪ How does Grover's algorithm compare to classical probabilistic search?</a:t>
            </a:r>
          </a:p>
          <a:p xmlns:a="http://schemas.openxmlformats.org/drawingml/2006/main">
            <a:r>
              <a:rPr lang="en-US" sz="1800">
                <a:solidFill>
                  <a:srgbClr val="E3F2FD"/>
                </a:solidFill>
                <a:latin typeface="Calibri"/>
                <a:ea typeface="Calibri"/>
              </a:rPr>
              <a:t>  ▪ What are the main obstacles to running VQE at commercially useful scale?</a:t>
            </a:r>
          </a:p>
          <a:p xmlns:a="http://schemas.openxmlformats.org/drawingml/2006/main">
            <a:r>
              <a:rPr lang="en-US" sz="1800">
                <a:solidFill>
                  <a:srgbClr val="E3F2FD"/>
                </a:solidFill>
                <a:latin typeface="Calibri"/>
                <a:ea typeface="Calibri"/>
              </a:rPr>
              <a:t>  ▪ How would you explain the NISQ era to a non-technical executive?</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  For Advanced Attendees:</a:t>
            </a:r>
          </a:p>
          <a:p xmlns:a="http://schemas.openxmlformats.org/drawingml/2006/main">
            <a:r>
              <a:rPr lang="en-US" sz="1800">
                <a:solidFill>
                  <a:srgbClr val="E3F2FD"/>
                </a:solidFill>
                <a:latin typeface="Calibri"/>
                <a:ea typeface="Calibri"/>
              </a:rPr>
              <a:t>  ▪ What do you think about the Sycamore 'quantum supremacy' controversy?</a:t>
            </a:r>
          </a:p>
          <a:p xmlns:a="http://schemas.openxmlformats.org/drawingml/2006/main">
            <a:r>
              <a:rPr lang="en-US" sz="1800">
                <a:solidFill>
                  <a:srgbClr val="E3F2FD"/>
                </a:solidFill>
                <a:latin typeface="Calibri"/>
                <a:ea typeface="Calibri"/>
              </a:rPr>
              <a:t>  ▪ How does the threshold theorem affect your view of the fault-tolerant timeline?</a:t>
            </a:r>
          </a:p>
          <a:p xmlns:a="http://schemas.openxmlformats.org/drawingml/2006/main">
            <a:r>
              <a:rPr lang="en-US" sz="1800">
                <a:solidFill>
                  <a:srgbClr val="E3F2FD"/>
                </a:solidFill>
                <a:latin typeface="Calibri"/>
                <a:ea typeface="Calibri"/>
              </a:rPr>
              <a:t>  ▪ What is your assessment of neutral atom platforms vs. superconducting for the long term?</a:t>
            </a:r>
          </a:p>
          <a:p xmlns:a="http://schemas.openxmlformats.org/drawingml/2006/main">
            <a:r>
              <a:rPr lang="en-US" sz="1800">
                <a:solidFill>
                  <a:srgbClr val="E3F2FD"/>
                </a:solidFill>
                <a:latin typeface="Calibri"/>
                <a:ea typeface="Calibri"/>
              </a:rPr>
              <a:t/>
            </a:r>
          </a:p>
          <a:p xmlns:a="http://schemas.openxmlformats.org/drawingml/2006/main">
            <a:r>
              <a:rPr lang="en-US" sz="1800">
                <a:solidFill>
                  <a:srgbClr val="E3F2FD"/>
                </a:solidFill>
                <a:latin typeface="Calibri"/>
                <a:ea typeface="Calibri"/>
              </a:rPr>
              <a:t>Connect With Us:</a:t>
            </a:r>
          </a:p>
          <a:p xmlns:a="http://schemas.openxmlformats.org/drawingml/2006/main">
            <a:r>
              <a:rPr lang="en-US" sz="1800">
                <a:solidFill>
                  <a:srgbClr val="E3F2FD"/>
                </a:solidFill>
                <a:latin typeface="Calibri"/>
                <a:ea typeface="Calibri"/>
              </a:rPr>
              <a:t>  ▪ IBM Quantum Network   : quantum.ibm.com</a:t>
            </a:r>
          </a:p>
          <a:p xmlns:a="http://schemas.openxmlformats.org/drawingml/2006/main">
            <a:r>
              <a:rPr lang="en-US" sz="1800">
                <a:solidFill>
                  <a:srgbClr val="E3F2FD"/>
                </a:solidFill>
                <a:latin typeface="Calibri"/>
                <a:ea typeface="Calibri"/>
              </a:rPr>
              <a:t>  ▪ Qiskit Community      : qiskit.slack.com</a:t>
            </a:r>
          </a:p>
          <a:p xmlns:a="http://schemas.openxmlformats.org/drawingml/2006/main">
            <a:r>
              <a:rPr lang="en-US" sz="1800">
                <a:solidFill>
                  <a:srgbClr val="E3F2FD"/>
                </a:solidFill>
                <a:latin typeface="Calibri"/>
                <a:ea typeface="Calibri"/>
              </a:rPr>
              <a:t>  ▪ Email for follow-up   : quantum@fallfest2026.com</a:t>
            </a:r>
          </a:p>
          <a:p xmlns:a="http://schemas.openxmlformats.org/drawingml/2006/main">
            <a:r>
              <a:rPr lang="en-US" sz="1800">
                <a:solidFill>
                  <a:srgbClr val="E3F2FD"/>
                </a:solidFill>
                <a:latin typeface="Calibri"/>
                <a:ea typeface="Calibri"/>
              </a:rPr>
              <a:t>  ▪ Hashtag               : #QuantumFallFest2026  #QFF26</a:t>
            </a:r>
          </a:p>
        </p:txBody>
      </p:sp>
      <p:sp>
        <p:nvSpPr>
          <p:cNvPr id="100274"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23"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72" name="SectionBadge"/>
          <p:cNvSpPr txBox="1"/>
          <p:nvPr/>
        </p:nvSpPr>
        <p:spPr>
          <a:xfrm>
            <a:off x="540000" y="198000"/>
            <a:ext cx="720000" cy="180000"/>
          </a:xfrm>
          <a:prstGeom prst="rect">
            <a:avLst/>
          </a:prstGeom>
          <a:solidFill>
            <a:srgbClr val="1E3A5F"/>
          </a:solidFill>
        </p:spPr>
        <p:txBody>
          <a:bodyPr/>
          <a:lstStyle/>
          <a:p>
            <a:r>
              <a:rPr lang="en-US" sz="800" b="1">
                <a:solidFill>
                  <a:srgbClr val="90CAF9"/>
                </a:solidFill>
                <a:latin typeface="Calibri"/>
                <a:ea typeface="Calibri"/>
              </a:rPr>
              <a:t>Q&amp;A</a:t>
            </a:r>
          </a:p>
        </p:txBody>
      </p:sp>
    </p:spTree>
  </p:cSld>
</p:sld>
</file>

<file path=ppt/slides/slide49.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19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98" name="SlideNum"/>
          <p:cNvSpPr txBox="1"/>
          <p:nvPr/>
        </p:nvSpPr>
        <p:spPr>
          <a:xfrm xmlns:a="http://schemas.openxmlformats.org/drawingml/2006/main">
            <a:off x="540000" y="216000"/>
            <a:ext cx="108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49  — REFERENCES (PART 1 OF 2)</a:t>
            </a:r>
          </a:p>
        </p:txBody>
      </p:sp>
      <p:sp>
        <p:nvSpPr>
          <p:cNvPr id="100199"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References &amp; Authentic Sources — Part 1</a:t>
            </a:r>
          </a:p>
        </p:txBody>
      </p:sp>
      <p:sp>
        <p:nvSpPr>
          <p:cNvPr id="100200" name="Body"/>
          <p:cNvSpPr txBox="1"/>
          <p:nvPr/>
        </p:nvSpPr>
        <p:spPr>
          <a:xfrm xmlns:a="http://schemas.openxmlformats.org/drawingml/2006/main">
            <a:off x="540000" y="1080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E3F2FD"/>
                </a:solidFill>
                <a:latin typeface="Calibri"/>
                <a:ea typeface="Calibri"/>
              </a:rPr>
              <a:t>FOUNDATIONAL TEXTBOOKS</a:t>
            </a:r>
          </a:p>
          <a:p xmlns:a="http://schemas.openxmlformats.org/drawingml/2006/main">
            <a:r>
              <a:rPr lang="en-US" sz="1300">
                <a:solidFill>
                  <a:srgbClr val="E3F2FD"/>
                </a:solidFill>
                <a:latin typeface="Calibri"/>
                <a:ea typeface="Calibri"/>
              </a:rPr>
              <a:t>[1] Nielsen, M.A. &amp; Chuang, I.L. (2010). Quantum Computation and Quantum Information (10th Anniversary Ed.). Cambridge University Press. ISBN: 9781107002173</a:t>
            </a:r>
          </a:p>
          <a:p xmlns:a="http://schemas.openxmlformats.org/drawingml/2006/main">
            <a:r>
              <a:rPr lang="en-US" sz="1300">
                <a:solidFill>
                  <a:srgbClr val="E3F2FD"/>
                </a:solidFill>
                <a:latin typeface="Calibri"/>
                <a:ea typeface="Calibri"/>
              </a:rPr>
              <a:t>[2] Aaronson, S. (2013). Quantum Computing Since Democritus. Cambridge University Press. ISBN: 9780521199568</a:t>
            </a:r>
          </a:p>
          <a:p xmlns:a="http://schemas.openxmlformats.org/drawingml/2006/main">
            <a:r>
              <a:rPr lang="en-US" sz="1300">
                <a:solidFill>
                  <a:srgbClr val="E3F2FD"/>
                </a:solidFill>
                <a:latin typeface="Calibri"/>
                <a:ea typeface="Calibri"/>
              </a:rPr>
              <a:t>[3] Wilde, M.M. (2017). Quantum Information Theory (2nd Ed.). Cambridge University Press.</a:t>
            </a:r>
          </a:p>
          <a:p xmlns:a="http://schemas.openxmlformats.org/drawingml/2006/main">
            <a:r>
              <a:rPr lang="en-US" sz="1300">
                <a:solidFill>
                  <a:srgbClr val="E3F2FD"/>
                </a:solidFill>
                <a:latin typeface="Calibri"/>
                <a:ea typeface="Calibri"/>
              </a:rPr>
              <a:t>[4] Preskill, J. (1997–2024). Physics 219 Lecture Notes. Caltech. theory.caltech.edu/~preskill/ph229/</a:t>
            </a:r>
          </a:p>
          <a:p xmlns:a="http://schemas.openxmlformats.org/drawingml/2006/main">
            <a:r>
              <a:rPr lang="en-US" sz="1300">
                <a:solidFill>
                  <a:srgbClr val="E3F2FD"/>
                </a:solidFill>
                <a:latin typeface="Calibri"/>
                <a:ea typeface="Calibri"/>
              </a:rPr>
              <a:t/>
            </a:r>
          </a:p>
          <a:p xmlns:a="http://schemas.openxmlformats.org/drawingml/2006/main">
            <a:r>
              <a:rPr lang="en-US" sz="1300">
                <a:solidFill>
                  <a:srgbClr val="E3F2FD"/>
                </a:solidFill>
                <a:latin typeface="Calibri"/>
                <a:ea typeface="Calibri"/>
              </a:rPr>
              <a:t>SEMINAL PAPERS — ALGORITHMS</a:t>
            </a:r>
          </a:p>
          <a:p xmlns:a="http://schemas.openxmlformats.org/drawingml/2006/main">
            <a:r>
              <a:rPr lang="en-US" sz="1300">
                <a:solidFill>
                  <a:srgbClr val="E3F2FD"/>
                </a:solidFill>
                <a:latin typeface="Calibri"/>
                <a:ea typeface="Calibri"/>
              </a:rPr>
              <a:t>[5] Deutsch, D. &amp; Jozsa, R. (1992). Rapid solution of problems by quantum computation. Proc. R. Soc. Lond. A, 439, 553–558.</a:t>
            </a:r>
          </a:p>
          <a:p xmlns:a="http://schemas.openxmlformats.org/drawingml/2006/main">
            <a:r>
              <a:rPr lang="en-US" sz="1300">
                <a:solidFill>
                  <a:srgbClr val="E3F2FD"/>
                </a:solidFill>
                <a:latin typeface="Calibri"/>
                <a:ea typeface="Calibri"/>
              </a:rPr>
              <a:t>[6] Shor, P.W. (1994). Algorithms for Quantum Computation: Discrete Logarithms and Factoring. Proc. 35th IEEE FOCS, 124–134.</a:t>
            </a:r>
          </a:p>
          <a:p xmlns:a="http://schemas.openxmlformats.org/drawingml/2006/main">
            <a:r>
              <a:rPr lang="en-US" sz="1300">
                <a:solidFill>
                  <a:srgbClr val="E3F2FD"/>
                </a:solidFill>
                <a:latin typeface="Calibri"/>
                <a:ea typeface="Calibri"/>
              </a:rPr>
              <a:t>[7] Grover, L.K. (1996). A fast quantum mechanical algorithm for database search. Proc. 28th ACM STOC, 212–219.</a:t>
            </a:r>
          </a:p>
          <a:p xmlns:a="http://schemas.openxmlformats.org/drawingml/2006/main">
            <a:r>
              <a:rPr lang="en-US" sz="1300">
                <a:solidFill>
                  <a:srgbClr val="E3F2FD"/>
                </a:solidFill>
                <a:latin typeface="Calibri"/>
                <a:ea typeface="Calibri"/>
              </a:rPr>
              <a:t>[8] Farhi, E., Goldstone, J. &amp; Gutmann, S. (2014). A Quantum Approximate Optimization Algorithm. arXiv:1411.4028.</a:t>
            </a:r>
          </a:p>
          <a:p xmlns:a="http://schemas.openxmlformats.org/drawingml/2006/main">
            <a:r>
              <a:rPr lang="en-US" sz="1300">
                <a:solidFill>
                  <a:srgbClr val="E3F2FD"/>
                </a:solidFill>
                <a:latin typeface="Calibri"/>
                <a:ea typeface="Calibri"/>
              </a:rPr>
              <a:t>[9] Peruzzo, A. et al. (2014). A variational eigenvalue solver on a photonic quantum processor. Nature Communications, 5, 4213.</a:t>
            </a:r>
          </a:p>
          <a:p xmlns:a="http://schemas.openxmlformats.org/drawingml/2006/main">
            <a:r>
              <a:rPr lang="en-US" sz="1300">
                <a:solidFill>
                  <a:srgbClr val="E3F2FD"/>
                </a:solidFill>
                <a:latin typeface="Calibri"/>
                <a:ea typeface="Calibri"/>
              </a:rPr>
              <a:t>[10] Bennett, C.H. &amp; Brassard, G. (1984). Quantum cryptography: Public key distribution and coin tossing. Proc. IEEE ICCSSP, 175–179.</a:t>
            </a:r>
          </a:p>
          <a:p xmlns:a="http://schemas.openxmlformats.org/drawingml/2006/main">
            <a:r>
              <a:rPr lang="en-US" sz="1300">
                <a:solidFill>
                  <a:srgbClr val="E3F2FD"/>
                </a:solidFill>
                <a:latin typeface="Calibri"/>
                <a:ea typeface="Calibri"/>
              </a:rPr>
              <a:t/>
            </a:r>
          </a:p>
          <a:p xmlns:a="http://schemas.openxmlformats.org/drawingml/2006/main">
            <a:r>
              <a:rPr lang="en-US" sz="1300">
                <a:solidFill>
                  <a:srgbClr val="E3F2FD"/>
                </a:solidFill>
                <a:latin typeface="Calibri"/>
                <a:ea typeface="Calibri"/>
              </a:rPr>
              <a:t>SEMINAL PAPERS — HARDWARE &amp; ERROR CORRECTION</a:t>
            </a:r>
          </a:p>
          <a:p xmlns:a="http://schemas.openxmlformats.org/drawingml/2006/main">
            <a:r>
              <a:rPr lang="en-US" sz="1300">
                <a:solidFill>
                  <a:srgbClr val="E3F2FD"/>
                </a:solidFill>
                <a:latin typeface="Calibri"/>
                <a:ea typeface="Calibri"/>
              </a:rPr>
              <a:t>[11] Shor, P.W. (1995). Scheme for reducing decoherence in quantum computer memory. Physical Review A, 52, R2493.</a:t>
            </a:r>
          </a:p>
          <a:p xmlns:a="http://schemas.openxmlformats.org/drawingml/2006/main">
            <a:r>
              <a:rPr lang="en-US" sz="1300">
                <a:solidFill>
                  <a:srgbClr val="E3F2FD"/>
                </a:solidFill>
                <a:latin typeface="Calibri"/>
                <a:ea typeface="Calibri"/>
              </a:rPr>
              <a:t>[12] Krantz, P. et al. (2019). A Quantum Engineer's Guide to Superconducting Qubits. Applied Physics Reviews, 6, 021318.</a:t>
            </a:r>
          </a:p>
          <a:p xmlns:a="http://schemas.openxmlformats.org/drawingml/2006/main">
            <a:r>
              <a:rPr lang="en-US" sz="1300">
                <a:solidFill>
                  <a:srgbClr val="E3F2FD"/>
                </a:solidFill>
                <a:latin typeface="Calibri"/>
                <a:ea typeface="Calibri"/>
              </a:rPr>
              <a:t>[13] Bluvstein, D. et al. (2023). Logical quantum processor based on reconfigurable atom arrays. Nature, 626, 58–65.</a:t>
            </a:r>
          </a:p>
        </p:txBody>
      </p:sp>
      <p:sp>
        <p:nvSpPr>
          <p:cNvPr id="100275"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24"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73" name="SectionBadge"/>
          <p:cNvSpPr txBox="1"/>
          <p:nvPr/>
        </p:nvSpPr>
        <p:spPr>
          <a:xfrm>
            <a:off x="540000" y="198000"/>
            <a:ext cx="1152000" cy="180000"/>
          </a:xfrm>
          <a:prstGeom prst="rect">
            <a:avLst/>
          </a:prstGeom>
          <a:solidFill>
            <a:srgbClr val="1E3A5F"/>
          </a:solidFill>
        </p:spPr>
        <p:txBody>
          <a:bodyPr/>
          <a:lstStyle/>
          <a:p>
            <a:r>
              <a:rPr lang="en-US" sz="800" b="1">
                <a:solidFill>
                  <a:srgbClr val="90CAF9"/>
                </a:solidFill>
                <a:latin typeface="Calibri"/>
                <a:ea typeface="Calibri"/>
              </a:rPr>
              <a:t>REFERENCES</a:t>
            </a:r>
          </a:p>
        </p:txBody>
      </p:sp>
    </p:spTree>
  </p:cSld>
</p:sld>
</file>

<file path=ppt/slides/slide50.xml><?xml version="1.0" encoding="utf-8"?>
<p:sld xmlns:a="http://schemas.openxmlformats.org/drawingml/2006/main" xmlns:p="http://schemas.openxmlformats.org/presentationml/2006/main">
  <p:cSld>
    <p:bg>
      <p:bgPr>
        <a:solidFill xmlns:a="http://schemas.openxmlformats.org/drawingml/2006/main">
          <a:srgbClr val="0D1B2A"/>
        </a:solidFill>
      </p:bgPr>
    </p:bg>
    <p:spTree>
      <p:nvGrpSpPr>
        <p:cNvPr id="1" name=""/>
        <p:cNvGrpSpPr/>
        <p:nvPr/>
      </p:nvGrpSpPr>
      <p:grpSpPr/>
      <p:sp>
        <p:nvSpPr>
          <p:cNvPr id="10020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202" name="SlideNum"/>
          <p:cNvSpPr txBox="1"/>
          <p:nvPr/>
        </p:nvSpPr>
        <p:spPr>
          <a:xfrm xmlns:a="http://schemas.openxmlformats.org/drawingml/2006/main">
            <a:off x="540000" y="216000"/>
            <a:ext cx="108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90CAF9"/>
                </a:solidFill>
                <a:latin typeface="Calibri"/>
                <a:ea typeface="Calibri"/>
              </a:rPr>
              <a:t>SLIDE 50  — REFERENCES (PART 2 OF 2)</a:t>
            </a:r>
          </a:p>
        </p:txBody>
      </p:sp>
      <p:sp>
        <p:nvSpPr>
          <p:cNvPr id="100203"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References &amp; Authentic Sources — Part 2</a:t>
            </a:r>
          </a:p>
        </p:txBody>
      </p:sp>
      <p:sp>
        <p:nvSpPr>
          <p:cNvPr id="100204" name="Body"/>
          <p:cNvSpPr txBox="1"/>
          <p:nvPr/>
        </p:nvSpPr>
        <p:spPr>
          <a:xfrm xmlns:a="http://schemas.openxmlformats.org/drawingml/2006/main">
            <a:off x="540000" y="1080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E3F2FD"/>
                </a:solidFill>
                <a:latin typeface="Calibri"/>
                <a:ea typeface="Calibri"/>
              </a:rPr>
              <a:t>LANDMARK EXPERIMENTAL RESULTS</a:t>
            </a:r>
          </a:p>
          <a:p xmlns:a="http://schemas.openxmlformats.org/drawingml/2006/main">
            <a:r>
              <a:rPr lang="en-US" sz="1300">
                <a:solidFill>
                  <a:srgbClr val="E3F2FD"/>
                </a:solidFill>
                <a:latin typeface="Calibri"/>
                <a:ea typeface="Calibri"/>
              </a:rPr>
              <a:t>[14] Arute, F. et al. (2019). Quantum supremacy using a programmable superconducting processor. Nature, 574, 505–510.</a:t>
            </a:r>
          </a:p>
          <a:p xmlns:a="http://schemas.openxmlformats.org/drawingml/2006/main">
            <a:r>
              <a:rPr lang="en-US" sz="1300">
                <a:solidFill>
                  <a:srgbClr val="E3F2FD"/>
                </a:solidFill>
                <a:latin typeface="Calibri"/>
                <a:ea typeface="Calibri"/>
              </a:rPr>
              <a:t>[15] Google Quantum AI (2023). Suppressing quantum errors by scaling a surface code logical qubit. Nature, 614, 676–681.</a:t>
            </a:r>
          </a:p>
          <a:p xmlns:a="http://schemas.openxmlformats.org/drawingml/2006/main">
            <a:r>
              <a:rPr lang="en-US" sz="1300">
                <a:solidFill>
                  <a:srgbClr val="E3F2FD"/>
                </a:solidFill>
                <a:latin typeface="Calibri"/>
                <a:ea typeface="Calibri"/>
              </a:rPr>
              <a:t>[16] Kim, Y. et al. (2023). Evidence for the utility of quantum computing before fault tolerance. Nature, 618, 500–505.</a:t>
            </a:r>
          </a:p>
          <a:p xmlns:a="http://schemas.openxmlformats.org/drawingml/2006/main">
            <a:r>
              <a:rPr lang="en-US" sz="1300">
                <a:solidFill>
                  <a:srgbClr val="E3F2FD"/>
                </a:solidFill>
                <a:latin typeface="Calibri"/>
                <a:ea typeface="Calibri"/>
              </a:rPr>
              <a:t>[17] Aspect, A., Grangier, P. &amp; Roger, G. (1981). Experimental tests of Bell's inequalities. Physical Review Letters, 47, 460.</a:t>
            </a:r>
          </a:p>
          <a:p xmlns:a="http://schemas.openxmlformats.org/drawingml/2006/main">
            <a:r>
              <a:rPr lang="en-US" sz="1300">
                <a:solidFill>
                  <a:srgbClr val="E3F2FD"/>
                </a:solidFill>
                <a:latin typeface="Calibri"/>
                <a:ea typeface="Calibri"/>
              </a:rPr>
              <a:t>[18] Yin, J. et al. (2017). Satellite-based entanglement distribution over 1200 km. Science, 356, 1140–1144.</a:t>
            </a:r>
          </a:p>
          <a:p xmlns:a="http://schemas.openxmlformats.org/drawingml/2006/main">
            <a:r>
              <a:rPr lang="en-US" sz="1300">
                <a:solidFill>
                  <a:srgbClr val="E3F2FD"/>
                </a:solidFill>
                <a:latin typeface="Calibri"/>
                <a:ea typeface="Calibri"/>
              </a:rPr>
              <a:t>[19] Chen, Y-A. et al. (2021). An integrated space-to-ground quantum network over 4,600 km. Nature, 589, 214–219.</a:t>
            </a:r>
          </a:p>
          <a:p xmlns:a="http://schemas.openxmlformats.org/drawingml/2006/main">
            <a:r>
              <a:rPr lang="en-US" sz="1300">
                <a:solidFill>
                  <a:srgbClr val="E3F2FD"/>
                </a:solidFill>
                <a:latin typeface="Calibri"/>
                <a:ea typeface="Calibri"/>
              </a:rPr>
              <a:t/>
            </a:r>
          </a:p>
          <a:p xmlns:a="http://schemas.openxmlformats.org/drawingml/2006/main">
            <a:r>
              <a:rPr lang="en-US" sz="1300">
                <a:solidFill>
                  <a:srgbClr val="E3F2FD"/>
                </a:solidFill>
                <a:latin typeface="Calibri"/>
                <a:ea typeface="Calibri"/>
              </a:rPr>
              <a:t>REVIEW PAPERS &amp; SURVEYS</a:t>
            </a:r>
          </a:p>
          <a:p xmlns:a="http://schemas.openxmlformats.org/drawingml/2006/main">
            <a:r>
              <a:rPr lang="en-US" sz="1300">
                <a:solidFill>
                  <a:srgbClr val="E3F2FD"/>
                </a:solidFill>
                <a:latin typeface="Calibri"/>
                <a:ea typeface="Calibri"/>
              </a:rPr>
              <a:t>[20] Preskill, J. (2018). Quantum Computing in the NISQ Era and Beyond. Quantum, 2, 79.</a:t>
            </a:r>
          </a:p>
          <a:p xmlns:a="http://schemas.openxmlformats.org/drawingml/2006/main">
            <a:r>
              <a:rPr lang="en-US" sz="1300">
                <a:solidFill>
                  <a:srgbClr val="E3F2FD"/>
                </a:solidFill>
                <a:latin typeface="Calibri"/>
                <a:ea typeface="Calibri"/>
              </a:rPr>
              <a:t>[21] Cao, Y. et al. (2019). Quantum Chemistry in the Age of Quantum Computing. Chemical Reviews, 119, 10856–10915.</a:t>
            </a:r>
          </a:p>
          <a:p xmlns:a="http://schemas.openxmlformats.org/drawingml/2006/main">
            <a:r>
              <a:rPr lang="en-US" sz="1300">
                <a:solidFill>
                  <a:srgbClr val="E3F2FD"/>
                </a:solidFill>
                <a:latin typeface="Calibri"/>
                <a:ea typeface="Calibri"/>
              </a:rPr>
              <a:t>[22] Biamonte, J. et al. (2017). Quantum machine learning. Nature, 549, 195–202.</a:t>
            </a:r>
          </a:p>
          <a:p xmlns:a="http://schemas.openxmlformats.org/drawingml/2006/main">
            <a:r>
              <a:rPr lang="en-US" sz="1300">
                <a:solidFill>
                  <a:srgbClr val="E3F2FD"/>
                </a:solidFill>
                <a:latin typeface="Calibri"/>
                <a:ea typeface="Calibri"/>
              </a:rPr>
              <a:t>[23] Wehner, S., Elkouss, D. &amp; Hanson, R. (2018). Quantum internet: A vision for the road ahead. Science, 362, eaam9258.</a:t>
            </a:r>
          </a:p>
          <a:p xmlns:a="http://schemas.openxmlformats.org/drawingml/2006/main">
            <a:r>
              <a:rPr lang="en-US" sz="1300">
                <a:solidFill>
                  <a:srgbClr val="E3F2FD"/>
                </a:solidFill>
                <a:latin typeface="Calibri"/>
                <a:ea typeface="Calibri"/>
              </a:rPr>
              <a:t>[24] Degen, C.L., Reinhard, F. &amp; Cappellaro, P. (2017). Quantum sensing. Reviews of Modern Physics, 89, 035002.</a:t>
            </a:r>
          </a:p>
          <a:p xmlns:a="http://schemas.openxmlformats.org/drawingml/2006/main">
            <a:r>
              <a:rPr lang="en-US" sz="1300">
                <a:solidFill>
                  <a:srgbClr val="E3F2FD"/>
                </a:solidFill>
                <a:latin typeface="Calibri"/>
                <a:ea typeface="Calibri"/>
              </a:rPr>
              <a:t>[25] Herrero-Collantes, M. &amp; Garcia-Escartin, J.C. (2017). Quantum RNGs. Rev. Mod. Phys., 89, 015004.</a:t>
            </a:r>
          </a:p>
          <a:p xmlns:a="http://schemas.openxmlformats.org/drawingml/2006/main">
            <a:r>
              <a:rPr lang="en-US" sz="1300">
                <a:solidFill>
                  <a:srgbClr val="E3F2FD"/>
                </a:solidFill>
                <a:latin typeface="Calibri"/>
                <a:ea typeface="Calibri"/>
              </a:rPr>
              <a:t/>
            </a:r>
          </a:p>
          <a:p xmlns:a="http://schemas.openxmlformats.org/drawingml/2006/main">
            <a:r>
              <a:rPr lang="en-US" sz="1300">
                <a:solidFill>
                  <a:srgbClr val="E3F2FD"/>
                </a:solidFill>
                <a:latin typeface="Calibri"/>
                <a:ea typeface="Calibri"/>
              </a:rPr>
              <a:t>STANDARDS &amp; GOVERNMENT DOCUMENTS</a:t>
            </a:r>
          </a:p>
          <a:p xmlns:a="http://schemas.openxmlformats.org/drawingml/2006/main">
            <a:r>
              <a:rPr lang="en-US" sz="1300">
                <a:solidFill>
                  <a:srgbClr val="E3F2FD"/>
                </a:solidFill>
                <a:latin typeface="Calibri"/>
                <a:ea typeface="Calibri"/>
              </a:rPr>
              <a:t>[26] NIST (2024). FIPS 203 (CRYSTALS-Kyber), FIPS 204 (CRYSTALS-Dilithium), FIPS 205 (SPHINCS+). csrc.nist.gov/pqcrypto</a:t>
            </a:r>
          </a:p>
          <a:p xmlns:a="http://schemas.openxmlformats.org/drawingml/2006/main">
            <a:r>
              <a:rPr lang="en-US" sz="1300">
                <a:solidFill>
                  <a:srgbClr val="E3F2FD"/>
                </a:solidFill>
                <a:latin typeface="Calibri"/>
                <a:ea typeface="Calibri"/>
              </a:rPr>
              <a:t>[27] NSA (2022). Commercial National Security Algorithm Suite 2.0. defense.gov</a:t>
            </a:r>
          </a:p>
          <a:p xmlns:a="http://schemas.openxmlformats.org/drawingml/2006/main">
            <a:r>
              <a:rPr lang="en-US" sz="1300">
                <a:solidFill>
                  <a:srgbClr val="E3F2FD"/>
                </a:solidFill>
                <a:latin typeface="Calibri"/>
                <a:ea typeface="Calibri"/>
              </a:rPr>
              <a:t>[28] McKinsey Global Institute (2023). Quantum Technology Monitor. mckinsey.com</a:t>
            </a:r>
          </a:p>
          <a:p xmlns:a="http://schemas.openxmlformats.org/drawingml/2006/main">
            <a:r>
              <a:rPr lang="en-US" sz="1300">
                <a:solidFill>
                  <a:srgbClr val="E3F2FD"/>
                </a:solidFill>
                <a:latin typeface="Calibri"/>
                <a:ea typeface="Calibri"/>
              </a:rPr>
              <a:t>[29] IBM Quantum (2024). IBM Quantum Platform. quantum.ibm.com</a:t>
            </a:r>
          </a:p>
          <a:p xmlns:a="http://schemas.openxmlformats.org/drawingml/2006/main">
            <a:r>
              <a:rPr lang="en-US" sz="1300">
                <a:solidFill>
                  <a:srgbClr val="E3F2FD"/>
                </a:solidFill>
                <a:latin typeface="Calibri"/>
                <a:ea typeface="Calibri"/>
              </a:rPr>
              <a:t>[30] IBM Quantum Learning (2024). learning.quantum.ibm.com | Qiskit Docs: docs.quantum.ibm.com</a:t>
            </a:r>
          </a:p>
        </p:txBody>
      </p:sp>
      <p:sp>
        <p:nvSpPr>
          <p:cNvPr id="100276" name="TitleUnderline"/>
          <p:cNvSpPr txBox="1"/>
          <p:nvPr/>
        </p:nvSpPr>
        <p:spPr>
          <a:xfrm>
            <a:off x="540000" y="1026000"/>
            <a:ext cx="10800000" cy="28800"/>
          </a:xfrm>
          <a:prstGeom prst="rect">
            <a:avLst/>
          </a:prstGeom>
          <a:solidFill>
            <a:srgbClr val="1E88E5"/>
          </a:solidFill>
        </p:spPr>
        <p:txBody>
          <a:bodyPr/>
          <a:lstStyle/>
          <a:p>
            <a:endParaRPr lang="en-US">
              <a:solidFill>
                <a:srgbClr val="1E88E5"/>
              </a:solidFill>
            </a:endParaRPr>
          </a:p>
        </p:txBody>
      </p:sp>
      <p:sp>
        <p:nvSpPr>
          <p:cNvPr id="100325" name="Footer"/>
          <p:cNvSpPr txBox="1"/>
          <p:nvPr/>
        </p:nvSpPr>
        <p:spPr>
          <a:xfrm>
            <a:off x="0" y="6408000"/>
            <a:ext cx="12193200" cy="180000"/>
          </a:xfrm>
          <a:prstGeom prst="rect">
            <a:avLst/>
          </a:prstGeom>
          <a:solidFill>
            <a:srgbClr val="0A1628"/>
          </a:solidFill>
        </p:spPr>
        <p:txBody>
          <a:bodyPr/>
          <a:lstStyle/>
          <a:p>
            <a:r>
              <a:rPr lang="en-US" sz="800">
                <a:solidFill>
                  <a:srgbClr val="546E7A"/>
                </a:solidFill>
                <a:latin typeface="Calibri"/>
                <a:ea typeface="Calibri"/>
              </a:rPr>
              <a:t>QUANTUM FALL FEST 2026  |  DAY 1: Introduction to Quantum Computing  |  quantum.ibm.com</a:t>
            </a:r>
          </a:p>
        </p:txBody>
      </p:sp>
      <p:sp>
        <p:nvSpPr>
          <p:cNvPr id="100374" name="SectionBadge"/>
          <p:cNvSpPr txBox="1"/>
          <p:nvPr/>
        </p:nvSpPr>
        <p:spPr>
          <a:xfrm>
            <a:off x="540000" y="198000"/>
            <a:ext cx="1152000" cy="180000"/>
          </a:xfrm>
          <a:prstGeom prst="rect">
            <a:avLst/>
          </a:prstGeom>
          <a:solidFill>
            <a:srgbClr val="1E3A5F"/>
          </a:solidFill>
        </p:spPr>
        <p:txBody>
          <a:bodyPr/>
          <a:lstStyle/>
          <a:p>
            <a:r>
              <a:rPr lang="en-US" sz="800" b="1">
                <a:solidFill>
                  <a:srgbClr val="90CAF9"/>
                </a:solidFill>
                <a:latin typeface="Calibri"/>
                <a:ea typeface="Calibri"/>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2026-10-08T16:39:24Z</dcterms:created>
  <cp:lastModifiedBy>OfficeCLI</cp:lastModifiedBy>
  <dcterms:modified xsi:type="dcterms:W3CDTF">2026-10-08T16:39:24Z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1.0.155</vt:lpwstr>
  </op:property>
  <op:property fmtid="{D5CDD505-2E9C-101B-9397-08002B2CF9AE}" pid="3" name="OfficeCLI.LastModified">
    <vt:lpwstr xmlns:vt="http://schemas.openxmlformats.org/officeDocument/2006/docPropsVTypes">2026-10-08T17:45:25Z</vt:lpwstr>
  </op:property>
</op:Properties>
</file>