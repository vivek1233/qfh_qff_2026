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ed81c6cb8abe4f53" /><Relationship Type="http://schemas.openxmlformats.org/package/2006/relationships/metadata/core-properties" Target="/docProps/core.xml" Id="Rc21e7599d4824102" /><Relationship Type="http://schemas.openxmlformats.org/officeDocument/2006/relationships/extended-properties" Target="/docProps/app.xml" Id="Rdf3e28ed4a9f49a1" /><Relationship Type="http://schemas.openxmlformats.org/officeDocument/2006/relationships/custom-properties" Target="/docProps/custom.xml" Id="R19f3d6f608df451b"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67da073f1335462f"/>
  </p:notesMasterIdLst>
  <p:sldIdLst>
    <p:sldId id="256" r:id="Ra34539787b4c4097"/>
    <p:sldId id="257" r:id="R65d343377c014f42"/>
    <p:sldId id="258" r:id="R3d93070912f64260"/>
    <p:sldId id="259" r:id="R5137d7e40ef64bfb"/>
    <p:sldId id="260" r:id="R691600761d4849e9"/>
    <p:sldId id="261" r:id="R39a72da833074274"/>
    <p:sldId id="262" r:id="Rcf1d3b6f8c4e4638"/>
    <p:sldId id="263" r:id="R78c9feb81031421b"/>
    <p:sldId id="264" r:id="R8247450dbd3b47ba"/>
    <p:sldId id="265" r:id="Rfe31587f18044ae5"/>
    <p:sldId id="266" r:id="R3eb6b3a949054b04"/>
    <p:sldId id="267" r:id="R829780b19c3f4714"/>
    <p:sldId id="268" r:id="Ra378dbef48e64397"/>
    <p:sldId id="269" r:id="R667fafa7c7d24577"/>
    <p:sldId id="270" r:id="R9a27da59da264149"/>
    <p:sldId id="271" r:id="R969f11cb2a754809"/>
    <p:sldId id="272" r:id="R6f334742a2c24650"/>
    <p:sldId id="273" r:id="Rc044c267bdc549ed"/>
    <p:sldId id="274" r:id="R9791b092d2534b20"/>
    <p:sldId id="275" r:id="Rd71c5ed573674b08"/>
    <p:sldId id="276" r:id="R12e569d1cfea4677"/>
    <p:sldId id="277" r:id="Rc9412bff2a844c0c"/>
    <p:sldId id="278" r:id="R0da9e31cd99d4b88"/>
    <p:sldId id="279" r:id="Rdda1a8fdee7349a3"/>
    <p:sldId id="280" r:id="R71a38e72bf3946df"/>
    <p:sldId id="281" r:id="Rf4b398a2fa7e47eb"/>
    <p:sldId id="282" r:id="Rf130780e0a4c44a0"/>
    <p:sldId id="283" r:id="Rb60b88bb20114b0b"/>
    <p:sldId id="284" r:id="R5a1d9b8834a2452f"/>
    <p:sldId id="285" r:id="Raec843d89fd84295"/>
    <p:sldId id="286" r:id="Rb9eb6d2e8eee4a9d"/>
    <p:sldId id="287" r:id="Rceb43794a2e44d63"/>
    <p:sldId id="288" r:id="R14cc47ec00e04bdc"/>
    <p:sldId id="289" r:id="R4d7e3c5b360f4f4d"/>
    <p:sldId id="290" r:id="R988d9e45d19b4276"/>
    <p:sldId id="291" r:id="Rea3de8b0e18e40e5"/>
    <p:sldId id="292" r:id="Rc07907a9bb384acc"/>
    <p:sldId id="293" r:id="R4d7c2dac7f8f4835"/>
    <p:sldId id="294" r:id="R5fb40adddc4a40a7"/>
    <p:sldId id="295" r:id="R2c8961f7959d44cf"/>
    <p:sldId id="296" r:id="R20ab52ba89cc480f"/>
    <p:sldId id="297" r:id="Rc277034c223b4d7f"/>
    <p:sldId id="298" r:id="Red2032fc270b4481"/>
    <p:sldId id="299" r:id="R896f667b8e044118"/>
    <p:sldId id="300" r:id="Rdca9fadf8057414c"/>
    <p:sldId id="301" r:id="R7c18f3c003a54a0c"/>
    <p:sldId id="302" r:id="R3257c60408c947c2"/>
    <p:sldId id="303" r:id="R3768664c87804584"/>
    <p:sldId id="304" r:id="R0f6b4e47d74c4757"/>
    <p:sldId id="305" r:id="Rf46b82e3a4ba4497"/>
    <p:sldId id="306" r:id="R4fd85c132e06424e"/>
    <p:sldId id="307" r:id="Rb90ec652dcfb44a3"/>
    <p:sldId id="308" r:id="R8f0c5310cd54437d"/>
    <p:sldId id="309" r:id="Rbfc1cac79d884695"/>
    <p:sldId id="310" r:id="R62d4e4a78e3a41c9"/>
    <p:sldId id="311" r:id="R9dc8a603b1794452"/>
    <p:sldId id="312" r:id="R2b39390f87b14264"/>
    <p:sldId id="313" r:id="R92b1bf1d5316475f"/>
    <p:sldId id="314" r:id="Rb51c3ce72fac43d9"/>
    <p:sldId id="315" r:id="R63c39f707bed4bde"/>
    <p:sldId id="316" r:id="Rb55219bd9a7b40a0"/>
    <p:sldId id="317" r:id="R238fc89adaa94d10"/>
    <p:sldId id="318" r:id="Rdf3738e7d4424a94"/>
    <p:sldId id="319" r:id="Rf28ce70b87634a8d"/>
    <p:sldId id="320" r:id="R9aa6a946da184571"/>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a34539787b4c4097" /><Relationship Type="http://schemas.openxmlformats.org/officeDocument/2006/relationships/notesMaster" Target="/ppt/notesMasters/notesMaster1.xml" Id="R67da073f1335462f" /><Relationship Type="http://schemas.openxmlformats.org/officeDocument/2006/relationships/slide" Target="/ppt/slides/slide2.xml" Id="R65d343377c014f42" /><Relationship Type="http://schemas.openxmlformats.org/officeDocument/2006/relationships/slide" Target="/ppt/slides/slide3.xml" Id="R3d93070912f64260" /><Relationship Type="http://schemas.openxmlformats.org/officeDocument/2006/relationships/slide" Target="/ppt/slides/slide4.xml" Id="R5137d7e40ef64bfb" /><Relationship Type="http://schemas.openxmlformats.org/officeDocument/2006/relationships/slide" Target="/ppt/slides/slide5.xml" Id="R691600761d4849e9" /><Relationship Type="http://schemas.openxmlformats.org/officeDocument/2006/relationships/slide" Target="/ppt/slides/slide6.xml" Id="R39a72da833074274" /><Relationship Type="http://schemas.openxmlformats.org/officeDocument/2006/relationships/slide" Target="/ppt/slides/slide7.xml" Id="Rcf1d3b6f8c4e4638" /><Relationship Type="http://schemas.openxmlformats.org/officeDocument/2006/relationships/slide" Target="/ppt/slides/slide8.xml" Id="R78c9feb81031421b" /><Relationship Type="http://schemas.openxmlformats.org/officeDocument/2006/relationships/slide" Target="/ppt/slides/slide9.xml" Id="R8247450dbd3b47ba" /><Relationship Type="http://schemas.openxmlformats.org/officeDocument/2006/relationships/slide" Target="/ppt/slides/slide10.xml" Id="Rfe31587f18044ae5" /><Relationship Type="http://schemas.openxmlformats.org/officeDocument/2006/relationships/slide" Target="/ppt/slides/slide11.xml" Id="R3eb6b3a949054b04" /><Relationship Type="http://schemas.openxmlformats.org/officeDocument/2006/relationships/slide" Target="/ppt/slides/slide12.xml" Id="R829780b19c3f4714" /><Relationship Type="http://schemas.openxmlformats.org/officeDocument/2006/relationships/slide" Target="/ppt/slides/slide13.xml" Id="Ra378dbef48e64397" /><Relationship Type="http://schemas.openxmlformats.org/officeDocument/2006/relationships/slide" Target="/ppt/slides/slide14.xml" Id="R667fafa7c7d24577" /><Relationship Type="http://schemas.openxmlformats.org/officeDocument/2006/relationships/slide" Target="/ppt/slides/slide15.xml" Id="R9a27da59da264149" /><Relationship Type="http://schemas.openxmlformats.org/officeDocument/2006/relationships/slide" Target="/ppt/slides/slide16.xml" Id="R969f11cb2a754809" /><Relationship Type="http://schemas.openxmlformats.org/officeDocument/2006/relationships/slide" Target="/ppt/slides/slide17.xml" Id="R6f334742a2c24650" /><Relationship Type="http://schemas.openxmlformats.org/officeDocument/2006/relationships/slide" Target="/ppt/slides/slide18.xml" Id="Rc044c267bdc549ed" /><Relationship Type="http://schemas.openxmlformats.org/officeDocument/2006/relationships/slide" Target="/ppt/slides/slide19.xml" Id="R9791b092d2534b20" /><Relationship Type="http://schemas.openxmlformats.org/officeDocument/2006/relationships/slide" Target="/ppt/slides/slide20.xml" Id="Rd71c5ed573674b08" /><Relationship Type="http://schemas.openxmlformats.org/officeDocument/2006/relationships/slide" Target="/ppt/slides/slide21.xml" Id="R12e569d1cfea4677" /><Relationship Type="http://schemas.openxmlformats.org/officeDocument/2006/relationships/slide" Target="/ppt/slides/slide22.xml" Id="Rc9412bff2a844c0c" /><Relationship Type="http://schemas.openxmlformats.org/officeDocument/2006/relationships/slide" Target="/ppt/slides/slide23.xml" Id="R0da9e31cd99d4b88" /><Relationship Type="http://schemas.openxmlformats.org/officeDocument/2006/relationships/slide" Target="/ppt/slides/slide24.xml" Id="Rdda1a8fdee7349a3" /><Relationship Type="http://schemas.openxmlformats.org/officeDocument/2006/relationships/slide" Target="/ppt/slides/slide25.xml" Id="R71a38e72bf3946df" /><Relationship Type="http://schemas.openxmlformats.org/officeDocument/2006/relationships/slide" Target="/ppt/slides/slide26.xml" Id="Rf4b398a2fa7e47eb" /><Relationship Type="http://schemas.openxmlformats.org/officeDocument/2006/relationships/slide" Target="/ppt/slides/slide27.xml" Id="Rf130780e0a4c44a0" /><Relationship Type="http://schemas.openxmlformats.org/officeDocument/2006/relationships/slide" Target="/ppt/slides/slide28.xml" Id="Rb60b88bb20114b0b" /><Relationship Type="http://schemas.openxmlformats.org/officeDocument/2006/relationships/slide" Target="/ppt/slides/slide29.xml" Id="R5a1d9b8834a2452f" /><Relationship Type="http://schemas.openxmlformats.org/officeDocument/2006/relationships/slide" Target="/ppt/slides/slide30.xml" Id="Raec843d89fd84295" /><Relationship Type="http://schemas.openxmlformats.org/officeDocument/2006/relationships/slide" Target="/ppt/slides/slide31.xml" Id="Rb9eb6d2e8eee4a9d" /><Relationship Type="http://schemas.openxmlformats.org/officeDocument/2006/relationships/slide" Target="/ppt/slides/slide32.xml" Id="Rceb43794a2e44d63" /><Relationship Type="http://schemas.openxmlformats.org/officeDocument/2006/relationships/slide" Target="/ppt/slides/slide33.xml" Id="R14cc47ec00e04bdc" /><Relationship Type="http://schemas.openxmlformats.org/officeDocument/2006/relationships/slide" Target="/ppt/slides/slide34.xml" Id="R4d7e3c5b360f4f4d" /><Relationship Type="http://schemas.openxmlformats.org/officeDocument/2006/relationships/slide" Target="/ppt/slides/slide35.xml" Id="R988d9e45d19b4276" /><Relationship Type="http://schemas.openxmlformats.org/officeDocument/2006/relationships/slide" Target="/ppt/slides/slide36.xml" Id="Rea3de8b0e18e40e5" /><Relationship Type="http://schemas.openxmlformats.org/officeDocument/2006/relationships/slide" Target="/ppt/slides/slide37.xml" Id="Rc07907a9bb384acc" /><Relationship Type="http://schemas.openxmlformats.org/officeDocument/2006/relationships/slide" Target="/ppt/slides/slide38.xml" Id="R4d7c2dac7f8f4835" /><Relationship Type="http://schemas.openxmlformats.org/officeDocument/2006/relationships/slide" Target="/ppt/slides/slide39.xml" Id="R5fb40adddc4a40a7" /><Relationship Type="http://schemas.openxmlformats.org/officeDocument/2006/relationships/slide" Target="/ppt/slides/slide40.xml" Id="R2c8961f7959d44cf" /><Relationship Type="http://schemas.openxmlformats.org/officeDocument/2006/relationships/slide" Target="/ppt/slides/slide41.xml" Id="R20ab52ba89cc480f" /><Relationship Type="http://schemas.openxmlformats.org/officeDocument/2006/relationships/slide" Target="/ppt/slides/slide42.xml" Id="Rc277034c223b4d7f" /><Relationship Type="http://schemas.openxmlformats.org/officeDocument/2006/relationships/slide" Target="/ppt/slides/slide43.xml" Id="Red2032fc270b4481" /><Relationship Type="http://schemas.openxmlformats.org/officeDocument/2006/relationships/slide" Target="/ppt/slides/slide44.xml" Id="R896f667b8e044118" /><Relationship Type="http://schemas.openxmlformats.org/officeDocument/2006/relationships/slide" Target="/ppt/slides/slide45.xml" Id="Rdca9fadf8057414c" /><Relationship Type="http://schemas.openxmlformats.org/officeDocument/2006/relationships/slide" Target="/ppt/slides/slide46.xml" Id="R7c18f3c003a54a0c" /><Relationship Type="http://schemas.openxmlformats.org/officeDocument/2006/relationships/slide" Target="/ppt/slides/slide47.xml" Id="R3257c60408c947c2" /><Relationship Type="http://schemas.openxmlformats.org/officeDocument/2006/relationships/slide" Target="/ppt/slides/slide48.xml" Id="R3768664c87804584" /><Relationship Type="http://schemas.openxmlformats.org/officeDocument/2006/relationships/slide" Target="/ppt/slides/slide49.xml" Id="R0f6b4e47d74c4757" /><Relationship Type="http://schemas.openxmlformats.org/officeDocument/2006/relationships/slide" Target="/ppt/slides/slide50.xml" Id="Rf46b82e3a4ba4497" /><Relationship Type="http://schemas.openxmlformats.org/officeDocument/2006/relationships/slide" Target="/ppt/slides/slide51.xml" Id="R4fd85c132e06424e" /><Relationship Type="http://schemas.openxmlformats.org/officeDocument/2006/relationships/slide" Target="/ppt/slides/slide52.xml" Id="Rb90ec652dcfb44a3" /><Relationship Type="http://schemas.openxmlformats.org/officeDocument/2006/relationships/slide" Target="/ppt/slides/slide53.xml" Id="R8f0c5310cd54437d" /><Relationship Type="http://schemas.openxmlformats.org/officeDocument/2006/relationships/slide" Target="/ppt/slides/slide54.xml" Id="Rbfc1cac79d884695" /><Relationship Type="http://schemas.openxmlformats.org/officeDocument/2006/relationships/slide" Target="/ppt/slides/slide55.xml" Id="R62d4e4a78e3a41c9" /><Relationship Type="http://schemas.openxmlformats.org/officeDocument/2006/relationships/slide" Target="/ppt/slides/slide56.xml" Id="R9dc8a603b1794452" /><Relationship Type="http://schemas.openxmlformats.org/officeDocument/2006/relationships/slide" Target="/ppt/slides/slide57.xml" Id="R2b39390f87b14264" /><Relationship Type="http://schemas.openxmlformats.org/officeDocument/2006/relationships/slide" Target="/ppt/slides/slide58.xml" Id="R92b1bf1d5316475f" /><Relationship Type="http://schemas.openxmlformats.org/officeDocument/2006/relationships/slide" Target="/ppt/slides/slide59.xml" Id="Rb51c3ce72fac43d9" /><Relationship Type="http://schemas.openxmlformats.org/officeDocument/2006/relationships/slide" Target="/ppt/slides/slide60.xml" Id="R63c39f707bed4bde" /><Relationship Type="http://schemas.openxmlformats.org/officeDocument/2006/relationships/slide" Target="/ppt/slides/slide61.xml" Id="Rb55219bd9a7b40a0" /><Relationship Type="http://schemas.openxmlformats.org/officeDocument/2006/relationships/slide" Target="/ppt/slides/slide62.xml" Id="R238fc89adaa94d10" /><Relationship Type="http://schemas.openxmlformats.org/officeDocument/2006/relationships/slide" Target="/ppt/slides/slide63.xml" Id="Rdf3738e7d4424a94" /><Relationship Type="http://schemas.openxmlformats.org/officeDocument/2006/relationships/slide" Target="/ppt/slides/slide64.xml" Id="Rf28ce70b87634a8d" /><Relationship Type="http://schemas.openxmlformats.org/officeDocument/2006/relationships/slide" Target="/ppt/slides/slide65.xml" Id="R9aa6a946da1845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33e2a5875484418e"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1fc99b22437b4728" /><Relationship Type="http://schemas.openxmlformats.org/officeDocument/2006/relationships/slide" Target="/ppt/slides/slide1.xml" Id="Rc57e026f32be47e9"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3ade5f494d4347ae" /><Relationship Type="http://schemas.openxmlformats.org/officeDocument/2006/relationships/slide" Target="/ppt/slides/slide2.xml" Id="R893034a67754422b"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3b6f382aabfc4fa9" /><Relationship Type="http://schemas.openxmlformats.org/officeDocument/2006/relationships/slide" Target="/ppt/slides/slide3.xml" Id="Rc59a5187a04e47fb"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216e17a6cba44f89" /><Relationship Type="http://schemas.openxmlformats.org/officeDocument/2006/relationships/slide" Target="/ppt/slides/slide4.xml" Id="Rdfa3b8bb7740487d"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8fc1d719307746e7" /><Relationship Type="http://schemas.openxmlformats.org/officeDocument/2006/relationships/slide" Target="/ppt/slides/slide5.xml" Id="R77f824bffad04977"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bde3c282a4754d89" /><Relationship Type="http://schemas.openxmlformats.org/officeDocument/2006/relationships/slide" Target="/ppt/slides/slide6.xml" Id="R320770aab50f4831"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ef16bc38426f4a27" /><Relationship Type="http://schemas.openxmlformats.org/officeDocument/2006/relationships/slide" Target="/ppt/slides/slide7.xml" Id="R26c639ab9a4749dd"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e60e15112af34cf6" /><Relationship Type="http://schemas.openxmlformats.org/officeDocument/2006/relationships/slide" Target="/ppt/slides/slide8.xml" Id="R5d89e3c605b54f00"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3051f8abb4aa4fea" /><Relationship Type="http://schemas.openxmlformats.org/officeDocument/2006/relationships/slide" Target="/ppt/slides/slide9.xml" Id="R1135e0987ac34128"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b74e564030884c1b" /><Relationship Type="http://schemas.openxmlformats.org/officeDocument/2006/relationships/slide" Target="/ppt/slides/slide10.xml" Id="Rd105d5280a4b4724"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9e3a5bc41d8c459c" /><Relationship Type="http://schemas.openxmlformats.org/officeDocument/2006/relationships/slide" Target="/ppt/slides/slide11.xml" Id="R88b7d3961ae44d28"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bbdfa90de7e54735" /><Relationship Type="http://schemas.openxmlformats.org/officeDocument/2006/relationships/slide" Target="/ppt/slides/slide12.xml" Id="R8903f9a91ba549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to the Quantum Computing Basics prerequisite course. This deck connects four disciplines — mathematics, quantum physics, quantum chemistry, and quantum computing — into a seamless learning journey. Each module builds directly on the previous.</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Explain the chain: Math gives us the language → Physics gives us the laws → Chemistry gives us the molecules → Chemistry + Physics tells us what qubits physically ARE. Module 4 closes the loop by showing explicitly how atomic electronic structure maps to qubit register states.</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motivation slide is critical — students need to understand WHY they are learning each discipline before diving in. The table explicitly maps each math/physics/chemistry concept to its quantum computing equivalent. Reference: Nielsen &amp; Chuang (2010), Chapter 2.</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Module 1 covers all mathematical prerequisites. Reference: Axler, S. (2015). Linear Algebra Done Right, 3rd Ed. Springer. Strang, G. (2016). Introduction to Linear Algebra, 5th Ed. Wellesley-Cambridge Press.</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Complex numbers are the single most important prerequisite. Every quantum amplitude is complex. The phase of a complex amplitude is physically meaningful — it determines interference. Reference: Brown &amp; Churchill (2014). Complex Variables and Applications. McGraw-Hill.</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Hilbert spaces are where quantum mechanics lives. The critical insight: the dimensionality of the Hilbert space grows EXPONENTIALLY with the number of qubits — this is the source of quantum power. Reference: Axler (2015). Reed &amp; Simon (1980). Methods of Modern Mathematical Physics. Academic Press.</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Dirac notation is the universal language of quantum mechanics. Every quantum computing textbook uses it exclusively. Reference: Dirac, P.A.M. (1930). The Principles of Quantum Mechanics. Oxford. Nielsen &amp; Chuang (2010), Section 2.1.</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Every quantum gate is a matrix multiplication. Students should be able to verify HXH=Z by hand. Reference: Nielsen &amp; Chuang (2010), Chapter 2. Strang (2016), Chapter 4.</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THE central connection: quantum measurement = eigenvalue extraction. Students who understand eigenvalues understand quantum measurement conceptually. Reference: Strang (2016), Chapter 6. Nielsen &amp; Chuang (2010), Section 2.2.</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Hermitian-to-Unitary connection e^(-iHt) is central to quantum simulation — the Hamiltonian generates unitary time evolution. This connects Module 1 math directly to Module 2 physics. Reference: Sakurai &amp; Napolitano (2017). Modern Quantum Mechanics, 3rd Ed.</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Born rule |⟨n|ψ⟩|² is the core connection between inner products and probability. Reference: Born, M. (1926). Z. Physik 37, 863–867. Nielsen &amp; Chuang (2010), Section 2.2.3.</a:t>
            </a: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Tensor products give the MATHEMATICAL definition of entanglement: a state is entangled if it cannot be written as a product of individual qubit states. Reference: Nielsen &amp; Chuang (2010), Section 2.1.7. Horn &amp; Johnson (2012). Matrix Analysis, Cambridge.</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d33c0f84de4d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9e6a5389444e9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9b159deddd14c6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2f596efb3f742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cc3098437f4fdb"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44bd2fc4a24e4d4c"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88889463e97f49c2" /><Relationship Type="http://schemas.openxmlformats.org/officeDocument/2006/relationships/notesSlide" Target="/ppt/notesSlides/notesSlide1.xml" Id="Rda845dc315454f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c2ee184f284d22" /><Relationship Type="http://schemas.openxmlformats.org/officeDocument/2006/relationships/notesSlide" Target="/ppt/notesSlides/notesSlide2.xml" Id="R4dc3e9fc62d047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1ed90b3cf345f5" /><Relationship Type="http://schemas.openxmlformats.org/officeDocument/2006/relationships/notesSlide" Target="/ppt/notesSlides/notesSlide3.xml" Id="R4dddb438692242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4c0b1dada942cc" /><Relationship Type="http://schemas.openxmlformats.org/officeDocument/2006/relationships/notesSlide" Target="/ppt/notesSlides/notesSlide4.xml" Id="R7913a87797c74b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31e38e9a39421a" /><Relationship Type="http://schemas.openxmlformats.org/officeDocument/2006/relationships/notesSlide" Target="/ppt/notesSlides/notesSlide5.xml" Id="R98f4a386a8d94a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7e3beaad2744a9c" /><Relationship Type="http://schemas.openxmlformats.org/officeDocument/2006/relationships/notesSlide" Target="/ppt/notesSlides/notesSlide6.xml" Id="R11bd137715074a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fce41e8bc6c40a2" /><Relationship Type="http://schemas.openxmlformats.org/officeDocument/2006/relationships/notesSlide" Target="/ppt/notesSlides/notesSlide7.xml" Id="Rdfa19859938645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b306c75620e475c" /><Relationship Type="http://schemas.openxmlformats.org/officeDocument/2006/relationships/notesSlide" Target="/ppt/notesSlides/notesSlide8.xml" Id="Rfa06171d6b0a40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668505f1fae432f" /><Relationship Type="http://schemas.openxmlformats.org/officeDocument/2006/relationships/notesSlide" Target="/ppt/notesSlides/notesSlide9.xml" Id="Rf7d5ca93757d4cc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875a6d4d976492b" /><Relationship Type="http://schemas.openxmlformats.org/officeDocument/2006/relationships/notesSlide" Target="/ppt/notesSlides/notesSlide10.xml" Id="R1cdc77459fbb4f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f14b3ae2dee4f2b" /><Relationship Type="http://schemas.openxmlformats.org/officeDocument/2006/relationships/notesSlide" Target="/ppt/notesSlides/notesSlide11.xml" Id="Re29e7d6dfa0e4dd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207ec05b3cb45e3" /><Relationship Type="http://schemas.openxmlformats.org/officeDocument/2006/relationships/notesSlide" Target="/ppt/notesSlides/notesSlide12.xml" Id="Rf7faef0db9094f4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90b28d75b5e427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3111361da04444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8137eb329fe41a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09091f4e7144de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7344e9055af4c2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add1052b9cf4ab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c89bb0465034b5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ab65d5215d94eb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37ab135e55a401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82a27b80c6343f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bed2e929a9b462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9cdda32df354e8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09ed4d6cdea4fb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b256db1ac1c479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45449051fdc4de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1b6fb91b2c84a0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26acda0b0cb4c8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34064b97f2f49e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0ee50476212456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18a3571da64455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b4f3311399c464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a3f97d5fd7d4fb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a810a80f0054f7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3a5de0349e2474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7d5753dff9c4ac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2ae0fa192fc4b4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76d36a96bce4c4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0745ef0cc02439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ac91a26b36f4cc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dc622879cc7495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661215d1e163490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bf7f97ae342548a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81fa7dd7432473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c1535542925e41d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cf0094fa11234a6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f3386e9c740246a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358c044651af4e7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5a0792625ac4b3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3930279bbde0407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c01543fe9fa9404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a046ce182a654f4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4eb5c41eaacc4b8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a825066ee4194be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94936b73f9614f2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0b7cf3e2e6cf4299"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157e20d5d415483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67933a9e95a4fb2"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52199a29847d46b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64168321f826450a"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b374f4c62268401c"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be20eb4ef50c4fd1"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25eb3bab49e44c82"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1d8e14a75e364378" /></Relationships>
</file>

<file path=ppt/slides/slide1.xml><?xml version="1.0" encoding="utf-8"?>
<p:sld xmlns:p="http://schemas.openxmlformats.org/presentationml/2006/main">
  <p:cSld>
    <p:bg>
      <p:bgPr>
        <a:solidFill xmlns:a="http://schemas.openxmlformats.org/drawingml/2006/main">
          <a:srgbClr val="080F1A"/>
        </a:solidFill>
      </p:bgPr>
    </p:bg>
    <p:spTree>
      <p:nvGrpSpPr>
        <p:cNvPr id="1" name=""/>
        <p:cNvGrpSpPr/>
        <p:nvPr/>
      </p:nvGrpSpPr>
      <p:grpSpPr/>
      <p:sp>
        <p:nvSpPr>
          <p:cNvPr id="100000" name="TopAccent"/>
          <p:cNvSpPr txBox="1"/>
          <p:nvPr/>
        </p:nvSpPr>
        <p:spPr>
          <a:xfrm xmlns:a="http://schemas.openxmlformats.org/drawingml/2006/main">
            <a:off x="0" y="0"/>
            <a:ext cx="12193200" cy="2160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01" name="LeftPanel"/>
          <p:cNvSpPr txBox="1"/>
          <p:nvPr/>
        </p:nvSpPr>
        <p:spPr>
          <a:xfrm xmlns:a="http://schemas.openxmlformats.org/drawingml/2006/main">
            <a:off x="0" y="216000"/>
            <a:ext cx="4320000" cy="6552000"/>
          </a:xfrm>
          <a:prstGeom xmlns:a="http://schemas.openxmlformats.org/drawingml/2006/main" prst="rect">
            <a:avLst/>
          </a:prstGeom>
          <a:solidFill xmlns:a="http://schemas.openxmlformats.org/drawingml/2006/main">
            <a:srgbClr val="0D1F30"/>
          </a:solidFill>
        </p:spPr>
        <p:txBody>
          <a:bodyPr xmlns:a="http://schemas.openxmlformats.org/drawingml/2006/main"/>
          <a:lstStyle xmlns:a="http://schemas.openxmlformats.org/drawingml/2006/main"/>
          <a:p xmlns:a="http://schemas.openxmlformats.org/drawingml/2006/main">
            <a:endParaRPr lang="en-US">
              <a:solidFill>
                <a:srgbClr val="0D1F30"/>
              </a:solidFill>
            </a:endParaRPr>
          </a:p>
        </p:txBody>
      </p:sp>
      <p:sp>
        <p:nvSpPr>
          <p:cNvPr id="100002" name="ModuleStack"/>
          <p:cNvSpPr txBox="1"/>
          <p:nvPr/>
        </p:nvSpPr>
        <p:spPr>
          <a:xfrm xmlns:a="http://schemas.openxmlformats.org/drawingml/2006/main">
            <a:off x="180000" y="900000"/>
            <a:ext cx="3960000" cy="50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0">
                <a:solidFill>
                  <a:srgbClr val="80DEEA"/>
                </a:solidFill>
                <a:latin typeface="Calibri"/>
                <a:ea typeface="Calibri"/>
              </a:rPr>
              <a:t>MODULE 1</a:t>
            </a:r>
          </a:p>
          <a:p xmlns:a="http://schemas.openxmlformats.org/drawingml/2006/main">
            <a:r>
              <a:rPr lang="en-US" sz="1300" b="0">
                <a:solidFill>
                  <a:srgbClr val="80DEEA"/>
                </a:solidFill>
                <a:latin typeface="Calibri"/>
                <a:ea typeface="Calibri"/>
              </a:rPr>
              <a:t>Mathematics</a:t>
            </a:r>
          </a:p>
          <a:p xmlns:a="http://schemas.openxmlformats.org/drawingml/2006/main">
            <a:r>
              <a:rPr lang="en-US" sz="1300" b="0">
                <a:solidFill>
                  <a:srgbClr val="80DEEA"/>
                </a:solidFill>
                <a:latin typeface="Calibri"/>
                <a:ea typeface="Calibri"/>
              </a:rPr>
              <a:t>Fundamentals</a:t>
            </a:r>
          </a:p>
          <a:p xmlns:a="http://schemas.openxmlformats.org/drawingml/2006/main">
            <a:r>
              <a:rPr lang="en-US" sz="1300" b="0">
                <a:solidFill>
                  <a:srgbClr val="80DEEA"/>
                </a:solidFill>
                <a:latin typeface="Calibri"/>
                <a:ea typeface="Calibri"/>
              </a:rPr>
              <a:t/>
            </a:r>
          </a:p>
          <a:p xmlns:a="http://schemas.openxmlformats.org/drawingml/2006/main">
            <a:r>
              <a:rPr lang="en-US" sz="1300" b="0">
                <a:solidFill>
                  <a:srgbClr val="80DEEA"/>
                </a:solidFill>
                <a:latin typeface="Calibri"/>
                <a:ea typeface="Calibri"/>
              </a:rPr>
              <a:t>MODULE 2</a:t>
            </a:r>
          </a:p>
          <a:p xmlns:a="http://schemas.openxmlformats.org/drawingml/2006/main">
            <a:r>
              <a:rPr lang="en-US" sz="1300" b="0">
                <a:solidFill>
                  <a:srgbClr val="80DEEA"/>
                </a:solidFill>
                <a:latin typeface="Calibri"/>
                <a:ea typeface="Calibri"/>
              </a:rPr>
              <a:t>Quantum Physics</a:t>
            </a:r>
          </a:p>
          <a:p xmlns:a="http://schemas.openxmlformats.org/drawingml/2006/main">
            <a:r>
              <a:rPr lang="en-US" sz="1300" b="0">
                <a:solidFill>
                  <a:srgbClr val="80DEEA"/>
                </a:solidFill>
                <a:latin typeface="Calibri"/>
                <a:ea typeface="Calibri"/>
              </a:rPr>
              <a:t>Tutorials</a:t>
            </a:r>
          </a:p>
          <a:p xmlns:a="http://schemas.openxmlformats.org/drawingml/2006/main">
            <a:r>
              <a:rPr lang="en-US" sz="1300" b="0">
                <a:solidFill>
                  <a:srgbClr val="80DEEA"/>
                </a:solidFill>
                <a:latin typeface="Calibri"/>
                <a:ea typeface="Calibri"/>
              </a:rPr>
              <a:t/>
            </a:r>
          </a:p>
          <a:p xmlns:a="http://schemas.openxmlformats.org/drawingml/2006/main">
            <a:r>
              <a:rPr lang="en-US" sz="1300" b="0">
                <a:solidFill>
                  <a:srgbClr val="80DEEA"/>
                </a:solidFill>
                <a:latin typeface="Calibri"/>
                <a:ea typeface="Calibri"/>
              </a:rPr>
              <a:t>MODULE 3</a:t>
            </a:r>
          </a:p>
          <a:p xmlns:a="http://schemas.openxmlformats.org/drawingml/2006/main">
            <a:r>
              <a:rPr lang="en-US" sz="1300" b="0">
                <a:solidFill>
                  <a:srgbClr val="80DEEA"/>
                </a:solidFill>
                <a:latin typeface="Calibri"/>
                <a:ea typeface="Calibri"/>
              </a:rPr>
              <a:t>Quantum Chemistry</a:t>
            </a:r>
          </a:p>
          <a:p xmlns:a="http://schemas.openxmlformats.org/drawingml/2006/main">
            <a:r>
              <a:rPr lang="en-US" sz="1300" b="0">
                <a:solidFill>
                  <a:srgbClr val="80DEEA"/>
                </a:solidFill>
                <a:latin typeface="Calibri"/>
                <a:ea typeface="Calibri"/>
              </a:rPr>
              <a:t>Tutorials</a:t>
            </a:r>
          </a:p>
          <a:p xmlns:a="http://schemas.openxmlformats.org/drawingml/2006/main">
            <a:r>
              <a:rPr lang="en-US" sz="1300" b="0">
                <a:solidFill>
                  <a:srgbClr val="80DEEA"/>
                </a:solidFill>
                <a:latin typeface="Calibri"/>
                <a:ea typeface="Calibri"/>
              </a:rPr>
              <a:t/>
            </a:r>
          </a:p>
          <a:p xmlns:a="http://schemas.openxmlformats.org/drawingml/2006/main">
            <a:r>
              <a:rPr lang="en-US" sz="1300" b="0">
                <a:solidFill>
                  <a:srgbClr val="80DEEA"/>
                </a:solidFill>
                <a:latin typeface="Calibri"/>
                <a:ea typeface="Calibri"/>
              </a:rPr>
              <a:t>MODULE 4</a:t>
            </a:r>
          </a:p>
          <a:p xmlns:a="http://schemas.openxmlformats.org/drawingml/2006/main">
            <a:r>
              <a:rPr lang="en-US" sz="1300" b="0">
                <a:solidFill>
                  <a:srgbClr val="80DEEA"/>
                </a:solidFill>
                <a:latin typeface="Calibri"/>
                <a:ea typeface="Calibri"/>
              </a:rPr>
              <a:t>Qubit ↔ Atomic</a:t>
            </a:r>
          </a:p>
          <a:p xmlns:a="http://schemas.openxmlformats.org/drawingml/2006/main">
            <a:r>
              <a:rPr lang="en-US" sz="1300" b="0">
                <a:solidFill>
                  <a:srgbClr val="80DEEA"/>
                </a:solidFill>
                <a:latin typeface="Calibri"/>
                <a:ea typeface="Calibri"/>
              </a:rPr>
              <a:t>Configuration</a:t>
            </a:r>
          </a:p>
        </p:txBody>
      </p:sp>
      <p:sp>
        <p:nvSpPr>
          <p:cNvPr id="100003" name="SeriesTag"/>
          <p:cNvSpPr txBox="1"/>
          <p:nvPr/>
        </p:nvSpPr>
        <p:spPr>
          <a:xfrm xmlns:a="http://schemas.openxmlformats.org/drawingml/2006/main">
            <a:off x="4680000" y="360000"/>
            <a:ext cx="684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80DEEA"/>
                </a:solidFill>
                <a:latin typeface="Calibri"/>
                <a:ea typeface="Calibri"/>
              </a:rPr>
              <a:t>QUANTUM FALL FEST 2026  |  LECTURE SERIES</a:t>
            </a:r>
          </a:p>
        </p:txBody>
      </p:sp>
      <p:sp>
        <p:nvSpPr>
          <p:cNvPr id="100004" name="MainTitle"/>
          <p:cNvSpPr txBox="1"/>
          <p:nvPr/>
        </p:nvSpPr>
        <p:spPr>
          <a:xfrm xmlns:a="http://schemas.openxmlformats.org/drawingml/2006/main">
            <a:off x="4680000" y="900000"/>
            <a:ext cx="7020000" cy="18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5200" b="1">
                <a:solidFill>
                  <a:srgbClr val="FFFFFF"/>
                </a:solidFill>
                <a:latin typeface="Calibri"/>
                <a:ea typeface="Calibri"/>
              </a:rPr>
              <a:t>Quantum Computing</a:t>
            </a:r>
          </a:p>
          <a:p xmlns:a="http://schemas.openxmlformats.org/drawingml/2006/main">
            <a:r>
              <a:rPr lang="en-US" sz="5200" b="1">
                <a:solidFill>
                  <a:srgbClr val="FFFFFF"/>
                </a:solidFill>
                <a:latin typeface="Calibri"/>
                <a:ea typeface="Calibri"/>
              </a:rPr>
              <a:t>Basics</a:t>
            </a:r>
          </a:p>
        </p:txBody>
      </p:sp>
      <p:sp>
        <p:nvSpPr>
          <p:cNvPr id="100005" name="Subtitle"/>
          <p:cNvSpPr txBox="1"/>
          <p:nvPr/>
        </p:nvSpPr>
        <p:spPr>
          <a:xfrm xmlns:a="http://schemas.openxmlformats.org/drawingml/2006/main">
            <a:off x="4680000" y="2952000"/>
            <a:ext cx="7020000" cy="9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a:solidFill>
                  <a:srgbClr val="80DEEA"/>
                </a:solidFill>
                <a:latin typeface="Calibri"/>
                <a:ea typeface="Calibri"/>
              </a:rPr>
              <a:t>Mathematics Tutorials  ·  Quantum Physics Tutorials</a:t>
            </a:r>
          </a:p>
          <a:p xmlns:a="http://schemas.openxmlformats.org/drawingml/2006/main">
            <a:r>
              <a:rPr lang="en-US" sz="2000">
                <a:solidFill>
                  <a:srgbClr val="80DEEA"/>
                </a:solidFill>
                <a:latin typeface="Calibri"/>
                <a:ea typeface="Calibri"/>
              </a:rPr>
              <a:t>Quantum Chemistry Tutorials  ·  Qubit ↔ Atomic Configuration</a:t>
            </a:r>
          </a:p>
        </p:txBody>
      </p:sp>
      <p:sp>
        <p:nvSpPr>
          <p:cNvPr id="100006" name="Meta"/>
          <p:cNvSpPr txBox="1"/>
          <p:nvPr/>
        </p:nvSpPr>
        <p:spPr>
          <a:xfrm xmlns:a="http://schemas.openxmlformats.org/drawingml/2006/main">
            <a:off x="4680000" y="4032000"/>
            <a:ext cx="702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B0BEC5"/>
                </a:solidFill>
                <a:latin typeface="Calibri"/>
                <a:ea typeface="Calibri"/>
              </a:rPr>
              <a:t>Prerequisite Course  |  All Levels  |  Estimated Duration: 3 Hours</a:t>
            </a:r>
          </a:p>
        </p:txBody>
      </p:sp>
      <p:sp>
        <p:nvSpPr>
          <p:cNvPr id="100007" name="BottomBar"/>
          <p:cNvSpPr txBox="1"/>
          <p:nvPr/>
        </p:nvSpPr>
        <p:spPr>
          <a:xfrm xmlns:a="http://schemas.openxmlformats.org/drawingml/2006/main">
            <a:off x="0" y="6408000"/>
            <a:ext cx="12193200" cy="1800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Tree>
  </p:cSld>
</p:sld>
</file>

<file path=ppt/slides/slide2.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08"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09" name="SlideNum"/>
          <p:cNvSpPr txBox="1"/>
          <p:nvPr/>
        </p:nvSpPr>
        <p:spPr>
          <a:xfrm xmlns:a="http://schemas.openxmlformats.org/drawingml/2006/main">
            <a:off x="7200000" y="198000"/>
            <a:ext cx="4500000" cy="18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80DEEA"/>
                </a:solidFill>
                <a:latin typeface="Calibri"/>
                <a:ea typeface="Calibri"/>
              </a:rPr>
              <a:t>02 / 65  |  OVERVIEW</a:t>
            </a:r>
          </a:p>
        </p:txBody>
      </p:sp>
      <p:sp>
        <p:nvSpPr>
          <p:cNvPr id="100010" name="SectionBadge"/>
          <p:cNvSpPr txBox="1"/>
          <p:nvPr/>
        </p:nvSpPr>
        <p:spPr>
          <a:xfrm xmlns:a="http://schemas.openxmlformats.org/drawingml/2006/main">
            <a:off x="540000" y="198000"/>
            <a:ext cx="1260000" cy="180000"/>
          </a:xfrm>
          <a:prstGeom xmlns:a="http://schemas.openxmlformats.org/drawingml/2006/main" prst="rect">
            <a:avLst/>
          </a:prstGeom>
          <a:solidFill xmlns:a="http://schemas.openxmlformats.org/drawingml/2006/main">
            <a:srgbClr val="0D2A3A"/>
          </a:solidFill>
        </p:spPr>
        <p:txBody>
          <a:bodyPr xmlns:a="http://schemas.openxmlformats.org/drawingml/2006/main"/>
          <a:lstStyle xmlns:a="http://schemas.openxmlformats.org/drawingml/2006/main"/>
          <a:p xmlns:a="http://schemas.openxmlformats.org/drawingml/2006/main">
            <a:r>
              <a:rPr lang="en-US" sz="800" b="1">
                <a:solidFill>
                  <a:srgbClr val="80DEEA"/>
                </a:solidFill>
                <a:latin typeface="Calibri"/>
                <a:ea typeface="Calibri"/>
              </a:rPr>
              <a:t>COURSE MAP</a:t>
            </a:r>
          </a:p>
        </p:txBody>
      </p:sp>
      <p:sp>
        <p:nvSpPr>
          <p:cNvPr id="100011"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latin typeface="Calibri"/>
                <a:ea typeface="Calibri"/>
              </a:rPr>
              <a:t>Learning Roadmap — How the Four Modules Connect</a:t>
            </a:r>
          </a:p>
        </p:txBody>
      </p:sp>
      <p:sp>
        <p:nvSpPr>
          <p:cNvPr id="100012" name="TitleLine"/>
          <p:cNvSpPr txBox="1"/>
          <p:nvPr/>
        </p:nvSpPr>
        <p:spPr>
          <a:xfrm xmlns:a="http://schemas.openxmlformats.org/drawingml/2006/main">
            <a:off x="540000" y="1026000"/>
            <a:ext cx="10800000" cy="288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13" name="Body"/>
          <p:cNvSpPr txBox="1"/>
          <p:nvPr/>
        </p:nvSpPr>
        <p:spPr>
          <a:xfrm xmlns:a="http://schemas.openxmlformats.org/drawingml/2006/main">
            <a:off x="540000" y="1116000"/>
            <a:ext cx="10800000" cy="50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This course is structured as a progressive bridge from pure mathematics to quantum hardware.</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MODULE 1 — Mathematics Foundations  (Slides 04–18)</a:t>
            </a:r>
          </a:p>
          <a:p xmlns:a="http://schemas.openxmlformats.org/drawingml/2006/main">
            <a:r>
              <a:rPr lang="en-US" sz="1500">
                <a:solidFill>
                  <a:srgbClr val="E3F2FD"/>
                </a:solidFill>
                <a:latin typeface="Calibri"/>
                <a:ea typeface="Calibri"/>
              </a:rPr>
              <a:t>  Linear algebra · Complex numbers · Probability · Fourier analysis · Dirac notation</a:t>
            </a:r>
          </a:p>
          <a:p xmlns:a="http://schemas.openxmlformats.org/drawingml/2006/main">
            <a:r>
              <a:rPr lang="en-US" sz="1500">
                <a:solidFill>
                  <a:srgbClr val="E3F2FD"/>
                </a:solidFill>
                <a:latin typeface="Calibri"/>
                <a:ea typeface="Calibri"/>
              </a:rPr>
              <a:t>  WHY: Every quantum gate is a matrix; every quantum state is a vector</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MODULE 2 — Quantum Physics Tutorials  (Slides 19–33)</a:t>
            </a:r>
          </a:p>
          <a:p xmlns:a="http://schemas.openxmlformats.org/drawingml/2006/main">
            <a:r>
              <a:rPr lang="en-US" sz="1500">
                <a:solidFill>
                  <a:srgbClr val="E3F2FD"/>
                </a:solidFill>
                <a:latin typeface="Calibri"/>
                <a:ea typeface="Calibri"/>
              </a:rPr>
              <a:t>  Wave-particle duality · Schrödinger equation · Operators &amp; observables</a:t>
            </a:r>
          </a:p>
          <a:p xmlns:a="http://schemas.openxmlformats.org/drawingml/2006/main">
            <a:r>
              <a:rPr lang="en-US" sz="1500">
                <a:solidFill>
                  <a:srgbClr val="E3F2FD"/>
                </a:solidFill>
                <a:latin typeface="Calibri"/>
                <a:ea typeface="Calibri"/>
              </a:rPr>
              <a:t>  Hydrogen atom · Spin · Pauli matrices · Measurement postulates</a:t>
            </a:r>
          </a:p>
          <a:p xmlns:a="http://schemas.openxmlformats.org/drawingml/2006/main">
            <a:r>
              <a:rPr lang="en-US" sz="1500">
                <a:solidFill>
                  <a:srgbClr val="E3F2FD"/>
                </a:solidFill>
                <a:latin typeface="Calibri"/>
                <a:ea typeface="Calibri"/>
              </a:rPr>
              <a:t>  WHY: Qubits are physical quantum systems obeying these laws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MODULE 3 — Quantum Chemistry Tutorials  (Slides 34–48)</a:t>
            </a:r>
          </a:p>
          <a:p xmlns:a="http://schemas.openxmlformats.org/drawingml/2006/main">
            <a:r>
              <a:rPr lang="en-US" sz="1500">
                <a:solidFill>
                  <a:srgbClr val="E3F2FD"/>
                </a:solidFill>
                <a:latin typeface="Calibri"/>
                <a:ea typeface="Calibri"/>
              </a:rPr>
              <a:t>  Atomic orbitals · Electronic configuration · Molecular orbitals · Hamiltonians</a:t>
            </a:r>
          </a:p>
          <a:p xmlns:a="http://schemas.openxmlformats.org/drawingml/2006/main">
            <a:r>
              <a:rPr lang="en-US" sz="1500">
                <a:solidFill>
                  <a:srgbClr val="E3F2FD"/>
                </a:solidFill>
                <a:latin typeface="Calibri"/>
                <a:ea typeface="Calibri"/>
              </a:rPr>
              <a:t>  Born-Oppenheimer · VQE · Basis sets · Second quantization</a:t>
            </a:r>
          </a:p>
          <a:p xmlns:a="http://schemas.openxmlformats.org/drawingml/2006/main">
            <a:r>
              <a:rPr lang="en-US" sz="1500">
                <a:solidFill>
                  <a:srgbClr val="E3F2FD"/>
                </a:solidFill>
                <a:latin typeface="Calibri"/>
                <a:ea typeface="Calibri"/>
              </a:rPr>
              <a:t>  WHY: Quantum computers simulate molecules — you need chemistry to understand why</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MODULE 4 — Qubit ↔ Atomic Configuration  (Slides 49–62)</a:t>
            </a:r>
          </a:p>
          <a:p xmlns:a="http://schemas.openxmlformats.org/drawingml/2006/main">
            <a:r>
              <a:rPr lang="en-US" sz="1500">
                <a:solidFill>
                  <a:srgbClr val="E3F2FD"/>
                </a:solidFill>
                <a:latin typeface="Calibri"/>
                <a:ea typeface="Calibri"/>
              </a:rPr>
              <a:t>  Mapping atomic states to qubit states · Spin-½ as the qubit · Jordan-Wigner transform</a:t>
            </a:r>
          </a:p>
          <a:p xmlns:a="http://schemas.openxmlformats.org/drawingml/2006/main">
            <a:r>
              <a:rPr lang="en-US" sz="1500">
                <a:solidFill>
                  <a:srgbClr val="E3F2FD"/>
                </a:solidFill>
                <a:latin typeface="Calibri"/>
                <a:ea typeface="Calibri"/>
              </a:rPr>
              <a:t>  Fermionic operators · Quantum phase estimation for energy levels · Hardware realization</a:t>
            </a:r>
          </a:p>
          <a:p xmlns:a="http://schemas.openxmlformats.org/drawingml/2006/main">
            <a:r>
              <a:rPr lang="en-US" sz="1500">
                <a:solidFill>
                  <a:srgbClr val="E3F2FD"/>
                </a:solidFill>
                <a:latin typeface="Calibri"/>
                <a:ea typeface="Calibri"/>
              </a:rPr>
              <a:t>  WHY: The deep connection — qubits ARE quantum mechanical two-level atomic systems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a:t>
            </a:r>
          </a:p>
          <a:p xmlns:a="http://schemas.openxmlformats.org/drawingml/2006/main">
            <a:r>
              <a:rPr lang="en-US" sz="1500">
                <a:solidFill>
                  <a:srgbClr val="E3F2FD"/>
                </a:solidFill>
                <a:latin typeface="Calibri"/>
                <a:ea typeface="Calibri"/>
              </a:rPr>
              <a:t>Prerequisite: Basic high school mathematics. No physics or chemistry background required.</a:t>
            </a:r>
          </a:p>
        </p:txBody>
      </p:sp>
      <p:sp>
        <p:nvSpPr>
          <p:cNvPr id="100014" name="Footer"/>
          <p:cNvSpPr txBox="1"/>
          <p:nvPr/>
        </p:nvSpPr>
        <p:spPr>
          <a:xfrm xmlns:a="http://schemas.openxmlformats.org/drawingml/2006/main">
            <a:off x="0" y="6408000"/>
            <a:ext cx="12193200" cy="180000"/>
          </a:xfrm>
          <a:prstGeom xmlns:a="http://schemas.openxmlformats.org/drawingml/2006/main" prst="rect">
            <a:avLst/>
          </a:prstGeom>
          <a:solidFill xmlns:a="http://schemas.openxmlformats.org/drawingml/2006/main">
            <a:srgbClr val="080F1A"/>
          </a:solidFill>
        </p:spPr>
        <p:txBody>
          <a:bodyPr xmlns:a="http://schemas.openxmlformats.org/drawingml/2006/main"/>
          <a:lstStyle xmlns:a="http://schemas.openxmlformats.org/drawingml/2006/main"/>
          <a:p xmlns:a="http://schemas.openxmlformats.org/drawingml/2006/main">
            <a:r>
              <a:rPr lang="en-US" sz="800">
                <a:solidFill>
                  <a:srgbClr val="546E7A"/>
                </a:solidFill>
                <a:latin typeface="Calibri"/>
                <a:ea typeface="Calibri"/>
              </a:rPr>
              <a:t>QUANTUM FALL FEST 2026  |  Quantum Computing Basics  |  learning.quantum.ibm.com</a:t>
            </a:r>
          </a:p>
        </p:txBody>
      </p:sp>
    </p:spTree>
  </p:cSld>
</p:sld>
</file>

<file path=ppt/slides/slide3.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15"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16" name="SlideNum"/>
          <p:cNvSpPr txBox="1"/>
          <p:nvPr/>
        </p:nvSpPr>
        <p:spPr>
          <a:xfrm xmlns:a="http://schemas.openxmlformats.org/drawingml/2006/main">
            <a:off x="6660000" y="198000"/>
            <a:ext cx="5040000" cy="18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80DEEA"/>
                </a:solidFill>
                <a:latin typeface="Calibri"/>
                <a:ea typeface="Calibri"/>
              </a:rPr>
              <a:t>03 / 65  |  WHY THIS MATTERS</a:t>
            </a:r>
          </a:p>
        </p:txBody>
      </p:sp>
      <p:sp>
        <p:nvSpPr>
          <p:cNvPr id="100017" name="SectionBadge"/>
          <p:cNvSpPr txBox="1"/>
          <p:nvPr/>
        </p:nvSpPr>
        <p:spPr>
          <a:xfrm xmlns:a="http://schemas.openxmlformats.org/drawingml/2006/main">
            <a:off x="540000" y="198000"/>
            <a:ext cx="1152000" cy="180000"/>
          </a:xfrm>
          <a:prstGeom xmlns:a="http://schemas.openxmlformats.org/drawingml/2006/main" prst="rect">
            <a:avLst/>
          </a:prstGeom>
          <a:solidFill xmlns:a="http://schemas.openxmlformats.org/drawingml/2006/main">
            <a:srgbClr val="0D2A3A"/>
          </a:solidFill>
        </p:spPr>
        <p:txBody>
          <a:bodyPr xmlns:a="http://schemas.openxmlformats.org/drawingml/2006/main"/>
          <a:lstStyle xmlns:a="http://schemas.openxmlformats.org/drawingml/2006/main"/>
          <a:p xmlns:a="http://schemas.openxmlformats.org/drawingml/2006/main">
            <a:r>
              <a:rPr lang="en-US" sz="800" b="1">
                <a:solidFill>
                  <a:srgbClr val="80DEEA"/>
                </a:solidFill>
                <a:latin typeface="Calibri"/>
                <a:ea typeface="Calibri"/>
              </a:rPr>
              <a:t>MOTIVATION</a:t>
            </a:r>
          </a:p>
        </p:txBody>
      </p:sp>
      <p:sp>
        <p:nvSpPr>
          <p:cNvPr id="100018"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1">
                <a:solidFill>
                  <a:srgbClr val="FFFFFF"/>
                </a:solidFill>
                <a:latin typeface="Calibri"/>
                <a:ea typeface="Calibri"/>
              </a:rPr>
              <a:t>Why Learn Math, Physics &amp; Chemistry for Quantum Computing?</a:t>
            </a:r>
          </a:p>
        </p:txBody>
      </p:sp>
      <p:sp>
        <p:nvSpPr>
          <p:cNvPr id="100019" name="TitleLine"/>
          <p:cNvSpPr txBox="1"/>
          <p:nvPr/>
        </p:nvSpPr>
        <p:spPr>
          <a:xfrm xmlns:a="http://schemas.openxmlformats.org/drawingml/2006/main">
            <a:off x="540000" y="1026000"/>
            <a:ext cx="10800000" cy="288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20" name="Body"/>
          <p:cNvSpPr txBox="1"/>
          <p:nvPr/>
        </p:nvSpPr>
        <p:spPr>
          <a:xfrm xmlns:a="http://schemas.openxmlformats.org/drawingml/2006/main">
            <a:off x="540000" y="1116000"/>
            <a:ext cx="10800000" cy="50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E3F2FD"/>
                </a:solidFill>
                <a:latin typeface="Calibri"/>
                <a:ea typeface="Calibri"/>
              </a:rPr>
              <a:t>The Big Picture: A qubit is a physical quantum mechanical two-level system — an electron spin, a photon polarization, or a superconducting Josephson junction. To program it meaningfully, you must understand the underlying science.</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  DISCIPLINE          WHAT IT GIVES YOU                    QUANTUM COMPUTING CONNECTION</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Linear Algebra      Vector spaces, matrices, eigenvalues  Quantum states, gates, measurements</a:t>
            </a:r>
          </a:p>
          <a:p xmlns:a="http://schemas.openxmlformats.org/drawingml/2006/main">
            <a:r>
              <a:rPr lang="en-US" sz="1400">
                <a:solidFill>
                  <a:srgbClr val="E3F2FD"/>
                </a:solidFill>
                <a:latin typeface="Calibri"/>
                <a:ea typeface="Calibri"/>
              </a:rPr>
              <a:t>  Complex Numbers     Amplitude, phase, Euler's formula      Probability amplitudes, interference</a:t>
            </a:r>
          </a:p>
          <a:p xmlns:a="http://schemas.openxmlformats.org/drawingml/2006/main">
            <a:r>
              <a:rPr lang="en-US" sz="1400">
                <a:solidFill>
                  <a:srgbClr val="E3F2FD"/>
                </a:solidFill>
                <a:latin typeface="Calibri"/>
                <a:ea typeface="Calibri"/>
              </a:rPr>
              <a:t>  Probability Theory  Born rule, expectation values          Measurement outcomes, noise modeling</a:t>
            </a:r>
          </a:p>
          <a:p xmlns:a="http://schemas.openxmlformats.org/drawingml/2006/main">
            <a:r>
              <a:rPr lang="en-US" sz="1400">
                <a:solidFill>
                  <a:srgbClr val="E3F2FD"/>
                </a:solidFill>
                <a:latin typeface="Calibri"/>
                <a:ea typeface="Calibri"/>
              </a:rPr>
              <a:t>  Fourier Analysis    Frequency decomposition               Quantum Fourier Transform (Shor's)</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Wave Mechanics      Schrödinger equation, wavefunctions    Qubit state evolution over time</a:t>
            </a:r>
          </a:p>
          <a:p xmlns:a="http://schemas.openxmlformats.org/drawingml/2006/main">
            <a:r>
              <a:rPr lang="en-US" sz="1400">
                <a:solidFill>
                  <a:srgbClr val="E3F2FD"/>
                </a:solidFill>
                <a:latin typeface="Calibri"/>
                <a:ea typeface="Calibri"/>
              </a:rPr>
              <a:t>  Quantum Operators   Hermitian operators, eigenvalues        Measurement observables, Hamiltonians</a:t>
            </a:r>
          </a:p>
          <a:p xmlns:a="http://schemas.openxmlformats.org/drawingml/2006/main">
            <a:r>
              <a:rPr lang="en-US" sz="1400">
                <a:solidFill>
                  <a:srgbClr val="E3F2FD"/>
                </a:solidFill>
                <a:latin typeface="Calibri"/>
                <a:ea typeface="Calibri"/>
              </a:rPr>
              <a:t>  Spin Physics        Spin-½, Pauli matrices, Bloch sphere    Physical realization of a qubit</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Atomic Structure    Orbitals, electron config, energy      Mapping atoms to qubit registers</a:t>
            </a:r>
          </a:p>
          <a:p xmlns:a="http://schemas.openxmlformats.org/drawingml/2006/main">
            <a:r>
              <a:rPr lang="en-US" sz="1400">
                <a:solidFill>
                  <a:srgbClr val="E3F2FD"/>
                </a:solidFill>
                <a:latin typeface="Calibri"/>
                <a:ea typeface="Calibri"/>
              </a:rPr>
              <a:t>  Molecular Orbitals  MO theory, Hartree-Fock, correlation   What VQE simulates on a QPU</a:t>
            </a:r>
          </a:p>
          <a:p xmlns:a="http://schemas.openxmlformats.org/drawingml/2006/main">
            <a:r>
              <a:rPr lang="en-US" sz="1400">
                <a:solidFill>
                  <a:srgbClr val="E3F2FD"/>
                </a:solidFill>
                <a:latin typeface="Calibri"/>
                <a:ea typeface="Calibri"/>
              </a:rPr>
              <a:t>  Hamiltonians        Energy operators, second quantization   The quantum circuit IS a Hamiltonian</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"A qubit is nothing more — and nothing less — than a quantum mechanical spin-½ particle."</a:t>
            </a:r>
          </a:p>
        </p:txBody>
      </p:sp>
      <p:sp>
        <p:nvSpPr>
          <p:cNvPr id="100021" name="Footer"/>
          <p:cNvSpPr txBox="1"/>
          <p:nvPr/>
        </p:nvSpPr>
        <p:spPr>
          <a:xfrm xmlns:a="http://schemas.openxmlformats.org/drawingml/2006/main">
            <a:off x="0" y="6408000"/>
            <a:ext cx="12193200" cy="180000"/>
          </a:xfrm>
          <a:prstGeom xmlns:a="http://schemas.openxmlformats.org/drawingml/2006/main" prst="rect">
            <a:avLst/>
          </a:prstGeom>
          <a:solidFill xmlns:a="http://schemas.openxmlformats.org/drawingml/2006/main">
            <a:srgbClr val="080F1A"/>
          </a:solidFill>
        </p:spPr>
        <p:txBody>
          <a:bodyPr xmlns:a="http://schemas.openxmlformats.org/drawingml/2006/main"/>
          <a:lstStyle xmlns:a="http://schemas.openxmlformats.org/drawingml/2006/main"/>
          <a:p xmlns:a="http://schemas.openxmlformats.org/drawingml/2006/main">
            <a:r>
              <a:rPr lang="en-US" sz="800">
                <a:solidFill>
                  <a:srgbClr val="546E7A"/>
                </a:solidFill>
                <a:latin typeface="Calibri"/>
                <a:ea typeface="Calibri"/>
              </a:rPr>
              <a:t>QUANTUM FALL FEST 2026  |  Quantum Computing Basics  |  learning.quantum.ibm.com</a:t>
            </a:r>
          </a:p>
        </p:txBody>
      </p:sp>
    </p:spTree>
  </p:cSld>
</p:sld>
</file>

<file path=ppt/slides/slide4.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22"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23" name="SlideNum"/>
          <p:cNvSpPr txBox="1"/>
          <p:nvPr/>
        </p:nvSpPr>
        <p:spPr>
          <a:xfrm xmlns:a="http://schemas.openxmlformats.org/drawingml/2006/main">
            <a:off x="6660000" y="198000"/>
            <a:ext cx="5040000" cy="18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80DEEA"/>
                </a:solidFill>
                <a:latin typeface="Calibri"/>
                <a:ea typeface="Calibri"/>
              </a:rPr>
              <a:t>04 / 65  |  MODULE 1 INTRO</a:t>
            </a:r>
          </a:p>
        </p:txBody>
      </p:sp>
      <p:sp>
        <p:nvSpPr>
          <p:cNvPr id="100024" name="SectionBadge"/>
          <p:cNvSpPr txBox="1"/>
          <p:nvPr/>
        </p:nvSpPr>
        <p:spPr>
          <a:xfrm xmlns:a="http://schemas.openxmlformats.org/drawingml/2006/main">
            <a:off x="540000" y="198000"/>
            <a:ext cx="1980000" cy="180000"/>
          </a:xfrm>
          <a:prstGeom xmlns:a="http://schemas.openxmlformats.org/drawingml/2006/main" prst="rect">
            <a:avLst/>
          </a:prstGeom>
          <a:solidFill xmlns:a="http://schemas.openxmlformats.org/drawingml/2006/main">
            <a:srgbClr val="003A4A"/>
          </a:solidFill>
        </p:spPr>
        <p:txBody>
          <a:bodyPr xmlns:a="http://schemas.openxmlformats.org/drawingml/2006/main"/>
          <a:lstStyle xmlns:a="http://schemas.openxmlformats.org/drawingml/2006/main"/>
          <a:p xmlns:a="http://schemas.openxmlformats.org/drawingml/2006/main">
            <a:r>
              <a:rPr lang="en-US" sz="800" b="1">
                <a:solidFill>
                  <a:srgbClr val="80DEEA"/>
                </a:solidFill>
                <a:latin typeface="Calibri"/>
                <a:ea typeface="Calibri"/>
              </a:rPr>
              <a:t>MODULE 1: MATHEMATICS</a:t>
            </a:r>
          </a:p>
        </p:txBody>
      </p:sp>
      <p:sp>
        <p:nvSpPr>
          <p:cNvPr id="100025"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1">
                <a:solidFill>
                  <a:srgbClr val="00BCD4"/>
                </a:solidFill>
                <a:latin typeface="Calibri"/>
                <a:ea typeface="Calibri"/>
              </a:rPr>
              <a:t>MODULE 1 — Mathematics Foundations for Quantum Computing</a:t>
            </a:r>
          </a:p>
        </p:txBody>
      </p:sp>
      <p:sp>
        <p:nvSpPr>
          <p:cNvPr id="100026" name="TitleLine"/>
          <p:cNvSpPr txBox="1"/>
          <p:nvPr/>
        </p:nvSpPr>
        <p:spPr>
          <a:xfrm xmlns:a="http://schemas.openxmlformats.org/drawingml/2006/main">
            <a:off x="540000" y="1026000"/>
            <a:ext cx="10800000" cy="288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27" name="Body"/>
          <p:cNvSpPr txBox="1"/>
          <p:nvPr/>
        </p:nvSpPr>
        <p:spPr>
          <a:xfrm xmlns:a="http://schemas.openxmlformats.org/drawingml/2006/main">
            <a:off x="540000" y="1116000"/>
            <a:ext cx="10800000" cy="50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3F2FD"/>
                </a:solidFill>
                <a:latin typeface="Calibri"/>
                <a:ea typeface="Calibri"/>
              </a:rPr>
              <a:t>This module covers the mathematical language of quantum mechanics.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Topics Covered (Slides 04–18):</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  04  Module 1 Introduction &amp; Learning Objectives</a:t>
            </a:r>
          </a:p>
          <a:p xmlns:a="http://schemas.openxmlformats.org/drawingml/2006/main">
            <a:r>
              <a:rPr lang="en-US" sz="1500">
                <a:solidFill>
                  <a:srgbClr val="E3F2FD"/>
                </a:solidFill>
                <a:latin typeface="Calibri"/>
                <a:ea typeface="Calibri"/>
              </a:rPr>
              <a:t>  05  Complex Numbers — Amplitudes &amp; Phase</a:t>
            </a:r>
          </a:p>
          <a:p xmlns:a="http://schemas.openxmlformats.org/drawingml/2006/main">
            <a:r>
              <a:rPr lang="en-US" sz="1500">
                <a:solidFill>
                  <a:srgbClr val="E3F2FD"/>
                </a:solidFill>
                <a:latin typeface="Calibri"/>
                <a:ea typeface="Calibri"/>
              </a:rPr>
              <a:t>  06  Vector Spaces &amp; Hilbert Space</a:t>
            </a:r>
          </a:p>
          <a:p xmlns:a="http://schemas.openxmlformats.org/drawingml/2006/main">
            <a:r>
              <a:rPr lang="en-US" sz="1500">
                <a:solidFill>
                  <a:srgbClr val="E3F2FD"/>
                </a:solidFill>
                <a:latin typeface="Calibri"/>
                <a:ea typeface="Calibri"/>
              </a:rPr>
              <a:t>  07  Dirac Notation — Bra-Ket Formalism</a:t>
            </a:r>
          </a:p>
          <a:p xmlns:a="http://schemas.openxmlformats.org/drawingml/2006/main">
            <a:r>
              <a:rPr lang="en-US" sz="1500">
                <a:solidFill>
                  <a:srgbClr val="E3F2FD"/>
                </a:solidFill>
                <a:latin typeface="Calibri"/>
                <a:ea typeface="Calibri"/>
              </a:rPr>
              <a:t>  08  Linear Operators &amp; Matrices</a:t>
            </a:r>
          </a:p>
          <a:p xmlns:a="http://schemas.openxmlformats.org/drawingml/2006/main">
            <a:r>
              <a:rPr lang="en-US" sz="1500">
                <a:solidFill>
                  <a:srgbClr val="E3F2FD"/>
                </a:solidFill>
                <a:latin typeface="Calibri"/>
                <a:ea typeface="Calibri"/>
              </a:rPr>
              <a:t>  09  Eigenvalues &amp; Eigenvectors</a:t>
            </a:r>
          </a:p>
          <a:p xmlns:a="http://schemas.openxmlformats.org/drawingml/2006/main">
            <a:r>
              <a:rPr lang="en-US" sz="1500">
                <a:solidFill>
                  <a:srgbClr val="E3F2FD"/>
                </a:solidFill>
                <a:latin typeface="Calibri"/>
                <a:ea typeface="Calibri"/>
              </a:rPr>
              <a:t>  10  Unitary &amp; Hermitian Matrices</a:t>
            </a:r>
          </a:p>
          <a:p xmlns:a="http://schemas.openxmlformats.org/drawingml/2006/main">
            <a:r>
              <a:rPr lang="en-US" sz="1500">
                <a:solidFill>
                  <a:srgbClr val="E3F2FD"/>
                </a:solidFill>
                <a:latin typeface="Calibri"/>
                <a:ea typeface="Calibri"/>
              </a:rPr>
              <a:t>  11  Inner Products, Norms &amp; Orthogonality</a:t>
            </a:r>
          </a:p>
          <a:p xmlns:a="http://schemas.openxmlformats.org/drawingml/2006/main">
            <a:r>
              <a:rPr lang="en-US" sz="1500">
                <a:solidFill>
                  <a:srgbClr val="E3F2FD"/>
                </a:solidFill>
                <a:latin typeface="Calibri"/>
                <a:ea typeface="Calibri"/>
              </a:rPr>
              <a:t>  12  Tensor Products — Multi-Qubit Systems</a:t>
            </a:r>
          </a:p>
          <a:p xmlns:a="http://schemas.openxmlformats.org/drawingml/2006/main">
            <a:r>
              <a:rPr lang="en-US" sz="1500">
                <a:solidFill>
                  <a:srgbClr val="E3F2FD"/>
                </a:solidFill>
                <a:latin typeface="Calibri"/>
                <a:ea typeface="Calibri"/>
              </a:rPr>
              <a:t>  13  Probability Theory — Expectation &amp; Variance</a:t>
            </a:r>
          </a:p>
          <a:p xmlns:a="http://schemas.openxmlformats.org/drawingml/2006/main">
            <a:r>
              <a:rPr lang="en-US" sz="1500">
                <a:solidFill>
                  <a:srgbClr val="E3F2FD"/>
                </a:solidFill>
                <a:latin typeface="Calibri"/>
                <a:ea typeface="Calibri"/>
              </a:rPr>
              <a:t>  14  Fourier Series &amp; Discrete Fourier Transform</a:t>
            </a:r>
          </a:p>
          <a:p xmlns:a="http://schemas.openxmlformats.org/drawingml/2006/main">
            <a:r>
              <a:rPr lang="en-US" sz="1500">
                <a:solidFill>
                  <a:srgbClr val="E3F2FD"/>
                </a:solidFill>
                <a:latin typeface="Calibri"/>
                <a:ea typeface="Calibri"/>
              </a:rPr>
              <a:t>  15  Quantum Fourier Transform (Connection)</a:t>
            </a:r>
          </a:p>
          <a:p xmlns:a="http://schemas.openxmlformats.org/drawingml/2006/main">
            <a:r>
              <a:rPr lang="en-US" sz="1500">
                <a:solidFill>
                  <a:srgbClr val="E3F2FD"/>
                </a:solidFill>
                <a:latin typeface="Calibri"/>
                <a:ea typeface="Calibri"/>
              </a:rPr>
              <a:t>  16  Dirac Delta &amp; Continuous Spectra</a:t>
            </a:r>
          </a:p>
          <a:p xmlns:a="http://schemas.openxmlformats.org/drawingml/2006/main">
            <a:r>
              <a:rPr lang="en-US" sz="1500">
                <a:solidFill>
                  <a:srgbClr val="E3F2FD"/>
                </a:solidFill>
                <a:latin typeface="Calibri"/>
                <a:ea typeface="Calibri"/>
              </a:rPr>
              <a:t>  17  Differential Equations — Schrödinger Preview</a:t>
            </a:r>
          </a:p>
          <a:p xmlns:a="http://schemas.openxmlformats.org/drawingml/2006/main">
            <a:r>
              <a:rPr lang="en-US" sz="1500">
                <a:solidFill>
                  <a:srgbClr val="E3F2FD"/>
                </a:solidFill>
                <a:latin typeface="Calibri"/>
                <a:ea typeface="Calibri"/>
              </a:rPr>
              <a:t>  18  Module 1 Summary &amp; Bridge to Physics</a:t>
            </a:r>
          </a:p>
          <a:p xmlns:a="http://schemas.openxmlformats.org/drawingml/2006/main">
            <a:r>
              <a:rPr lang="en-US" sz="1500">
                <a:solidFill>
                  <a:srgbClr val="E3F2FD"/>
                </a:solidFill>
                <a:latin typeface="Calibri"/>
                <a:ea typeface="Calibri"/>
              </a:rPr>
              <a:t/>
            </a:r>
          </a:p>
          <a:p xmlns:a="http://schemas.openxmlformats.org/drawingml/2006/main">
            <a:r>
              <a:rPr lang="en-US" sz="1500">
                <a:solidFill>
                  <a:srgbClr val="E3F2FD"/>
                </a:solidFill>
                <a:latin typeface="Calibri"/>
                <a:ea typeface="Calibri"/>
              </a:rPr>
              <a:t>Learning Outcome: You will be able to express any quantum state, operation, and measurement in precise mathematical terms.</a:t>
            </a:r>
          </a:p>
        </p:txBody>
      </p:sp>
      <p:sp>
        <p:nvSpPr>
          <p:cNvPr id="100028" name="Footer"/>
          <p:cNvSpPr txBox="1"/>
          <p:nvPr/>
        </p:nvSpPr>
        <p:spPr>
          <a:xfrm xmlns:a="http://schemas.openxmlformats.org/drawingml/2006/main">
            <a:off x="0" y="6408000"/>
            <a:ext cx="12193200" cy="180000"/>
          </a:xfrm>
          <a:prstGeom xmlns:a="http://schemas.openxmlformats.org/drawingml/2006/main" prst="rect">
            <a:avLst/>
          </a:prstGeom>
          <a:solidFill xmlns:a="http://schemas.openxmlformats.org/drawingml/2006/main">
            <a:srgbClr val="080F1A"/>
          </a:solidFill>
        </p:spPr>
        <p:txBody>
          <a:bodyPr xmlns:a="http://schemas.openxmlformats.org/drawingml/2006/main"/>
          <a:lstStyle xmlns:a="http://schemas.openxmlformats.org/drawingml/2006/main"/>
          <a:p xmlns:a="http://schemas.openxmlformats.org/drawingml/2006/main">
            <a:r>
              <a:rPr lang="en-US" sz="800">
                <a:solidFill>
                  <a:srgbClr val="546E7A"/>
                </a:solidFill>
                <a:latin typeface="Calibri"/>
                <a:ea typeface="Calibri"/>
              </a:rPr>
              <a:t>QUANTUM FALL FEST 2026  |  Quantum Computing Basics  |  Module 1: Mathematics</a:t>
            </a:r>
          </a:p>
        </p:txBody>
      </p:sp>
    </p:spTree>
  </p:cSld>
</p:sld>
</file>

<file path=ppt/slides/slide5.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29"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30" name="SlideNum"/>
          <p:cNvSpPr txBox="1"/>
          <p:nvPr/>
        </p:nvSpPr>
        <p:spPr>
          <a:xfrm xmlns:a="http://schemas.openxmlformats.org/drawingml/2006/main">
            <a:off x="6660000" y="198000"/>
            <a:ext cx="5040000" cy="18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80DEEA"/>
                </a:solidFill>
                <a:latin typeface="Calibri"/>
                <a:ea typeface="Calibri"/>
              </a:rPr>
              <a:t>05 / 65  |  COMPLEX NUMBERS</a:t>
            </a:r>
          </a:p>
        </p:txBody>
      </p:sp>
      <p:sp>
        <p:nvSpPr>
          <p:cNvPr id="100031" name="SectionBadge"/>
          <p:cNvSpPr txBox="1"/>
          <p:nvPr/>
        </p:nvSpPr>
        <p:spPr>
          <a:xfrm xmlns:a="http://schemas.openxmlformats.org/drawingml/2006/main">
            <a:off x="540000" y="198000"/>
            <a:ext cx="1980000" cy="180000"/>
          </a:xfrm>
          <a:prstGeom xmlns:a="http://schemas.openxmlformats.org/drawingml/2006/main" prst="rect">
            <a:avLst/>
          </a:prstGeom>
          <a:solidFill xmlns:a="http://schemas.openxmlformats.org/drawingml/2006/main">
            <a:srgbClr val="003A4A"/>
          </a:solidFill>
        </p:spPr>
        <p:txBody>
          <a:bodyPr xmlns:a="http://schemas.openxmlformats.org/drawingml/2006/main"/>
          <a:lstStyle xmlns:a="http://schemas.openxmlformats.org/drawingml/2006/main"/>
          <a:p xmlns:a="http://schemas.openxmlformats.org/drawingml/2006/main">
            <a:r>
              <a:rPr lang="en-US" sz="800" b="1">
                <a:solidFill>
                  <a:srgbClr val="80DEEA"/>
                </a:solidFill>
                <a:latin typeface="Calibri"/>
                <a:ea typeface="Calibri"/>
              </a:rPr>
              <a:t>MODULE 1: MATHEMATICS</a:t>
            </a:r>
          </a:p>
        </p:txBody>
      </p:sp>
      <p:sp>
        <p:nvSpPr>
          <p:cNvPr id="100032"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latin typeface="Calibri"/>
                <a:ea typeface="Calibri"/>
              </a:rPr>
              <a:t>Complex Numbers — The Language of Quantum Amplitudes</a:t>
            </a:r>
          </a:p>
        </p:txBody>
      </p:sp>
      <p:sp>
        <p:nvSpPr>
          <p:cNvPr id="100033" name="TitleLine"/>
          <p:cNvSpPr txBox="1"/>
          <p:nvPr/>
        </p:nvSpPr>
        <p:spPr>
          <a:xfrm xmlns:a="http://schemas.openxmlformats.org/drawingml/2006/main">
            <a:off x="540000" y="1026000"/>
            <a:ext cx="10800000" cy="288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34"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E3F2FD"/>
                </a:solidFill>
                <a:latin typeface="Calibri"/>
                <a:ea typeface="Calibri"/>
              </a:rPr>
              <a:t>A complex number z = a + bi where a, b ∈ ℝ and i² = -1</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  FORM                    FORMULA                           QUANTUM USE</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Rectangular form        z = a + bi                        State components α, β</a:t>
            </a:r>
          </a:p>
          <a:p xmlns:a="http://schemas.openxmlformats.org/drawingml/2006/main">
            <a:r>
              <a:rPr lang="en-US" sz="1400">
                <a:solidFill>
                  <a:srgbClr val="E3F2FD"/>
                </a:solidFill>
                <a:latin typeface="Calibri"/>
                <a:ea typeface="Calibri"/>
              </a:rPr>
              <a:t>  Polar form              z = r·e^(iθ) = r(cosθ + i·sinθ)  Phase representation</a:t>
            </a:r>
          </a:p>
          <a:p xmlns:a="http://schemas.openxmlformats.org/drawingml/2006/main">
            <a:r>
              <a:rPr lang="en-US" sz="1400">
                <a:solidFill>
                  <a:srgbClr val="E3F2FD"/>
                </a:solidFill>
                <a:latin typeface="Calibri"/>
                <a:ea typeface="Calibri"/>
              </a:rPr>
              <a:t>  Modulus (magnitude)     |z| = √(a² + b²)                 Probability: |α|² + |β|² = 1</a:t>
            </a:r>
          </a:p>
          <a:p xmlns:a="http://schemas.openxmlformats.org/drawingml/2006/main">
            <a:r>
              <a:rPr lang="en-US" sz="1400">
                <a:solidFill>
                  <a:srgbClr val="E3F2FD"/>
                </a:solidFill>
                <a:latin typeface="Calibri"/>
                <a:ea typeface="Calibri"/>
              </a:rPr>
              <a:t>  Complex conjugate       z* = a − bi                      Inner product ⟨ψ|ψ⟩ = ⟨ψ|*|ψ⟩</a:t>
            </a:r>
          </a:p>
          <a:p xmlns:a="http://schemas.openxmlformats.org/drawingml/2006/main">
            <a:r>
              <a:rPr lang="en-US" sz="1400">
                <a:solidFill>
                  <a:srgbClr val="E3F2FD"/>
                </a:solidFill>
                <a:latin typeface="Calibri"/>
                <a:ea typeface="Calibri"/>
              </a:rPr>
              <a:t>  Euler's formula         e^(iθ) = cosθ + i·sinθ           Phase gates, rotations</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Key Operations:</a:t>
            </a:r>
          </a:p>
          <a:p xmlns:a="http://schemas.openxmlformats.org/drawingml/2006/main">
            <a:r>
              <a:rPr lang="en-US" sz="1400">
                <a:solidFill>
                  <a:srgbClr val="E3F2FD"/>
                </a:solidFill>
                <a:latin typeface="Calibri"/>
                <a:ea typeface="Calibri"/>
              </a:rPr>
              <a:t>  Addition:          (a+bi) + (c+di) = (a+c) + (b+d)i</a:t>
            </a:r>
          </a:p>
          <a:p xmlns:a="http://schemas.openxmlformats.org/drawingml/2006/main">
            <a:r>
              <a:rPr lang="en-US" sz="1400">
                <a:solidFill>
                  <a:srgbClr val="E3F2FD"/>
                </a:solidFill>
                <a:latin typeface="Calibri"/>
                <a:ea typeface="Calibri"/>
              </a:rPr>
              <a:t>  Multiplication:    (a+bi)(c+di) = (ac−bd) + (ad+bc)i</a:t>
            </a:r>
          </a:p>
          <a:p xmlns:a="http://schemas.openxmlformats.org/drawingml/2006/main">
            <a:r>
              <a:rPr lang="en-US" sz="1400">
                <a:solidFill>
                  <a:srgbClr val="E3F2FD"/>
                </a:solidFill>
                <a:latin typeface="Calibri"/>
                <a:ea typeface="Calibri"/>
              </a:rPr>
              <a:t>  Division:          z/w = z·w*/|w|²</a:t>
            </a:r>
          </a:p>
          <a:p xmlns:a="http://schemas.openxmlformats.org/drawingml/2006/main">
            <a:r>
              <a:rPr lang="en-US" sz="1400">
                <a:solidFill>
                  <a:srgbClr val="E3F2FD"/>
                </a:solidFill>
                <a:latin typeface="Calibri"/>
                <a:ea typeface="Calibri"/>
              </a:rPr>
              <a:t>  Powers:            z^n = r^n · e^(inθ)    (De Moivre's theorem)</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Quantum Connection:</a:t>
            </a:r>
          </a:p>
          <a:p xmlns:a="http://schemas.openxmlformats.org/drawingml/2006/main">
            <a:r>
              <a:rPr lang="en-US" sz="1400">
                <a:solidFill>
                  <a:srgbClr val="E3F2FD"/>
                </a:solidFill>
                <a:latin typeface="Calibri"/>
                <a:ea typeface="Calibri"/>
              </a:rPr>
              <a:t>  ▪ A qubit state |ψ⟩ = α|0⟩ + β|1⟩ has COMPLEX amplitudes α and β</a:t>
            </a:r>
          </a:p>
          <a:p xmlns:a="http://schemas.openxmlformats.org/drawingml/2006/main">
            <a:r>
              <a:rPr lang="en-US" sz="1400">
                <a:solidFill>
                  <a:srgbClr val="E3F2FD"/>
                </a:solidFill>
                <a:latin typeface="Calibri"/>
                <a:ea typeface="Calibri"/>
              </a:rPr>
              <a:t>  ▪ The probability of measuring |0⟩ = |α|² (modulus squared)</a:t>
            </a:r>
          </a:p>
          <a:p xmlns:a="http://schemas.openxmlformats.org/drawingml/2006/main">
            <a:r>
              <a:rPr lang="en-US" sz="1400">
                <a:solidFill>
                  <a:srgbClr val="E3F2FD"/>
                </a:solidFill>
                <a:latin typeface="Calibri"/>
                <a:ea typeface="Calibri"/>
              </a:rPr>
              <a:t>  ▪ Phase (angle θ) is invisible at measurement but drives interference</a:t>
            </a:r>
          </a:p>
          <a:p xmlns:a="http://schemas.openxmlformats.org/drawingml/2006/main">
            <a:r>
              <a:rPr lang="en-US" sz="1400">
                <a:solidFill>
                  <a:srgbClr val="E3F2FD"/>
                </a:solidFill>
                <a:latin typeface="Calibri"/>
                <a:ea typeface="Calibri"/>
              </a:rPr>
              <a:t>  ▪ Quantum gates are complex unitary matrices: U†U = I</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Example — Phase Gate:</a:t>
            </a:r>
          </a:p>
          <a:p xmlns:a="http://schemas.openxmlformats.org/drawingml/2006/main">
            <a:r>
              <a:rPr lang="en-US" sz="1400">
                <a:solidFill>
                  <a:srgbClr val="E3F2FD"/>
                </a:solidFill>
                <a:latin typeface="Calibri"/>
                <a:ea typeface="Calibri"/>
              </a:rPr>
              <a:t>  R_z(θ)|0⟩ = |0⟩,    R_z(θ)|1⟩ = e^(iθ)|1⟩   (multiplies by e^(iθ))</a:t>
            </a:r>
          </a:p>
        </p:txBody>
      </p:sp>
      <p:sp>
        <p:nvSpPr>
          <p:cNvPr id="100035" name="Footer"/>
          <p:cNvSpPr txBox="1"/>
          <p:nvPr/>
        </p:nvSpPr>
        <p:spPr>
          <a:xfrm xmlns:a="http://schemas.openxmlformats.org/drawingml/2006/main">
            <a:off x="0" y="6408000"/>
            <a:ext cx="12193200" cy="180000"/>
          </a:xfrm>
          <a:prstGeom xmlns:a="http://schemas.openxmlformats.org/drawingml/2006/main" prst="rect">
            <a:avLst/>
          </a:prstGeom>
          <a:solidFill xmlns:a="http://schemas.openxmlformats.org/drawingml/2006/main">
            <a:srgbClr val="080F1A"/>
          </a:solidFill>
        </p:spPr>
        <p:txBody>
          <a:bodyPr xmlns:a="http://schemas.openxmlformats.org/drawingml/2006/main"/>
          <a:lstStyle xmlns:a="http://schemas.openxmlformats.org/drawingml/2006/main"/>
          <a:p xmlns:a="http://schemas.openxmlformats.org/drawingml/2006/main">
            <a:r>
              <a:rPr lang="en-US" sz="800">
                <a:solidFill>
                  <a:srgbClr val="546E7A"/>
                </a:solidFill>
                <a:latin typeface="Calibri"/>
                <a:ea typeface="Calibri"/>
              </a:rPr>
              <a:t>QUANTUM FALL FEST 2026  |  Quantum Computing Basics  |  Module 1: Mathematics</a:t>
            </a:r>
          </a:p>
        </p:txBody>
      </p:sp>
    </p:spTree>
  </p:cSld>
</p:sld>
</file>

<file path=ppt/slides/slide6.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36"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37" name="SlideNum"/>
          <p:cNvSpPr txBox="1"/>
          <p:nvPr/>
        </p:nvSpPr>
        <p:spPr>
          <a:xfrm xmlns:a="http://schemas.openxmlformats.org/drawingml/2006/main">
            <a:off x="6840000" y="198000"/>
            <a:ext cx="4860000" cy="18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80DEEA"/>
                </a:solidFill>
                <a:latin typeface="Calibri"/>
                <a:ea typeface="Calibri"/>
              </a:rPr>
              <a:t>06 / 65  |  VECTOR SPACES</a:t>
            </a:r>
          </a:p>
        </p:txBody>
      </p:sp>
      <p:sp>
        <p:nvSpPr>
          <p:cNvPr id="100038" name="SectionBadge"/>
          <p:cNvSpPr txBox="1"/>
          <p:nvPr/>
        </p:nvSpPr>
        <p:spPr>
          <a:xfrm xmlns:a="http://schemas.openxmlformats.org/drawingml/2006/main">
            <a:off x="540000" y="198000"/>
            <a:ext cx="1980000" cy="180000"/>
          </a:xfrm>
          <a:prstGeom xmlns:a="http://schemas.openxmlformats.org/drawingml/2006/main" prst="rect">
            <a:avLst/>
          </a:prstGeom>
          <a:solidFill xmlns:a="http://schemas.openxmlformats.org/drawingml/2006/main">
            <a:srgbClr val="003A4A"/>
          </a:solidFill>
        </p:spPr>
        <p:txBody>
          <a:bodyPr xmlns:a="http://schemas.openxmlformats.org/drawingml/2006/main"/>
          <a:lstStyle xmlns:a="http://schemas.openxmlformats.org/drawingml/2006/main"/>
          <a:p xmlns:a="http://schemas.openxmlformats.org/drawingml/2006/main">
            <a:r>
              <a:rPr lang="en-US" sz="800" b="1">
                <a:solidFill>
                  <a:srgbClr val="80DEEA"/>
                </a:solidFill>
                <a:latin typeface="Calibri"/>
                <a:ea typeface="Calibri"/>
              </a:rPr>
              <a:t>MODULE 1: MATHEMATICS</a:t>
            </a:r>
          </a:p>
        </p:txBody>
      </p:sp>
      <p:sp>
        <p:nvSpPr>
          <p:cNvPr id="100039"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900" b="1">
                <a:solidFill>
                  <a:srgbClr val="FFFFFF"/>
                </a:solidFill>
                <a:latin typeface="Calibri"/>
                <a:ea typeface="Calibri"/>
              </a:rPr>
              <a:t>Vector Spaces &amp; Hilbert Space — The Stage for Quantum States</a:t>
            </a:r>
          </a:p>
        </p:txBody>
      </p:sp>
      <p:sp>
        <p:nvSpPr>
          <p:cNvPr id="100040" name="TitleLine"/>
          <p:cNvSpPr txBox="1"/>
          <p:nvPr/>
        </p:nvSpPr>
        <p:spPr>
          <a:xfrm xmlns:a="http://schemas.openxmlformats.org/drawingml/2006/main">
            <a:off x="540000" y="1026000"/>
            <a:ext cx="10800000" cy="288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41"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E3F2FD"/>
                </a:solidFill>
                <a:latin typeface="Calibri"/>
                <a:ea typeface="Calibri"/>
              </a:rPr>
              <a:t>A vector space V over a field F satisfies 8 axioms (closure, associativity, identity, inverse, distributivity).</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Quantum states live in a special type of vector space: a HILBERT SPACE ℋ</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  PROPERTY                DEFINITION                              QUANTUM MEANING</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Complex vector space    Vectors have complex components           Amplitudes α, β ∈ ℂ</a:t>
            </a:r>
          </a:p>
          <a:p xmlns:a="http://schemas.openxmlformats.org/drawingml/2006/main">
            <a:r>
              <a:rPr lang="en-US" sz="1400">
                <a:solidFill>
                  <a:srgbClr val="E3F2FD"/>
                </a:solidFill>
                <a:latin typeface="Calibri"/>
                <a:ea typeface="Calibri"/>
              </a:rPr>
              <a:t>  Inner product ⟨·|·⟩     ⟨u|v⟩ = Σ uᵢ* vᵢ                        Overlap between states</a:t>
            </a:r>
          </a:p>
          <a:p xmlns:a="http://schemas.openxmlformats.org/drawingml/2006/main">
            <a:r>
              <a:rPr lang="en-US" sz="1400">
                <a:solidFill>
                  <a:srgbClr val="E3F2FD"/>
                </a:solidFill>
                <a:latin typeface="Calibri"/>
                <a:ea typeface="Calibri"/>
              </a:rPr>
              <a:t>  Norm ‖v‖               ‖v‖ = √⟨v|v⟩                             Normalization: ‖|ψ⟩‖ = 1</a:t>
            </a:r>
          </a:p>
          <a:p xmlns:a="http://schemas.openxmlformats.org/drawingml/2006/main">
            <a:r>
              <a:rPr lang="en-US" sz="1400">
                <a:solidFill>
                  <a:srgbClr val="E3F2FD"/>
                </a:solidFill>
                <a:latin typeface="Calibri"/>
                <a:ea typeface="Calibri"/>
              </a:rPr>
              <a:t>  Completeness            Every Cauchy sequence converges          Physical states are normalizable</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1-Qubit Hilbert Space  ℋ₁ = ℂ²:</a:t>
            </a:r>
          </a:p>
          <a:p xmlns:a="http://schemas.openxmlformats.org/drawingml/2006/main">
            <a:r>
              <a:rPr lang="en-US" sz="1400">
                <a:solidFill>
                  <a:srgbClr val="E3F2FD"/>
                </a:solidFill>
                <a:latin typeface="Calibri"/>
                <a:ea typeface="Calibri"/>
              </a:rPr>
              <a:t>  Basis vectors:  |0⟩ = [1, 0]ᵀ   |1⟩ = [0, 1]ᵀ</a:t>
            </a:r>
          </a:p>
          <a:p xmlns:a="http://schemas.openxmlformats.org/drawingml/2006/main">
            <a:r>
              <a:rPr lang="en-US" sz="1400">
                <a:solidFill>
                  <a:srgbClr val="E3F2FD"/>
                </a:solidFill>
                <a:latin typeface="Calibri"/>
                <a:ea typeface="Calibri"/>
              </a:rPr>
              <a:t>  General state:  |ψ⟩ = α|0⟩ + β|1⟩ = [α, β]ᵀ   where |α|² + |β|² = 1</a:t>
            </a:r>
          </a:p>
          <a:p xmlns:a="http://schemas.openxmlformats.org/drawingml/2006/main">
            <a:r>
              <a:rPr lang="en-US" sz="1400">
                <a:solidFill>
                  <a:srgbClr val="E3F2FD"/>
                </a:solidFill>
                <a:latin typeface="Calibri"/>
                <a:ea typeface="Calibri"/>
              </a:rPr>
              <a:t>  Dimension:      2</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n-Qubit Hilbert Space  ℋₙ = (ℂ²)^⊗n:</a:t>
            </a:r>
          </a:p>
          <a:p xmlns:a="http://schemas.openxmlformats.org/drawingml/2006/main">
            <a:r>
              <a:rPr lang="en-US" sz="1400">
                <a:solidFill>
                  <a:srgbClr val="E3F2FD"/>
                </a:solidFill>
                <a:latin typeface="Calibri"/>
                <a:ea typeface="Calibri"/>
              </a:rPr>
              <a:t>  Dimension:      2ⁿ</a:t>
            </a:r>
          </a:p>
          <a:p xmlns:a="http://schemas.openxmlformats.org/drawingml/2006/main">
            <a:r>
              <a:rPr lang="en-US" sz="1400">
                <a:solidFill>
                  <a:srgbClr val="E3F2FD"/>
                </a:solidFill>
                <a:latin typeface="Calibri"/>
                <a:ea typeface="Calibri"/>
              </a:rPr>
              <a:t>  2 qubits:       ℂ⁴  — basis {|00⟩, |01⟩, |10⟩, |11⟩}</a:t>
            </a:r>
          </a:p>
          <a:p xmlns:a="http://schemas.openxmlformats.org/drawingml/2006/main">
            <a:r>
              <a:rPr lang="en-US" sz="1400">
                <a:solidFill>
                  <a:srgbClr val="E3F2FD"/>
                </a:solidFill>
                <a:latin typeface="Calibri"/>
                <a:ea typeface="Calibri"/>
              </a:rPr>
              <a:t>  3 qubits:       ℂ⁸  — 8 basis states</a:t>
            </a:r>
          </a:p>
          <a:p xmlns:a="http://schemas.openxmlformats.org/drawingml/2006/main">
            <a:r>
              <a:rPr lang="en-US" sz="1400">
                <a:solidFill>
                  <a:srgbClr val="E3F2FD"/>
                </a:solidFill>
                <a:latin typeface="Calibri"/>
                <a:ea typeface="Calibri"/>
              </a:rPr>
              <a:t>  50 qubits:      ℂ^(2⁵⁰) ≈ 10¹⁵ — classical simulation intractable</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Orthonormal Basis:</a:t>
            </a:r>
          </a:p>
          <a:p xmlns:a="http://schemas.openxmlformats.org/drawingml/2006/main">
            <a:r>
              <a:rPr lang="en-US" sz="1400">
                <a:solidFill>
                  <a:srgbClr val="E3F2FD"/>
                </a:solidFill>
                <a:latin typeface="Calibri"/>
                <a:ea typeface="Calibri"/>
              </a:rPr>
              <a:t>  {|eᵢ⟩} is orthonormal if ⟨eᵢ|eⱼ⟩ = δᵢⱼ  (Kronecker delta)</a:t>
            </a:r>
          </a:p>
          <a:p xmlns:a="http://schemas.openxmlformats.org/drawingml/2006/main">
            <a:r>
              <a:rPr lang="en-US" sz="1400">
                <a:solidFill>
                  <a:srgbClr val="E3F2FD"/>
                </a:solidFill>
                <a:latin typeface="Calibri"/>
                <a:ea typeface="Calibri"/>
              </a:rPr>
              <a:t>  The computational basis {|0⟩, |1⟩} is orthonormal for 1 qubit.</a:t>
            </a:r>
          </a:p>
        </p:txBody>
      </p:sp>
      <p:sp>
        <p:nvSpPr>
          <p:cNvPr id="100042" name="Footer"/>
          <p:cNvSpPr txBox="1"/>
          <p:nvPr/>
        </p:nvSpPr>
        <p:spPr>
          <a:xfrm xmlns:a="http://schemas.openxmlformats.org/drawingml/2006/main">
            <a:off x="0" y="6408000"/>
            <a:ext cx="12193200" cy="180000"/>
          </a:xfrm>
          <a:prstGeom xmlns:a="http://schemas.openxmlformats.org/drawingml/2006/main" prst="rect">
            <a:avLst/>
          </a:prstGeom>
          <a:solidFill xmlns:a="http://schemas.openxmlformats.org/drawingml/2006/main">
            <a:srgbClr val="080F1A"/>
          </a:solidFill>
        </p:spPr>
        <p:txBody>
          <a:bodyPr xmlns:a="http://schemas.openxmlformats.org/drawingml/2006/main"/>
          <a:lstStyle xmlns:a="http://schemas.openxmlformats.org/drawingml/2006/main"/>
          <a:p xmlns:a="http://schemas.openxmlformats.org/drawingml/2006/main">
            <a:r>
              <a:rPr lang="en-US" sz="800">
                <a:solidFill>
                  <a:srgbClr val="546E7A"/>
                </a:solidFill>
                <a:latin typeface="Calibri"/>
                <a:ea typeface="Calibri"/>
              </a:rPr>
              <a:t>QUANTUM FALL FEST 2026  |  Quantum Computing Basics  |  Module 1: Mathematics</a:t>
            </a:r>
          </a:p>
        </p:txBody>
      </p:sp>
    </p:spTree>
  </p:cSld>
</p:sld>
</file>

<file path=ppt/slides/slide7.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43"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44" name="SlideNum"/>
          <p:cNvSpPr txBox="1"/>
          <p:nvPr/>
        </p:nvSpPr>
        <p:spPr>
          <a:xfrm xmlns:a="http://schemas.openxmlformats.org/drawingml/2006/main">
            <a:off x="6660000" y="198000"/>
            <a:ext cx="5040000" cy="18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80DEEA"/>
                </a:solidFill>
                <a:latin typeface="Calibri"/>
                <a:ea typeface="Calibri"/>
              </a:rPr>
              <a:t>07 / 65  |  DIRAC NOTATION</a:t>
            </a:r>
          </a:p>
        </p:txBody>
      </p:sp>
      <p:sp>
        <p:nvSpPr>
          <p:cNvPr id="100045" name="SectionBadge"/>
          <p:cNvSpPr txBox="1"/>
          <p:nvPr/>
        </p:nvSpPr>
        <p:spPr>
          <a:xfrm xmlns:a="http://schemas.openxmlformats.org/drawingml/2006/main">
            <a:off x="540000" y="198000"/>
            <a:ext cx="1980000" cy="180000"/>
          </a:xfrm>
          <a:prstGeom xmlns:a="http://schemas.openxmlformats.org/drawingml/2006/main" prst="rect">
            <a:avLst/>
          </a:prstGeom>
          <a:solidFill xmlns:a="http://schemas.openxmlformats.org/drawingml/2006/main">
            <a:srgbClr val="003A4A"/>
          </a:solidFill>
        </p:spPr>
        <p:txBody>
          <a:bodyPr xmlns:a="http://schemas.openxmlformats.org/drawingml/2006/main"/>
          <a:lstStyle xmlns:a="http://schemas.openxmlformats.org/drawingml/2006/main"/>
          <a:p xmlns:a="http://schemas.openxmlformats.org/drawingml/2006/main">
            <a:r>
              <a:rPr lang="en-US" sz="800" b="1">
                <a:solidFill>
                  <a:srgbClr val="80DEEA"/>
                </a:solidFill>
                <a:latin typeface="Calibri"/>
                <a:ea typeface="Calibri"/>
              </a:rPr>
              <a:t>MODULE 1: MATHEMATICS</a:t>
            </a:r>
          </a:p>
        </p:txBody>
      </p:sp>
      <p:sp>
        <p:nvSpPr>
          <p:cNvPr id="100046"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Dirac Notation — Bra-Ket Formalism</a:t>
            </a:r>
          </a:p>
        </p:txBody>
      </p:sp>
      <p:sp>
        <p:nvSpPr>
          <p:cNvPr id="100047" name="TitleLine"/>
          <p:cNvSpPr txBox="1"/>
          <p:nvPr/>
        </p:nvSpPr>
        <p:spPr>
          <a:xfrm xmlns:a="http://schemas.openxmlformats.org/drawingml/2006/main">
            <a:off x="540000" y="1026000"/>
            <a:ext cx="10800000" cy="288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48"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E3F2FD"/>
                </a:solidFill>
                <a:latin typeface="Calibri"/>
                <a:ea typeface="Calibri"/>
              </a:rPr>
              <a:t>Paul Dirac (1930) introduced a compact, powerful notation for quantum mechanics.</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  NOTATION       NAME         TYPE               MEANING</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|ψ⟩            Ket          Column vector      Quantum state (row in Hilbert space)</a:t>
            </a:r>
          </a:p>
          <a:p xmlns:a="http://schemas.openxmlformats.org/drawingml/2006/main">
            <a:r>
              <a:rPr lang="en-US" sz="1400">
                <a:solidFill>
                  <a:srgbClr val="E3F2FD"/>
                </a:solidFill>
                <a:latin typeface="Calibri"/>
                <a:ea typeface="Calibri"/>
              </a:rPr>
              <a:t>  ⟨ψ|            Bra          Row vector         Conjugate transpose of |ψ⟩</a:t>
            </a:r>
          </a:p>
          <a:p xmlns:a="http://schemas.openxmlformats.org/drawingml/2006/main">
            <a:r>
              <a:rPr lang="en-US" sz="1400">
                <a:solidFill>
                  <a:srgbClr val="E3F2FD"/>
                </a:solidFill>
                <a:latin typeface="Calibri"/>
                <a:ea typeface="Calibri"/>
              </a:rPr>
              <a:t>  ⟨φ|ψ⟩          Bracket      Scalar (complex)   Inner product: probability amplitude</a:t>
            </a:r>
          </a:p>
          <a:p xmlns:a="http://schemas.openxmlformats.org/drawingml/2006/main">
            <a:r>
              <a:rPr lang="en-US" sz="1400">
                <a:solidFill>
                  <a:srgbClr val="E3F2FD"/>
                </a:solidFill>
                <a:latin typeface="Calibri"/>
                <a:ea typeface="Calibri"/>
              </a:rPr>
              <a:t>  |φ⟩⟨ψ|         Outer product Matrix (operator)  Projection operator; density matrix</a:t>
            </a:r>
          </a:p>
          <a:p xmlns:a="http://schemas.openxmlformats.org/drawingml/2006/main">
            <a:r>
              <a:rPr lang="en-US" sz="1400">
                <a:solidFill>
                  <a:srgbClr val="E3F2FD"/>
                </a:solidFill>
                <a:latin typeface="Calibri"/>
                <a:ea typeface="Calibri"/>
              </a:rPr>
              <a:t>  ||||ψ⟩||²       Norm squared Real number         Total probability = 1</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Key Identities:</a:t>
            </a:r>
          </a:p>
          <a:p xmlns:a="http://schemas.openxmlformats.org/drawingml/2006/main">
            <a:r>
              <a:rPr lang="en-US" sz="1400">
                <a:solidFill>
                  <a:srgbClr val="E3F2FD"/>
                </a:solidFill>
                <a:latin typeface="Calibri"/>
                <a:ea typeface="Calibri"/>
              </a:rPr>
              <a:t>  ⟨0|0⟩ = 1,  ⟨1|1⟩ = 1,  ⟨0|1⟩ = 0,  ⟨1|0⟩ = 0   (computational basis orthonormal)</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  |ψ⟩ = α|0⟩ + β|1⟩  →  ⟨ψ| = α*⟨0| + β*⟨1|</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  Norm:  ⟨ψ|ψ⟩ = |α|² + |β|² = 1</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  Completeness (resolution of identity):  |0⟩⟨0| + |1⟩⟨1| = I</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  Expectation value of observable Â:  ⟨Â⟩ = ⟨ψ|Â|ψ⟩</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Matrix Representation:</a:t>
            </a:r>
          </a:p>
          <a:p xmlns:a="http://schemas.openxmlformats.org/drawingml/2006/main">
            <a:r>
              <a:rPr lang="en-US" sz="1400">
                <a:solidFill>
                  <a:srgbClr val="E3F2FD"/>
                </a:solidFill>
                <a:latin typeface="Calibri"/>
                <a:ea typeface="Calibri"/>
              </a:rPr>
              <a:t>  |0⟩ = [1]    |1⟩ = [0]    ⟨0| = [1, 0]    ⟨1| = [0, 1]</a:t>
            </a:r>
          </a:p>
          <a:p xmlns:a="http://schemas.openxmlformats.org/drawingml/2006/main">
            <a:r>
              <a:rPr lang="en-US" sz="1400">
                <a:solidFill>
                  <a:srgbClr val="E3F2FD"/>
                </a:solidFill>
                <a:latin typeface="Calibri"/>
                <a:ea typeface="Calibri"/>
              </a:rPr>
              <a:t>        [0]          [1]</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  |0⟩⟨0| = [1 0]    |1⟩⟨1| = [0 0]    |0⟩⟨1| = [0 1]</a:t>
            </a:r>
          </a:p>
          <a:p xmlns:a="http://schemas.openxmlformats.org/drawingml/2006/main">
            <a:r>
              <a:rPr lang="en-US" sz="1400">
                <a:solidFill>
                  <a:srgbClr val="E3F2FD"/>
                </a:solidFill>
                <a:latin typeface="Calibri"/>
                <a:ea typeface="Calibri"/>
              </a:rPr>
              <a:t>            [0 0]              [0 1]              [0 0]</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Quantum Connection: Every quantum gate, state, and measurement can be written in bra-ket.</a:t>
            </a:r>
          </a:p>
        </p:txBody>
      </p:sp>
      <p:sp>
        <p:nvSpPr>
          <p:cNvPr id="100049" name="Footer"/>
          <p:cNvSpPr txBox="1"/>
          <p:nvPr/>
        </p:nvSpPr>
        <p:spPr>
          <a:xfrm xmlns:a="http://schemas.openxmlformats.org/drawingml/2006/main">
            <a:off x="0" y="6408000"/>
            <a:ext cx="12193200" cy="180000"/>
          </a:xfrm>
          <a:prstGeom xmlns:a="http://schemas.openxmlformats.org/drawingml/2006/main" prst="rect">
            <a:avLst/>
          </a:prstGeom>
          <a:solidFill xmlns:a="http://schemas.openxmlformats.org/drawingml/2006/main">
            <a:srgbClr val="080F1A"/>
          </a:solidFill>
        </p:spPr>
        <p:txBody>
          <a:bodyPr xmlns:a="http://schemas.openxmlformats.org/drawingml/2006/main"/>
          <a:lstStyle xmlns:a="http://schemas.openxmlformats.org/drawingml/2006/main"/>
          <a:p xmlns:a="http://schemas.openxmlformats.org/drawingml/2006/main">
            <a:r>
              <a:rPr lang="en-US" sz="800">
                <a:solidFill>
                  <a:srgbClr val="546E7A"/>
                </a:solidFill>
                <a:latin typeface="Calibri"/>
                <a:ea typeface="Calibri"/>
              </a:rPr>
              <a:t>QUANTUM FALL FEST 2026  |  Quantum Computing Basics  |  Module 1: Mathematics</a:t>
            </a:r>
          </a:p>
        </p:txBody>
      </p:sp>
    </p:spTree>
  </p:cSld>
</p:sld>
</file>

<file path=ppt/slides/slide8.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50"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51" name="SlideNum"/>
          <p:cNvSpPr txBox="1"/>
          <p:nvPr/>
        </p:nvSpPr>
        <p:spPr>
          <a:xfrm xmlns:a="http://schemas.openxmlformats.org/drawingml/2006/main">
            <a:off x="6660000" y="198000"/>
            <a:ext cx="5040000" cy="18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80DEEA"/>
                </a:solidFill>
                <a:latin typeface="Calibri"/>
                <a:ea typeface="Calibri"/>
              </a:rPr>
              <a:t>08 / 65  |  LINEAR OPERATORS</a:t>
            </a:r>
          </a:p>
        </p:txBody>
      </p:sp>
      <p:sp>
        <p:nvSpPr>
          <p:cNvPr id="100052" name="SectionBadge"/>
          <p:cNvSpPr txBox="1"/>
          <p:nvPr/>
        </p:nvSpPr>
        <p:spPr>
          <a:xfrm xmlns:a="http://schemas.openxmlformats.org/drawingml/2006/main">
            <a:off x="540000" y="198000"/>
            <a:ext cx="1980000" cy="180000"/>
          </a:xfrm>
          <a:prstGeom xmlns:a="http://schemas.openxmlformats.org/drawingml/2006/main" prst="rect">
            <a:avLst/>
          </a:prstGeom>
          <a:solidFill xmlns:a="http://schemas.openxmlformats.org/drawingml/2006/main">
            <a:srgbClr val="003A4A"/>
          </a:solidFill>
        </p:spPr>
        <p:txBody>
          <a:bodyPr xmlns:a="http://schemas.openxmlformats.org/drawingml/2006/main"/>
          <a:lstStyle xmlns:a="http://schemas.openxmlformats.org/drawingml/2006/main"/>
          <a:p xmlns:a="http://schemas.openxmlformats.org/drawingml/2006/main">
            <a:r>
              <a:rPr lang="en-US" sz="800" b="1">
                <a:solidFill>
                  <a:srgbClr val="80DEEA"/>
                </a:solidFill>
                <a:latin typeface="Calibri"/>
                <a:ea typeface="Calibri"/>
              </a:rPr>
              <a:t>MODULE 1: MATHEMATICS</a:t>
            </a:r>
          </a:p>
        </p:txBody>
      </p:sp>
      <p:sp>
        <p:nvSpPr>
          <p:cNvPr id="100053"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900" b="1">
                <a:solidFill>
                  <a:srgbClr val="FFFFFF"/>
                </a:solidFill>
                <a:latin typeface="Calibri"/>
                <a:ea typeface="Calibri"/>
              </a:rPr>
              <a:t>Linear Operators &amp; Matrices — Quantum Gates in Mathematics</a:t>
            </a:r>
          </a:p>
        </p:txBody>
      </p:sp>
      <p:sp>
        <p:nvSpPr>
          <p:cNvPr id="100054" name="TitleLine"/>
          <p:cNvSpPr txBox="1"/>
          <p:nvPr/>
        </p:nvSpPr>
        <p:spPr>
          <a:xfrm xmlns:a="http://schemas.openxmlformats.org/drawingml/2006/main">
            <a:off x="540000" y="1026000"/>
            <a:ext cx="10800000" cy="288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55"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E3F2FD"/>
                </a:solidFill>
                <a:latin typeface="Calibri"/>
                <a:ea typeface="Calibri"/>
              </a:rPr>
              <a:t>A linear operator  A: V → V  satisfies  A(α|u⟩ + β|v⟩) = αA|u⟩ + βA|v⟩</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In finite-dimensional Hilbert space, every linear operator is a MATRIX.</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  KEY MATRICES IN QUANTUM COMPUTING:</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Identity        I = [[1,0],[0,1]]           Does nothing — preserves all states</a:t>
            </a:r>
          </a:p>
          <a:p xmlns:a="http://schemas.openxmlformats.org/drawingml/2006/main">
            <a:r>
              <a:rPr lang="en-US" sz="1400">
                <a:solidFill>
                  <a:srgbClr val="E3F2FD"/>
                </a:solidFill>
                <a:latin typeface="Calibri"/>
                <a:ea typeface="Calibri"/>
              </a:rPr>
              <a:t>  Pauli-X (NOT)   σₓ = [[0,1],[1,0]]          |0⟩↔|1⟩  (bit flip)</a:t>
            </a:r>
          </a:p>
          <a:p xmlns:a="http://schemas.openxmlformats.org/drawingml/2006/main">
            <a:r>
              <a:rPr lang="en-US" sz="1400">
                <a:solidFill>
                  <a:srgbClr val="E3F2FD"/>
                </a:solidFill>
                <a:latin typeface="Calibri"/>
                <a:ea typeface="Calibri"/>
              </a:rPr>
              <a:t>  Pauli-Y         σᵧ = [[0,-i],[i,0]]         Rotation about Y-axis of Bloch sphere</a:t>
            </a:r>
          </a:p>
          <a:p xmlns:a="http://schemas.openxmlformats.org/drawingml/2006/main">
            <a:r>
              <a:rPr lang="en-US" sz="1400">
                <a:solidFill>
                  <a:srgbClr val="E3F2FD"/>
                </a:solidFill>
                <a:latin typeface="Calibri"/>
                <a:ea typeface="Calibri"/>
              </a:rPr>
              <a:t>  Pauli-Z         σ_z = [[1,0],[0,-1]]         |1⟩ → -|1⟩  (phase flip)</a:t>
            </a:r>
          </a:p>
          <a:p xmlns:a="http://schemas.openxmlformats.org/drawingml/2006/main">
            <a:r>
              <a:rPr lang="en-US" sz="1400">
                <a:solidFill>
                  <a:srgbClr val="E3F2FD"/>
                </a:solidFill>
                <a:latin typeface="Calibri"/>
                <a:ea typeface="Calibri"/>
              </a:rPr>
              <a:t>  Hadamard        H = 1/√2 [[1,1],[1,-1]]     Creates equal superposition</a:t>
            </a:r>
          </a:p>
          <a:p xmlns:a="http://schemas.openxmlformats.org/drawingml/2006/main">
            <a:r>
              <a:rPr lang="en-US" sz="1400">
                <a:solidFill>
                  <a:srgbClr val="E3F2FD"/>
                </a:solidFill>
                <a:latin typeface="Calibri"/>
                <a:ea typeface="Calibri"/>
              </a:rPr>
              <a:t>  Phase           S = [[1,0],[0,i]]            Adds π/2 phase to |1⟩</a:t>
            </a:r>
          </a:p>
          <a:p xmlns:a="http://schemas.openxmlformats.org/drawingml/2006/main">
            <a:r>
              <a:rPr lang="en-US" sz="1400">
                <a:solidFill>
                  <a:srgbClr val="E3F2FD"/>
                </a:solidFill>
                <a:latin typeface="Calibri"/>
                <a:ea typeface="Calibri"/>
              </a:rPr>
              <a:t>  T-gate          T = [[1,0],[0,e^(iπ/4)]]    Adds π/4 phase to |1⟩</a:t>
            </a:r>
          </a:p>
          <a:p xmlns:a="http://schemas.openxmlformats.org/drawingml/2006/main">
            <a:r>
              <a:rPr lang="en-US" sz="1400">
                <a:solidFill>
                  <a:srgbClr val="E3F2FD"/>
                </a:solidFill>
                <a:latin typeface="Calibri"/>
                <a:ea typeface="Calibri"/>
              </a:rPr>
              <a:t>  CNOT (2-qubit)  4×4 matrix (see below)       Entangles two qubits</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CNOT Matrix (2-qubit):</a:t>
            </a:r>
          </a:p>
          <a:p xmlns:a="http://schemas.openxmlformats.org/drawingml/2006/main">
            <a:r>
              <a:rPr lang="en-US" sz="1400">
                <a:solidFill>
                  <a:srgbClr val="E3F2FD"/>
                </a:solidFill>
                <a:latin typeface="Calibri"/>
                <a:ea typeface="Calibri"/>
              </a:rPr>
              <a:t>  |00⟩ → |00⟩,  |01⟩ → |01⟩,  |10⟩ → |11⟩,  |11⟩ → |10⟩</a:t>
            </a:r>
          </a:p>
          <a:p xmlns:a="http://schemas.openxmlformats.org/drawingml/2006/main">
            <a:r>
              <a:rPr lang="en-US" sz="1400">
                <a:solidFill>
                  <a:srgbClr val="E3F2FD"/>
                </a:solidFill>
                <a:latin typeface="Calibri"/>
                <a:ea typeface="Calibri"/>
              </a:rPr>
              <a:t>  [[1,0,0,0],   ← |00⟩</a:t>
            </a:r>
          </a:p>
          <a:p xmlns:a="http://schemas.openxmlformats.org/drawingml/2006/main">
            <a:r>
              <a:rPr lang="en-US" sz="1400">
                <a:solidFill>
                  <a:srgbClr val="E3F2FD"/>
                </a:solidFill>
                <a:latin typeface="Calibri"/>
                <a:ea typeface="Calibri"/>
              </a:rPr>
              <a:t>   [0,1,0,0],   ← |01⟩</a:t>
            </a:r>
          </a:p>
          <a:p xmlns:a="http://schemas.openxmlformats.org/drawingml/2006/main">
            <a:r>
              <a:rPr lang="en-US" sz="1400">
                <a:solidFill>
                  <a:srgbClr val="E3F2FD"/>
                </a:solidFill>
                <a:latin typeface="Calibri"/>
                <a:ea typeface="Calibri"/>
              </a:rPr>
              <a:t>   [0,0,0,1],   ← |10⟩</a:t>
            </a:r>
          </a:p>
          <a:p xmlns:a="http://schemas.openxmlformats.org/drawingml/2006/main">
            <a:r>
              <a:rPr lang="en-US" sz="1400">
                <a:solidFill>
                  <a:srgbClr val="E3F2FD"/>
                </a:solidFill>
                <a:latin typeface="Calibri"/>
                <a:ea typeface="Calibri"/>
              </a:rPr>
              <a:t>   [0,0,1,0]]   ← |11⟩</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Matrix Multiplication = Applying gates in sequence:</a:t>
            </a:r>
          </a:p>
          <a:p xmlns:a="http://schemas.openxmlformats.org/drawingml/2006/main">
            <a:r>
              <a:rPr lang="en-US" sz="1400">
                <a:solidFill>
                  <a:srgbClr val="E3F2FD"/>
                </a:solidFill>
                <a:latin typeface="Calibri"/>
                <a:ea typeface="Calibri"/>
              </a:rPr>
              <a:t>  HXH = Z   (Hadamard conjugates X to Z — key identity in circuit design)</a:t>
            </a:r>
          </a:p>
          <a:p xmlns:a="http://schemas.openxmlformats.org/drawingml/2006/main">
            <a:r>
              <a:rPr lang="en-US" sz="1400">
                <a:solidFill>
                  <a:srgbClr val="E3F2FD"/>
                </a:solidFill>
                <a:latin typeface="Calibri"/>
                <a:ea typeface="Calibri"/>
              </a:rPr>
              <a:t>  Tr(AB) = Tr(BA)   (trace is cyclic — important in density matrix formalism)</a:t>
            </a:r>
          </a:p>
        </p:txBody>
      </p:sp>
      <p:sp>
        <p:nvSpPr>
          <p:cNvPr id="100056" name="Footer"/>
          <p:cNvSpPr txBox="1"/>
          <p:nvPr/>
        </p:nvSpPr>
        <p:spPr>
          <a:xfrm xmlns:a="http://schemas.openxmlformats.org/drawingml/2006/main">
            <a:off x="0" y="6408000"/>
            <a:ext cx="12193200" cy="180000"/>
          </a:xfrm>
          <a:prstGeom xmlns:a="http://schemas.openxmlformats.org/drawingml/2006/main" prst="rect">
            <a:avLst/>
          </a:prstGeom>
          <a:solidFill xmlns:a="http://schemas.openxmlformats.org/drawingml/2006/main">
            <a:srgbClr val="080F1A"/>
          </a:solidFill>
        </p:spPr>
        <p:txBody>
          <a:bodyPr xmlns:a="http://schemas.openxmlformats.org/drawingml/2006/main"/>
          <a:lstStyle xmlns:a="http://schemas.openxmlformats.org/drawingml/2006/main"/>
          <a:p xmlns:a="http://schemas.openxmlformats.org/drawingml/2006/main">
            <a:r>
              <a:rPr lang="en-US" sz="800">
                <a:solidFill>
                  <a:srgbClr val="546E7A"/>
                </a:solidFill>
                <a:latin typeface="Calibri"/>
                <a:ea typeface="Calibri"/>
              </a:rPr>
              <a:t>QUANTUM FALL FEST 2026  |  Quantum Computing Basics  |  Module 1: Mathematics</a:t>
            </a:r>
          </a:p>
        </p:txBody>
      </p:sp>
    </p:spTree>
  </p:cSld>
</p:sld>
</file>

<file path=ppt/slides/slide9.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57"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58" name="SlideNum"/>
          <p:cNvSpPr txBox="1"/>
          <p:nvPr/>
        </p:nvSpPr>
        <p:spPr>
          <a:xfrm xmlns:a="http://schemas.openxmlformats.org/drawingml/2006/main">
            <a:off x="6840000" y="198000"/>
            <a:ext cx="4860000" cy="18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80DEEA"/>
                </a:solidFill>
                <a:latin typeface="Calibri"/>
                <a:ea typeface="Calibri"/>
              </a:rPr>
              <a:t>09 / 65  |  EIGENVALUES</a:t>
            </a:r>
          </a:p>
        </p:txBody>
      </p:sp>
      <p:sp>
        <p:nvSpPr>
          <p:cNvPr id="100059" name="SectionBadge"/>
          <p:cNvSpPr txBox="1"/>
          <p:nvPr/>
        </p:nvSpPr>
        <p:spPr>
          <a:xfrm xmlns:a="http://schemas.openxmlformats.org/drawingml/2006/main">
            <a:off x="540000" y="198000"/>
            <a:ext cx="1980000" cy="180000"/>
          </a:xfrm>
          <a:prstGeom xmlns:a="http://schemas.openxmlformats.org/drawingml/2006/main" prst="rect">
            <a:avLst/>
          </a:prstGeom>
          <a:solidFill xmlns:a="http://schemas.openxmlformats.org/drawingml/2006/main">
            <a:srgbClr val="003A4A"/>
          </a:solidFill>
        </p:spPr>
        <p:txBody>
          <a:bodyPr xmlns:a="http://schemas.openxmlformats.org/drawingml/2006/main"/>
          <a:lstStyle xmlns:a="http://schemas.openxmlformats.org/drawingml/2006/main"/>
          <a:p xmlns:a="http://schemas.openxmlformats.org/drawingml/2006/main">
            <a:r>
              <a:rPr lang="en-US" sz="800" b="1">
                <a:solidFill>
                  <a:srgbClr val="80DEEA"/>
                </a:solidFill>
                <a:latin typeface="Calibri"/>
                <a:ea typeface="Calibri"/>
              </a:rPr>
              <a:t>MODULE 1: MATHEMATICS</a:t>
            </a:r>
          </a:p>
        </p:txBody>
      </p:sp>
      <p:sp>
        <p:nvSpPr>
          <p:cNvPr id="100060"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1">
                <a:solidFill>
                  <a:srgbClr val="FFFFFF"/>
                </a:solidFill>
                <a:latin typeface="Calibri"/>
                <a:ea typeface="Calibri"/>
              </a:rPr>
              <a:t>Eigenvalues &amp; Eigenvectors — Measurement Outcomes in Mathematics</a:t>
            </a:r>
          </a:p>
        </p:txBody>
      </p:sp>
      <p:sp>
        <p:nvSpPr>
          <p:cNvPr id="100061" name="TitleLine"/>
          <p:cNvSpPr txBox="1"/>
          <p:nvPr/>
        </p:nvSpPr>
        <p:spPr>
          <a:xfrm xmlns:a="http://schemas.openxmlformats.org/drawingml/2006/main">
            <a:off x="540000" y="1026000"/>
            <a:ext cx="10800000" cy="288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62"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E3F2FD"/>
                </a:solidFill>
                <a:latin typeface="Calibri"/>
                <a:ea typeface="Calibri"/>
              </a:rPr>
              <a:t>Definition: For matrix A, a non-zero vector |v⟩ is an eigenvector if  A|v⟩ = λ|v⟩  where λ is the eigenvalue.</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Finding Eigenvalues — Characteristic Equation:</a:t>
            </a:r>
          </a:p>
          <a:p xmlns:a="http://schemas.openxmlformats.org/drawingml/2006/main">
            <a:r>
              <a:rPr lang="en-US" sz="1400">
                <a:solidFill>
                  <a:srgbClr val="E3F2FD"/>
                </a:solidFill>
                <a:latin typeface="Calibri"/>
                <a:ea typeface="Calibri"/>
              </a:rPr>
              <a:t>  det(A − λI) = 0   →   Solve for λ</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Example — Pauli-Z matrix:</a:t>
            </a:r>
          </a:p>
          <a:p xmlns:a="http://schemas.openxmlformats.org/drawingml/2006/main">
            <a:r>
              <a:rPr lang="en-US" sz="1400">
                <a:solidFill>
                  <a:srgbClr val="E3F2FD"/>
                </a:solidFill>
                <a:latin typeface="Calibri"/>
                <a:ea typeface="Calibri"/>
              </a:rPr>
              <a:t>  σ_z = [[1, 0], [0, -1]]</a:t>
            </a:r>
          </a:p>
          <a:p xmlns:a="http://schemas.openxmlformats.org/drawingml/2006/main">
            <a:r>
              <a:rPr lang="en-US" sz="1400">
                <a:solidFill>
                  <a:srgbClr val="E3F2FD"/>
                </a:solidFill>
                <a:latin typeface="Calibri"/>
                <a:ea typeface="Calibri"/>
              </a:rPr>
              <a:t>  det(σ_z − λI) = (1−λ)(−1−λ) = 0   →   λ₁ = +1,  λ₂ = −1</a:t>
            </a:r>
          </a:p>
          <a:p xmlns:a="http://schemas.openxmlformats.org/drawingml/2006/main">
            <a:r>
              <a:rPr lang="en-US" sz="1400">
                <a:solidFill>
                  <a:srgbClr val="E3F2FD"/>
                </a:solidFill>
                <a:latin typeface="Calibri"/>
                <a:ea typeface="Calibri"/>
              </a:rPr>
              <a:t>  Eigenvectors:  λ=+1 → |0⟩ = [1,0]ᵀ     λ=−1 → |1⟩ = [0,1]ᵀ</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Example — Hadamard matrix:</a:t>
            </a:r>
          </a:p>
          <a:p xmlns:a="http://schemas.openxmlformats.org/drawingml/2006/main">
            <a:r>
              <a:rPr lang="en-US" sz="1400">
                <a:solidFill>
                  <a:srgbClr val="E3F2FD"/>
                </a:solidFill>
                <a:latin typeface="Calibri"/>
                <a:ea typeface="Calibri"/>
              </a:rPr>
              <a:t>  H = 1/√2 [[1,1],[1,-1]]</a:t>
            </a:r>
          </a:p>
          <a:p xmlns:a="http://schemas.openxmlformats.org/drawingml/2006/main">
            <a:r>
              <a:rPr lang="en-US" sz="1400">
                <a:solidFill>
                  <a:srgbClr val="E3F2FD"/>
                </a:solidFill>
                <a:latin typeface="Calibri"/>
                <a:ea typeface="Calibri"/>
              </a:rPr>
              <a:t>  Eigenvalues: λ = ±1</a:t>
            </a:r>
          </a:p>
          <a:p xmlns:a="http://schemas.openxmlformats.org/drawingml/2006/main">
            <a:r>
              <a:rPr lang="en-US" sz="1400">
                <a:solidFill>
                  <a:srgbClr val="E3F2FD"/>
                </a:solidFill>
                <a:latin typeface="Calibri"/>
                <a:ea typeface="Calibri"/>
              </a:rPr>
              <a:t>  Eigenvectors: |+⟩ = 1/√2(|0⟩+|1⟩),  |−⟩ = 1/√2(|0⟩−|1⟩)</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  CONCEPT                        MATHEMATICS          QUANTUM MEANING</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Eigenvalue equation            A|v⟩ = λ|v⟩          Observable gives value λ when measured</a:t>
            </a:r>
          </a:p>
          <a:p xmlns:a="http://schemas.openxmlformats.org/drawingml/2006/main">
            <a:r>
              <a:rPr lang="en-US" sz="1400">
                <a:solidFill>
                  <a:srgbClr val="E3F2FD"/>
                </a:solidFill>
                <a:latin typeface="Calibri"/>
                <a:ea typeface="Calibri"/>
              </a:rPr>
              <a:t>  Eigenvalue of Hermitian A      λ ∈ ℝ always          Measurement outcomes are real numbers</a:t>
            </a:r>
          </a:p>
          <a:p xmlns:a="http://schemas.openxmlformats.org/drawingml/2006/main">
            <a:r>
              <a:rPr lang="en-US" sz="1400">
                <a:solidFill>
                  <a:srgbClr val="E3F2FD"/>
                </a:solidFill>
                <a:latin typeface="Calibri"/>
                <a:ea typeface="Calibri"/>
              </a:rPr>
              <a:t>  Eigenvectors of Hermitian A    Orthogonal always     Distinct outcomes are distinguishable</a:t>
            </a:r>
          </a:p>
          <a:p xmlns:a="http://schemas.openxmlformats.org/drawingml/2006/main">
            <a:r>
              <a:rPr lang="en-US" sz="1400">
                <a:solidFill>
                  <a:srgbClr val="E3F2FD"/>
                </a:solidFill>
                <a:latin typeface="Calibri"/>
                <a:ea typeface="Calibri"/>
              </a:rPr>
              <a:t>  Spectral decomposition         A = Σλᵢ|eᵢ⟩⟨eᵢ|      Observables decomposed into outcomes</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Spectral Decomposition — used in Hamiltonians:</a:t>
            </a:r>
          </a:p>
          <a:p xmlns:a="http://schemas.openxmlformats.org/drawingml/2006/main">
            <a:r>
              <a:rPr lang="en-US" sz="1400">
                <a:solidFill>
                  <a:srgbClr val="E3F2FD"/>
                </a:solidFill>
                <a:latin typeface="Calibri"/>
                <a:ea typeface="Calibri"/>
              </a:rPr>
              <a:t>  H = Σ Eₙ|n⟩⟨n|   (Eₙ = energy eigenvalues, |n⟩ = energy eigenstates)</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Quantum Connection:</a:t>
            </a:r>
          </a:p>
          <a:p xmlns:a="http://schemas.openxmlformats.org/drawingml/2006/main">
            <a:r>
              <a:rPr lang="en-US" sz="1400">
                <a:solidFill>
                  <a:srgbClr val="E3F2FD"/>
                </a:solidFill>
                <a:latin typeface="Calibri"/>
                <a:ea typeface="Calibri"/>
              </a:rPr>
              <a:t>  ▪ Every quantum measurement corresponds to finding the eigenvalue of a Hermitian operator</a:t>
            </a:r>
          </a:p>
          <a:p xmlns:a="http://schemas.openxmlformats.org/drawingml/2006/main">
            <a:r>
              <a:rPr lang="en-US" sz="1400">
                <a:solidFill>
                  <a:srgbClr val="E3F2FD"/>
                </a:solidFill>
                <a:latin typeface="Calibri"/>
                <a:ea typeface="Calibri"/>
              </a:rPr>
              <a:t>  ▪ The measured value is ALWAYS an eigenvalue</a:t>
            </a:r>
          </a:p>
          <a:p xmlns:a="http://schemas.openxmlformats.org/drawingml/2006/main">
            <a:r>
              <a:rPr lang="en-US" sz="1400">
                <a:solidFill>
                  <a:srgbClr val="E3F2FD"/>
                </a:solidFill>
                <a:latin typeface="Calibri"/>
                <a:ea typeface="Calibri"/>
              </a:rPr>
              <a:t>  ▪ After measurement, the state COLLAPSES to the corresponding eigenvector</a:t>
            </a:r>
          </a:p>
        </p:txBody>
      </p:sp>
      <p:sp>
        <p:nvSpPr>
          <p:cNvPr id="100063" name="Footer"/>
          <p:cNvSpPr txBox="1"/>
          <p:nvPr/>
        </p:nvSpPr>
        <p:spPr>
          <a:xfrm xmlns:a="http://schemas.openxmlformats.org/drawingml/2006/main">
            <a:off x="0" y="6408000"/>
            <a:ext cx="12193200" cy="180000"/>
          </a:xfrm>
          <a:prstGeom xmlns:a="http://schemas.openxmlformats.org/drawingml/2006/main" prst="rect">
            <a:avLst/>
          </a:prstGeom>
          <a:solidFill xmlns:a="http://schemas.openxmlformats.org/drawingml/2006/main">
            <a:srgbClr val="080F1A"/>
          </a:solidFill>
        </p:spPr>
        <p:txBody>
          <a:bodyPr xmlns:a="http://schemas.openxmlformats.org/drawingml/2006/main"/>
          <a:lstStyle xmlns:a="http://schemas.openxmlformats.org/drawingml/2006/main"/>
          <a:p xmlns:a="http://schemas.openxmlformats.org/drawingml/2006/main">
            <a:r>
              <a:rPr lang="en-US" sz="800">
                <a:solidFill>
                  <a:srgbClr val="546E7A"/>
                </a:solidFill>
                <a:latin typeface="Calibri"/>
                <a:ea typeface="Calibri"/>
              </a:rPr>
              <a:t>QUANTUM FALL FEST 2026  |  Quantum Computing Basics  |  Module 1: Mathematics</a:t>
            </a:r>
          </a:p>
        </p:txBody>
      </p:sp>
    </p:spTree>
  </p:cSld>
</p:sld>
</file>

<file path=ppt/slides/slide10.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64"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65" name="SlideNum"/>
          <p:cNvSpPr txBox="1"/>
          <p:nvPr/>
        </p:nvSpPr>
        <p:spPr>
          <a:xfrm xmlns:a="http://schemas.openxmlformats.org/drawingml/2006/main">
            <a:off x="6300000" y="198000"/>
            <a:ext cx="5400000" cy="18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80DEEA"/>
                </a:solidFill>
                <a:latin typeface="Calibri"/>
                <a:ea typeface="Calibri"/>
              </a:rPr>
              <a:t>10 / 65  |  UNITARY &amp; HERMITIAN</a:t>
            </a:r>
          </a:p>
        </p:txBody>
      </p:sp>
      <p:sp>
        <p:nvSpPr>
          <p:cNvPr id="100066" name="SectionBadge"/>
          <p:cNvSpPr txBox="1"/>
          <p:nvPr/>
        </p:nvSpPr>
        <p:spPr>
          <a:xfrm xmlns:a="http://schemas.openxmlformats.org/drawingml/2006/main">
            <a:off x="540000" y="198000"/>
            <a:ext cx="1980000" cy="180000"/>
          </a:xfrm>
          <a:prstGeom xmlns:a="http://schemas.openxmlformats.org/drawingml/2006/main" prst="rect">
            <a:avLst/>
          </a:prstGeom>
          <a:solidFill xmlns:a="http://schemas.openxmlformats.org/drawingml/2006/main">
            <a:srgbClr val="003A4A"/>
          </a:solidFill>
        </p:spPr>
        <p:txBody>
          <a:bodyPr xmlns:a="http://schemas.openxmlformats.org/drawingml/2006/main"/>
          <a:lstStyle xmlns:a="http://schemas.openxmlformats.org/drawingml/2006/main"/>
          <a:p xmlns:a="http://schemas.openxmlformats.org/drawingml/2006/main">
            <a:r>
              <a:rPr lang="en-US" sz="800" b="1">
                <a:solidFill>
                  <a:srgbClr val="80DEEA"/>
                </a:solidFill>
                <a:latin typeface="Calibri"/>
                <a:ea typeface="Calibri"/>
              </a:rPr>
              <a:t>MODULE 1: MATHEMATICS</a:t>
            </a:r>
          </a:p>
        </p:txBody>
      </p:sp>
      <p:sp>
        <p:nvSpPr>
          <p:cNvPr id="100067"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latin typeface="Calibri"/>
                <a:ea typeface="Calibri"/>
              </a:rPr>
              <a:t>Unitary &amp; Hermitian Matrices — Gates and Observables</a:t>
            </a:r>
          </a:p>
        </p:txBody>
      </p:sp>
      <p:sp>
        <p:nvSpPr>
          <p:cNvPr id="100068" name="TitleLine"/>
          <p:cNvSpPr txBox="1"/>
          <p:nvPr/>
        </p:nvSpPr>
        <p:spPr>
          <a:xfrm xmlns:a="http://schemas.openxmlformats.org/drawingml/2006/main">
            <a:off x="540000" y="1026000"/>
            <a:ext cx="10800000" cy="288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69"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E3F2FD"/>
                </a:solidFill>
                <a:latin typeface="Calibri"/>
                <a:ea typeface="Calibri"/>
              </a:rPr>
              <a:t>Two matrix types are central to all of quantum computing:</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  PROPERTY           HERMITIAN (A† = A)                    UNITARY (U†U = I)</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Definition         A† = A  (self-adjoint)                U†U = UU† = I</a:t>
            </a:r>
          </a:p>
          <a:p xmlns:a="http://schemas.openxmlformats.org/drawingml/2006/main">
            <a:r>
              <a:rPr lang="en-US" sz="1400">
                <a:solidFill>
                  <a:srgbClr val="E3F2FD"/>
                </a:solidFill>
                <a:latin typeface="Calibri"/>
                <a:ea typeface="Calibri"/>
              </a:rPr>
              <a:t>  Eigenvalues        Always real (λ ∈ ℝ)                   Always on unit circle (|λ| = 1)</a:t>
            </a:r>
          </a:p>
          <a:p xmlns:a="http://schemas.openxmlformats.org/drawingml/2006/main">
            <a:r>
              <a:rPr lang="en-US" sz="1400">
                <a:solidFill>
                  <a:srgbClr val="E3F2FD"/>
                </a:solidFill>
                <a:latin typeface="Calibri"/>
                <a:ea typeface="Calibri"/>
              </a:rPr>
              <a:t>  Eigenvectors       Always orthogonal                      Always orthonormal</a:t>
            </a:r>
          </a:p>
          <a:p xmlns:a="http://schemas.openxmlformats.org/drawingml/2006/main">
            <a:r>
              <a:rPr lang="en-US" sz="1400">
                <a:solidFill>
                  <a:srgbClr val="E3F2FD"/>
                </a:solidFill>
                <a:latin typeface="Calibri"/>
                <a:ea typeface="Calibri"/>
              </a:rPr>
              <a:t>  Inverse            A⁻¹ exists if non-singular             U⁻¹ = U†  (always invertible)</a:t>
            </a:r>
          </a:p>
          <a:p xmlns:a="http://schemas.openxmlformats.org/drawingml/2006/main">
            <a:r>
              <a:rPr lang="en-US" sz="1400">
                <a:solidFill>
                  <a:srgbClr val="E3F2FD"/>
                </a:solidFill>
                <a:latin typeface="Calibri"/>
                <a:ea typeface="Calibri"/>
              </a:rPr>
              <a:t>  Preserves norm     No (in general)                        Yes: ‖U|ψ⟩‖ = ‖|ψ⟩‖</a:t>
            </a:r>
          </a:p>
          <a:p xmlns:a="http://schemas.openxmlformats.org/drawingml/2006/main">
            <a:r>
              <a:rPr lang="en-US" sz="1400">
                <a:solidFill>
                  <a:srgbClr val="E3F2FD"/>
                </a:solidFill>
                <a:latin typeface="Calibri"/>
                <a:ea typeface="Calibri"/>
              </a:rPr>
              <a:t>  Quantum role       Observables, Hamiltonians              Quantum gates, time evolution</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Conjugate Transpose (Dagger):</a:t>
            </a:r>
          </a:p>
          <a:p xmlns:a="http://schemas.openxmlformats.org/drawingml/2006/main">
            <a:r>
              <a:rPr lang="en-US" sz="1400">
                <a:solidFill>
                  <a:srgbClr val="E3F2FD"/>
                </a:solidFill>
                <a:latin typeface="Calibri"/>
                <a:ea typeface="Calibri"/>
              </a:rPr>
              <a:t>  For matrix A with entries Aᵢⱼ:  A† = (Aᵀ)* = (A*)ᵀ</a:t>
            </a:r>
          </a:p>
          <a:p xmlns:a="http://schemas.openxmlformats.org/drawingml/2006/main">
            <a:r>
              <a:rPr lang="en-US" sz="1400">
                <a:solidFill>
                  <a:srgbClr val="E3F2FD"/>
                </a:solidFill>
                <a:latin typeface="Calibri"/>
                <a:ea typeface="Calibri"/>
              </a:rPr>
              <a:t>  Example:  X = [[0,1],[1,0]]  →  X† = [[0,1],[1,0]] = X  (Hermitian AND Unitary)</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Why Unitary Gates?</a:t>
            </a:r>
          </a:p>
          <a:p xmlns:a="http://schemas.openxmlformats.org/drawingml/2006/main">
            <a:r>
              <a:rPr lang="en-US" sz="1400">
                <a:solidFill>
                  <a:srgbClr val="E3F2FD"/>
                </a:solidFill>
                <a:latin typeface="Calibri"/>
                <a:ea typeface="Calibri"/>
              </a:rPr>
              <a:t>  ▪ Quantum evolution must be REVERSIBLE — unitary matrices are invertible: U⁻¹ = U†</a:t>
            </a:r>
          </a:p>
          <a:p xmlns:a="http://schemas.openxmlformats.org/drawingml/2006/main">
            <a:r>
              <a:rPr lang="en-US" sz="1400">
                <a:solidFill>
                  <a:srgbClr val="E3F2FD"/>
                </a:solidFill>
                <a:latin typeface="Calibri"/>
                <a:ea typeface="Calibri"/>
              </a:rPr>
              <a:t>  ▪ Probabilities must sum to 1 — unitarity preserves the norm of quantum states</a:t>
            </a:r>
          </a:p>
          <a:p xmlns:a="http://schemas.openxmlformats.org/drawingml/2006/main">
            <a:r>
              <a:rPr lang="en-US" sz="1400">
                <a:solidFill>
                  <a:srgbClr val="E3F2FD"/>
                </a:solidFill>
                <a:latin typeface="Calibri"/>
                <a:ea typeface="Calibri"/>
              </a:rPr>
              <a:t>  ▪ Physically: unitary = time-reversible evolution via Schrödinger equation</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Special Case — Pauli matrices are BOTH Hermitian AND Unitary:</a:t>
            </a:r>
          </a:p>
          <a:p xmlns:a="http://schemas.openxmlformats.org/drawingml/2006/main">
            <a:r>
              <a:rPr lang="en-US" sz="1400">
                <a:solidFill>
                  <a:srgbClr val="E3F2FD"/>
                </a:solidFill>
                <a:latin typeface="Calibri"/>
                <a:ea typeface="Calibri"/>
              </a:rPr>
              <a:t>  σₓ† = σₓ,  σₓ†σₓ = I   ∴ σₓ is Hermitian (observable) AND Unitary (gate)</a:t>
            </a:r>
          </a:p>
          <a:p xmlns:a="http://schemas.openxmlformats.org/drawingml/2006/main">
            <a:r>
              <a:rPr lang="en-US" sz="1400">
                <a:solidFill>
                  <a:srgbClr val="E3F2FD"/>
                </a:solidFill>
                <a:latin typeface="Calibri"/>
                <a:ea typeface="Calibri"/>
              </a:rPr>
              <a:t>  Same for σᵧ and σ_z</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Hermitian-to-Unitary connection:</a:t>
            </a:r>
          </a:p>
          <a:p xmlns:a="http://schemas.openxmlformats.org/drawingml/2006/main">
            <a:r>
              <a:rPr lang="en-US" sz="1400">
                <a:solidFill>
                  <a:srgbClr val="E3F2FD"/>
                </a:solidFill>
                <a:latin typeface="Calibri"/>
                <a:ea typeface="Calibri"/>
              </a:rPr>
              <a:t>  Any Hermitian H generates unitary  U = e^(-iHt/ℏ)  (Schrödinger time evolution)</a:t>
            </a:r>
          </a:p>
        </p:txBody>
      </p:sp>
      <p:sp>
        <p:nvSpPr>
          <p:cNvPr id="100070" name="Footer"/>
          <p:cNvSpPr txBox="1"/>
          <p:nvPr/>
        </p:nvSpPr>
        <p:spPr>
          <a:xfrm xmlns:a="http://schemas.openxmlformats.org/drawingml/2006/main">
            <a:off x="0" y="6408000"/>
            <a:ext cx="12193200" cy="180000"/>
          </a:xfrm>
          <a:prstGeom xmlns:a="http://schemas.openxmlformats.org/drawingml/2006/main" prst="rect">
            <a:avLst/>
          </a:prstGeom>
          <a:solidFill xmlns:a="http://schemas.openxmlformats.org/drawingml/2006/main">
            <a:srgbClr val="080F1A"/>
          </a:solidFill>
        </p:spPr>
        <p:txBody>
          <a:bodyPr xmlns:a="http://schemas.openxmlformats.org/drawingml/2006/main"/>
          <a:lstStyle xmlns:a="http://schemas.openxmlformats.org/drawingml/2006/main"/>
          <a:p xmlns:a="http://schemas.openxmlformats.org/drawingml/2006/main">
            <a:r>
              <a:rPr lang="en-US" sz="800">
                <a:solidFill>
                  <a:srgbClr val="546E7A"/>
                </a:solidFill>
                <a:latin typeface="Calibri"/>
                <a:ea typeface="Calibri"/>
              </a:rPr>
              <a:t>QUANTUM FALL FEST 2026  |  Quantum Computing Basics  |  Module 1: Mathematics</a:t>
            </a:r>
          </a:p>
        </p:txBody>
      </p:sp>
    </p:spTree>
  </p:cSld>
</p:sld>
</file>

<file path=ppt/slides/slide11.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71"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72" name="SlideNum"/>
          <p:cNvSpPr txBox="1"/>
          <p:nvPr/>
        </p:nvSpPr>
        <p:spPr>
          <a:xfrm xmlns:a="http://schemas.openxmlformats.org/drawingml/2006/main">
            <a:off x="6660000" y="198000"/>
            <a:ext cx="5040000" cy="18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80DEEA"/>
                </a:solidFill>
                <a:latin typeface="Calibri"/>
                <a:ea typeface="Calibri"/>
              </a:rPr>
              <a:t>11 / 65  |  INNER PRODUCTS</a:t>
            </a:r>
          </a:p>
        </p:txBody>
      </p:sp>
      <p:sp>
        <p:nvSpPr>
          <p:cNvPr id="100073" name="SectionBadge"/>
          <p:cNvSpPr txBox="1"/>
          <p:nvPr/>
        </p:nvSpPr>
        <p:spPr>
          <a:xfrm xmlns:a="http://schemas.openxmlformats.org/drawingml/2006/main">
            <a:off x="540000" y="198000"/>
            <a:ext cx="1980000" cy="180000"/>
          </a:xfrm>
          <a:prstGeom xmlns:a="http://schemas.openxmlformats.org/drawingml/2006/main" prst="rect">
            <a:avLst/>
          </a:prstGeom>
          <a:solidFill xmlns:a="http://schemas.openxmlformats.org/drawingml/2006/main">
            <a:srgbClr val="003A4A"/>
          </a:solidFill>
        </p:spPr>
        <p:txBody>
          <a:bodyPr xmlns:a="http://schemas.openxmlformats.org/drawingml/2006/main"/>
          <a:lstStyle xmlns:a="http://schemas.openxmlformats.org/drawingml/2006/main"/>
          <a:p xmlns:a="http://schemas.openxmlformats.org/drawingml/2006/main">
            <a:r>
              <a:rPr lang="en-US" sz="800" b="1">
                <a:solidFill>
                  <a:srgbClr val="80DEEA"/>
                </a:solidFill>
                <a:latin typeface="Calibri"/>
                <a:ea typeface="Calibri"/>
              </a:rPr>
              <a:t>MODULE 1: MATHEMATICS</a:t>
            </a:r>
          </a:p>
        </p:txBody>
      </p:sp>
      <p:sp>
        <p:nvSpPr>
          <p:cNvPr id="100074"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900" b="1">
                <a:solidFill>
                  <a:srgbClr val="FFFFFF"/>
                </a:solidFill>
                <a:latin typeface="Calibri"/>
                <a:ea typeface="Calibri"/>
              </a:rPr>
              <a:t>Inner Products, Norms &amp; Orthogonality — Quantum Probability</a:t>
            </a:r>
          </a:p>
        </p:txBody>
      </p:sp>
      <p:sp>
        <p:nvSpPr>
          <p:cNvPr id="100075" name="TitleLine"/>
          <p:cNvSpPr txBox="1"/>
          <p:nvPr/>
        </p:nvSpPr>
        <p:spPr>
          <a:xfrm xmlns:a="http://schemas.openxmlformats.org/drawingml/2006/main">
            <a:off x="540000" y="1026000"/>
            <a:ext cx="10800000" cy="288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76"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E3F2FD"/>
                </a:solidFill>
                <a:latin typeface="Calibri"/>
                <a:ea typeface="Calibri"/>
              </a:rPr>
              <a:t>The inner product ⟨u|v⟩ in ℂⁿ is defined as:   ⟨u|v⟩ = Σᵢ uᵢ* vᵢ</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  PROPERTY                 FORMULA                        QUANTUM MEANING</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Conjugate symmetry       ⟨u|v⟩ = ⟨v|u⟩*                 Probability is real: ⟨ψ|ψ⟩ ∈ ℝ</a:t>
            </a:r>
          </a:p>
          <a:p xmlns:a="http://schemas.openxmlformats.org/drawingml/2006/main">
            <a:r>
              <a:rPr lang="en-US" sz="1400">
                <a:solidFill>
                  <a:srgbClr val="E3F2FD"/>
                </a:solidFill>
                <a:latin typeface="Calibri"/>
                <a:ea typeface="Calibri"/>
              </a:rPr>
              <a:t>  Linearity in 2nd arg     ⟨u|αv+βw⟩ = α⟨u|v⟩+β⟨u|w⟩     Superposition + linearity</a:t>
            </a:r>
          </a:p>
          <a:p xmlns:a="http://schemas.openxmlformats.org/drawingml/2006/main">
            <a:r>
              <a:rPr lang="en-US" sz="1400">
                <a:solidFill>
                  <a:srgbClr val="E3F2FD"/>
                </a:solidFill>
                <a:latin typeface="Calibri"/>
                <a:ea typeface="Calibri"/>
              </a:rPr>
              <a:t>  Positive definiteness    ⟨v|v⟩ ≥ 0, = 0 iff v=0         Probability ≥ 0</a:t>
            </a:r>
          </a:p>
          <a:p xmlns:a="http://schemas.openxmlformats.org/drawingml/2006/main">
            <a:r>
              <a:rPr lang="en-US" sz="1400">
                <a:solidFill>
                  <a:srgbClr val="E3F2FD"/>
                </a:solidFill>
                <a:latin typeface="Calibri"/>
                <a:ea typeface="Calibri"/>
              </a:rPr>
              <a:t>  Norm (length)            ‖v‖ = √⟨v|v⟩                   Normalization condition</a:t>
            </a:r>
          </a:p>
          <a:p xmlns:a="http://schemas.openxmlformats.org/drawingml/2006/main">
            <a:r>
              <a:rPr lang="en-US" sz="1400">
                <a:solidFill>
                  <a:srgbClr val="E3F2FD"/>
                </a:solidFill>
                <a:latin typeface="Calibri"/>
                <a:ea typeface="Calibri"/>
              </a:rPr>
              <a:t>  Orthogonality            ⟨u|v⟩ = 0                       States are distinguishable</a:t>
            </a:r>
          </a:p>
          <a:p xmlns:a="http://schemas.openxmlformats.org/drawingml/2006/main">
            <a:r>
              <a:rPr lang="en-US" sz="1400">
                <a:solidFill>
                  <a:srgbClr val="E3F2FD"/>
                </a:solidFill>
                <a:latin typeface="Calibri"/>
                <a:ea typeface="Calibri"/>
              </a:rPr>
              <a:t>  Orthonormality           ⟨eᵢ|eⱼ⟩ = δᵢⱼ                  Computational basis states</a:t>
            </a:r>
          </a:p>
          <a:p xmlns:a="http://schemas.openxmlformats.org/drawingml/2006/main">
            <a:r>
              <a:rPr lang="en-US" sz="1400">
                <a:solidFill>
                  <a:srgbClr val="E3F2FD"/>
                </a:solidFill>
                <a:latin typeface="Calibri"/>
                <a:ea typeface="Calibri"/>
              </a:rPr>
              <a:t>  ─────────────────────────────────────────────────────────────────────────────────</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Born Rule (The Probability Rule):</a:t>
            </a:r>
          </a:p>
          <a:p xmlns:a="http://schemas.openxmlformats.org/drawingml/2006/main">
            <a:r>
              <a:rPr lang="en-US" sz="1400">
                <a:solidFill>
                  <a:srgbClr val="E3F2FD"/>
                </a:solidFill>
                <a:latin typeface="Calibri"/>
                <a:ea typeface="Calibri"/>
              </a:rPr>
              <a:t>  If |ψ⟩ = Σ cₙ|n⟩, the probability of measuring outcome n is:   P(n) = |cₙ|² = |⟨n|ψ⟩|²</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Orthonormal Bases — Change of Basis:</a:t>
            </a:r>
          </a:p>
          <a:p xmlns:a="http://schemas.openxmlformats.org/drawingml/2006/main">
            <a:r>
              <a:rPr lang="en-US" sz="1400">
                <a:solidFill>
                  <a:srgbClr val="E3F2FD"/>
                </a:solidFill>
                <a:latin typeface="Calibri"/>
                <a:ea typeface="Calibri"/>
              </a:rPr>
              <a:t>  Any orthonormal basis {|eᵢ⟩} satisfies:  |ψ⟩ = Σᵢ ⟨eᵢ|ψ⟩ |eᵢ⟩</a:t>
            </a:r>
          </a:p>
          <a:p xmlns:a="http://schemas.openxmlformats.org/drawingml/2006/main">
            <a:r>
              <a:rPr lang="en-US" sz="1400">
                <a:solidFill>
                  <a:srgbClr val="E3F2FD"/>
                </a:solidFill>
                <a:latin typeface="Calibri"/>
                <a:ea typeface="Calibri"/>
              </a:rPr>
              <a:t>  Change of basis matrix: Uᵢⱼ = ⟨eᵢ|fⱼ⟩  (unitary!)</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Gram-Schmidt Orthogonalization:</a:t>
            </a:r>
          </a:p>
          <a:p xmlns:a="http://schemas.openxmlformats.org/drawingml/2006/main">
            <a:r>
              <a:rPr lang="en-US" sz="1400">
                <a:solidFill>
                  <a:srgbClr val="E3F2FD"/>
                </a:solidFill>
                <a:latin typeface="Calibri"/>
                <a:ea typeface="Calibri"/>
              </a:rPr>
              <a:t>  Given any linearly independent set {|v₁⟩, ..., |vₙ⟩}, construct orthonormal basis:</a:t>
            </a:r>
          </a:p>
          <a:p xmlns:a="http://schemas.openxmlformats.org/drawingml/2006/main">
            <a:r>
              <a:rPr lang="en-US" sz="1400">
                <a:solidFill>
                  <a:srgbClr val="E3F2FD"/>
                </a:solidFill>
                <a:latin typeface="Calibri"/>
                <a:ea typeface="Calibri"/>
              </a:rPr>
              <a:t>  |e₁⟩ = |v₁⟩/‖v₁‖</a:t>
            </a:r>
          </a:p>
          <a:p xmlns:a="http://schemas.openxmlformats.org/drawingml/2006/main">
            <a:r>
              <a:rPr lang="en-US" sz="1400">
                <a:solidFill>
                  <a:srgbClr val="E3F2FD"/>
                </a:solidFill>
                <a:latin typeface="Calibri"/>
                <a:ea typeface="Calibri"/>
              </a:rPr>
              <a:t>  |e₂⟩ = (|v₂⟩ − ⟨e₁|v₂⟩|e₁⟩) / ‖ · ‖</a:t>
            </a:r>
          </a:p>
          <a:p xmlns:a="http://schemas.openxmlformats.org/drawingml/2006/main">
            <a:r>
              <a:rPr lang="en-US" sz="1400">
                <a:solidFill>
                  <a:srgbClr val="E3F2FD"/>
                </a:solidFill>
                <a:latin typeface="Calibri"/>
                <a:ea typeface="Calibri"/>
              </a:rPr>
              <a:t>  ... (repeat for each vector)</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Quantum Connection:</a:t>
            </a:r>
          </a:p>
          <a:p xmlns:a="http://schemas.openxmlformats.org/drawingml/2006/main">
            <a:r>
              <a:rPr lang="en-US" sz="1400">
                <a:solidFill>
                  <a:srgbClr val="E3F2FD"/>
                </a:solidFill>
                <a:latin typeface="Calibri"/>
                <a:ea typeface="Calibri"/>
              </a:rPr>
              <a:t>  ▪ ⟨0|ψ⟩ = α  gives the amplitude for measuring 0</a:t>
            </a:r>
          </a:p>
          <a:p xmlns:a="http://schemas.openxmlformats.org/drawingml/2006/main">
            <a:r>
              <a:rPr lang="en-US" sz="1400">
                <a:solidFill>
                  <a:srgbClr val="E3F2FD"/>
                </a:solidFill>
                <a:latin typeface="Calibri"/>
                <a:ea typeface="Calibri"/>
              </a:rPr>
              <a:t>  ▪ |⟨0|ψ⟩|² = |α|²  gives the probability of measuring 0</a:t>
            </a:r>
          </a:p>
          <a:p xmlns:a="http://schemas.openxmlformats.org/drawingml/2006/main">
            <a:r>
              <a:rPr lang="en-US" sz="1400">
                <a:solidFill>
                  <a:srgbClr val="E3F2FD"/>
                </a:solidFill>
                <a:latin typeface="Calibri"/>
                <a:ea typeface="Calibri"/>
              </a:rPr>
              <a:t>  ▪ Orthogonal states = perfectly distinguishable quantum states</a:t>
            </a:r>
          </a:p>
        </p:txBody>
      </p:sp>
      <p:sp>
        <p:nvSpPr>
          <p:cNvPr id="100077" name="Footer"/>
          <p:cNvSpPr txBox="1"/>
          <p:nvPr/>
        </p:nvSpPr>
        <p:spPr>
          <a:xfrm xmlns:a="http://schemas.openxmlformats.org/drawingml/2006/main">
            <a:off x="0" y="6408000"/>
            <a:ext cx="12193200" cy="180000"/>
          </a:xfrm>
          <a:prstGeom xmlns:a="http://schemas.openxmlformats.org/drawingml/2006/main" prst="rect">
            <a:avLst/>
          </a:prstGeom>
          <a:solidFill xmlns:a="http://schemas.openxmlformats.org/drawingml/2006/main">
            <a:srgbClr val="080F1A"/>
          </a:solidFill>
        </p:spPr>
        <p:txBody>
          <a:bodyPr xmlns:a="http://schemas.openxmlformats.org/drawingml/2006/main"/>
          <a:lstStyle xmlns:a="http://schemas.openxmlformats.org/drawingml/2006/main"/>
          <a:p xmlns:a="http://schemas.openxmlformats.org/drawingml/2006/main">
            <a:r>
              <a:rPr lang="en-US" sz="800">
                <a:solidFill>
                  <a:srgbClr val="546E7A"/>
                </a:solidFill>
                <a:latin typeface="Calibri"/>
                <a:ea typeface="Calibri"/>
              </a:rPr>
              <a:t>QUANTUM FALL FEST 2026  |  Quantum Computing Basics  |  Module 1: Mathematics</a:t>
            </a:r>
          </a:p>
        </p:txBody>
      </p:sp>
    </p:spTree>
  </p:cSld>
</p:sld>
</file>

<file path=ppt/slides/slide12.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78" name="Top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79" name="SlideNum"/>
          <p:cNvSpPr txBox="1"/>
          <p:nvPr/>
        </p:nvSpPr>
        <p:spPr>
          <a:xfrm xmlns:a="http://schemas.openxmlformats.org/drawingml/2006/main">
            <a:off x="6660000" y="198000"/>
            <a:ext cx="5040000" cy="18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000">
                <a:solidFill>
                  <a:srgbClr val="80DEEA"/>
                </a:solidFill>
                <a:latin typeface="Calibri"/>
                <a:ea typeface="Calibri"/>
              </a:rPr>
              <a:t>12 / 65  |  TENSOR PRODUCTS</a:t>
            </a:r>
          </a:p>
        </p:txBody>
      </p:sp>
      <p:sp>
        <p:nvSpPr>
          <p:cNvPr id="100080" name="SectionBadge"/>
          <p:cNvSpPr txBox="1"/>
          <p:nvPr/>
        </p:nvSpPr>
        <p:spPr>
          <a:xfrm xmlns:a="http://schemas.openxmlformats.org/drawingml/2006/main">
            <a:off x="540000" y="198000"/>
            <a:ext cx="1980000" cy="180000"/>
          </a:xfrm>
          <a:prstGeom xmlns:a="http://schemas.openxmlformats.org/drawingml/2006/main" prst="rect">
            <a:avLst/>
          </a:prstGeom>
          <a:solidFill xmlns:a="http://schemas.openxmlformats.org/drawingml/2006/main">
            <a:srgbClr val="003A4A"/>
          </a:solidFill>
        </p:spPr>
        <p:txBody>
          <a:bodyPr xmlns:a="http://schemas.openxmlformats.org/drawingml/2006/main"/>
          <a:lstStyle xmlns:a="http://schemas.openxmlformats.org/drawingml/2006/main"/>
          <a:p xmlns:a="http://schemas.openxmlformats.org/drawingml/2006/main">
            <a:r>
              <a:rPr lang="en-US" sz="800" b="1">
                <a:solidFill>
                  <a:srgbClr val="80DEEA"/>
                </a:solidFill>
                <a:latin typeface="Calibri"/>
                <a:ea typeface="Calibri"/>
              </a:rPr>
              <a:t>MODULE 1: MATHEMATICS</a:t>
            </a:r>
          </a:p>
        </p:txBody>
      </p:sp>
      <p:sp>
        <p:nvSpPr>
          <p:cNvPr id="100081"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latin typeface="Calibri"/>
                <a:ea typeface="Calibri"/>
              </a:rPr>
              <a:t>Tensor Products — Building Multi-Qubit Systems</a:t>
            </a:r>
          </a:p>
        </p:txBody>
      </p:sp>
      <p:sp>
        <p:nvSpPr>
          <p:cNvPr id="100082" name="TitleLine"/>
          <p:cNvSpPr txBox="1"/>
          <p:nvPr/>
        </p:nvSpPr>
        <p:spPr>
          <a:xfrm xmlns:a="http://schemas.openxmlformats.org/drawingml/2006/main">
            <a:off x="540000" y="1026000"/>
            <a:ext cx="10800000" cy="288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083" name="Body"/>
          <p:cNvSpPr txBox="1"/>
          <p:nvPr/>
        </p:nvSpPr>
        <p:spPr>
          <a:xfrm xmlns:a="http://schemas.openxmlformats.org/drawingml/2006/main">
            <a:off x="540000" y="1116000"/>
            <a:ext cx="10800000" cy="52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E3F2FD"/>
                </a:solidFill>
                <a:latin typeface="Calibri"/>
                <a:ea typeface="Calibri"/>
              </a:rPr>
              <a:t>The tensor product (⊗) combines two vector spaces into a larger one: ℋ₁ ⊗ ℋ₂</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Definition for vectors:  |u⟩ ⊗ |v⟩ = |uv⟩  (often written |u⟩|v⟩ or |u,v⟩)</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Matrix Kronecker Product:</a:t>
            </a:r>
          </a:p>
          <a:p xmlns:a="http://schemas.openxmlformats.org/drawingml/2006/main">
            <a:r>
              <a:rPr lang="en-US" sz="1400">
                <a:solidFill>
                  <a:srgbClr val="E3F2FD"/>
                </a:solidFill>
                <a:latin typeface="Calibri"/>
                <a:ea typeface="Calibri"/>
              </a:rPr>
              <a:t>  A ⊗ B = [[a₁₁B, a₁₂B, ...],   (multiply each element of A by entire matrix B)</a:t>
            </a:r>
          </a:p>
          <a:p xmlns:a="http://schemas.openxmlformats.org/drawingml/2006/main">
            <a:r>
              <a:rPr lang="en-US" sz="1400">
                <a:solidFill>
                  <a:srgbClr val="E3F2FD"/>
                </a:solidFill>
                <a:latin typeface="Calibri"/>
                <a:ea typeface="Calibri"/>
              </a:rPr>
              <a:t>           [a₂₁B, a₂₂B, ...], ...]</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Example — 2-Qubit Basis States:</a:t>
            </a:r>
          </a:p>
          <a:p xmlns:a="http://schemas.openxmlformats.org/drawingml/2006/main">
            <a:r>
              <a:rPr lang="en-US" sz="1400">
                <a:solidFill>
                  <a:srgbClr val="E3F2FD"/>
                </a:solidFill>
                <a:latin typeface="Calibri"/>
                <a:ea typeface="Calibri"/>
              </a:rPr>
              <a:t>  |00⟩ = |0⟩⊗|0⟩ = [1]⊗[1] = [1,0,0,0]ᵀ</a:t>
            </a:r>
          </a:p>
          <a:p xmlns:a="http://schemas.openxmlformats.org/drawingml/2006/main">
            <a:r>
              <a:rPr lang="en-US" sz="1400">
                <a:solidFill>
                  <a:srgbClr val="E3F2FD"/>
                </a:solidFill>
                <a:latin typeface="Calibri"/>
                <a:ea typeface="Calibri"/>
              </a:rPr>
              <a:t>                  [0]  [0]</a:t>
            </a:r>
          </a:p>
          <a:p xmlns:a="http://schemas.openxmlformats.org/drawingml/2006/main">
            <a:r>
              <a:rPr lang="en-US" sz="1400">
                <a:solidFill>
                  <a:srgbClr val="E3F2FD"/>
                </a:solidFill>
                <a:latin typeface="Calibri"/>
                <a:ea typeface="Calibri"/>
              </a:rPr>
              <a:t>  |01⟩ = |0⟩⊗|1⟩ = [0,1,0,0]ᵀ</a:t>
            </a:r>
          </a:p>
          <a:p xmlns:a="http://schemas.openxmlformats.org/drawingml/2006/main">
            <a:r>
              <a:rPr lang="en-US" sz="1400">
                <a:solidFill>
                  <a:srgbClr val="E3F2FD"/>
                </a:solidFill>
                <a:latin typeface="Calibri"/>
                <a:ea typeface="Calibri"/>
              </a:rPr>
              <a:t>  |10⟩ = [0,0,1,0]ᵀ    |11⟩ = [0,0,0,1]ᵀ</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Example — Separable 2-Qubit State:</a:t>
            </a:r>
          </a:p>
          <a:p xmlns:a="http://schemas.openxmlformats.org/drawingml/2006/main">
            <a:r>
              <a:rPr lang="en-US" sz="1400">
                <a:solidFill>
                  <a:srgbClr val="E3F2FD"/>
                </a:solidFill>
                <a:latin typeface="Calibri"/>
                <a:ea typeface="Calibri"/>
              </a:rPr>
              <a:t>  |ψ⟩ = |+⟩|0⟩ = 1/√2(|0⟩+|1⟩)⊗|0⟩ = 1/√2(|00⟩+|10⟩)</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Entangled State — CANNOT be written as tensor product:</a:t>
            </a:r>
          </a:p>
          <a:p xmlns:a="http://schemas.openxmlformats.org/drawingml/2006/main">
            <a:r>
              <a:rPr lang="en-US" sz="1400">
                <a:solidFill>
                  <a:srgbClr val="E3F2FD"/>
                </a:solidFill>
                <a:latin typeface="Calibri"/>
                <a:ea typeface="Calibri"/>
              </a:rPr>
              <a:t>  |Φ⁺⟩ = 1/√2(|00⟩+|11⟩)   ≠   |u⟩⊗|v⟩ for any |u⟩,|v⟩</a:t>
            </a:r>
          </a:p>
          <a:p xmlns:a="http://schemas.openxmlformats.org/drawingml/2006/main">
            <a:r>
              <a:rPr lang="en-US" sz="1400">
                <a:solidFill>
                  <a:srgbClr val="E3F2FD"/>
                </a:solidFill>
                <a:latin typeface="Calibri"/>
                <a:ea typeface="Calibri"/>
              </a:rPr>
              <a:t>  This is the mathematical definition of ENTANGLEMENT.</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Gate on Multi-Qubit System:</a:t>
            </a:r>
          </a:p>
          <a:p xmlns:a="http://schemas.openxmlformats.org/drawingml/2006/main">
            <a:r>
              <a:rPr lang="en-US" sz="1400">
                <a:solidFill>
                  <a:srgbClr val="E3F2FD"/>
                </a:solidFill>
                <a:latin typeface="Calibri"/>
                <a:ea typeface="Calibri"/>
              </a:rPr>
              <a:t>  Apply H to qubit 0, I to qubit 1:  (H⊗I)|00⟩ = H|0⟩ ⊗ I|0⟩ = |+⟩|0⟩</a:t>
            </a:r>
          </a:p>
          <a:p xmlns:a="http://schemas.openxmlformats.org/drawingml/2006/main">
            <a:r>
              <a:rPr lang="en-US" sz="1400">
                <a:solidFill>
                  <a:srgbClr val="E3F2FD"/>
                </a:solidFill>
                <a:latin typeface="Calibri"/>
                <a:ea typeface="Calibri"/>
              </a:rPr>
              <a:t>  H⊗I = 1/√2 [[1,0,1,0],[0,1,0,1],[1,0,-1,0],[0,1,0,-1]]  (4×4 matrix)</a:t>
            </a:r>
          </a:p>
          <a:p xmlns:a="http://schemas.openxmlformats.org/drawingml/2006/main">
            <a:r>
              <a:rPr lang="en-US" sz="1400">
                <a:solidFill>
                  <a:srgbClr val="E3F2FD"/>
                </a:solidFill>
                <a:latin typeface="Calibri"/>
                <a:ea typeface="Calibri"/>
              </a:rPr>
              <a:t/>
            </a:r>
          </a:p>
          <a:p xmlns:a="http://schemas.openxmlformats.org/drawingml/2006/main">
            <a:r>
              <a:rPr lang="en-US" sz="1400">
                <a:solidFill>
                  <a:srgbClr val="E3F2FD"/>
                </a:solidFill>
                <a:latin typeface="Calibri"/>
                <a:ea typeface="Calibri"/>
              </a:rPr>
              <a:t>Scaling:  n qubits requires 2ⁿ×2ⁿ matrices → classical simulation exponential in n</a:t>
            </a:r>
          </a:p>
        </p:txBody>
      </p:sp>
      <p:sp>
        <p:nvSpPr>
          <p:cNvPr id="100084" name="Footer"/>
          <p:cNvSpPr txBox="1"/>
          <p:nvPr/>
        </p:nvSpPr>
        <p:spPr>
          <a:xfrm xmlns:a="http://schemas.openxmlformats.org/drawingml/2006/main">
            <a:off x="0" y="6408000"/>
            <a:ext cx="12193200" cy="180000"/>
          </a:xfrm>
          <a:prstGeom xmlns:a="http://schemas.openxmlformats.org/drawingml/2006/main" prst="rect">
            <a:avLst/>
          </a:prstGeom>
          <a:solidFill xmlns:a="http://schemas.openxmlformats.org/drawingml/2006/main">
            <a:srgbClr val="080F1A"/>
          </a:solidFill>
        </p:spPr>
        <p:txBody>
          <a:bodyPr xmlns:a="http://schemas.openxmlformats.org/drawingml/2006/main"/>
          <a:lstStyle xmlns:a="http://schemas.openxmlformats.org/drawingml/2006/main"/>
          <a:p xmlns:a="http://schemas.openxmlformats.org/drawingml/2006/main">
            <a:r>
              <a:rPr lang="en-US" sz="800">
                <a:solidFill>
                  <a:srgbClr val="546E7A"/>
                </a:solidFill>
                <a:latin typeface="Calibri"/>
                <a:ea typeface="Calibri"/>
              </a:rPr>
              <a:t>QUANTUM FALL FEST 2026  |  Quantum Computing Basics  |  Module 1: Mathematics</a:t>
            </a:r>
          </a:p>
        </p:txBody>
      </p:sp>
    </p:spTree>
  </p:cSld>
</p:sld>
</file>

<file path=ppt/slides/slide13.xml><?xml version="1.0" encoding="utf-8"?>
<p:sld xmlns:p="http://schemas.openxmlformats.org/presentationml/2006/main">
  <p:cSld>
    <p:spTree>
      <p:nvGrpSpPr>
        <p:cNvPr id="1" name=""/>
        <p:cNvGrpSpPr/>
        <p:nvPr/>
      </p:nvGrpSpPr>
      <p:grpSpPr/>
      <p:sp>
        <p:nvSpPr>
          <p:cNvPr id="100085" name="TextBox 1"/>
          <p:cNvSpPr txBox="1"/>
          <p:nvPr/>
        </p:nvSpPr>
        <p:spPr>
          <a:xfrm xmlns:a="http://schemas.openxmlformats.org/drawingml/2006/main">
            <a:off x="180000" y="198000"/>
            <a:ext cx="1800000" cy="198000"/>
          </a:xfrm>
          <a:prstGeom xmlns:a="http://schemas.openxmlformats.org/drawingml/2006/main" prst="rect">
            <a:avLst/>
          </a:prstGeom>
          <a:solidFill xmlns:a="http://schemas.openxmlformats.org/drawingml/2006/main">
            <a:srgbClr val="009688"/>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MATH FOUNDATIONS</a:t>
            </a:r>
          </a:p>
        </p:txBody>
      </p:sp>
      <p:sp>
        <p:nvSpPr>
          <p:cNvPr id="100086"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0F7FA"/>
                </a:solidFill>
              </a:rPr>
              <a:t>Probability Theory for Quantum Mechanics</a:t>
            </a:r>
          </a:p>
        </p:txBody>
      </p:sp>
      <p:sp>
        <p:nvSpPr>
          <p:cNvPr id="100087"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graphicFrame>
        <p:nvGraphicFramePr>
          <p:cNvPr id="100088" name="Table 1"/>
          <p:cNvGraphicFramePr/>
          <p:nvPr/>
        </p:nvGraphicFramePr>
        <p:xfrm>
          <a:off xmlns:a="http://schemas.openxmlformats.org/drawingml/2006/main" x="360000" y="1152000"/>
          <a:ext xmlns:a="http://schemas.openxmlformats.org/drawingml/2006/main" cx="11160000" cy="5040000"/>
        </p:xfrm>
        <a:graphic xmlns:a="http://schemas.openxmlformats.org/drawingml/2006/main">
          <a:graphicData uri="http://schemas.openxmlformats.org/drawingml/2006/table">
            <a:tbl>
              <a:tblPr firstRow="1" bandRow="1"/>
              <a:tblGrid>
                <a:gridCol w="3720000"/>
                <a:gridCol w="3720000"/>
                <a:gridCol w="3720000"/>
              </a:tblGrid>
              <a:tr h="720000">
                <a:tc>
                  <a:txBody>
                    <a:bodyPr/>
                    <a:lstStyle/>
                    <a:p>
                      <a:r>
                        <a:rPr lang="en-US" sz="1300" b="1">
                          <a:solidFill>
                            <a:srgbClr val="E0F7FA"/>
                          </a:solidFill>
                        </a:rPr>
                        <a:t>Concept</a:t>
                      </a:r>
                    </a:p>
                  </a:txBody>
                  <a:tcPr>
                    <a:solidFill>
                      <a:srgbClr val="00BCD4"/>
                    </a:solidFill>
                  </a:tcPr>
                </a:tc>
                <a:tc>
                  <a:txBody>
                    <a:bodyPr/>
                    <a:lstStyle/>
                    <a:p>
                      <a:r>
                        <a:rPr lang="en-US" sz="1300" b="1">
                          <a:solidFill>
                            <a:srgbClr val="E0F7FA"/>
                          </a:solidFill>
                        </a:rPr>
                        <a:t>Classical Definition</a:t>
                      </a:r>
                    </a:p>
                  </a:txBody>
                  <a:tcPr>
                    <a:solidFill>
                      <a:srgbClr val="00BCD4"/>
                    </a:solidFill>
                  </a:tcPr>
                </a:tc>
                <a:tc>
                  <a:txBody>
                    <a:bodyPr/>
                    <a:lstStyle/>
                    <a:p>
                      <a:r>
                        <a:rPr lang="en-US" sz="1300" b="1">
                          <a:solidFill>
                            <a:srgbClr val="E0F7FA"/>
                          </a:solidFill>
                        </a:rPr>
                        <a:t>Quantum Extension</a:t>
                      </a:r>
                    </a:p>
                  </a:txBody>
                  <a:tcPr>
                    <a:solidFill>
                      <a:srgbClr val="00BCD4"/>
                    </a:solidFill>
                  </a:tcPr>
                </a:tc>
              </a:tr>
              <a:tr h="720000">
                <a:tc>
                  <a:txBody>
                    <a:bodyPr/>
                    <a:lstStyle/>
                    <a:p>
                      <a:r>
                        <a:rPr lang="en-US" sz="1200" b="1">
                          <a:solidFill>
                            <a:srgbClr val="B2EBF2"/>
                          </a:solidFill>
                        </a:rPr>
                        <a:t>Probability</a:t>
                      </a:r>
                    </a:p>
                  </a:txBody>
                  <a:tcPr>
                    <a:solidFill>
                      <a:srgbClr val="0D2137"/>
                    </a:solidFill>
                  </a:tcPr>
                </a:tc>
                <a:tc>
                  <a:txBody>
                    <a:bodyPr/>
                    <a:lstStyle/>
                    <a:p>
                      <a:r>
                        <a:rPr lang="en-US" sz="1200">
                          <a:solidFill>
                            <a:srgbClr val="E0F7FA"/>
                          </a:solidFill>
                        </a:rPr>
                        <a:t>P(event) ∈ [0,1], ΣP=1</a:t>
                      </a:r>
                    </a:p>
                  </a:txBody>
                  <a:tcPr>
                    <a:solidFill>
                      <a:srgbClr val="0D2137"/>
                    </a:solidFill>
                  </a:tcPr>
                </a:tc>
                <a:tc>
                  <a:txBody>
                    <a:bodyPr/>
                    <a:lstStyle/>
                    <a:p>
                      <a:r>
                        <a:rPr lang="en-US" sz="1200">
                          <a:solidFill>
                            <a:srgbClr val="E0F7FA"/>
                          </a:solidFill>
                        </a:rPr>
                        <a:t>Born rule: P(outcome) = |⟨ψ|φ⟩|²</a:t>
                      </a:r>
                    </a:p>
                  </a:txBody>
                  <a:tcPr>
                    <a:solidFill>
                      <a:srgbClr val="0D2137"/>
                    </a:solidFill>
                  </a:tcPr>
                </a:tc>
              </a:tr>
              <a:tr h="720000">
                <a:tc>
                  <a:txBody>
                    <a:bodyPr/>
                    <a:lstStyle/>
                    <a:p>
                      <a:r>
                        <a:rPr lang="en-US" sz="1200" b="1">
                          <a:solidFill>
                            <a:srgbClr val="B2EBF2"/>
                          </a:solidFill>
                        </a:rPr>
                        <a:t>Random Variable</a:t>
                      </a:r>
                    </a:p>
                  </a:txBody>
                  <a:tcPr>
                    <a:solidFill>
                      <a:srgbClr val="112233"/>
                    </a:solidFill>
                  </a:tcPr>
                </a:tc>
                <a:tc>
                  <a:txBody>
                    <a:bodyPr/>
                    <a:lstStyle/>
                    <a:p>
                      <a:r>
                        <a:rPr lang="en-US" sz="1200">
                          <a:solidFill>
                            <a:srgbClr val="E0F7FA"/>
                          </a:solidFill>
                        </a:rPr>
                        <a:t>X maps outcomes to reals</a:t>
                      </a:r>
                    </a:p>
                  </a:txBody>
                  <a:tcPr>
                    <a:solidFill>
                      <a:srgbClr val="112233"/>
                    </a:solidFill>
                  </a:tcPr>
                </a:tc>
                <a:tc>
                  <a:txBody>
                    <a:bodyPr/>
                    <a:lstStyle/>
                    <a:p>
                      <a:r>
                        <a:rPr lang="en-US" sz="1200">
                          <a:solidFill>
                            <a:srgbClr val="E0F7FA"/>
                          </a:solidFill>
                        </a:rPr>
                        <a:t>Observable Ô: eigenvalues are measurement results</a:t>
                      </a:r>
                    </a:p>
                  </a:txBody>
                  <a:tcPr>
                    <a:solidFill>
                      <a:srgbClr val="112233"/>
                    </a:solidFill>
                  </a:tcPr>
                </a:tc>
              </a:tr>
              <a:tr h="720000">
                <a:tc>
                  <a:txBody>
                    <a:bodyPr/>
                    <a:lstStyle/>
                    <a:p>
                      <a:r>
                        <a:rPr lang="en-US" sz="1200" b="1">
                          <a:solidFill>
                            <a:srgbClr val="B2EBF2"/>
                          </a:solidFill>
                        </a:rPr>
                        <a:t>Expectation Value</a:t>
                      </a:r>
                    </a:p>
                  </a:txBody>
                  <a:tcPr>
                    <a:solidFill>
                      <a:srgbClr val="0D2137"/>
                    </a:solidFill>
                  </a:tcPr>
                </a:tc>
                <a:tc>
                  <a:txBody>
                    <a:bodyPr/>
                    <a:lstStyle/>
                    <a:p>
                      <a:r>
                        <a:rPr lang="en-US" sz="1200">
                          <a:solidFill>
                            <a:srgbClr val="E0F7FA"/>
                          </a:solidFill>
                        </a:rPr>
                        <a:t>E[X] = Σ x·P(x)</a:t>
                      </a:r>
                    </a:p>
                  </a:txBody>
                  <a:tcPr>
                    <a:solidFill>
                      <a:srgbClr val="0D2137"/>
                    </a:solidFill>
                  </a:tcPr>
                </a:tc>
                <a:tc>
                  <a:txBody>
                    <a:bodyPr/>
                    <a:lstStyle/>
                    <a:p>
                      <a:r>
                        <a:rPr lang="en-US" sz="1200">
                          <a:solidFill>
                            <a:srgbClr val="E0F7FA"/>
                          </a:solidFill>
                        </a:rPr>
                        <a:t>⟨Ô⟩ = ⟨ψ|Ô|ψ⟩</a:t>
                      </a:r>
                    </a:p>
                  </a:txBody>
                  <a:tcPr>
                    <a:solidFill>
                      <a:srgbClr val="0D2137"/>
                    </a:solidFill>
                  </a:tcPr>
                </a:tc>
              </a:tr>
              <a:tr h="720000">
                <a:tc>
                  <a:txBody>
                    <a:bodyPr/>
                    <a:lstStyle/>
                    <a:p>
                      <a:r>
                        <a:rPr lang="en-US" sz="1200" b="1">
                          <a:solidFill>
                            <a:srgbClr val="B2EBF2"/>
                          </a:solidFill>
                        </a:rPr>
                        <a:t>Conditional Prob</a:t>
                      </a:r>
                    </a:p>
                  </a:txBody>
                  <a:tcPr>
                    <a:solidFill>
                      <a:srgbClr val="112233"/>
                    </a:solidFill>
                  </a:tcPr>
                </a:tc>
                <a:tc>
                  <a:txBody>
                    <a:bodyPr/>
                    <a:lstStyle/>
                    <a:p>
                      <a:r>
                        <a:rPr lang="en-US" sz="1200">
                          <a:solidFill>
                            <a:srgbClr val="E0F7FA"/>
                          </a:solidFill>
                        </a:rPr>
                        <a:t>P(A|B) = P(A∩B)/P(B)</a:t>
                      </a:r>
                    </a:p>
                  </a:txBody>
                  <a:tcPr>
                    <a:solidFill>
                      <a:srgbClr val="112233"/>
                    </a:solidFill>
                  </a:tcPr>
                </a:tc>
                <a:tc>
                  <a:txBody>
                    <a:bodyPr/>
                    <a:lstStyle/>
                    <a:p>
                      <a:r>
                        <a:rPr lang="en-US" sz="1200">
                          <a:solidFill>
                            <a:srgbClr val="E0F7FA"/>
                          </a:solidFill>
                        </a:rPr>
                        <a:t>Post-measurement state collapse</a:t>
                      </a:r>
                    </a:p>
                  </a:txBody>
                  <a:tcPr>
                    <a:solidFill>
                      <a:srgbClr val="112233"/>
                    </a:solidFill>
                  </a:tcPr>
                </a:tc>
              </a:tr>
              <a:tr h="720000">
                <a:tc>
                  <a:txBody>
                    <a:bodyPr/>
                    <a:lstStyle/>
                    <a:p>
                      <a:r>
                        <a:rPr lang="en-US" sz="1200" b="1">
                          <a:solidFill>
                            <a:srgbClr val="B2EBF2"/>
                          </a:solidFill>
                        </a:rPr>
                        <a:t>Probability Space</a:t>
                      </a:r>
                    </a:p>
                  </a:txBody>
                  <a:tcPr>
                    <a:solidFill>
                      <a:srgbClr val="0D2137"/>
                    </a:solidFill>
                  </a:tcPr>
                </a:tc>
                <a:tc>
                  <a:txBody>
                    <a:bodyPr/>
                    <a:lstStyle/>
                    <a:p>
                      <a:r>
                        <a:rPr lang="en-US" sz="1200">
                          <a:solidFill>
                            <a:srgbClr val="E0F7FA"/>
                          </a:solidFill>
                        </a:rPr>
                        <a:t>(Ω, F, P): sample space, σ-algebra, measure</a:t>
                      </a:r>
                    </a:p>
                  </a:txBody>
                  <a:tcPr>
                    <a:solidFill>
                      <a:srgbClr val="0D2137"/>
                    </a:solidFill>
                  </a:tcPr>
                </a:tc>
                <a:tc>
                  <a:txBody>
                    <a:bodyPr/>
                    <a:lstStyle/>
                    <a:p>
                      <a:r>
                        <a:rPr lang="en-US" sz="1200">
                          <a:solidFill>
                            <a:srgbClr val="E0F7FA"/>
                          </a:solidFill>
                        </a:rPr>
                        <a:t>Hilbert space ℋ with density operator ρ</a:t>
                      </a:r>
                    </a:p>
                  </a:txBody>
                  <a:tcPr>
                    <a:solidFill>
                      <a:srgbClr val="0D2137"/>
                    </a:solidFill>
                  </a:tcPr>
                </a:tc>
              </a:tr>
              <a:tr h="720000">
                <a:tc>
                  <a:txBody>
                    <a:bodyPr/>
                    <a:lstStyle/>
                    <a:p>
                      <a:r>
                        <a:rPr lang="en-US" sz="1200" b="1">
                          <a:solidFill>
                            <a:srgbClr val="B2EBF2"/>
                          </a:solidFill>
                        </a:rPr>
                        <a:t>Mixed States</a:t>
                      </a:r>
                    </a:p>
                  </a:txBody>
                  <a:tcPr>
                    <a:solidFill>
                      <a:srgbClr val="112233"/>
                    </a:solidFill>
                  </a:tcPr>
                </a:tc>
                <a:tc>
                  <a:txBody>
                    <a:bodyPr/>
                    <a:lstStyle/>
                    <a:p>
                      <a:r>
                        <a:rPr lang="en-US" sz="1200">
                          <a:solidFill>
                            <a:srgbClr val="E0F7FA"/>
                          </a:solidFill>
                        </a:rPr>
                        <a:t>Classical mixture: probabilistic distribution</a:t>
                      </a:r>
                    </a:p>
                  </a:txBody>
                  <a:tcPr>
                    <a:solidFill>
                      <a:srgbClr val="112233"/>
                    </a:solidFill>
                  </a:tcPr>
                </a:tc>
                <a:tc>
                  <a:txBody>
                    <a:bodyPr/>
                    <a:lstStyle/>
                    <a:p>
                      <a:r>
                        <a:rPr lang="en-US" sz="1200">
                          <a:solidFill>
                            <a:srgbClr val="E0F7FA"/>
                          </a:solidFill>
                        </a:rPr>
                        <a:t>Density matrix ρ = Σ pᵢ|ψᵢ⟩⟨ψᵢ|, Tr(ρ)=1</a:t>
                      </a:r>
                    </a:p>
                  </a:txBody>
                  <a:tcPr>
                    <a:solidFill>
                      <a:srgbClr val="112233"/>
                    </a:solidFill>
                  </a:tcPr>
                </a:tc>
              </a:tr>
            </a:tbl>
          </a:graphicData>
        </a:graphic>
      </p:graphicFrame>
      <p:sp>
        <p:nvSpPr>
          <p:cNvPr id="100089" name="TextBox 4"/>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80DEEA"/>
                </a:solidFill>
              </a:rPr>
              <a:t>13 / 65  |  MODULE 1: MATHEMATICS</a:t>
            </a:r>
          </a:p>
        </p:txBody>
      </p:sp>
      <p:sp>
        <p:nvSpPr>
          <p:cNvPr id="100090" name="TextBox 5"/>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4DD0E1"/>
                </a:solidFill>
              </a:rPr>
              <a:t>QFF26 Lecture Series — Quantum Computing Basics  |  qff26.org</a:t>
            </a:r>
          </a:p>
        </p:txBody>
      </p:sp>
    </p:spTree>
  </p:cSld>
</p:sld>
</file>

<file path=ppt/slides/slide14.xml><?xml version="1.0" encoding="utf-8"?>
<p:sld xmlns:p="http://schemas.openxmlformats.org/presentationml/2006/main">
  <p:cSld>
    <p:spTree>
      <p:nvGrpSpPr>
        <p:cNvPr id="1" name=""/>
        <p:cNvGrpSpPr/>
        <p:nvPr/>
      </p:nvGrpSpPr>
      <p:grpSpPr/>
      <p:sp>
        <p:nvSpPr>
          <p:cNvPr id="100091" name="TextBox 1"/>
          <p:cNvSpPr txBox="1"/>
          <p:nvPr/>
        </p:nvSpPr>
        <p:spPr>
          <a:xfrm xmlns:a="http://schemas.openxmlformats.org/drawingml/2006/main">
            <a:off x="180000" y="198000"/>
            <a:ext cx="1800000" cy="198000"/>
          </a:xfrm>
          <a:prstGeom xmlns:a="http://schemas.openxmlformats.org/drawingml/2006/main" prst="rect">
            <a:avLst/>
          </a:prstGeom>
          <a:solidFill xmlns:a="http://schemas.openxmlformats.org/drawingml/2006/main">
            <a:srgbClr val="009688"/>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MATH FOUNDATIONS</a:t>
            </a:r>
          </a:p>
        </p:txBody>
      </p:sp>
      <p:sp>
        <p:nvSpPr>
          <p:cNvPr id="100092"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0F7FA"/>
                </a:solidFill>
              </a:rPr>
              <a:t>Fourier Analysis &amp; Quantum Fourier Transform</a:t>
            </a:r>
          </a:p>
        </p:txBody>
      </p:sp>
      <p:sp>
        <p:nvSpPr>
          <p:cNvPr id="100093"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graphicFrame>
        <p:nvGraphicFramePr>
          <p:cNvPr id="100094" name="Table 1"/>
          <p:cNvGraphicFramePr/>
          <p:nvPr/>
        </p:nvGraphicFramePr>
        <p:xfrm>
          <a:off xmlns:a="http://schemas.openxmlformats.org/drawingml/2006/main" x="360000" y="1152000"/>
          <a:ext xmlns:a="http://schemas.openxmlformats.org/drawingml/2006/main" cx="11160000" cy="2880000"/>
        </p:xfrm>
        <a:graphic xmlns:a="http://schemas.openxmlformats.org/drawingml/2006/main">
          <a:graphicData uri="http://schemas.openxmlformats.org/drawingml/2006/table">
            <a:tbl>
              <a:tblPr firstRow="1" bandRow="1"/>
              <a:tblGrid>
                <a:gridCol w="5580000"/>
                <a:gridCol w="5580000"/>
              </a:tblGrid>
              <a:tr h="576000">
                <a:tc>
                  <a:txBody>
                    <a:bodyPr/>
                    <a:lstStyle/>
                    <a:p>
                      <a:r>
                        <a:rPr lang="en-US" sz="1300" b="1">
                          <a:solidFill>
                            <a:srgbClr val="E0F7FA"/>
                          </a:solidFill>
                        </a:rPr>
                        <a:t>Classical Fourier Transform</a:t>
                      </a:r>
                    </a:p>
                  </a:txBody>
                  <a:tcPr>
                    <a:solidFill>
                      <a:srgbClr val="00BCD4"/>
                    </a:solidFill>
                  </a:tcPr>
                </a:tc>
                <a:tc>
                  <a:txBody>
                    <a:bodyPr/>
                    <a:lstStyle/>
                    <a:p>
                      <a:r>
                        <a:rPr lang="en-US" sz="1300" b="1">
                          <a:solidFill>
                            <a:srgbClr val="E0F7FA"/>
                          </a:solidFill>
                        </a:rPr>
                        <a:t>Quantum Fourier Transform (QFT)</a:t>
                      </a:r>
                    </a:p>
                  </a:txBody>
                  <a:tcPr>
                    <a:solidFill>
                      <a:srgbClr val="00BCD4"/>
                    </a:solidFill>
                  </a:tcPr>
                </a:tc>
              </a:tr>
              <a:tr h="576000">
                <a:tc>
                  <a:txBody>
                    <a:bodyPr/>
                    <a:lstStyle/>
                    <a:p>
                      <a:r>
                        <a:rPr lang="en-US" sz="1200">
                          <a:solidFill>
                            <a:srgbClr val="E0F7FA"/>
                          </a:solidFill>
                        </a:rPr>
                        <a:t>F(ω) = ∫f(t)e^{-2πiωt}dt  — decomposes signal into frequencies</a:t>
                      </a:r>
                    </a:p>
                  </a:txBody>
                  <a:tcPr>
                    <a:solidFill>
                      <a:srgbClr val="0D2137"/>
                    </a:solidFill>
                  </a:tcPr>
                </a:tc>
                <a:tc>
                  <a:txBody>
                    <a:bodyPr/>
                    <a:lstStyle/>
                    <a:p>
                      <a:r>
                        <a:rPr lang="en-US" sz="1200">
                          <a:solidFill>
                            <a:srgbClr val="E0F7FA"/>
                          </a:solidFill>
                        </a:rPr>
                        <a:t>QFT|j⟩ = (1/√N) Σ e^{2πijk/N}|k⟩  — maps computational to Fourier basis</a:t>
                      </a:r>
                    </a:p>
                  </a:txBody>
                  <a:tcPr>
                    <a:solidFill>
                      <a:srgbClr val="0D2137"/>
                    </a:solidFill>
                  </a:tcPr>
                </a:tc>
              </a:tr>
              <a:tr h="576000">
                <a:tc>
                  <a:txBody>
                    <a:bodyPr/>
                    <a:lstStyle/>
                    <a:p>
                      <a:r>
                        <a:rPr lang="en-US" sz="1200">
                          <a:solidFill>
                            <a:srgbClr val="E0F7FA"/>
                          </a:solidFill>
                        </a:rPr>
                        <a:t>Complexity: O(N log N) classically (FFT)</a:t>
                      </a:r>
                    </a:p>
                  </a:txBody>
                  <a:tcPr>
                    <a:solidFill>
                      <a:srgbClr val="112233"/>
                    </a:solidFill>
                  </a:tcPr>
                </a:tc>
                <a:tc>
                  <a:txBody>
                    <a:bodyPr/>
                    <a:lstStyle/>
                    <a:p>
                      <a:r>
                        <a:rPr lang="en-US" sz="1200">
                          <a:solidFill>
                            <a:srgbClr val="B2EBF2"/>
                          </a:solidFill>
                        </a:rPr>
                        <a:t>QFT complexity: O(n²) gates for n qubits — exponential speedup</a:t>
                      </a:r>
                    </a:p>
                  </a:txBody>
                  <a:tcPr>
                    <a:solidFill>
                      <a:srgbClr val="112233"/>
                    </a:solidFill>
                  </a:tcPr>
                </a:tc>
              </a:tr>
              <a:tr h="576000">
                <a:tc>
                  <a:txBody>
                    <a:bodyPr/>
                    <a:lstStyle/>
                    <a:p>
                      <a:r>
                        <a:rPr lang="en-US" sz="1200">
                          <a:solidFill>
                            <a:srgbClr val="E0F7FA"/>
                          </a:solidFill>
                        </a:rPr>
                        <a:t>DFT used in: signal processing, image analysis</a:t>
                      </a:r>
                    </a:p>
                  </a:txBody>
                  <a:tcPr>
                    <a:solidFill>
                      <a:srgbClr val="0D2137"/>
                    </a:solidFill>
                  </a:tcPr>
                </a:tc>
                <a:tc>
                  <a:txBody>
                    <a:bodyPr/>
                    <a:lstStyle/>
                    <a:p>
                      <a:r>
                        <a:rPr lang="en-US" sz="1200">
                          <a:solidFill>
                            <a:srgbClr val="E0F7FA"/>
                          </a:solidFill>
                        </a:rPr>
                        <a:t>QFT used in: Shor's algorithm, QPE, HHL, quantum simulation</a:t>
                      </a:r>
                    </a:p>
                  </a:txBody>
                  <a:tcPr>
                    <a:solidFill>
                      <a:srgbClr val="0D2137"/>
                    </a:solidFill>
                  </a:tcPr>
                </a:tc>
              </a:tr>
              <a:tr h="576000">
                <a:tc>
                  <a:txBody>
                    <a:bodyPr/>
                    <a:lstStyle/>
                    <a:p>
                      <a:r>
                        <a:rPr lang="en-US" sz="1200">
                          <a:solidFill>
                            <a:srgbClr val="E0F7FA"/>
                          </a:solidFill>
                        </a:rPr>
                        <a:t>Output: real frequency spectrum</a:t>
                      </a:r>
                    </a:p>
                  </a:txBody>
                  <a:tcPr>
                    <a:solidFill>
                      <a:srgbClr val="112233"/>
                    </a:solidFill>
                  </a:tcPr>
                </a:tc>
                <a:tc>
                  <a:txBody>
                    <a:bodyPr/>
                    <a:lstStyle/>
                    <a:p>
                      <a:r>
                        <a:rPr lang="en-US" sz="1200">
                          <a:solidFill>
                            <a:srgbClr val="E0F7FA"/>
                          </a:solidFill>
                        </a:rPr>
                        <a:t>Output: quantum superposition — cannot directly read all amplitudes</a:t>
                      </a:r>
                    </a:p>
                  </a:txBody>
                  <a:tcPr>
                    <a:solidFill>
                      <a:srgbClr val="112233"/>
                    </a:solidFill>
                  </a:tcPr>
                </a:tc>
              </a:tr>
            </a:tbl>
          </a:graphicData>
        </a:graphic>
      </p:graphicFrame>
      <p:sp>
        <p:nvSpPr>
          <p:cNvPr id="100095" name="TextBox 4"/>
          <p:cNvSpPr txBox="1"/>
          <p:nvPr/>
        </p:nvSpPr>
        <p:spPr>
          <a:xfrm xmlns:a="http://schemas.openxmlformats.org/drawingml/2006/main">
            <a:off x="360000" y="4140000"/>
            <a:ext cx="11160000" cy="1980000"/>
          </a:xfrm>
          <a:prstGeom xmlns:a="http://schemas.openxmlformats.org/drawingml/2006/main" prst="rect">
            <a:avLst/>
          </a:prstGeom>
          <a:solidFill xmlns:a="http://schemas.openxmlformats.org/drawingml/2006/main">
            <a:srgbClr val="0D1F33"/>
          </a:solidFill>
        </p:spPr>
        <p:txBody>
          <a:bodyPr xmlns:a="http://schemas.openxmlformats.org/drawingml/2006/main"/>
          <a:lstStyle xmlns:a="http://schemas.openxmlformats.org/drawingml/2006/main"/>
          <a:p xmlns:a="http://schemas.openxmlformats.org/drawingml/2006/main">
            <a:pPr algn="l"/>
            <a:r>
              <a:rPr lang="en-US">
                <a:solidFill>
                  <a:srgbClr val="B2EBF2"/>
                </a:solidFill>
              </a:rPr>
              <a:t>QFT Circuit Structure (3 qubits)</a:t>
            </a:r>
          </a:p>
          <a:p xmlns:a="http://schemas.openxmlformats.org/drawingml/2006/main">
            <a:pPr algn="l"/>
            <a:r>
              <a:rPr lang="en-US">
                <a:solidFill>
                  <a:srgbClr val="B2EBF2"/>
                </a:solidFill>
              </a:rPr>
              <a:t/>
            </a:r>
          </a:p>
          <a:p xmlns:a="http://schemas.openxmlformats.org/drawingml/2006/main">
            <a:pPr algn="l"/>
            <a:r>
              <a:rPr lang="en-US">
                <a:solidFill>
                  <a:srgbClr val="B2EBF2"/>
                </a:solidFill>
              </a:rPr>
              <a:t>|q₀⟩ ──[H]──[R₂]──[R₃]──────────── ×</a:t>
            </a:r>
          </a:p>
          <a:p xmlns:a="http://schemas.openxmlformats.org/drawingml/2006/main">
            <a:pPr algn="l"/>
            <a:r>
              <a:rPr lang="en-US">
                <a:solidFill>
                  <a:srgbClr val="B2EBF2"/>
                </a:solidFill>
              </a:rPr>
              <a:t>|q₁⟩ ──────────[H]──[R₂]─────────── ×</a:t>
            </a:r>
          </a:p>
          <a:p xmlns:a="http://schemas.openxmlformats.org/drawingml/2006/main">
            <a:pPr algn="l"/>
            <a:r>
              <a:rPr lang="en-US">
                <a:solidFill>
                  <a:srgbClr val="B2EBF2"/>
                </a:solidFill>
              </a:rPr>
              <a:t>|q₂⟩ ──────────────────[H]──────── ×</a:t>
            </a:r>
          </a:p>
          <a:p xmlns:a="http://schemas.openxmlformats.org/drawingml/2006/main">
            <a:pPr algn="l"/>
            <a:r>
              <a:rPr lang="en-US">
                <a:solidFill>
                  <a:srgbClr val="B2EBF2"/>
                </a:solidFill>
              </a:rPr>
              <a:t/>
            </a:r>
          </a:p>
          <a:p xmlns:a="http://schemas.openxmlformats.org/drawingml/2006/main">
            <a:pPr algn="l"/>
            <a:r>
              <a:rPr lang="en-US">
                <a:solidFill>
                  <a:srgbClr val="B2EBF2"/>
                </a:solidFill>
              </a:rPr>
              <a:t>H = Hadamard gate,  Rₖ = phase rotation by 2π/2ᵏ</a:t>
            </a:r>
          </a:p>
          <a:p xmlns:a="http://schemas.openxmlformats.org/drawingml/2006/main">
            <a:pPr algn="l"/>
            <a:r>
              <a:rPr lang="en-US">
                <a:solidFill>
                  <a:srgbClr val="B2EBF2"/>
                </a:solidFill>
              </a:rPr>
              <a:t>SWAP gates reverse bit ordering at the end</a:t>
            </a:r>
          </a:p>
          <a:p xmlns:a="http://schemas.openxmlformats.org/drawingml/2006/main">
            <a:pPr algn="l"/>
            <a:r>
              <a:rPr lang="en-US">
                <a:solidFill>
                  <a:srgbClr val="B2EBF2"/>
                </a:solidFill>
              </a:rPr>
              <a:t>Key insight: QFT enables phase kickback in Shor &amp; QPE algorithms</a:t>
            </a:r>
          </a:p>
        </p:txBody>
      </p:sp>
      <p:sp>
        <p:nvSpPr>
          <p:cNvPr id="100096"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80DEEA"/>
                </a:solidFill>
              </a:rPr>
              <a:t>14 / 65  |  MODULE 1: MATHEMATICS</a:t>
            </a:r>
          </a:p>
        </p:txBody>
      </p:sp>
      <p:sp>
        <p:nvSpPr>
          <p:cNvPr id="100097"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4DD0E1"/>
                </a:solidFill>
              </a:rPr>
              <a:t>QFF26 Lecture Series — Quantum Computing Basics  |  qff26.org</a:t>
            </a:r>
          </a:p>
        </p:txBody>
      </p:sp>
      <p:sp>
        <p:nvSpPr>
          <p:cNvPr id="100098" name="TextBox 7"/>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Tree>
  </p:cSld>
</p:sld>
</file>

<file path=ppt/slides/slide15.xml><?xml version="1.0" encoding="utf-8"?>
<p:sld xmlns:p="http://schemas.openxmlformats.org/presentationml/2006/main">
  <p:cSld>
    <p:spTree>
      <p:nvGrpSpPr>
        <p:cNvPr id="1" name=""/>
        <p:cNvGrpSpPr/>
        <p:nvPr/>
      </p:nvGrpSpPr>
      <p:grpSpPr/>
      <p:sp>
        <p:nvSpPr>
          <p:cNvPr id="100099" name="TextBox 1"/>
          <p:cNvSpPr txBox="1"/>
          <p:nvPr/>
        </p:nvSpPr>
        <p:spPr>
          <a:xfrm xmlns:a="http://schemas.openxmlformats.org/drawingml/2006/main">
            <a:off x="180000" y="198000"/>
            <a:ext cx="1800000" cy="198000"/>
          </a:xfrm>
          <a:prstGeom xmlns:a="http://schemas.openxmlformats.org/drawingml/2006/main" prst="rect">
            <a:avLst/>
          </a:prstGeom>
          <a:solidFill xmlns:a="http://schemas.openxmlformats.org/drawingml/2006/main">
            <a:srgbClr val="009688"/>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MATH FOUNDATIONS</a:t>
            </a:r>
          </a:p>
        </p:txBody>
      </p:sp>
      <p:sp>
        <p:nvSpPr>
          <p:cNvPr id="100100"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0F7FA"/>
                </a:solidFill>
              </a:rPr>
              <a:t>Differential Equations &amp; Time Evolution</a:t>
            </a:r>
          </a:p>
        </p:txBody>
      </p:sp>
      <p:sp>
        <p:nvSpPr>
          <p:cNvPr id="100101"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102"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E0F7FA"/>
                </a:solidFill>
              </a:rPr>
              <a:t>Why Differential Equations Matter in Quantum Mechanics</a:t>
            </a:r>
          </a:p>
          <a:p xmlns:a="http://schemas.openxmlformats.org/drawingml/2006/main">
            <a:pPr algn="l"/>
            <a:r>
              <a:rPr lang="en-US">
                <a:solidFill>
                  <a:srgbClr val="E0F7FA"/>
                </a:solidFill>
              </a:rPr>
              <a:t/>
            </a:r>
          </a:p>
          <a:p xmlns:a="http://schemas.openxmlformats.org/drawingml/2006/main">
            <a:pPr algn="l"/>
            <a:r>
              <a:rPr lang="en-US">
                <a:solidFill>
                  <a:srgbClr val="E0F7FA"/>
                </a:solidFill>
              </a:rPr>
              <a:t>• Schrödinger Equation (SE) IS a partial differential equation (PDE)</a:t>
            </a:r>
          </a:p>
          <a:p xmlns:a="http://schemas.openxmlformats.org/drawingml/2006/main">
            <a:pPr algn="l"/>
            <a:r>
              <a:rPr lang="en-US">
                <a:solidFill>
                  <a:srgbClr val="E0F7FA"/>
                </a:solidFill>
              </a:rPr>
              <a:t>  Time-dependent SE:  iℏ ∂|ψ⟩/∂t = Ĥ|ψ⟩</a:t>
            </a:r>
          </a:p>
          <a:p xmlns:a="http://schemas.openxmlformats.org/drawingml/2006/main">
            <a:pPr algn="l"/>
            <a:r>
              <a:rPr lang="en-US">
                <a:solidFill>
                  <a:srgbClr val="E0F7FA"/>
                </a:solidFill>
              </a:rPr>
              <a:t>  Time-independent SE:  Ĥ|ψ⟩ = E|ψ⟩  (eigenvalue problem)</a:t>
            </a:r>
          </a:p>
          <a:p xmlns:a="http://schemas.openxmlformats.org/drawingml/2006/main">
            <a:pPr algn="l"/>
            <a:r>
              <a:rPr lang="en-US">
                <a:solidFill>
                  <a:srgbClr val="E0F7FA"/>
                </a:solidFill>
              </a:rPr>
              <a:t/>
            </a:r>
          </a:p>
          <a:p xmlns:a="http://schemas.openxmlformats.org/drawingml/2006/main">
            <a:pPr algn="l"/>
            <a:r>
              <a:rPr lang="en-US">
                <a:solidFill>
                  <a:srgbClr val="E0F7FA"/>
                </a:solidFill>
              </a:rPr>
              <a:t>• Solutions describe quantum state evolution over time</a:t>
            </a:r>
          </a:p>
          <a:p xmlns:a="http://schemas.openxmlformats.org/drawingml/2006/main">
            <a:pPr algn="l"/>
            <a:r>
              <a:rPr lang="en-US">
                <a:solidFill>
                  <a:srgbClr val="E0F7FA"/>
                </a:solidFill>
              </a:rPr>
              <a:t>  |ψ(t)⟩ = e^{-iĤt/ℏ}|ψ(0)⟩   — unitary time evolution operator U(t)</a:t>
            </a:r>
          </a:p>
          <a:p xmlns:a="http://schemas.openxmlformats.org/drawingml/2006/main">
            <a:pPr algn="l"/>
            <a:r>
              <a:rPr lang="en-US">
                <a:solidFill>
                  <a:srgbClr val="E0F7FA"/>
                </a:solidFill>
              </a:rPr>
              <a:t/>
            </a:r>
          </a:p>
          <a:p xmlns:a="http://schemas.openxmlformats.org/drawingml/2006/main">
            <a:pPr algn="l"/>
            <a:r>
              <a:rPr lang="en-US">
                <a:solidFill>
                  <a:srgbClr val="E0F7FA"/>
                </a:solidFill>
              </a:rPr>
              <a:t>• Separation of variables: key technique for hydrogen atom, harmonic oscillator</a:t>
            </a:r>
          </a:p>
          <a:p xmlns:a="http://schemas.openxmlformats.org/drawingml/2006/main">
            <a:pPr algn="l"/>
            <a:r>
              <a:rPr lang="en-US">
                <a:solidFill>
                  <a:srgbClr val="E0F7FA"/>
                </a:solidFill>
              </a:rPr>
              <a:t/>
            </a:r>
          </a:p>
          <a:p xmlns:a="http://schemas.openxmlformats.org/drawingml/2006/main">
            <a:pPr algn="l"/>
            <a:r>
              <a:rPr lang="en-US">
                <a:solidFill>
                  <a:srgbClr val="E0F7FA"/>
                </a:solidFill>
              </a:rPr>
              <a:t>• Ordinary DEs (ODEs) appear in two-level systems:</a:t>
            </a:r>
          </a:p>
          <a:p xmlns:a="http://schemas.openxmlformats.org/drawingml/2006/main">
            <a:pPr algn="l"/>
            <a:r>
              <a:rPr lang="en-US">
                <a:solidFill>
                  <a:srgbClr val="E0F7FA"/>
                </a:solidFill>
              </a:rPr>
              <a:t>  dρ/dt = -i[H,ρ] + L(ρ)   — Lindblad master equation for open quantum systems</a:t>
            </a:r>
          </a:p>
          <a:p xmlns:a="http://schemas.openxmlformats.org/drawingml/2006/main">
            <a:pPr algn="l"/>
            <a:r>
              <a:rPr lang="en-US">
                <a:solidFill>
                  <a:srgbClr val="E0F7FA"/>
                </a:solidFill>
              </a:rPr>
              <a:t/>
            </a:r>
          </a:p>
          <a:p xmlns:a="http://schemas.openxmlformats.org/drawingml/2006/main">
            <a:pPr algn="l"/>
            <a:r>
              <a:rPr lang="en-US">
                <a:solidFill>
                  <a:srgbClr val="E0F7FA"/>
                </a:solidFill>
              </a:rPr>
              <a:t>• Matrix exponential:  e^{At} = Σ (At)ⁿ/n! — central to quantum gates &amp; pulses</a:t>
            </a:r>
          </a:p>
          <a:p xmlns:a="http://schemas.openxmlformats.org/drawingml/2006/main">
            <a:pPr algn="l"/>
            <a:r>
              <a:rPr lang="en-US">
                <a:solidFill>
                  <a:srgbClr val="E0F7FA"/>
                </a:solidFill>
              </a:rPr>
              <a:t>  For diagonal H: e^{-iHt/ℏ} = diag(e^{-iE₀t/ℏ}, e^{-iE₁t/ℏ}, ...)</a:t>
            </a:r>
          </a:p>
          <a:p xmlns:a="http://schemas.openxmlformats.org/drawingml/2006/main">
            <a:pPr algn="l"/>
            <a:r>
              <a:rPr lang="en-US">
                <a:solidFill>
                  <a:srgbClr val="E0F7FA"/>
                </a:solidFill>
              </a:rPr>
              <a:t/>
            </a:r>
          </a:p>
          <a:p xmlns:a="http://schemas.openxmlformats.org/drawingml/2006/main">
            <a:pPr algn="l"/>
            <a:r>
              <a:rPr lang="en-US">
                <a:solidFill>
                  <a:srgbClr val="E0F7FA"/>
                </a:solidFill>
              </a:rPr>
              <a:t>• Connection to circuits: each quantum gate IS a matrix exponential of a Hamiltonian</a:t>
            </a:r>
          </a:p>
          <a:p xmlns:a="http://schemas.openxmlformats.org/drawingml/2006/main">
            <a:pPr algn="l"/>
            <a:r>
              <a:rPr lang="en-US">
                <a:solidFill>
                  <a:srgbClr val="E0F7FA"/>
                </a:solidFill>
              </a:rPr>
              <a:t>  Rₓ(θ) = e^{-iθX/2},  Rᵧ(θ) = e^{-iθY/2},  Rz(θ) = e^{-iθZ/2}</a:t>
            </a:r>
          </a:p>
        </p:txBody>
      </p:sp>
      <p:sp>
        <p:nvSpPr>
          <p:cNvPr id="100103"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80DEEA"/>
                </a:solidFill>
              </a:rPr>
              <a:t>15 / 65  |  MODULE 1: MATHEMATICS</a:t>
            </a:r>
          </a:p>
        </p:txBody>
      </p:sp>
      <p:sp>
        <p:nvSpPr>
          <p:cNvPr id="100104"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4DD0E1"/>
                </a:solidFill>
              </a:rPr>
              <a:t>QFF26 Lecture Series — Quantum Computing Basics  |  qff26.org</a:t>
            </a:r>
          </a:p>
        </p:txBody>
      </p:sp>
    </p:spTree>
  </p:cSld>
</p:sld>
</file>

<file path=ppt/slides/slide16.xml><?xml version="1.0" encoding="utf-8"?>
<p:sld xmlns:p="http://schemas.openxmlformats.org/presentationml/2006/main">
  <p:cSld>
    <p:spTree>
      <p:nvGrpSpPr>
        <p:cNvPr id="1" name=""/>
        <p:cNvGrpSpPr/>
        <p:nvPr/>
      </p:nvGrpSpPr>
      <p:grpSpPr/>
      <p:sp>
        <p:nvSpPr>
          <p:cNvPr id="100105" name="TextBox 1"/>
          <p:cNvSpPr txBox="1"/>
          <p:nvPr/>
        </p:nvSpPr>
        <p:spPr>
          <a:xfrm xmlns:a="http://schemas.openxmlformats.org/drawingml/2006/main">
            <a:off x="180000" y="198000"/>
            <a:ext cx="1800000" cy="198000"/>
          </a:xfrm>
          <a:prstGeom xmlns:a="http://schemas.openxmlformats.org/drawingml/2006/main" prst="rect">
            <a:avLst/>
          </a:prstGeom>
          <a:solidFill xmlns:a="http://schemas.openxmlformats.org/drawingml/2006/main">
            <a:srgbClr val="009688"/>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MATH FOUNDATIONS</a:t>
            </a:r>
          </a:p>
        </p:txBody>
      </p:sp>
      <p:sp>
        <p:nvSpPr>
          <p:cNvPr id="100106"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0F7FA"/>
                </a:solidFill>
              </a:rPr>
              <a:t>Numerical Methods &amp; Computational Linear Algebra</a:t>
            </a:r>
          </a:p>
        </p:txBody>
      </p:sp>
      <p:sp>
        <p:nvSpPr>
          <p:cNvPr id="100107"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graphicFrame>
        <p:nvGraphicFramePr>
          <p:cNvPr id="100108" name="Table 1"/>
          <p:cNvGraphicFramePr/>
          <p:nvPr/>
        </p:nvGraphicFramePr>
        <p:xfrm>
          <a:off xmlns:a="http://schemas.openxmlformats.org/drawingml/2006/main" x="360000" y="1152000"/>
          <a:ext xmlns:a="http://schemas.openxmlformats.org/drawingml/2006/main" cx="11160000" cy="3600000"/>
        </p:xfrm>
        <a:graphic xmlns:a="http://schemas.openxmlformats.org/drawingml/2006/main">
          <a:graphicData uri="http://schemas.openxmlformats.org/drawingml/2006/table">
            <a:tbl>
              <a:tblPr firstRow="1" bandRow="1"/>
              <a:tblGrid>
                <a:gridCol w="3720000"/>
                <a:gridCol w="3720000"/>
                <a:gridCol w="3720000"/>
              </a:tblGrid>
              <a:tr h="600000">
                <a:tc>
                  <a:txBody>
                    <a:bodyPr/>
                    <a:lstStyle/>
                    <a:p>
                      <a:r>
                        <a:rPr lang="en-US" sz="1300" b="1">
                          <a:solidFill>
                            <a:srgbClr val="E0F7FA"/>
                          </a:solidFill>
                        </a:rPr>
                        <a:t>Method</a:t>
                      </a:r>
                    </a:p>
                  </a:txBody>
                  <a:tcPr>
                    <a:solidFill>
                      <a:srgbClr val="00BCD4"/>
                    </a:solidFill>
                  </a:tcPr>
                </a:tc>
                <a:tc>
                  <a:txBody>
                    <a:bodyPr/>
                    <a:lstStyle/>
                    <a:p>
                      <a:r>
                        <a:rPr lang="en-US" sz="1300" b="1">
                          <a:solidFill>
                            <a:srgbClr val="E0F7FA"/>
                          </a:solidFill>
                        </a:rPr>
                        <a:t>Classical Use</a:t>
                      </a:r>
                    </a:p>
                  </a:txBody>
                  <a:tcPr>
                    <a:solidFill>
                      <a:srgbClr val="00BCD4"/>
                    </a:solidFill>
                  </a:tcPr>
                </a:tc>
                <a:tc>
                  <a:txBody>
                    <a:bodyPr/>
                    <a:lstStyle/>
                    <a:p>
                      <a:r>
                        <a:rPr lang="en-US" sz="1300" b="1">
                          <a:solidFill>
                            <a:srgbClr val="E0F7FA"/>
                          </a:solidFill>
                        </a:rPr>
                        <a:t>Quantum Analogue / Application</a:t>
                      </a:r>
                    </a:p>
                  </a:txBody>
                  <a:tcPr>
                    <a:solidFill>
                      <a:srgbClr val="00BCD4"/>
                    </a:solidFill>
                  </a:tcPr>
                </a:tc>
              </a:tr>
              <a:tr h="600000">
                <a:tc>
                  <a:txBody>
                    <a:bodyPr/>
                    <a:lstStyle/>
                    <a:p>
                      <a:r>
                        <a:rPr lang="en-US" sz="1200" b="1">
                          <a:solidFill>
                            <a:srgbClr val="B2EBF2"/>
                          </a:solidFill>
                        </a:rPr>
                        <a:t>Eigendecomposition</a:t>
                      </a:r>
                    </a:p>
                  </a:txBody>
                  <a:tcPr>
                    <a:solidFill>
                      <a:srgbClr val="0D2137"/>
                    </a:solidFill>
                  </a:tcPr>
                </a:tc>
                <a:tc>
                  <a:txBody>
                    <a:bodyPr/>
                    <a:lstStyle/>
                    <a:p>
                      <a:r>
                        <a:rPr lang="en-US" sz="1200">
                          <a:solidFill>
                            <a:srgbClr val="E0F7FA"/>
                          </a:solidFill>
                        </a:rPr>
                        <a:t>A = VΛV⁻¹ — principal component analysis</a:t>
                      </a:r>
                    </a:p>
                  </a:txBody>
                  <a:tcPr>
                    <a:solidFill>
                      <a:srgbClr val="0D2137"/>
                    </a:solidFill>
                  </a:tcPr>
                </a:tc>
                <a:tc>
                  <a:txBody>
                    <a:bodyPr/>
                    <a:lstStyle/>
                    <a:p>
                      <a:r>
                        <a:rPr lang="en-US" sz="1200">
                          <a:solidFill>
                            <a:srgbClr val="E0F7FA"/>
                          </a:solidFill>
                        </a:rPr>
                        <a:t>QPE finds eigenvalues of unitary U exponentially faster</a:t>
                      </a:r>
                    </a:p>
                  </a:txBody>
                  <a:tcPr>
                    <a:solidFill>
                      <a:srgbClr val="0D2137"/>
                    </a:solidFill>
                  </a:tcPr>
                </a:tc>
              </a:tr>
              <a:tr h="600000">
                <a:tc>
                  <a:txBody>
                    <a:bodyPr/>
                    <a:lstStyle/>
                    <a:p>
                      <a:r>
                        <a:rPr lang="en-US" sz="1200" b="1">
                          <a:solidFill>
                            <a:srgbClr val="B2EBF2"/>
                          </a:solidFill>
                        </a:rPr>
                        <a:t>Sparse Matrix Methods</a:t>
                      </a:r>
                    </a:p>
                  </a:txBody>
                  <a:tcPr>
                    <a:solidFill>
                      <a:srgbClr val="112233"/>
                    </a:solidFill>
                  </a:tcPr>
                </a:tc>
                <a:tc>
                  <a:txBody>
                    <a:bodyPr/>
                    <a:lstStyle/>
                    <a:p>
                      <a:r>
                        <a:rPr lang="en-US" sz="1200">
                          <a:solidFill>
                            <a:srgbClr val="E0F7FA"/>
                          </a:solidFill>
                        </a:rPr>
                        <a:t>Lanczos, Arnoldi — large eigenvalue problems</a:t>
                      </a:r>
                    </a:p>
                  </a:txBody>
                  <a:tcPr>
                    <a:solidFill>
                      <a:srgbClr val="112233"/>
                    </a:solidFill>
                  </a:tcPr>
                </a:tc>
                <a:tc>
                  <a:txBody>
                    <a:bodyPr/>
                    <a:lstStyle/>
                    <a:p>
                      <a:r>
                        <a:rPr lang="en-US" sz="1200">
                          <a:solidFill>
                            <a:srgbClr val="E0F7FA"/>
                          </a:solidFill>
                        </a:rPr>
                        <a:t>Quantum walks exploit sparse Hamiltonians for speedup</a:t>
                      </a:r>
                    </a:p>
                  </a:txBody>
                  <a:tcPr>
                    <a:solidFill>
                      <a:srgbClr val="112233"/>
                    </a:solidFill>
                  </a:tcPr>
                </a:tc>
              </a:tr>
              <a:tr h="600000">
                <a:tc>
                  <a:txBody>
                    <a:bodyPr/>
                    <a:lstStyle/>
                    <a:p>
                      <a:r>
                        <a:rPr lang="en-US" sz="1200" b="1">
                          <a:solidFill>
                            <a:srgbClr val="B2EBF2"/>
                          </a:solidFill>
                        </a:rPr>
                        <a:t>Linear System Solvers</a:t>
                      </a:r>
                    </a:p>
                  </a:txBody>
                  <a:tcPr>
                    <a:solidFill>
                      <a:srgbClr val="0D2137"/>
                    </a:solidFill>
                  </a:tcPr>
                </a:tc>
                <a:tc>
                  <a:txBody>
                    <a:bodyPr/>
                    <a:lstStyle/>
                    <a:p>
                      <a:r>
                        <a:rPr lang="en-US" sz="1200">
                          <a:solidFill>
                            <a:srgbClr val="E0F7FA"/>
                          </a:solidFill>
                        </a:rPr>
                        <a:t>Gaussian elimination: O(N³)</a:t>
                      </a:r>
                    </a:p>
                  </a:txBody>
                  <a:tcPr>
                    <a:solidFill>
                      <a:srgbClr val="0D2137"/>
                    </a:solidFill>
                  </a:tcPr>
                </a:tc>
                <a:tc>
                  <a:txBody>
                    <a:bodyPr/>
                    <a:lstStyle/>
                    <a:p>
                      <a:r>
                        <a:rPr lang="en-US" sz="1200">
                          <a:solidFill>
                            <a:srgbClr val="E0F7FA"/>
                          </a:solidFill>
                        </a:rPr>
                        <a:t>HHL algorithm: O(log N) — exponential speedup (with caveats)</a:t>
                      </a:r>
                    </a:p>
                  </a:txBody>
                  <a:tcPr>
                    <a:solidFill>
                      <a:srgbClr val="0D2137"/>
                    </a:solidFill>
                  </a:tcPr>
                </a:tc>
              </a:tr>
              <a:tr h="600000">
                <a:tc>
                  <a:txBody>
                    <a:bodyPr/>
                    <a:lstStyle/>
                    <a:p>
                      <a:r>
                        <a:rPr lang="en-US" sz="1200" b="1">
                          <a:solidFill>
                            <a:srgbClr val="B2EBF2"/>
                          </a:solidFill>
                        </a:rPr>
                        <a:t>SVD</a:t>
                      </a:r>
                    </a:p>
                  </a:txBody>
                  <a:tcPr>
                    <a:solidFill>
                      <a:srgbClr val="112233"/>
                    </a:solidFill>
                  </a:tcPr>
                </a:tc>
                <a:tc>
                  <a:txBody>
                    <a:bodyPr/>
                    <a:lstStyle/>
                    <a:p>
                      <a:r>
                        <a:rPr lang="en-US" sz="1200">
                          <a:solidFill>
                            <a:srgbClr val="E0F7FA"/>
                          </a:solidFill>
                        </a:rPr>
                        <a:t>A = UΣVᵀ — ML, data compression</a:t>
                      </a:r>
                    </a:p>
                  </a:txBody>
                  <a:tcPr>
                    <a:solidFill>
                      <a:srgbClr val="112233"/>
                    </a:solidFill>
                  </a:tcPr>
                </a:tc>
                <a:tc>
                  <a:txBody>
                    <a:bodyPr/>
                    <a:lstStyle/>
                    <a:p>
                      <a:r>
                        <a:rPr lang="en-US" sz="1200">
                          <a:solidFill>
                            <a:srgbClr val="E0F7FA"/>
                          </a:solidFill>
                        </a:rPr>
                        <a:t>Quantum SVD for recommendation systems, finance</a:t>
                      </a:r>
                    </a:p>
                  </a:txBody>
                  <a:tcPr>
                    <a:solidFill>
                      <a:srgbClr val="112233"/>
                    </a:solidFill>
                  </a:tcPr>
                </a:tc>
              </a:tr>
              <a:tr h="600000">
                <a:tc>
                  <a:txBody>
                    <a:bodyPr/>
                    <a:lstStyle/>
                    <a:p>
                      <a:r>
                        <a:rPr lang="en-US" sz="1200" b="1">
                          <a:solidFill>
                            <a:srgbClr val="B2EBF2"/>
                          </a:solidFill>
                        </a:rPr>
                        <a:t>Variational Methods</a:t>
                      </a:r>
                    </a:p>
                  </a:txBody>
                  <a:tcPr>
                    <a:solidFill>
                      <a:srgbClr val="0D2137"/>
                    </a:solidFill>
                  </a:tcPr>
                </a:tc>
                <a:tc>
                  <a:txBody>
                    <a:bodyPr/>
                    <a:lstStyle/>
                    <a:p>
                      <a:r>
                        <a:rPr lang="en-US" sz="1200">
                          <a:solidFill>
                            <a:srgbClr val="E0F7FA"/>
                          </a:solidFill>
                        </a:rPr>
                        <a:t>Minimise energy functional over function space</a:t>
                      </a:r>
                    </a:p>
                  </a:txBody>
                  <a:tcPr>
                    <a:solidFill>
                      <a:srgbClr val="0D2137"/>
                    </a:solidFill>
                  </a:tcPr>
                </a:tc>
                <a:tc>
                  <a:txBody>
                    <a:bodyPr/>
                    <a:lstStyle/>
                    <a:p>
                      <a:r>
                        <a:rPr lang="en-US" sz="1200">
                          <a:solidFill>
                            <a:srgbClr val="E0F7FA"/>
                          </a:solidFill>
                        </a:rPr>
                        <a:t>VQE: E(θ)=⟨ψ(θ)|H|ψ(θ)⟩ — hybrid quantum-classical</a:t>
                      </a:r>
                    </a:p>
                  </a:txBody>
                  <a:tcPr>
                    <a:solidFill>
                      <a:srgbClr val="0D2137"/>
                    </a:solidFill>
                  </a:tcPr>
                </a:tc>
              </a:tr>
            </a:tbl>
          </a:graphicData>
        </a:graphic>
      </p:graphicFrame>
      <p:sp>
        <p:nvSpPr>
          <p:cNvPr id="100109" name="TextBox 4"/>
          <p:cNvSpPr txBox="1"/>
          <p:nvPr/>
        </p:nvSpPr>
        <p:spPr>
          <a:xfrm xmlns:a="http://schemas.openxmlformats.org/drawingml/2006/main">
            <a:off x="360000" y="4860000"/>
            <a:ext cx="11160000" cy="432000"/>
          </a:xfrm>
          <a:prstGeom xmlns:a="http://schemas.openxmlformats.org/drawingml/2006/main" prst="rect">
            <a:avLst/>
          </a:prstGeom>
          <a:solidFill xmlns:a="http://schemas.openxmlformats.org/drawingml/2006/main">
            <a:srgbClr val="112233"/>
          </a:solidFill>
        </p:spPr>
        <p:txBody>
          <a:bodyPr xmlns:a="http://schemas.openxmlformats.org/drawingml/2006/main"/>
          <a:lstStyle xmlns:a="http://schemas.openxmlformats.org/drawingml/2006/main"/>
          <a:p xmlns:a="http://schemas.openxmlformats.org/drawingml/2006/main">
            <a:pPr algn="l"/>
            <a:r>
              <a:rPr lang="en-US">
                <a:solidFill>
                  <a:srgbClr val="80DEEA"/>
                </a:solidFill>
              </a:rPr>
              <a:t>Tools: NumPy linalg, SciPy sparse, Qiskit, PySCF, OpenFermion</a:t>
            </a:r>
          </a:p>
        </p:txBody>
      </p:sp>
      <p:sp>
        <p:nvSpPr>
          <p:cNvPr id="100110"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80DEEA"/>
                </a:solidFill>
              </a:rPr>
              <a:t>17 / 65  |  MODULE 1: MATHEMATICS</a:t>
            </a:r>
          </a:p>
        </p:txBody>
      </p:sp>
      <p:sp>
        <p:nvSpPr>
          <p:cNvPr id="100111"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4DD0E1"/>
                </a:solidFill>
              </a:rPr>
              <a:t>QFF26 Lecture Series — Quantum Computing Basics  |  qff26.org</a:t>
            </a:r>
          </a:p>
        </p:txBody>
      </p:sp>
    </p:spTree>
  </p:cSld>
</p:sld>
</file>

<file path=ppt/slides/slide17.xml><?xml version="1.0" encoding="utf-8"?>
<p:sld xmlns:p="http://schemas.openxmlformats.org/presentationml/2006/main">
  <p:cSld>
    <p:spTree>
      <p:nvGrpSpPr>
        <p:cNvPr id="1" name=""/>
        <p:cNvGrpSpPr/>
        <p:nvPr/>
      </p:nvGrpSpPr>
      <p:grpSpPr/>
      <p:sp>
        <p:nvSpPr>
          <p:cNvPr id="100112" name="TextBox 1"/>
          <p:cNvSpPr txBox="1"/>
          <p:nvPr/>
        </p:nvSpPr>
        <p:spPr>
          <a:xfrm xmlns:a="http://schemas.openxmlformats.org/drawingml/2006/main">
            <a:off x="180000" y="198000"/>
            <a:ext cx="1800000" cy="198000"/>
          </a:xfrm>
          <a:prstGeom xmlns:a="http://schemas.openxmlformats.org/drawingml/2006/main" prst="rect">
            <a:avLst/>
          </a:prstGeom>
          <a:solidFill xmlns:a="http://schemas.openxmlformats.org/drawingml/2006/main">
            <a:srgbClr val="1565C0"/>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MODULE 2</a:t>
            </a:r>
          </a:p>
        </p:txBody>
      </p:sp>
      <p:sp>
        <p:nvSpPr>
          <p:cNvPr id="100113"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Module 2: Quantum Physics</a:t>
            </a:r>
          </a:p>
        </p:txBody>
      </p:sp>
      <p:sp>
        <p:nvSpPr>
          <p:cNvPr id="100114"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15"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E3F2FD"/>
                </a:solidFill>
              </a:rPr>
              <a:t>From Physical Intuition to Mathematical Formalism</a:t>
            </a:r>
          </a:p>
          <a:p xmlns:a="http://schemas.openxmlformats.org/drawingml/2006/main">
            <a:pPr algn="l"/>
            <a:r>
              <a:rPr lang="en-US">
                <a:solidFill>
                  <a:srgbClr val="E3F2FD"/>
                </a:solidFill>
              </a:rPr>
              <a:t/>
            </a:r>
          </a:p>
          <a:p xmlns:a="http://schemas.openxmlformats.org/drawingml/2006/main">
            <a:pPr algn="l"/>
            <a:r>
              <a:rPr lang="en-US">
                <a:solidFill>
                  <a:srgbClr val="E3F2FD"/>
                </a:solidFill>
              </a:rPr>
              <a:t>In this module you will master the physics that quantum computers exploit.</a:t>
            </a:r>
          </a:p>
          <a:p xmlns:a="http://schemas.openxmlformats.org/drawingml/2006/main">
            <a:pPr algn="l"/>
            <a:r>
              <a:rPr lang="en-US">
                <a:solidFill>
                  <a:srgbClr val="E3F2FD"/>
                </a:solidFill>
              </a:rPr>
              <a:t>We trace the path from experimental discoveries to the postulates that govern all quantum systems.</a:t>
            </a:r>
          </a:p>
          <a:p xmlns:a="http://schemas.openxmlformats.org/drawingml/2006/main">
            <a:pPr algn="l"/>
            <a:r>
              <a:rPr lang="en-US">
                <a:solidFill>
                  <a:srgbClr val="E3F2FD"/>
                </a:solidFill>
              </a:rPr>
              <a:t/>
            </a:r>
          </a:p>
          <a:p xmlns:a="http://schemas.openxmlformats.org/drawingml/2006/main">
            <a:pPr algn="l"/>
            <a:r>
              <a:rPr lang="en-US">
                <a:solidFill>
                  <a:srgbClr val="E3F2FD"/>
                </a:solidFill>
              </a:rPr>
              <a:t>Slides 19–33 cover:</a:t>
            </a:r>
          </a:p>
          <a:p xmlns:a="http://schemas.openxmlformats.org/drawingml/2006/main">
            <a:pPr algn="l"/>
            <a:r>
              <a:rPr lang="en-US">
                <a:solidFill>
                  <a:srgbClr val="E3F2FD"/>
                </a:solidFill>
              </a:rPr>
              <a:t>  19  Wave-Particle Duality &amp; de Broglie hypothesis</a:t>
            </a:r>
          </a:p>
          <a:p xmlns:a="http://schemas.openxmlformats.org/drawingml/2006/main">
            <a:pPr algn="l"/>
            <a:r>
              <a:rPr lang="en-US">
                <a:solidFill>
                  <a:srgbClr val="E3F2FD"/>
                </a:solidFill>
              </a:rPr>
              <a:t>  20  Schrödinger Equation &amp; quantum states</a:t>
            </a:r>
          </a:p>
          <a:p xmlns:a="http://schemas.openxmlformats.org/drawingml/2006/main">
            <a:pPr algn="l"/>
            <a:r>
              <a:rPr lang="en-US">
                <a:solidFill>
                  <a:srgbClr val="E3F2FD"/>
                </a:solidFill>
              </a:rPr>
              <a:t>  21  Hydrogen Atom — exact solution &amp; orbitals</a:t>
            </a:r>
          </a:p>
          <a:p xmlns:a="http://schemas.openxmlformats.org/drawingml/2006/main">
            <a:pPr algn="l"/>
            <a:r>
              <a:rPr lang="en-US">
                <a:solidFill>
                  <a:srgbClr val="E3F2FD"/>
                </a:solidFill>
              </a:rPr>
              <a:t>  22  Spin &amp; Pauli Matrices</a:t>
            </a:r>
          </a:p>
          <a:p xmlns:a="http://schemas.openxmlformats.org/drawingml/2006/main">
            <a:pPr algn="l"/>
            <a:r>
              <a:rPr lang="en-US">
                <a:solidFill>
                  <a:srgbClr val="E3F2FD"/>
                </a:solidFill>
              </a:rPr>
              <a:t>  23  Postulates of Quantum Mechanics</a:t>
            </a:r>
          </a:p>
          <a:p xmlns:a="http://schemas.openxmlformats.org/drawingml/2006/main">
            <a:pPr algn="l"/>
            <a:r>
              <a:rPr lang="en-US">
                <a:solidFill>
                  <a:srgbClr val="E3F2FD"/>
                </a:solidFill>
              </a:rPr>
              <a:t>  24  Measurement &amp; Wavefunction Collapse</a:t>
            </a:r>
          </a:p>
          <a:p xmlns:a="http://schemas.openxmlformats.org/drawingml/2006/main">
            <a:pPr algn="l"/>
            <a:r>
              <a:rPr lang="en-US">
                <a:solidFill>
                  <a:srgbClr val="E3F2FD"/>
                </a:solidFill>
              </a:rPr>
              <a:t>  25  Angular Momentum &amp; Commutation Relations</a:t>
            </a:r>
          </a:p>
          <a:p xmlns:a="http://schemas.openxmlformats.org/drawingml/2006/main">
            <a:pPr algn="l"/>
            <a:r>
              <a:rPr lang="en-US">
                <a:solidFill>
                  <a:srgbClr val="E3F2FD"/>
                </a:solidFill>
              </a:rPr>
              <a:t>  26  Quantum Harmonic Oscillator</a:t>
            </a:r>
          </a:p>
          <a:p xmlns:a="http://schemas.openxmlformats.org/drawingml/2006/main">
            <a:pPr algn="l"/>
            <a:r>
              <a:rPr lang="en-US">
                <a:solidFill>
                  <a:srgbClr val="E3F2FD"/>
                </a:solidFill>
              </a:rPr>
              <a:t>  27  Many-Body Quantum Systems</a:t>
            </a:r>
          </a:p>
          <a:p xmlns:a="http://schemas.openxmlformats.org/drawingml/2006/main">
            <a:pPr algn="l"/>
            <a:r>
              <a:rPr lang="en-US">
                <a:solidFill>
                  <a:srgbClr val="E3F2FD"/>
                </a:solidFill>
              </a:rPr>
              <a:t>  28  Perturbation Theory</a:t>
            </a:r>
          </a:p>
          <a:p xmlns:a="http://schemas.openxmlformats.org/drawingml/2006/main">
            <a:pPr algn="l"/>
            <a:r>
              <a:rPr lang="en-US">
                <a:solidFill>
                  <a:srgbClr val="E3F2FD"/>
                </a:solidFill>
              </a:rPr>
              <a:t>  29  Quantum Entanglement — Bell States</a:t>
            </a:r>
          </a:p>
          <a:p xmlns:a="http://schemas.openxmlformats.org/drawingml/2006/main">
            <a:pPr algn="l"/>
            <a:r>
              <a:rPr lang="en-US">
                <a:solidFill>
                  <a:srgbClr val="E3F2FD"/>
                </a:solidFill>
              </a:rPr>
              <a:t>  30  Decoherence &amp; Open Quantum Systems</a:t>
            </a:r>
          </a:p>
          <a:p xmlns:a="http://schemas.openxmlformats.org/drawingml/2006/main">
            <a:pPr algn="l"/>
            <a:r>
              <a:rPr lang="en-US">
                <a:solidFill>
                  <a:srgbClr val="E3F2FD"/>
                </a:solidFill>
              </a:rPr>
              <a:t>  31  Quantum Thermodynamics</a:t>
            </a:r>
          </a:p>
          <a:p xmlns:a="http://schemas.openxmlformats.org/drawingml/2006/main">
            <a:pPr algn="l"/>
            <a:r>
              <a:rPr lang="en-US">
                <a:solidFill>
                  <a:srgbClr val="E3F2FD"/>
                </a:solidFill>
              </a:rPr>
              <a:t>  32  Relativistic Quantum Mechanics (preview)</a:t>
            </a:r>
          </a:p>
          <a:p xmlns:a="http://schemas.openxmlformats.org/drawingml/2006/main">
            <a:pPr algn="l"/>
            <a:r>
              <a:rPr lang="en-US">
                <a:solidFill>
                  <a:srgbClr val="E3F2FD"/>
                </a:solidFill>
              </a:rPr>
              <a:t>  33  Module 2 Summary</a:t>
            </a:r>
          </a:p>
        </p:txBody>
      </p:sp>
      <p:sp>
        <p:nvSpPr>
          <p:cNvPr id="100116"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19 / 65  |  MODULE 2: QUANTUM PHYSICS</a:t>
            </a:r>
          </a:p>
        </p:txBody>
      </p:sp>
      <p:sp>
        <p:nvSpPr>
          <p:cNvPr id="100117"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18.xml><?xml version="1.0" encoding="utf-8"?>
<p:sld xmlns:p="http://schemas.openxmlformats.org/presentationml/2006/main">
  <p:cSld>
    <p:spTree>
      <p:nvGrpSpPr>
        <p:cNvPr id="1" name=""/>
        <p:cNvGrpSpPr/>
        <p:nvPr/>
      </p:nvGrpSpPr>
      <p:grpSpPr/>
      <p:sp>
        <p:nvSpPr>
          <p:cNvPr id="100118" name="TextBox 1"/>
          <p:cNvSpPr txBox="1"/>
          <p:nvPr/>
        </p:nvSpPr>
        <p:spPr>
          <a:xfrm xmlns:a="http://schemas.openxmlformats.org/drawingml/2006/main">
            <a:off x="180000" y="198000"/>
            <a:ext cx="1980000" cy="198000"/>
          </a:xfrm>
          <a:prstGeom xmlns:a="http://schemas.openxmlformats.org/drawingml/2006/main" prst="rect">
            <a:avLst/>
          </a:prstGeom>
          <a:solidFill xmlns:a="http://schemas.openxmlformats.org/drawingml/2006/main">
            <a:srgbClr val="1565C0"/>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QUANTUM PHYSICS</a:t>
            </a:r>
          </a:p>
        </p:txBody>
      </p:sp>
      <p:sp>
        <p:nvSpPr>
          <p:cNvPr id="100119"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Schrödinger Equation &amp; Quantum State Evolution</a:t>
            </a:r>
          </a:p>
        </p:txBody>
      </p:sp>
      <p:sp>
        <p:nvSpPr>
          <p:cNvPr id="100120"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21"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E3F2FD"/>
                </a:solidFill>
              </a:rPr>
              <a:t>Time-Dependent Schrödinger Equation (TDSE)</a:t>
            </a:r>
          </a:p>
          <a:p xmlns:a="http://schemas.openxmlformats.org/drawingml/2006/main">
            <a:pPr algn="l"/>
            <a:r>
              <a:rPr lang="en-US">
                <a:solidFill>
                  <a:srgbClr val="E3F2FD"/>
                </a:solidFill>
              </a:rPr>
              <a:t/>
            </a:r>
          </a:p>
          <a:p xmlns:a="http://schemas.openxmlformats.org/drawingml/2006/main">
            <a:pPr algn="l"/>
            <a:r>
              <a:rPr lang="en-US">
                <a:solidFill>
                  <a:srgbClr val="E3F2FD"/>
                </a:solidFill>
              </a:rPr>
              <a:t>  iℏ ∂|ψ(t)⟩/∂t = Ĥ|ψ(t)⟩</a:t>
            </a:r>
          </a:p>
          <a:p xmlns:a="http://schemas.openxmlformats.org/drawingml/2006/main">
            <a:pPr algn="l"/>
            <a:r>
              <a:rPr lang="en-US">
                <a:solidFill>
                  <a:srgbClr val="E3F2FD"/>
                </a:solidFill>
              </a:rPr>
              <a:t/>
            </a:r>
          </a:p>
          <a:p xmlns:a="http://schemas.openxmlformats.org/drawingml/2006/main">
            <a:pPr algn="l"/>
            <a:r>
              <a:rPr lang="en-US">
                <a:solidFill>
                  <a:srgbClr val="E3F2FD"/>
                </a:solidFill>
              </a:rPr>
              <a:t>• Ĥ = Hamiltonian operator (total energy of system)</a:t>
            </a:r>
          </a:p>
          <a:p xmlns:a="http://schemas.openxmlformats.org/drawingml/2006/main">
            <a:pPr algn="l"/>
            <a:r>
              <a:rPr lang="en-US">
                <a:solidFill>
                  <a:srgbClr val="E3F2FD"/>
                </a:solidFill>
              </a:rPr>
              <a:t>• Solution: |ψ(t)⟩ = e^{-iĤt/ℏ}|ψ(0)⟩   — unitary evolution U(t)</a:t>
            </a:r>
          </a:p>
          <a:p xmlns:a="http://schemas.openxmlformats.org/drawingml/2006/main">
            <a:pPr algn="l"/>
            <a:r>
              <a:rPr lang="en-US">
                <a:solidFill>
                  <a:srgbClr val="E3F2FD"/>
                </a:solidFill>
              </a:rPr>
              <a:t>• For time-independent H: U(t) = e^{-iEt/ℏ}|E⟩ for energy eigenstate |E⟩</a:t>
            </a:r>
          </a:p>
          <a:p xmlns:a="http://schemas.openxmlformats.org/drawingml/2006/main">
            <a:pPr algn="l"/>
            <a:r>
              <a:rPr lang="en-US">
                <a:solidFill>
                  <a:srgbClr val="E3F2FD"/>
                </a:solidFill>
              </a:rPr>
              <a:t/>
            </a:r>
          </a:p>
          <a:p xmlns:a="http://schemas.openxmlformats.org/drawingml/2006/main">
            <a:pPr algn="l"/>
            <a:r>
              <a:rPr lang="en-US">
                <a:solidFill>
                  <a:srgbClr val="E3F2FD"/>
                </a:solidFill>
              </a:rPr>
              <a:t>Time-Independent Schrödinger Equation (TISE)</a:t>
            </a:r>
          </a:p>
          <a:p xmlns:a="http://schemas.openxmlformats.org/drawingml/2006/main">
            <a:pPr algn="l"/>
            <a:r>
              <a:rPr lang="en-US">
                <a:solidFill>
                  <a:srgbClr val="E3F2FD"/>
                </a:solidFill>
              </a:rPr>
              <a:t/>
            </a:r>
          </a:p>
          <a:p xmlns:a="http://schemas.openxmlformats.org/drawingml/2006/main">
            <a:pPr algn="l"/>
            <a:r>
              <a:rPr lang="en-US">
                <a:solidFill>
                  <a:srgbClr val="E3F2FD"/>
                </a:solidFill>
              </a:rPr>
              <a:t>  Ĥ|ψ⟩ = E|ψ⟩</a:t>
            </a:r>
          </a:p>
          <a:p xmlns:a="http://schemas.openxmlformats.org/drawingml/2006/main">
            <a:pPr algn="l"/>
            <a:r>
              <a:rPr lang="en-US">
                <a:solidFill>
                  <a:srgbClr val="E3F2FD"/>
                </a:solidFill>
              </a:rPr>
              <a:t/>
            </a:r>
          </a:p>
          <a:p xmlns:a="http://schemas.openxmlformats.org/drawingml/2006/main">
            <a:pPr algn="l"/>
            <a:r>
              <a:rPr lang="en-US">
                <a:solidFill>
                  <a:srgbClr val="E3F2FD"/>
                </a:solidFill>
              </a:rPr>
              <a:t>• Eigenvalue problem: solve for stationary states and energy levels</a:t>
            </a:r>
          </a:p>
          <a:p xmlns:a="http://schemas.openxmlformats.org/drawingml/2006/main">
            <a:pPr algn="l"/>
            <a:r>
              <a:rPr lang="en-US">
                <a:solidFill>
                  <a:srgbClr val="E3F2FD"/>
                </a:solidFill>
              </a:rPr>
              <a:t>• Discrete energy spectrum → bound states (electron in atom)</a:t>
            </a:r>
          </a:p>
          <a:p xmlns:a="http://schemas.openxmlformats.org/drawingml/2006/main">
            <a:pPr algn="l"/>
            <a:r>
              <a:rPr lang="en-US">
                <a:solidFill>
                  <a:srgbClr val="E3F2FD"/>
                </a:solidFill>
              </a:rPr>
              <a:t>• Continuous spectrum → free particles</a:t>
            </a:r>
          </a:p>
          <a:p xmlns:a="http://schemas.openxmlformats.org/drawingml/2006/main">
            <a:pPr algn="l"/>
            <a:r>
              <a:rPr lang="en-US">
                <a:solidFill>
                  <a:srgbClr val="E3F2FD"/>
                </a:solidFill>
              </a:rPr>
              <a:t/>
            </a:r>
          </a:p>
          <a:p xmlns:a="http://schemas.openxmlformats.org/drawingml/2006/main">
            <a:pPr algn="l"/>
            <a:r>
              <a:rPr lang="en-US">
                <a:solidFill>
                  <a:srgbClr val="E3F2FD"/>
                </a:solidFill>
              </a:rPr>
              <a:t>Connection to Quantum Gates:</a:t>
            </a:r>
          </a:p>
          <a:p xmlns:a="http://schemas.openxmlformats.org/drawingml/2006/main">
            <a:pPr algn="l"/>
            <a:r>
              <a:rPr lang="en-US">
                <a:solidFill>
                  <a:srgbClr val="E3F2FD"/>
                </a:solidFill>
              </a:rPr>
              <a:t>• Every quantum gate G = e^{-iHt/ℏ} is a TDSE solution</a:t>
            </a:r>
          </a:p>
          <a:p xmlns:a="http://schemas.openxmlformats.org/drawingml/2006/main">
            <a:pPr algn="l"/>
            <a:r>
              <a:rPr lang="en-US">
                <a:solidFill>
                  <a:srgbClr val="E3F2FD"/>
                </a:solidFill>
              </a:rPr>
              <a:t>• Rx(θ)=e^{-iθX/2}, H gate comes from Ĥ = (X+Z)/√2</a:t>
            </a:r>
          </a:p>
          <a:p xmlns:a="http://schemas.openxmlformats.org/drawingml/2006/main">
            <a:pPr algn="l"/>
            <a:r>
              <a:rPr lang="en-US">
                <a:solidFill>
                  <a:srgbClr val="E3F2FD"/>
                </a:solidFill>
              </a:rPr>
              <a:t>• Quantum annealing: slowly evolve H_initial → H_problem</a:t>
            </a:r>
          </a:p>
        </p:txBody>
      </p:sp>
      <p:sp>
        <p:nvSpPr>
          <p:cNvPr id="100122"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21 / 65  |  MODULE 2: QUANTUM PHYSICS</a:t>
            </a:r>
          </a:p>
        </p:txBody>
      </p:sp>
      <p:sp>
        <p:nvSpPr>
          <p:cNvPr id="100123"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19.xml><?xml version="1.0" encoding="utf-8"?>
<p:sld xmlns:p="http://schemas.openxmlformats.org/presentationml/2006/main">
  <p:cSld>
    <p:spTree>
      <p:nvGrpSpPr>
        <p:cNvPr id="1" name=""/>
        <p:cNvGrpSpPr/>
        <p:nvPr/>
      </p:nvGrpSpPr>
      <p:grpSpPr/>
      <p:sp>
        <p:nvSpPr>
          <p:cNvPr id="100124" name="TextBox 1"/>
          <p:cNvSpPr txBox="1"/>
          <p:nvPr/>
        </p:nvSpPr>
        <p:spPr>
          <a:xfrm xmlns:a="http://schemas.openxmlformats.org/drawingml/2006/main">
            <a:off x="180000" y="198000"/>
            <a:ext cx="1980000" cy="198000"/>
          </a:xfrm>
          <a:prstGeom xmlns:a="http://schemas.openxmlformats.org/drawingml/2006/main" prst="rect">
            <a:avLst/>
          </a:prstGeom>
          <a:solidFill xmlns:a="http://schemas.openxmlformats.org/drawingml/2006/main">
            <a:srgbClr val="1565C0"/>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QUANTUM PHYSICS</a:t>
            </a:r>
          </a:p>
        </p:txBody>
      </p:sp>
      <p:sp>
        <p:nvSpPr>
          <p:cNvPr id="100125"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Hydrogen Atom: Exact Solution &amp; Quantum Numbers</a:t>
            </a:r>
          </a:p>
        </p:txBody>
      </p:sp>
      <p:sp>
        <p:nvSpPr>
          <p:cNvPr id="100126"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graphicFrame>
        <p:nvGraphicFramePr>
          <p:cNvPr id="100127" name="Table 1"/>
          <p:cNvGraphicFramePr/>
          <p:nvPr/>
        </p:nvGraphicFramePr>
        <p:xfrm>
          <a:off xmlns:a="http://schemas.openxmlformats.org/drawingml/2006/main" x="360000" y="1152000"/>
          <a:ext xmlns:a="http://schemas.openxmlformats.org/drawingml/2006/main" cx="11160000" cy="3420000"/>
        </p:xfrm>
        <a:graphic xmlns:a="http://schemas.openxmlformats.org/drawingml/2006/main">
          <a:graphicData uri="http://schemas.openxmlformats.org/drawingml/2006/table">
            <a:tbl>
              <a:tblPr firstRow="1" bandRow="1"/>
              <a:tblGrid>
                <a:gridCol w="2790000"/>
                <a:gridCol w="2790000"/>
                <a:gridCol w="2790000"/>
                <a:gridCol w="2790000"/>
              </a:tblGrid>
              <a:tr h="570000">
                <a:tc>
                  <a:txBody>
                    <a:bodyPr/>
                    <a:lstStyle/>
                    <a:p>
                      <a:r>
                        <a:rPr lang="en-US" sz="1200" b="1">
                          <a:solidFill>
                            <a:srgbClr val="E3F2FD"/>
                          </a:solidFill>
                        </a:rPr>
                        <a:t>Quantum Number</a:t>
                      </a:r>
                    </a:p>
                  </a:txBody>
                  <a:tcPr>
                    <a:solidFill>
                      <a:srgbClr val="1565C0"/>
                    </a:solidFill>
                  </a:tcPr>
                </a:tc>
                <a:tc>
                  <a:txBody>
                    <a:bodyPr/>
                    <a:lstStyle/>
                    <a:p>
                      <a:r>
                        <a:rPr lang="en-US" sz="1200" b="1">
                          <a:solidFill>
                            <a:srgbClr val="E3F2FD"/>
                          </a:solidFill>
                        </a:rPr>
                        <a:t>Symbol</a:t>
                      </a:r>
                    </a:p>
                  </a:txBody>
                  <a:tcPr>
                    <a:solidFill>
                      <a:srgbClr val="1565C0"/>
                    </a:solidFill>
                  </a:tcPr>
                </a:tc>
                <a:tc>
                  <a:txBody>
                    <a:bodyPr/>
                    <a:lstStyle/>
                    <a:p>
                      <a:r>
                        <a:rPr lang="en-US" sz="1200" b="1">
                          <a:solidFill>
                            <a:srgbClr val="E3F2FD"/>
                          </a:solidFill>
                        </a:rPr>
                        <a:t>Values</a:t>
                      </a:r>
                    </a:p>
                  </a:txBody>
                  <a:tcPr>
                    <a:solidFill>
                      <a:srgbClr val="1565C0"/>
                    </a:solidFill>
                  </a:tcPr>
                </a:tc>
                <a:tc>
                  <a:txBody>
                    <a:bodyPr/>
                    <a:lstStyle/>
                    <a:p>
                      <a:r>
                        <a:rPr lang="en-US" sz="1200" b="1">
                          <a:solidFill>
                            <a:srgbClr val="E3F2FD"/>
                          </a:solidFill>
                        </a:rPr>
                        <a:t>Physical Meaning</a:t>
                      </a:r>
                    </a:p>
                  </a:txBody>
                  <a:tcPr>
                    <a:solidFill>
                      <a:srgbClr val="1565C0"/>
                    </a:solidFill>
                  </a:tcPr>
                </a:tc>
              </a:tr>
              <a:tr h="570000">
                <a:tc>
                  <a:txBody>
                    <a:bodyPr/>
                    <a:lstStyle/>
                    <a:p>
                      <a:r>
                        <a:rPr lang="en-US" sz="1200" b="1">
                          <a:solidFill>
                            <a:srgbClr val="BBDEFB"/>
                          </a:solidFill>
                        </a:rPr>
                        <a:t>Principal</a:t>
                      </a:r>
                    </a:p>
                  </a:txBody>
                  <a:tcPr>
                    <a:solidFill>
                      <a:srgbClr val="0D2137"/>
                    </a:solidFill>
                  </a:tcPr>
                </a:tc>
                <a:tc>
                  <a:txBody>
                    <a:bodyPr/>
                    <a:lstStyle/>
                    <a:p>
                      <a:r>
                        <a:rPr lang="en-US" sz="1200">
                          <a:solidFill>
                            <a:srgbClr val="E3F2FD"/>
                          </a:solidFill>
                        </a:rPr>
                        <a:t>n</a:t>
                      </a:r>
                    </a:p>
                  </a:txBody>
                  <a:tcPr>
                    <a:solidFill>
                      <a:srgbClr val="0D2137"/>
                    </a:solidFill>
                  </a:tcPr>
                </a:tc>
                <a:tc>
                  <a:txBody>
                    <a:bodyPr/>
                    <a:lstStyle/>
                    <a:p>
                      <a:r>
                        <a:rPr lang="en-US" sz="1200">
                          <a:solidFill>
                            <a:srgbClr val="E3F2FD"/>
                          </a:solidFill>
                        </a:rPr>
                        <a:t>1, 2, 3, ...</a:t>
                      </a:r>
                    </a:p>
                  </a:txBody>
                  <a:tcPr>
                    <a:solidFill>
                      <a:srgbClr val="0D2137"/>
                    </a:solidFill>
                  </a:tcPr>
                </a:tc>
                <a:tc>
                  <a:txBody>
                    <a:bodyPr/>
                    <a:lstStyle/>
                    <a:p>
                      <a:r>
                        <a:rPr lang="en-US" sz="1200">
                          <a:solidFill>
                            <a:srgbClr val="E3F2FD"/>
                          </a:solidFill>
                        </a:rPr>
                        <a:t>Energy level: Eₙ = -13.6/n² eV</a:t>
                      </a:r>
                    </a:p>
                  </a:txBody>
                  <a:tcPr>
                    <a:solidFill>
                      <a:srgbClr val="0D2137"/>
                    </a:solidFill>
                  </a:tcPr>
                </a:tc>
              </a:tr>
              <a:tr h="570000">
                <a:tc>
                  <a:txBody>
                    <a:bodyPr/>
                    <a:lstStyle/>
                    <a:p>
                      <a:r>
                        <a:rPr lang="en-US" sz="1200" b="1">
                          <a:solidFill>
                            <a:srgbClr val="BBDEFB"/>
                          </a:solidFill>
                        </a:rPr>
                        <a:t>Azimuthal</a:t>
                      </a:r>
                    </a:p>
                  </a:txBody>
                  <a:tcPr>
                    <a:solidFill>
                      <a:srgbClr val="112233"/>
                    </a:solidFill>
                  </a:tcPr>
                </a:tc>
                <a:tc>
                  <a:txBody>
                    <a:bodyPr/>
                    <a:lstStyle/>
                    <a:p>
                      <a:r>
                        <a:rPr lang="en-US" sz="1200">
                          <a:solidFill>
                            <a:srgbClr val="E3F2FD"/>
                          </a:solidFill>
                        </a:rPr>
                        <a:t>l</a:t>
                      </a:r>
                    </a:p>
                  </a:txBody>
                  <a:tcPr>
                    <a:solidFill>
                      <a:srgbClr val="112233"/>
                    </a:solidFill>
                  </a:tcPr>
                </a:tc>
                <a:tc>
                  <a:txBody>
                    <a:bodyPr/>
                    <a:lstStyle/>
                    <a:p>
                      <a:r>
                        <a:rPr lang="en-US" sz="1200">
                          <a:solidFill>
                            <a:srgbClr val="E3F2FD"/>
                          </a:solidFill>
                        </a:rPr>
                        <a:t>0 to n-1</a:t>
                      </a:r>
                    </a:p>
                  </a:txBody>
                  <a:tcPr>
                    <a:solidFill>
                      <a:srgbClr val="112233"/>
                    </a:solidFill>
                  </a:tcPr>
                </a:tc>
                <a:tc>
                  <a:txBody>
                    <a:bodyPr/>
                    <a:lstStyle/>
                    <a:p>
                      <a:r>
                        <a:rPr lang="en-US" sz="1200">
                          <a:solidFill>
                            <a:srgbClr val="E3F2FD"/>
                          </a:solidFill>
                        </a:rPr>
                        <a:t>Orbital shape: s(0), p(1), d(2), f(3)</a:t>
                      </a:r>
                    </a:p>
                  </a:txBody>
                  <a:tcPr>
                    <a:solidFill>
                      <a:srgbClr val="112233"/>
                    </a:solidFill>
                  </a:tcPr>
                </a:tc>
              </a:tr>
              <a:tr h="570000">
                <a:tc>
                  <a:txBody>
                    <a:bodyPr/>
                    <a:lstStyle/>
                    <a:p>
                      <a:r>
                        <a:rPr lang="en-US" sz="1200" b="1">
                          <a:solidFill>
                            <a:srgbClr val="BBDEFB"/>
                          </a:solidFill>
                        </a:rPr>
                        <a:t>Magnetic</a:t>
                      </a:r>
                    </a:p>
                  </a:txBody>
                  <a:tcPr>
                    <a:solidFill>
                      <a:srgbClr val="0D2137"/>
                    </a:solidFill>
                  </a:tcPr>
                </a:tc>
                <a:tc>
                  <a:txBody>
                    <a:bodyPr/>
                    <a:lstStyle/>
                    <a:p>
                      <a:r>
                        <a:rPr lang="en-US" sz="1200">
                          <a:solidFill>
                            <a:srgbClr val="E3F2FD"/>
                          </a:solidFill>
                        </a:rPr>
                        <a:t>mₗ</a:t>
                      </a:r>
                    </a:p>
                  </a:txBody>
                  <a:tcPr>
                    <a:solidFill>
                      <a:srgbClr val="0D2137"/>
                    </a:solidFill>
                  </a:tcPr>
                </a:tc>
                <a:tc>
                  <a:txBody>
                    <a:bodyPr/>
                    <a:lstStyle/>
                    <a:p>
                      <a:r>
                        <a:rPr lang="en-US" sz="1200">
                          <a:solidFill>
                            <a:srgbClr val="E3F2FD"/>
                          </a:solidFill>
                        </a:rPr>
                        <a:t>-l to +l</a:t>
                      </a:r>
                    </a:p>
                  </a:txBody>
                  <a:tcPr>
                    <a:solidFill>
                      <a:srgbClr val="0D2137"/>
                    </a:solidFill>
                  </a:tcPr>
                </a:tc>
                <a:tc>
                  <a:txBody>
                    <a:bodyPr/>
                    <a:lstStyle/>
                    <a:p>
                      <a:r>
                        <a:rPr lang="en-US" sz="1200">
                          <a:solidFill>
                            <a:srgbClr val="E3F2FD"/>
                          </a:solidFill>
                        </a:rPr>
                        <a:t>Orbital orientation in space</a:t>
                      </a:r>
                    </a:p>
                  </a:txBody>
                  <a:tcPr>
                    <a:solidFill>
                      <a:srgbClr val="0D2137"/>
                    </a:solidFill>
                  </a:tcPr>
                </a:tc>
              </a:tr>
              <a:tr h="570000">
                <a:tc>
                  <a:txBody>
                    <a:bodyPr/>
                    <a:lstStyle/>
                    <a:p>
                      <a:r>
                        <a:rPr lang="en-US" sz="1200" b="1">
                          <a:solidFill>
                            <a:srgbClr val="BBDEFB"/>
                          </a:solidFill>
                        </a:rPr>
                        <a:t>Spin</a:t>
                      </a:r>
                    </a:p>
                  </a:txBody>
                  <a:tcPr>
                    <a:solidFill>
                      <a:srgbClr val="112233"/>
                    </a:solidFill>
                  </a:tcPr>
                </a:tc>
                <a:tc>
                  <a:txBody>
                    <a:bodyPr/>
                    <a:lstStyle/>
                    <a:p>
                      <a:r>
                        <a:rPr lang="en-US" sz="1200">
                          <a:solidFill>
                            <a:srgbClr val="E3F2FD"/>
                          </a:solidFill>
                        </a:rPr>
                        <a:t>mₛ</a:t>
                      </a:r>
                    </a:p>
                  </a:txBody>
                  <a:tcPr>
                    <a:solidFill>
                      <a:srgbClr val="112233"/>
                    </a:solidFill>
                  </a:tcPr>
                </a:tc>
                <a:tc>
                  <a:txBody>
                    <a:bodyPr/>
                    <a:lstStyle/>
                    <a:p>
                      <a:r>
                        <a:rPr lang="en-US" sz="1200">
                          <a:solidFill>
                            <a:srgbClr val="E3F2FD"/>
                          </a:solidFill>
                        </a:rPr>
                        <a:t>±1/2</a:t>
                      </a:r>
                    </a:p>
                  </a:txBody>
                  <a:tcPr>
                    <a:solidFill>
                      <a:srgbClr val="112233"/>
                    </a:solidFill>
                  </a:tcPr>
                </a:tc>
                <a:tc>
                  <a:txBody>
                    <a:bodyPr/>
                    <a:lstStyle/>
                    <a:p>
                      <a:r>
                        <a:rPr lang="en-US" sz="1200">
                          <a:solidFill>
                            <a:srgbClr val="E3F2FD"/>
                          </a:solidFill>
                        </a:rPr>
                        <a:t>Intrinsic angular momentum: spin-up=|0⟩, spin-down=|1⟩</a:t>
                      </a:r>
                    </a:p>
                  </a:txBody>
                  <a:tcPr>
                    <a:solidFill>
                      <a:srgbClr val="112233"/>
                    </a:solidFill>
                  </a:tcPr>
                </a:tc>
              </a:tr>
              <a:tr h="570000">
                <a:tc>
                  <a:txBody>
                    <a:bodyPr/>
                    <a:lstStyle/>
                    <a:p>
                      <a:r>
                        <a:rPr lang="en-US" sz="1200" b="1">
                          <a:solidFill>
                            <a:srgbClr val="BBDEFB"/>
                          </a:solidFill>
                        </a:rPr>
                        <a:t>Wavefunction</a:t>
                      </a:r>
                    </a:p>
                  </a:txBody>
                  <a:tcPr>
                    <a:solidFill>
                      <a:srgbClr val="0D2137"/>
                    </a:solidFill>
                  </a:tcPr>
                </a:tc>
                <a:tc>
                  <a:txBody>
                    <a:bodyPr/>
                    <a:lstStyle/>
                    <a:p>
                      <a:r>
                        <a:rPr lang="en-US" sz="1200">
                          <a:solidFill>
                            <a:srgbClr val="E3F2FD"/>
                          </a:solidFill>
                        </a:rPr>
                        <a:t>ψ_{n,l,m}</a:t>
                      </a:r>
                    </a:p>
                  </a:txBody>
                  <a:tcPr>
                    <a:solidFill>
                      <a:srgbClr val="0D2137"/>
                    </a:solidFill>
                  </a:tcPr>
                </a:tc>
                <a:tc>
                  <a:txBody>
                    <a:bodyPr/>
                    <a:lstStyle/>
                    <a:p>
                      <a:r>
                        <a:rPr lang="en-US" sz="1200">
                          <a:solidFill>
                            <a:srgbClr val="E3F2FD"/>
                          </a:solidFill>
                        </a:rPr>
                        <a:t>R_{nl}(r) · Yₗᵐ(θ,φ)</a:t>
                      </a:r>
                    </a:p>
                  </a:txBody>
                  <a:tcPr>
                    <a:solidFill>
                      <a:srgbClr val="0D2137"/>
                    </a:solidFill>
                  </a:tcPr>
                </a:tc>
                <a:tc>
                  <a:txBody>
                    <a:bodyPr/>
                    <a:lstStyle/>
                    <a:p>
                      <a:r>
                        <a:rPr lang="en-US" sz="1200">
                          <a:solidFill>
                            <a:srgbClr val="E3F2FD"/>
                          </a:solidFill>
                        </a:rPr>
                        <a:t>Radial × spherical harmonic — orbital shape</a:t>
                      </a:r>
                    </a:p>
                  </a:txBody>
                  <a:tcPr>
                    <a:solidFill>
                      <a:srgbClr val="0D2137"/>
                    </a:solidFill>
                  </a:tcPr>
                </a:tc>
              </a:tr>
            </a:tbl>
          </a:graphicData>
        </a:graphic>
      </p:graphicFrame>
      <p:sp>
        <p:nvSpPr>
          <p:cNvPr id="100128" name="TextBox 4"/>
          <p:cNvSpPr txBox="1"/>
          <p:nvPr/>
        </p:nvSpPr>
        <p:spPr>
          <a:xfrm xmlns:a="http://schemas.openxmlformats.org/drawingml/2006/main">
            <a:off x="360000" y="4680000"/>
            <a:ext cx="11160000" cy="1080000"/>
          </a:xfrm>
          <a:prstGeom xmlns:a="http://schemas.openxmlformats.org/drawingml/2006/main" prst="rect">
            <a:avLst/>
          </a:prstGeom>
          <a:solidFill xmlns:a="http://schemas.openxmlformats.org/drawingml/2006/main">
            <a:srgbClr val="0D2137"/>
          </a:solidFill>
        </p:spPr>
        <p:txBody>
          <a:bodyPr xmlns:a="http://schemas.openxmlformats.org/drawingml/2006/main"/>
          <a:lstStyle xmlns:a="http://schemas.openxmlformats.org/drawingml/2006/main"/>
          <a:p xmlns:a="http://schemas.openxmlformats.org/drawingml/2006/main">
            <a:pPr algn="l"/>
            <a:r>
              <a:rPr lang="en-US">
                <a:solidFill>
                  <a:srgbClr val="BBDEFB"/>
                </a:solidFill>
              </a:rPr>
              <a:t>Qubit Connection: n=1 (ground) and n=2 (excited) states of hydrogen ARE a qubit.</a:t>
            </a:r>
          </a:p>
          <a:p xmlns:a="http://schemas.openxmlformats.org/drawingml/2006/main">
            <a:pPr algn="l"/>
            <a:r>
              <a:rPr lang="en-US">
                <a:solidFill>
                  <a:srgbClr val="BBDEFB"/>
                </a:solidFill>
              </a:rPr>
              <a:t>Energy gap ΔE = 10.2 eV (Lyman α, λ=121.6 nm) encodes |0⟩ and |1⟩.</a:t>
            </a:r>
          </a:p>
          <a:p xmlns:a="http://schemas.openxmlformats.org/drawingml/2006/main">
            <a:pPr algn="l"/>
            <a:r>
              <a:rPr lang="en-US">
                <a:solidFill>
                  <a:srgbClr val="BBDEFB"/>
                </a:solidFill>
              </a:rPr>
              <a:t>This exact system is the prototype for trapped-ion &amp; neutral-atom qubit platforms.</a:t>
            </a:r>
          </a:p>
        </p:txBody>
      </p:sp>
      <p:sp>
        <p:nvSpPr>
          <p:cNvPr id="100129"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22 / 65  |  MODULE 2: QUANTUM PHYSICS</a:t>
            </a:r>
          </a:p>
        </p:txBody>
      </p:sp>
      <p:sp>
        <p:nvSpPr>
          <p:cNvPr id="100130"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20.xml><?xml version="1.0" encoding="utf-8"?>
<p:sld xmlns:p="http://schemas.openxmlformats.org/presentationml/2006/main">
  <p:cSld>
    <p:spTree>
      <p:nvGrpSpPr>
        <p:cNvPr id="1" name=""/>
        <p:cNvGrpSpPr/>
        <p:nvPr/>
      </p:nvGrpSpPr>
      <p:grpSpPr/>
      <p:sp>
        <p:nvSpPr>
          <p:cNvPr id="100131" name="TextBox 1"/>
          <p:cNvSpPr txBox="1"/>
          <p:nvPr/>
        </p:nvSpPr>
        <p:spPr>
          <a:xfrm xmlns:a="http://schemas.openxmlformats.org/drawingml/2006/main">
            <a:off x="180000" y="198000"/>
            <a:ext cx="1980000" cy="198000"/>
          </a:xfrm>
          <a:prstGeom xmlns:a="http://schemas.openxmlformats.org/drawingml/2006/main" prst="rect">
            <a:avLst/>
          </a:prstGeom>
          <a:solidFill xmlns:a="http://schemas.openxmlformats.org/drawingml/2006/main">
            <a:srgbClr val="1565C0"/>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QUANTUM PHYSICS</a:t>
            </a:r>
          </a:p>
        </p:txBody>
      </p:sp>
      <p:sp>
        <p:nvSpPr>
          <p:cNvPr id="100132"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Spin &amp; Pauli Matrices — The Physical Qubit</a:t>
            </a:r>
          </a:p>
        </p:txBody>
      </p:sp>
      <p:sp>
        <p:nvSpPr>
          <p:cNvPr id="100133"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graphicFrame>
        <p:nvGraphicFramePr>
          <p:cNvPr id="100134" name="Table 1"/>
          <p:cNvGraphicFramePr/>
          <p:nvPr/>
        </p:nvGraphicFramePr>
        <p:xfrm>
          <a:off xmlns:a="http://schemas.openxmlformats.org/drawingml/2006/main" x="360000" y="1152000"/>
          <a:ext xmlns:a="http://schemas.openxmlformats.org/drawingml/2006/main" cx="11160000" cy="2880000"/>
        </p:xfrm>
        <a:graphic xmlns:a="http://schemas.openxmlformats.org/drawingml/2006/main">
          <a:graphicData uri="http://schemas.openxmlformats.org/drawingml/2006/table">
            <a:tbl>
              <a:tblPr firstRow="1" bandRow="1"/>
              <a:tblGrid>
                <a:gridCol w="3720000"/>
                <a:gridCol w="3720000"/>
                <a:gridCol w="3720000"/>
              </a:tblGrid>
              <a:tr h="576000">
                <a:tc>
                  <a:txBody>
                    <a:bodyPr/>
                    <a:lstStyle/>
                    <a:p>
                      <a:r>
                        <a:rPr lang="en-US" sz="1300" b="1">
                          <a:solidFill>
                            <a:srgbClr val="E3F2FD"/>
                          </a:solidFill>
                        </a:rPr>
                        <a:t>Pauli Matrix</a:t>
                      </a:r>
                    </a:p>
                  </a:txBody>
                  <a:tcPr>
                    <a:solidFill>
                      <a:srgbClr val="1565C0"/>
                    </a:solidFill>
                  </a:tcPr>
                </a:tc>
                <a:tc>
                  <a:txBody>
                    <a:bodyPr/>
                    <a:lstStyle/>
                    <a:p>
                      <a:r>
                        <a:rPr lang="en-US" sz="1300" b="1">
                          <a:solidFill>
                            <a:srgbClr val="E3F2FD"/>
                          </a:solidFill>
                        </a:rPr>
                        <a:t>Matrix Form</a:t>
                      </a:r>
                    </a:p>
                  </a:txBody>
                  <a:tcPr>
                    <a:solidFill>
                      <a:srgbClr val="1565C0"/>
                    </a:solidFill>
                  </a:tcPr>
                </a:tc>
                <a:tc>
                  <a:txBody>
                    <a:bodyPr/>
                    <a:lstStyle/>
                    <a:p>
                      <a:r>
                        <a:rPr lang="en-US" sz="1300" b="1">
                          <a:solidFill>
                            <a:srgbClr val="E3F2FD"/>
                          </a:solidFill>
                        </a:rPr>
                        <a:t>Physical / Gate Meaning</a:t>
                      </a:r>
                    </a:p>
                  </a:txBody>
                  <a:tcPr>
                    <a:solidFill>
                      <a:srgbClr val="1565C0"/>
                    </a:solidFill>
                  </a:tcPr>
                </a:tc>
              </a:tr>
              <a:tr h="576000">
                <a:tc>
                  <a:txBody>
                    <a:bodyPr/>
                    <a:lstStyle/>
                    <a:p>
                      <a:r>
                        <a:rPr lang="en-US" sz="1200" b="1">
                          <a:solidFill>
                            <a:srgbClr val="BBDEFB"/>
                          </a:solidFill>
                        </a:rPr>
                        <a:t>σₓ (X gate)</a:t>
                      </a:r>
                    </a:p>
                  </a:txBody>
                  <a:tcPr>
                    <a:solidFill>
                      <a:srgbClr val="0D2137"/>
                    </a:solidFill>
                  </a:tcPr>
                </a:tc>
                <a:tc>
                  <a:txBody>
                    <a:bodyPr/>
                    <a:lstStyle/>
                    <a:p>
                      <a:r>
                        <a:rPr lang="en-US" sz="1200">
                          <a:solidFill>
                            <a:srgbClr val="E3F2FD"/>
                          </a:solidFill>
                        </a:rPr>
                        <a:t>[[0,1],[1,0]]</a:t>
                      </a:r>
                    </a:p>
                  </a:txBody>
                  <a:tcPr>
                    <a:solidFill>
                      <a:srgbClr val="0D2137"/>
                    </a:solidFill>
                  </a:tcPr>
                </a:tc>
                <a:tc>
                  <a:txBody>
                    <a:bodyPr/>
                    <a:lstStyle/>
                    <a:p>
                      <a:r>
                        <a:rPr lang="en-US" sz="1200">
                          <a:solidFill>
                            <a:srgbClr val="E3F2FD"/>
                          </a:solidFill>
                        </a:rPr>
                        <a:t>Bit flip: |0⟩→|1⟩, |1⟩→|0⟩. Measures Sx component</a:t>
                      </a:r>
                    </a:p>
                  </a:txBody>
                  <a:tcPr>
                    <a:solidFill>
                      <a:srgbClr val="0D2137"/>
                    </a:solidFill>
                  </a:tcPr>
                </a:tc>
              </a:tr>
              <a:tr h="576000">
                <a:tc>
                  <a:txBody>
                    <a:bodyPr/>
                    <a:lstStyle/>
                    <a:p>
                      <a:r>
                        <a:rPr lang="en-US" sz="1200" b="1">
                          <a:solidFill>
                            <a:srgbClr val="BBDEFB"/>
                          </a:solidFill>
                        </a:rPr>
                        <a:t>σᵧ (Y gate)</a:t>
                      </a:r>
                    </a:p>
                  </a:txBody>
                  <a:tcPr>
                    <a:solidFill>
                      <a:srgbClr val="112233"/>
                    </a:solidFill>
                  </a:tcPr>
                </a:tc>
                <a:tc>
                  <a:txBody>
                    <a:bodyPr/>
                    <a:lstStyle/>
                    <a:p>
                      <a:r>
                        <a:rPr lang="en-US" sz="1200">
                          <a:solidFill>
                            <a:srgbClr val="E3F2FD"/>
                          </a:solidFill>
                        </a:rPr>
                        <a:t>[[0,-i],[i,0]]</a:t>
                      </a:r>
                    </a:p>
                  </a:txBody>
                  <a:tcPr>
                    <a:solidFill>
                      <a:srgbClr val="112233"/>
                    </a:solidFill>
                  </a:tcPr>
                </a:tc>
                <a:tc>
                  <a:txBody>
                    <a:bodyPr/>
                    <a:lstStyle/>
                    <a:p>
                      <a:r>
                        <a:rPr lang="en-US" sz="1200">
                          <a:solidFill>
                            <a:srgbClr val="E3F2FD"/>
                          </a:solidFill>
                        </a:rPr>
                        <a:t>Bit+phase flip. Measures Sy. Complex entries → phase</a:t>
                      </a:r>
                    </a:p>
                  </a:txBody>
                  <a:tcPr>
                    <a:solidFill>
                      <a:srgbClr val="112233"/>
                    </a:solidFill>
                  </a:tcPr>
                </a:tc>
              </a:tr>
              <a:tr h="576000">
                <a:tc>
                  <a:txBody>
                    <a:bodyPr/>
                    <a:lstStyle/>
                    <a:p>
                      <a:r>
                        <a:rPr lang="en-US" sz="1200" b="1">
                          <a:solidFill>
                            <a:srgbClr val="BBDEFB"/>
                          </a:solidFill>
                        </a:rPr>
                        <a:t>σz (Z gate)</a:t>
                      </a:r>
                    </a:p>
                  </a:txBody>
                  <a:tcPr>
                    <a:solidFill>
                      <a:srgbClr val="0D2137"/>
                    </a:solidFill>
                  </a:tcPr>
                </a:tc>
                <a:tc>
                  <a:txBody>
                    <a:bodyPr/>
                    <a:lstStyle/>
                    <a:p>
                      <a:r>
                        <a:rPr lang="en-US" sz="1200">
                          <a:solidFill>
                            <a:srgbClr val="E3F2FD"/>
                          </a:solidFill>
                        </a:rPr>
                        <a:t>[[1,0],[0,-1]]</a:t>
                      </a:r>
                    </a:p>
                  </a:txBody>
                  <a:tcPr>
                    <a:solidFill>
                      <a:srgbClr val="0D2137"/>
                    </a:solidFill>
                  </a:tcPr>
                </a:tc>
                <a:tc>
                  <a:txBody>
                    <a:bodyPr/>
                    <a:lstStyle/>
                    <a:p>
                      <a:r>
                        <a:rPr lang="en-US" sz="1200">
                          <a:solidFill>
                            <a:srgbClr val="E3F2FD"/>
                          </a:solidFill>
                        </a:rPr>
                        <a:t>Phase flip: |+⟩→|-⟩. Diagonal → computational basis</a:t>
                      </a:r>
                    </a:p>
                  </a:txBody>
                  <a:tcPr>
                    <a:solidFill>
                      <a:srgbClr val="0D2137"/>
                    </a:solidFill>
                  </a:tcPr>
                </a:tc>
              </a:tr>
              <a:tr h="576000">
                <a:tc>
                  <a:txBody>
                    <a:bodyPr/>
                    <a:lstStyle/>
                    <a:p>
                      <a:r>
                        <a:rPr lang="en-US" sz="1200" b="1">
                          <a:solidFill>
                            <a:srgbClr val="BBDEFB"/>
                          </a:solidFill>
                        </a:rPr>
                        <a:t>Commutators</a:t>
                      </a:r>
                    </a:p>
                  </a:txBody>
                  <a:tcPr>
                    <a:solidFill>
                      <a:srgbClr val="112233"/>
                    </a:solidFill>
                  </a:tcPr>
                </a:tc>
                <a:tc>
                  <a:txBody>
                    <a:bodyPr/>
                    <a:lstStyle/>
                    <a:p>
                      <a:r>
                        <a:rPr lang="en-US" sz="1200">
                          <a:solidFill>
                            <a:srgbClr val="E3F2FD"/>
                          </a:solidFill>
                        </a:rPr>
                        <a:t>[σᵢ,σⱼ] = 2iεᵢⱼₖσₖ</a:t>
                      </a:r>
                    </a:p>
                  </a:txBody>
                  <a:tcPr>
                    <a:solidFill>
                      <a:srgbClr val="112233"/>
                    </a:solidFill>
                  </a:tcPr>
                </a:tc>
                <a:tc>
                  <a:txBody>
                    <a:bodyPr/>
                    <a:lstStyle/>
                    <a:p>
                      <a:r>
                        <a:rPr lang="en-US" sz="1200">
                          <a:solidFill>
                            <a:srgbClr val="E3F2FD"/>
                          </a:solidFill>
                        </a:rPr>
                        <a:t>Non-commutativity → uncertainty principle for spin</a:t>
                      </a:r>
                    </a:p>
                  </a:txBody>
                  <a:tcPr>
                    <a:solidFill>
                      <a:srgbClr val="112233"/>
                    </a:solidFill>
                  </a:tcPr>
                </a:tc>
              </a:tr>
            </a:tbl>
          </a:graphicData>
        </a:graphic>
      </p:graphicFrame>
      <p:sp>
        <p:nvSpPr>
          <p:cNvPr id="100135" name="TextBox 4"/>
          <p:cNvSpPr txBox="1"/>
          <p:nvPr/>
        </p:nvSpPr>
        <p:spPr>
          <a:xfrm xmlns:a="http://schemas.openxmlformats.org/drawingml/2006/main">
            <a:off x="360000" y="4140000"/>
            <a:ext cx="11160000" cy="1800000"/>
          </a:xfrm>
          <a:prstGeom xmlns:a="http://schemas.openxmlformats.org/drawingml/2006/main" prst="rect">
            <a:avLst/>
          </a:prstGeom>
          <a:solidFill xmlns:a="http://schemas.openxmlformats.org/drawingml/2006/main">
            <a:srgbClr val="0D1F33"/>
          </a:solidFill>
        </p:spPr>
        <p:txBody>
          <a:bodyPr xmlns:a="http://schemas.openxmlformats.org/drawingml/2006/main"/>
          <a:lstStyle xmlns:a="http://schemas.openxmlformats.org/drawingml/2006/main"/>
          <a:p xmlns:a="http://schemas.openxmlformats.org/drawingml/2006/main">
            <a:pPr algn="l"/>
            <a:r>
              <a:rPr lang="en-US">
                <a:solidFill>
                  <a:srgbClr val="BBDEFB"/>
                </a:solidFill>
              </a:rPr>
              <a:t>Spin-½ IS a Qubit:</a:t>
            </a:r>
          </a:p>
          <a:p xmlns:a="http://schemas.openxmlformats.org/drawingml/2006/main">
            <a:pPr algn="l"/>
            <a:r>
              <a:rPr lang="en-US">
                <a:solidFill>
                  <a:srgbClr val="BBDEFB"/>
                </a:solidFill>
              </a:rPr>
              <a:t>• Stern-Gerlach experiment (1922): measured discrete spin-up (+ℏ/2) and spin-down (-ℏ/2)</a:t>
            </a:r>
          </a:p>
          <a:p xmlns:a="http://schemas.openxmlformats.org/drawingml/2006/main">
            <a:pPr algn="l"/>
            <a:r>
              <a:rPr lang="en-US">
                <a:solidFill>
                  <a:srgbClr val="BBDEFB"/>
                </a:solidFill>
              </a:rPr>
              <a:t>• Bloch sphere parametrizes ALL spin states: |ψ⟩ = cos(θ/2)|↑⟩ + e^{iφ}sin(θ/2)|↓⟩</a:t>
            </a:r>
          </a:p>
          <a:p xmlns:a="http://schemas.openxmlformats.org/drawingml/2006/main">
            <a:pPr algn="l"/>
            <a:r>
              <a:rPr lang="en-US">
                <a:solidFill>
                  <a:srgbClr val="BBDEFB"/>
                </a:solidFill>
              </a:rPr>
              <a:t>• RF pulses rotate spin on Bloch sphere = apply quantum gates</a:t>
            </a:r>
          </a:p>
          <a:p xmlns:a="http://schemas.openxmlformats.org/drawingml/2006/main">
            <a:pPr algn="l"/>
            <a:r>
              <a:rPr lang="en-US">
                <a:solidFill>
                  <a:srgbClr val="BBDEFB"/>
                </a:solidFill>
              </a:rPr>
              <a:t>• Superconducting qubits, trapped ions, NV centers — all exploit this two-level structure</a:t>
            </a:r>
          </a:p>
        </p:txBody>
      </p:sp>
      <p:sp>
        <p:nvSpPr>
          <p:cNvPr id="100136"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23 / 65  |  MODULE 2: QUANTUM PHYSICS</a:t>
            </a:r>
          </a:p>
        </p:txBody>
      </p:sp>
      <p:sp>
        <p:nvSpPr>
          <p:cNvPr id="100137"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21.xml><?xml version="1.0" encoding="utf-8"?>
<p:sld xmlns:p="http://schemas.openxmlformats.org/presentationml/2006/main">
  <p:cSld>
    <p:spTree>
      <p:nvGrpSpPr>
        <p:cNvPr id="1" name=""/>
        <p:cNvGrpSpPr/>
        <p:nvPr/>
      </p:nvGrpSpPr>
      <p:grpSpPr/>
      <p:sp>
        <p:nvSpPr>
          <p:cNvPr id="100138" name="TextBox 1"/>
          <p:cNvSpPr txBox="1"/>
          <p:nvPr/>
        </p:nvSpPr>
        <p:spPr>
          <a:xfrm xmlns:a="http://schemas.openxmlformats.org/drawingml/2006/main">
            <a:off x="180000" y="198000"/>
            <a:ext cx="1980000" cy="198000"/>
          </a:xfrm>
          <a:prstGeom xmlns:a="http://schemas.openxmlformats.org/drawingml/2006/main" prst="rect">
            <a:avLst/>
          </a:prstGeom>
          <a:solidFill xmlns:a="http://schemas.openxmlformats.org/drawingml/2006/main">
            <a:srgbClr val="1565C0"/>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QUANTUM PHYSICS</a:t>
            </a:r>
          </a:p>
        </p:txBody>
      </p:sp>
      <p:sp>
        <p:nvSpPr>
          <p:cNvPr id="100139"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Postulates of Quantum Mechanics</a:t>
            </a:r>
          </a:p>
        </p:txBody>
      </p:sp>
      <p:sp>
        <p:nvSpPr>
          <p:cNvPr id="100140"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graphicFrame>
        <p:nvGraphicFramePr>
          <p:cNvPr id="100141" name="Table 1"/>
          <p:cNvGraphicFramePr/>
          <p:nvPr/>
        </p:nvGraphicFramePr>
        <p:xfrm>
          <a:off xmlns:a="http://schemas.openxmlformats.org/drawingml/2006/main" x="360000" y="1152000"/>
          <a:ext xmlns:a="http://schemas.openxmlformats.org/drawingml/2006/main" cx="11160000" cy="4320000"/>
        </p:xfrm>
        <a:graphic xmlns:a="http://schemas.openxmlformats.org/drawingml/2006/main">
          <a:graphicData uri="http://schemas.openxmlformats.org/drawingml/2006/table">
            <a:tbl>
              <a:tblPr firstRow="1" bandRow="1"/>
              <a:tblGrid>
                <a:gridCol w="3720000"/>
                <a:gridCol w="3720000"/>
                <a:gridCol w="3720000"/>
              </a:tblGrid>
              <a:tr h="720000">
                <a:tc>
                  <a:txBody>
                    <a:bodyPr/>
                    <a:lstStyle/>
                    <a:p>
                      <a:r>
                        <a:rPr lang="en-US" sz="1200" b="1">
                          <a:solidFill>
                            <a:srgbClr val="E3F2FD"/>
                          </a:solidFill>
                        </a:rPr>
                        <a:t>Postulate</a:t>
                      </a:r>
                    </a:p>
                  </a:txBody>
                  <a:tcPr>
                    <a:solidFill>
                      <a:srgbClr val="1565C0"/>
                    </a:solidFill>
                  </a:tcPr>
                </a:tc>
                <a:tc>
                  <a:txBody>
                    <a:bodyPr/>
                    <a:lstStyle/>
                    <a:p>
                      <a:r>
                        <a:rPr lang="en-US" sz="1200" b="1">
                          <a:solidFill>
                            <a:srgbClr val="E3F2FD"/>
                          </a:solidFill>
                        </a:rPr>
                        <a:t>Statement</a:t>
                      </a:r>
                    </a:p>
                  </a:txBody>
                  <a:tcPr>
                    <a:solidFill>
                      <a:srgbClr val="1565C0"/>
                    </a:solidFill>
                  </a:tcPr>
                </a:tc>
                <a:tc>
                  <a:txBody>
                    <a:bodyPr/>
                    <a:lstStyle/>
                    <a:p>
                      <a:r>
                        <a:rPr lang="en-US" sz="1200" b="1">
                          <a:solidFill>
                            <a:srgbClr val="E3F2FD"/>
                          </a:solidFill>
                        </a:rPr>
                        <a:t>Quantum Circuit Meaning</a:t>
                      </a:r>
                    </a:p>
                  </a:txBody>
                  <a:tcPr>
                    <a:solidFill>
                      <a:srgbClr val="1565C0"/>
                    </a:solidFill>
                  </a:tcPr>
                </a:tc>
              </a:tr>
              <a:tr h="720000">
                <a:tc>
                  <a:txBody>
                    <a:bodyPr/>
                    <a:lstStyle/>
                    <a:p>
                      <a:r>
                        <a:rPr lang="en-US" sz="1200" b="1">
                          <a:solidFill>
                            <a:srgbClr val="BBDEFB"/>
                          </a:solidFill>
                        </a:rPr>
                        <a:t>P1: State Space</a:t>
                      </a:r>
                    </a:p>
                  </a:txBody>
                  <a:tcPr>
                    <a:solidFill>
                      <a:srgbClr val="0D2137"/>
                    </a:solidFill>
                  </a:tcPr>
                </a:tc>
                <a:tc>
                  <a:txBody>
                    <a:bodyPr/>
                    <a:lstStyle/>
                    <a:p>
                      <a:r>
                        <a:rPr lang="en-US" sz="1200">
                          <a:solidFill>
                            <a:srgbClr val="E3F2FD"/>
                          </a:solidFill>
                        </a:rPr>
                        <a:t>Any isolated system has a Hilbert space ℋ; state = unit vector |ψ⟩</a:t>
                      </a:r>
                    </a:p>
                  </a:txBody>
                  <a:tcPr>
                    <a:solidFill>
                      <a:srgbClr val="0D2137"/>
                    </a:solidFill>
                  </a:tcPr>
                </a:tc>
                <a:tc>
                  <a:txBody>
                    <a:bodyPr/>
                    <a:lstStyle/>
                    <a:p>
                      <a:r>
                        <a:rPr lang="en-US" sz="1200">
                          <a:solidFill>
                            <a:srgbClr val="E3F2FD"/>
                          </a:solidFill>
                        </a:rPr>
                        <a:t>Qubit state |ψ⟩ ∈ C² — encodes all information</a:t>
                      </a:r>
                    </a:p>
                  </a:txBody>
                  <a:tcPr>
                    <a:solidFill>
                      <a:srgbClr val="0D2137"/>
                    </a:solidFill>
                  </a:tcPr>
                </a:tc>
              </a:tr>
              <a:tr h="720000">
                <a:tc>
                  <a:txBody>
                    <a:bodyPr/>
                    <a:lstStyle/>
                    <a:p>
                      <a:r>
                        <a:rPr lang="en-US" sz="1200" b="1">
                          <a:solidFill>
                            <a:srgbClr val="BBDEFB"/>
                          </a:solidFill>
                        </a:rPr>
                        <a:t>P2: Evolution</a:t>
                      </a:r>
                    </a:p>
                  </a:txBody>
                  <a:tcPr>
                    <a:solidFill>
                      <a:srgbClr val="112233"/>
                    </a:solidFill>
                  </a:tcPr>
                </a:tc>
                <a:tc>
                  <a:txBody>
                    <a:bodyPr/>
                    <a:lstStyle/>
                    <a:p>
                      <a:r>
                        <a:rPr lang="en-US" sz="1200">
                          <a:solidFill>
                            <a:srgbClr val="E3F2FD"/>
                          </a:solidFill>
                        </a:rPr>
                        <a:t>Closed system evolves by unitary U: |ψ'⟩ = U|ψ⟩</a:t>
                      </a:r>
                    </a:p>
                  </a:txBody>
                  <a:tcPr>
                    <a:solidFill>
                      <a:srgbClr val="112233"/>
                    </a:solidFill>
                  </a:tcPr>
                </a:tc>
                <a:tc>
                  <a:txBody>
                    <a:bodyPr/>
                    <a:lstStyle/>
                    <a:p>
                      <a:r>
                        <a:rPr lang="en-US" sz="1200">
                          <a:solidFill>
                            <a:srgbClr val="E3F2FD"/>
                          </a:solidFill>
                        </a:rPr>
                        <a:t>Quantum gates ARE unitary matrices — reversible computation</a:t>
                      </a:r>
                    </a:p>
                  </a:txBody>
                  <a:tcPr>
                    <a:solidFill>
                      <a:srgbClr val="112233"/>
                    </a:solidFill>
                  </a:tcPr>
                </a:tc>
              </a:tr>
              <a:tr h="720000">
                <a:tc>
                  <a:txBody>
                    <a:bodyPr/>
                    <a:lstStyle/>
                    <a:p>
                      <a:r>
                        <a:rPr lang="en-US" sz="1200" b="1">
                          <a:solidFill>
                            <a:srgbClr val="BBDEFB"/>
                          </a:solidFill>
                        </a:rPr>
                        <a:t>P3: Measurement</a:t>
                      </a:r>
                    </a:p>
                  </a:txBody>
                  <a:tcPr>
                    <a:solidFill>
                      <a:srgbClr val="0D2137"/>
                    </a:solidFill>
                  </a:tcPr>
                </a:tc>
                <a:tc>
                  <a:txBody>
                    <a:bodyPr/>
                    <a:lstStyle/>
                    <a:p>
                      <a:r>
                        <a:rPr lang="en-US" sz="1200">
                          <a:solidFill>
                            <a:srgbClr val="E3F2FD"/>
                          </a:solidFill>
                        </a:rPr>
                        <a:t>Observable M has eigenvalues mᵢ; P(mᵢ)=⟨ψ|Mᵢ|ψ⟩; state collapses to |mᵢ⟩</a:t>
                      </a:r>
                    </a:p>
                  </a:txBody>
                  <a:tcPr>
                    <a:solidFill>
                      <a:srgbClr val="0D2137"/>
                    </a:solidFill>
                  </a:tcPr>
                </a:tc>
                <a:tc>
                  <a:txBody>
                    <a:bodyPr/>
                    <a:lstStyle/>
                    <a:p>
                      <a:r>
                        <a:rPr lang="en-US" sz="1200">
                          <a:solidFill>
                            <a:srgbClr val="E3F2FD"/>
                          </a:solidFill>
                        </a:rPr>
                        <a:t>Measurement collapses qubit → random classical bit with Born-rule probabilities</a:t>
                      </a:r>
                    </a:p>
                  </a:txBody>
                  <a:tcPr>
                    <a:solidFill>
                      <a:srgbClr val="0D2137"/>
                    </a:solidFill>
                  </a:tcPr>
                </a:tc>
              </a:tr>
              <a:tr h="720000">
                <a:tc>
                  <a:txBody>
                    <a:bodyPr/>
                    <a:lstStyle/>
                    <a:p>
                      <a:r>
                        <a:rPr lang="en-US" sz="1200" b="1">
                          <a:solidFill>
                            <a:srgbClr val="BBDEFB"/>
                          </a:solidFill>
                        </a:rPr>
                        <a:t>P4: Composite Systems</a:t>
                      </a:r>
                    </a:p>
                  </a:txBody>
                  <a:tcPr>
                    <a:solidFill>
                      <a:srgbClr val="112233"/>
                    </a:solidFill>
                  </a:tcPr>
                </a:tc>
                <a:tc>
                  <a:txBody>
                    <a:bodyPr/>
                    <a:lstStyle/>
                    <a:p>
                      <a:r>
                        <a:rPr lang="en-US" sz="1200">
                          <a:solidFill>
                            <a:srgbClr val="E3F2FD"/>
                          </a:solidFill>
                        </a:rPr>
                        <a:t>Joint system ℋ = ℋ_A ⊗ ℋ_B</a:t>
                      </a:r>
                    </a:p>
                  </a:txBody>
                  <a:tcPr>
                    <a:solidFill>
                      <a:srgbClr val="112233"/>
                    </a:solidFill>
                  </a:tcPr>
                </a:tc>
                <a:tc>
                  <a:txBody>
                    <a:bodyPr/>
                    <a:lstStyle/>
                    <a:p>
                      <a:r>
                        <a:rPr lang="en-US" sz="1200">
                          <a:solidFill>
                            <a:srgbClr val="E3F2FD"/>
                          </a:solidFill>
                        </a:rPr>
                        <a:t>Multi-qubit registers; entanglement across tensor product</a:t>
                      </a:r>
                    </a:p>
                  </a:txBody>
                  <a:tcPr>
                    <a:solidFill>
                      <a:srgbClr val="112233"/>
                    </a:solidFill>
                  </a:tcPr>
                </a:tc>
              </a:tr>
              <a:tr h="720000">
                <a:tc>
                  <a:txBody>
                    <a:bodyPr/>
                    <a:lstStyle/>
                    <a:p>
                      <a:r>
                        <a:rPr lang="en-US" sz="1200" b="1">
                          <a:solidFill>
                            <a:srgbClr val="BBDEFB"/>
                          </a:solidFill>
                        </a:rPr>
                        <a:t>P5: No-Cloning</a:t>
                      </a:r>
                    </a:p>
                  </a:txBody>
                  <a:tcPr>
                    <a:solidFill>
                      <a:srgbClr val="0D2137"/>
                    </a:solidFill>
                  </a:tcPr>
                </a:tc>
                <a:tc>
                  <a:txBody>
                    <a:bodyPr/>
                    <a:lstStyle/>
                    <a:p>
                      <a:r>
                        <a:rPr lang="en-US" sz="1200">
                          <a:solidFill>
                            <a:srgbClr val="E3F2FD"/>
                          </a:solidFill>
                        </a:rPr>
                        <a:t>Unknown quantum states cannot be copied perfectly</a:t>
                      </a:r>
                    </a:p>
                  </a:txBody>
                  <a:tcPr>
                    <a:solidFill>
                      <a:srgbClr val="0D2137"/>
                    </a:solidFill>
                  </a:tcPr>
                </a:tc>
                <a:tc>
                  <a:txBody>
                    <a:bodyPr/>
                    <a:lstStyle/>
                    <a:p>
                      <a:r>
                        <a:rPr lang="en-US" sz="1200">
                          <a:solidFill>
                            <a:srgbClr val="E3F2FD"/>
                          </a:solidFill>
                        </a:rPr>
                        <a:t>Secures QKD; prevents eavesdropping; enables quantum teleportation</a:t>
                      </a:r>
                    </a:p>
                  </a:txBody>
                  <a:tcPr>
                    <a:solidFill>
                      <a:srgbClr val="0D2137"/>
                    </a:solidFill>
                  </a:tcPr>
                </a:tc>
              </a:tr>
            </a:tbl>
          </a:graphicData>
        </a:graphic>
      </p:graphicFrame>
      <p:sp>
        <p:nvSpPr>
          <p:cNvPr id="100142" name="TextBox 4"/>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24 / 65  |  MODULE 2: QUANTUM PHYSICS</a:t>
            </a:r>
          </a:p>
        </p:txBody>
      </p:sp>
      <p:sp>
        <p:nvSpPr>
          <p:cNvPr id="100143" name="TextBox 5"/>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22.xml><?xml version="1.0" encoding="utf-8"?>
<p:sld xmlns:p="http://schemas.openxmlformats.org/presentationml/2006/main">
  <p:cSld>
    <p:spTree>
      <p:nvGrpSpPr>
        <p:cNvPr id="1" name=""/>
        <p:cNvGrpSpPr/>
        <p:nvPr/>
      </p:nvGrpSpPr>
      <p:grpSpPr/>
      <p:sp>
        <p:nvSpPr>
          <p:cNvPr id="100144" name="TextBox 1"/>
          <p:cNvSpPr txBox="1"/>
          <p:nvPr/>
        </p:nvSpPr>
        <p:spPr>
          <a:xfrm xmlns:a="http://schemas.openxmlformats.org/drawingml/2006/main">
            <a:off x="180000" y="198000"/>
            <a:ext cx="1980000" cy="198000"/>
          </a:xfrm>
          <a:prstGeom xmlns:a="http://schemas.openxmlformats.org/drawingml/2006/main" prst="rect">
            <a:avLst/>
          </a:prstGeom>
          <a:solidFill xmlns:a="http://schemas.openxmlformats.org/drawingml/2006/main">
            <a:srgbClr val="1565C0"/>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QUANTUM PHYSICS</a:t>
            </a:r>
          </a:p>
        </p:txBody>
      </p:sp>
      <p:sp>
        <p:nvSpPr>
          <p:cNvPr id="100145"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Measurement, Entanglement &amp; Bell States</a:t>
            </a:r>
          </a:p>
        </p:txBody>
      </p:sp>
      <p:sp>
        <p:nvSpPr>
          <p:cNvPr id="100146"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graphicFrame>
        <p:nvGraphicFramePr>
          <p:cNvPr id="100147" name="Table 1"/>
          <p:cNvGraphicFramePr/>
          <p:nvPr/>
        </p:nvGraphicFramePr>
        <p:xfrm>
          <a:off xmlns:a="http://schemas.openxmlformats.org/drawingml/2006/main" x="360000" y="1152000"/>
          <a:ext xmlns:a="http://schemas.openxmlformats.org/drawingml/2006/main" cx="11160000" cy="2880000"/>
        </p:xfrm>
        <a:graphic xmlns:a="http://schemas.openxmlformats.org/drawingml/2006/main">
          <a:graphicData uri="http://schemas.openxmlformats.org/drawingml/2006/table">
            <a:tbl>
              <a:tblPr firstRow="1" bandRow="1"/>
              <a:tblGrid>
                <a:gridCol w="3720000"/>
                <a:gridCol w="3720000"/>
                <a:gridCol w="3720000"/>
              </a:tblGrid>
              <a:tr h="576000">
                <a:tc>
                  <a:txBody>
                    <a:bodyPr/>
                    <a:lstStyle/>
                    <a:p>
                      <a:r>
                        <a:rPr lang="en-US" sz="1300" b="1">
                          <a:solidFill>
                            <a:srgbClr val="E3F2FD"/>
                          </a:solidFill>
                        </a:rPr>
                        <a:t>Bell State</a:t>
                      </a:r>
                    </a:p>
                  </a:txBody>
                  <a:tcPr>
                    <a:solidFill>
                      <a:srgbClr val="1565C0"/>
                    </a:solidFill>
                  </a:tcPr>
                </a:tc>
                <a:tc>
                  <a:txBody>
                    <a:bodyPr/>
                    <a:lstStyle/>
                    <a:p>
                      <a:r>
                        <a:rPr lang="en-US" sz="1300" b="1">
                          <a:solidFill>
                            <a:srgbClr val="E3F2FD"/>
                          </a:solidFill>
                        </a:rPr>
                        <a:t>Expression</a:t>
                      </a:r>
                    </a:p>
                  </a:txBody>
                  <a:tcPr>
                    <a:solidFill>
                      <a:srgbClr val="1565C0"/>
                    </a:solidFill>
                  </a:tcPr>
                </a:tc>
                <a:tc>
                  <a:txBody>
                    <a:bodyPr/>
                    <a:lstStyle/>
                    <a:p>
                      <a:r>
                        <a:rPr lang="en-US" sz="1300" b="1">
                          <a:solidFill>
                            <a:srgbClr val="E3F2FD"/>
                          </a:solidFill>
                        </a:rPr>
                        <a:t>Measurement Correlation</a:t>
                      </a:r>
                    </a:p>
                  </a:txBody>
                  <a:tcPr>
                    <a:solidFill>
                      <a:srgbClr val="1565C0"/>
                    </a:solidFill>
                  </a:tcPr>
                </a:tc>
              </a:tr>
              <a:tr h="576000">
                <a:tc>
                  <a:txBody>
                    <a:bodyPr/>
                    <a:lstStyle/>
                    <a:p>
                      <a:r>
                        <a:rPr lang="en-US" sz="1200" b="1">
                          <a:solidFill>
                            <a:srgbClr val="BBDEFB"/>
                          </a:solidFill>
                        </a:rPr>
                        <a:t>|Φ⁺⟩</a:t>
                      </a:r>
                    </a:p>
                  </a:txBody>
                  <a:tcPr>
                    <a:solidFill>
                      <a:srgbClr val="0D2137"/>
                    </a:solidFill>
                  </a:tcPr>
                </a:tc>
                <a:tc>
                  <a:txBody>
                    <a:bodyPr/>
                    <a:lstStyle/>
                    <a:p>
                      <a:r>
                        <a:rPr lang="en-US" sz="1200">
                          <a:solidFill>
                            <a:srgbClr val="E3F2FD"/>
                          </a:solidFill>
                        </a:rPr>
                        <a:t>(|00⟩ + |11⟩)/√2</a:t>
                      </a:r>
                    </a:p>
                  </a:txBody>
                  <a:tcPr>
                    <a:solidFill>
                      <a:srgbClr val="0D2137"/>
                    </a:solidFill>
                  </a:tcPr>
                </a:tc>
                <a:tc>
                  <a:txBody>
                    <a:bodyPr/>
                    <a:lstStyle/>
                    <a:p>
                      <a:r>
                        <a:rPr lang="en-US" sz="1200">
                          <a:solidFill>
                            <a:srgbClr val="E3F2FD"/>
                          </a:solidFill>
                        </a:rPr>
                        <a:t>Perfect correlation: both same</a:t>
                      </a:r>
                    </a:p>
                  </a:txBody>
                  <a:tcPr>
                    <a:solidFill>
                      <a:srgbClr val="0D2137"/>
                    </a:solidFill>
                  </a:tcPr>
                </a:tc>
              </a:tr>
              <a:tr h="576000">
                <a:tc>
                  <a:txBody>
                    <a:bodyPr/>
                    <a:lstStyle/>
                    <a:p>
                      <a:r>
                        <a:rPr lang="en-US" sz="1200" b="1">
                          <a:solidFill>
                            <a:srgbClr val="BBDEFB"/>
                          </a:solidFill>
                        </a:rPr>
                        <a:t>|Φ⁻⟩</a:t>
                      </a:r>
                    </a:p>
                  </a:txBody>
                  <a:tcPr>
                    <a:solidFill>
                      <a:srgbClr val="112233"/>
                    </a:solidFill>
                  </a:tcPr>
                </a:tc>
                <a:tc>
                  <a:txBody>
                    <a:bodyPr/>
                    <a:lstStyle/>
                    <a:p>
                      <a:r>
                        <a:rPr lang="en-US" sz="1200">
                          <a:solidFill>
                            <a:srgbClr val="E3F2FD"/>
                          </a:solidFill>
                        </a:rPr>
                        <a:t>(|00⟩ - |11⟩)/√2</a:t>
                      </a:r>
                    </a:p>
                  </a:txBody>
                  <a:tcPr>
                    <a:solidFill>
                      <a:srgbClr val="112233"/>
                    </a:solidFill>
                  </a:tcPr>
                </a:tc>
                <a:tc>
                  <a:txBody>
                    <a:bodyPr/>
                    <a:lstStyle/>
                    <a:p>
                      <a:r>
                        <a:rPr lang="en-US" sz="1200">
                          <a:solidFill>
                            <a:srgbClr val="E3F2FD"/>
                          </a:solidFill>
                        </a:rPr>
                        <a:t>Correlated with phase flip</a:t>
                      </a:r>
                    </a:p>
                  </a:txBody>
                  <a:tcPr>
                    <a:solidFill>
                      <a:srgbClr val="112233"/>
                    </a:solidFill>
                  </a:tcPr>
                </a:tc>
              </a:tr>
              <a:tr h="576000">
                <a:tc>
                  <a:txBody>
                    <a:bodyPr/>
                    <a:lstStyle/>
                    <a:p>
                      <a:r>
                        <a:rPr lang="en-US" sz="1200" b="1">
                          <a:solidFill>
                            <a:srgbClr val="BBDEFB"/>
                          </a:solidFill>
                        </a:rPr>
                        <a:t>|Ψ⁺⟩</a:t>
                      </a:r>
                    </a:p>
                  </a:txBody>
                  <a:tcPr>
                    <a:solidFill>
                      <a:srgbClr val="0D2137"/>
                    </a:solidFill>
                  </a:tcPr>
                </a:tc>
                <a:tc>
                  <a:txBody>
                    <a:bodyPr/>
                    <a:lstStyle/>
                    <a:p>
                      <a:r>
                        <a:rPr lang="en-US" sz="1200">
                          <a:solidFill>
                            <a:srgbClr val="E3F2FD"/>
                          </a:solidFill>
                        </a:rPr>
                        <a:t>(|01⟩ + |10⟩)/√2</a:t>
                      </a:r>
                    </a:p>
                  </a:txBody>
                  <a:tcPr>
                    <a:solidFill>
                      <a:srgbClr val="0D2137"/>
                    </a:solidFill>
                  </a:tcPr>
                </a:tc>
                <a:tc>
                  <a:txBody>
                    <a:bodyPr/>
                    <a:lstStyle/>
                    <a:p>
                      <a:r>
                        <a:rPr lang="en-US" sz="1200">
                          <a:solidFill>
                            <a:srgbClr val="E3F2FD"/>
                          </a:solidFill>
                        </a:rPr>
                        <a:t>Perfect anti-correlation</a:t>
                      </a:r>
                    </a:p>
                  </a:txBody>
                  <a:tcPr>
                    <a:solidFill>
                      <a:srgbClr val="0D2137"/>
                    </a:solidFill>
                  </a:tcPr>
                </a:tc>
              </a:tr>
              <a:tr h="576000">
                <a:tc>
                  <a:txBody>
                    <a:bodyPr/>
                    <a:lstStyle/>
                    <a:p>
                      <a:r>
                        <a:rPr lang="en-US" sz="1200" b="1">
                          <a:solidFill>
                            <a:srgbClr val="BBDEFB"/>
                          </a:solidFill>
                        </a:rPr>
                        <a:t>|Ψ⁻⟩</a:t>
                      </a:r>
                    </a:p>
                  </a:txBody>
                  <a:tcPr>
                    <a:solidFill>
                      <a:srgbClr val="112233"/>
                    </a:solidFill>
                  </a:tcPr>
                </a:tc>
                <a:tc>
                  <a:txBody>
                    <a:bodyPr/>
                    <a:lstStyle/>
                    <a:p>
                      <a:r>
                        <a:rPr lang="en-US" sz="1200">
                          <a:solidFill>
                            <a:srgbClr val="E3F2FD"/>
                          </a:solidFill>
                        </a:rPr>
                        <a:t>(|01⟩ - |10⟩)/√2</a:t>
                      </a:r>
                    </a:p>
                  </a:txBody>
                  <a:tcPr>
                    <a:solidFill>
                      <a:srgbClr val="112233"/>
                    </a:solidFill>
                  </a:tcPr>
                </a:tc>
                <a:tc>
                  <a:txBody>
                    <a:bodyPr/>
                    <a:lstStyle/>
                    <a:p>
                      <a:r>
                        <a:rPr lang="en-US" sz="1200">
                          <a:solidFill>
                            <a:srgbClr val="E3F2FD"/>
                          </a:solidFill>
                        </a:rPr>
                        <a:t>Singlet state — used in dense coding</a:t>
                      </a:r>
                    </a:p>
                  </a:txBody>
                  <a:tcPr>
                    <a:solidFill>
                      <a:srgbClr val="112233"/>
                    </a:solidFill>
                  </a:tcPr>
                </a:tc>
              </a:tr>
            </a:tbl>
          </a:graphicData>
        </a:graphic>
      </p:graphicFrame>
      <p:sp>
        <p:nvSpPr>
          <p:cNvPr id="100148" name="TextBox 4"/>
          <p:cNvSpPr txBox="1"/>
          <p:nvPr/>
        </p:nvSpPr>
        <p:spPr>
          <a:xfrm xmlns:a="http://schemas.openxmlformats.org/drawingml/2006/main">
            <a:off x="360000" y="4140000"/>
            <a:ext cx="11160000" cy="1980000"/>
          </a:xfrm>
          <a:prstGeom xmlns:a="http://schemas.openxmlformats.org/drawingml/2006/main" prst="rect">
            <a:avLst/>
          </a:prstGeom>
          <a:solidFill xmlns:a="http://schemas.openxmlformats.org/drawingml/2006/main">
            <a:srgbClr val="0D1F33"/>
          </a:solidFill>
        </p:spPr>
        <p:txBody>
          <a:bodyPr xmlns:a="http://schemas.openxmlformats.org/drawingml/2006/main"/>
          <a:lstStyle xmlns:a="http://schemas.openxmlformats.org/drawingml/2006/main"/>
          <a:p xmlns:a="http://schemas.openxmlformats.org/drawingml/2006/main">
            <a:pPr algn="l"/>
            <a:r>
              <a:rPr lang="en-US">
                <a:solidFill>
                  <a:srgbClr val="BBDEFB"/>
                </a:solidFill>
              </a:rPr>
              <a:t>Applications of Bell States:</a:t>
            </a:r>
          </a:p>
          <a:p xmlns:a="http://schemas.openxmlformats.org/drawingml/2006/main">
            <a:pPr algn="l"/>
            <a:r>
              <a:rPr lang="en-US">
                <a:solidFill>
                  <a:srgbClr val="BBDEFB"/>
                </a:solidFill>
              </a:rPr>
              <a:t>• Quantum Teleportation: transmit quantum state using 1 ebit + 2 classical bits</a:t>
            </a:r>
          </a:p>
          <a:p xmlns:a="http://schemas.openxmlformats.org/drawingml/2006/main">
            <a:pPr algn="l"/>
            <a:r>
              <a:rPr lang="en-US">
                <a:solidFill>
                  <a:srgbClr val="BBDEFB"/>
                </a:solidFill>
              </a:rPr>
              <a:t>• Superdense Coding: encode 2 classical bits into 1 qubit (requires pre-shared entanglement)</a:t>
            </a:r>
          </a:p>
          <a:p xmlns:a="http://schemas.openxmlformats.org/drawingml/2006/main">
            <a:pPr algn="l"/>
            <a:r>
              <a:rPr lang="en-US">
                <a:solidFill>
                  <a:srgbClr val="BBDEFB"/>
                </a:solidFill>
              </a:rPr>
              <a:t>• Bell Inequality Test: CHSH inequality |⟨CHSH⟩| ≤ 2 (classical) vs 2√2 (quantum)</a:t>
            </a:r>
          </a:p>
          <a:p xmlns:a="http://schemas.openxmlformats.org/drawingml/2006/main">
            <a:pPr algn="l"/>
            <a:r>
              <a:rPr lang="en-US">
                <a:solidFill>
                  <a:srgbClr val="BBDEFB"/>
                </a:solidFill>
              </a:rPr>
              <a:t>• Quantum Key Distribution (E91 protocol): uses Bell state correlations for security</a:t>
            </a:r>
          </a:p>
          <a:p xmlns:a="http://schemas.openxmlformats.org/drawingml/2006/main">
            <a:pPr algn="l"/>
            <a:r>
              <a:rPr lang="en-US">
                <a:solidFill>
                  <a:srgbClr val="BBDEFB"/>
                </a:solidFill>
              </a:rPr>
              <a:t>• Circuit to prepare |Φ⁺⟩:  |q₀⟩─[H]─•─    q₀=|+⟩;  |q₁⟩─────⊕─    CNOT entangles</a:t>
            </a:r>
          </a:p>
        </p:txBody>
      </p:sp>
      <p:sp>
        <p:nvSpPr>
          <p:cNvPr id="100149"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25 / 65  |  MODULE 2: QUANTUM PHYSICS</a:t>
            </a:r>
          </a:p>
        </p:txBody>
      </p:sp>
      <p:sp>
        <p:nvSpPr>
          <p:cNvPr id="100150"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23.xml><?xml version="1.0" encoding="utf-8"?>
<p:sld xmlns:p="http://schemas.openxmlformats.org/presentationml/2006/main">
  <p:cSld>
    <p:spTree>
      <p:nvGrpSpPr>
        <p:cNvPr id="1" name=""/>
        <p:cNvGrpSpPr/>
        <p:nvPr/>
      </p:nvGrpSpPr>
      <p:grpSpPr/>
      <p:sp>
        <p:nvSpPr>
          <p:cNvPr id="100151" name="TextBox 1"/>
          <p:cNvSpPr txBox="1"/>
          <p:nvPr/>
        </p:nvSpPr>
        <p:spPr>
          <a:xfrm xmlns:a="http://schemas.openxmlformats.org/drawingml/2006/main">
            <a:off x="180000" y="198000"/>
            <a:ext cx="1980000" cy="198000"/>
          </a:xfrm>
          <a:prstGeom xmlns:a="http://schemas.openxmlformats.org/drawingml/2006/main" prst="rect">
            <a:avLst/>
          </a:prstGeom>
          <a:solidFill xmlns:a="http://schemas.openxmlformats.org/drawingml/2006/main">
            <a:srgbClr val="1565C0"/>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QUANTUM PHYSICS</a:t>
            </a:r>
          </a:p>
        </p:txBody>
      </p:sp>
      <p:sp>
        <p:nvSpPr>
          <p:cNvPr id="100152"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Decoherence &amp; Open Quantum Systems</a:t>
            </a:r>
          </a:p>
        </p:txBody>
      </p:sp>
      <p:sp>
        <p:nvSpPr>
          <p:cNvPr id="100153"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graphicFrame>
        <p:nvGraphicFramePr>
          <p:cNvPr id="100154" name="Table 1"/>
          <p:cNvGraphicFramePr/>
          <p:nvPr/>
        </p:nvGraphicFramePr>
        <p:xfrm>
          <a:off xmlns:a="http://schemas.openxmlformats.org/drawingml/2006/main" x="360000" y="1152000"/>
          <a:ext xmlns:a="http://schemas.openxmlformats.org/drawingml/2006/main" cx="11160000" cy="2880000"/>
        </p:xfrm>
        <a:graphic xmlns:a="http://schemas.openxmlformats.org/drawingml/2006/main">
          <a:graphicData uri="http://schemas.openxmlformats.org/drawingml/2006/table">
            <a:tbl>
              <a:tblPr firstRow="1" bandRow="1"/>
              <a:tblGrid>
                <a:gridCol w="3720000"/>
                <a:gridCol w="3720000"/>
                <a:gridCol w="3720000"/>
              </a:tblGrid>
              <a:tr h="576000">
                <a:tc>
                  <a:txBody>
                    <a:bodyPr/>
                    <a:lstStyle/>
                    <a:p>
                      <a:r>
                        <a:rPr lang="en-US" sz="1200" b="1">
                          <a:solidFill>
                            <a:srgbClr val="E3F2FD"/>
                          </a:solidFill>
                        </a:rPr>
                        <a:t>Error Type</a:t>
                      </a:r>
                    </a:p>
                  </a:txBody>
                  <a:tcPr>
                    <a:solidFill>
                      <a:srgbClr val="1565C0"/>
                    </a:solidFill>
                  </a:tcPr>
                </a:tc>
                <a:tc>
                  <a:txBody>
                    <a:bodyPr/>
                    <a:lstStyle/>
                    <a:p>
                      <a:r>
                        <a:rPr lang="en-US" sz="1200" b="1">
                          <a:solidFill>
                            <a:srgbClr val="E3F2FD"/>
                          </a:solidFill>
                        </a:rPr>
                        <a:t>Physics Cause</a:t>
                      </a:r>
                    </a:p>
                  </a:txBody>
                  <a:tcPr>
                    <a:solidFill>
                      <a:srgbClr val="1565C0"/>
                    </a:solidFill>
                  </a:tcPr>
                </a:tc>
                <a:tc>
                  <a:txBody>
                    <a:bodyPr/>
                    <a:lstStyle/>
                    <a:p>
                      <a:r>
                        <a:rPr lang="en-US" sz="1200" b="1">
                          <a:solidFill>
                            <a:srgbClr val="E3F2FD"/>
                          </a:solidFill>
                        </a:rPr>
                        <a:t>Characteristic Time</a:t>
                      </a:r>
                    </a:p>
                  </a:txBody>
                  <a:tcPr>
                    <a:solidFill>
                      <a:srgbClr val="1565C0"/>
                    </a:solidFill>
                  </a:tcPr>
                </a:tc>
              </a:tr>
              <a:tr h="576000">
                <a:tc>
                  <a:txBody>
                    <a:bodyPr/>
                    <a:lstStyle/>
                    <a:p>
                      <a:r>
                        <a:rPr lang="en-US" sz="1200" b="1">
                          <a:solidFill>
                            <a:srgbClr val="BBDEFB"/>
                          </a:solidFill>
                        </a:rPr>
                        <a:t>T₁ (Energy relaxation)</a:t>
                      </a:r>
                    </a:p>
                  </a:txBody>
                  <a:tcPr>
                    <a:solidFill>
                      <a:srgbClr val="0D2137"/>
                    </a:solidFill>
                  </a:tcPr>
                </a:tc>
                <a:tc>
                  <a:txBody>
                    <a:bodyPr/>
                    <a:lstStyle/>
                    <a:p>
                      <a:r>
                        <a:rPr lang="en-US" sz="1200">
                          <a:solidFill>
                            <a:srgbClr val="E3F2FD"/>
                          </a:solidFill>
                        </a:rPr>
                        <a:t>Qubit spontaneously decays from |1⟩ to |0⟩</a:t>
                      </a:r>
                    </a:p>
                  </a:txBody>
                  <a:tcPr>
                    <a:solidFill>
                      <a:srgbClr val="0D2137"/>
                    </a:solidFill>
                  </a:tcPr>
                </a:tc>
                <a:tc>
                  <a:txBody>
                    <a:bodyPr/>
                    <a:lstStyle/>
                    <a:p>
                      <a:r>
                        <a:rPr lang="en-US" sz="1200">
                          <a:solidFill>
                            <a:srgbClr val="E3F2FD"/>
                          </a:solidFill>
                        </a:rPr>
                        <a:t>SC: ~100 μs; Ion: ~1 min; Photon: ~10 ns</a:t>
                      </a:r>
                    </a:p>
                  </a:txBody>
                  <a:tcPr>
                    <a:solidFill>
                      <a:srgbClr val="0D2137"/>
                    </a:solidFill>
                  </a:tcPr>
                </a:tc>
              </a:tr>
              <a:tr h="576000">
                <a:tc>
                  <a:txBody>
                    <a:bodyPr/>
                    <a:lstStyle/>
                    <a:p>
                      <a:r>
                        <a:rPr lang="en-US" sz="1200" b="1">
                          <a:solidFill>
                            <a:srgbClr val="BBDEFB"/>
                          </a:solidFill>
                        </a:rPr>
                        <a:t>T₂ (Dephasing)</a:t>
                      </a:r>
                    </a:p>
                  </a:txBody>
                  <a:tcPr>
                    <a:solidFill>
                      <a:srgbClr val="112233"/>
                    </a:solidFill>
                  </a:tcPr>
                </a:tc>
                <a:tc>
                  <a:txBody>
                    <a:bodyPr/>
                    <a:lstStyle/>
                    <a:p>
                      <a:r>
                        <a:rPr lang="en-US" sz="1200">
                          <a:solidFill>
                            <a:srgbClr val="E3F2FD"/>
                          </a:solidFill>
                        </a:rPr>
                        <a:t>Phase randomized by environment — off-diagonal ρ → 0</a:t>
                      </a:r>
                    </a:p>
                  </a:txBody>
                  <a:tcPr>
                    <a:solidFill>
                      <a:srgbClr val="112233"/>
                    </a:solidFill>
                  </a:tcPr>
                </a:tc>
                <a:tc>
                  <a:txBody>
                    <a:bodyPr/>
                    <a:lstStyle/>
                    <a:p>
                      <a:r>
                        <a:rPr lang="en-US" sz="1200">
                          <a:solidFill>
                            <a:srgbClr val="E3F2FD"/>
                          </a:solidFill>
                        </a:rPr>
                        <a:t>T₂ ≤ 2T₁ always; SC qubits: ~50–200 μs</a:t>
                      </a:r>
                    </a:p>
                  </a:txBody>
                  <a:tcPr>
                    <a:solidFill>
                      <a:srgbClr val="112233"/>
                    </a:solidFill>
                  </a:tcPr>
                </a:tc>
              </a:tr>
              <a:tr h="576000">
                <a:tc>
                  <a:txBody>
                    <a:bodyPr/>
                    <a:lstStyle/>
                    <a:p>
                      <a:r>
                        <a:rPr lang="en-US" sz="1200" b="1">
                          <a:solidFill>
                            <a:srgbClr val="BBDEFB"/>
                          </a:solidFill>
                        </a:rPr>
                        <a:t>Bit-Flip Error</a:t>
                      </a:r>
                    </a:p>
                  </a:txBody>
                  <a:tcPr>
                    <a:solidFill>
                      <a:srgbClr val="0D2137"/>
                    </a:solidFill>
                  </a:tcPr>
                </a:tc>
                <a:tc>
                  <a:txBody>
                    <a:bodyPr/>
                    <a:lstStyle/>
                    <a:p>
                      <a:r>
                        <a:rPr lang="en-US" sz="1200">
                          <a:solidFill>
                            <a:srgbClr val="E3F2FD"/>
                          </a:solidFill>
                        </a:rPr>
                        <a:t>σₓ applied accidentally; |0⟩↔|1⟩ swap</a:t>
                      </a:r>
                    </a:p>
                  </a:txBody>
                  <a:tcPr>
                    <a:solidFill>
                      <a:srgbClr val="0D2137"/>
                    </a:solidFill>
                  </a:tcPr>
                </a:tc>
                <a:tc>
                  <a:txBody>
                    <a:bodyPr/>
                    <a:lstStyle/>
                    <a:p>
                      <a:r>
                        <a:rPr lang="en-US" sz="1200">
                          <a:solidFill>
                            <a:srgbClr val="E3F2FD"/>
                          </a:solidFill>
                        </a:rPr>
                        <a:t>Corrected by 3-qubit repetition code</a:t>
                      </a:r>
                    </a:p>
                  </a:txBody>
                  <a:tcPr>
                    <a:solidFill>
                      <a:srgbClr val="0D2137"/>
                    </a:solidFill>
                  </a:tcPr>
                </a:tc>
              </a:tr>
              <a:tr h="576000">
                <a:tc>
                  <a:txBody>
                    <a:bodyPr/>
                    <a:lstStyle/>
                    <a:p>
                      <a:r>
                        <a:rPr lang="en-US" sz="1200" b="1">
                          <a:solidFill>
                            <a:srgbClr val="BBDEFB"/>
                          </a:solidFill>
                        </a:rPr>
                        <a:t>Phase-Flip Error</a:t>
                      </a:r>
                    </a:p>
                  </a:txBody>
                  <a:tcPr>
                    <a:solidFill>
                      <a:srgbClr val="112233"/>
                    </a:solidFill>
                  </a:tcPr>
                </a:tc>
                <a:tc>
                  <a:txBody>
                    <a:bodyPr/>
                    <a:lstStyle/>
                    <a:p>
                      <a:r>
                        <a:rPr lang="en-US" sz="1200">
                          <a:solidFill>
                            <a:srgbClr val="E3F2FD"/>
                          </a:solidFill>
                        </a:rPr>
                        <a:t>σz applied accidentally; |+⟩↔|-⟩ flip</a:t>
                      </a:r>
                    </a:p>
                  </a:txBody>
                  <a:tcPr>
                    <a:solidFill>
                      <a:srgbClr val="112233"/>
                    </a:solidFill>
                  </a:tcPr>
                </a:tc>
                <a:tc>
                  <a:txBody>
                    <a:bodyPr/>
                    <a:lstStyle/>
                    <a:p>
                      <a:r>
                        <a:rPr lang="en-US" sz="1200">
                          <a:solidFill>
                            <a:srgbClr val="E3F2FD"/>
                          </a:solidFill>
                        </a:rPr>
                        <a:t>Corrected by Hadamard + repetition code</a:t>
                      </a:r>
                    </a:p>
                  </a:txBody>
                  <a:tcPr>
                    <a:solidFill>
                      <a:srgbClr val="112233"/>
                    </a:solidFill>
                  </a:tcPr>
                </a:tc>
              </a:tr>
            </a:tbl>
          </a:graphicData>
        </a:graphic>
      </p:graphicFrame>
      <p:sp>
        <p:nvSpPr>
          <p:cNvPr id="100155" name="TextBox 4"/>
          <p:cNvSpPr txBox="1"/>
          <p:nvPr/>
        </p:nvSpPr>
        <p:spPr>
          <a:xfrm xmlns:a="http://schemas.openxmlformats.org/drawingml/2006/main">
            <a:off x="360000" y="4140000"/>
            <a:ext cx="11160000" cy="1980000"/>
          </a:xfrm>
          <a:prstGeom xmlns:a="http://schemas.openxmlformats.org/drawingml/2006/main" prst="rect">
            <a:avLst/>
          </a:prstGeom>
          <a:solidFill xmlns:a="http://schemas.openxmlformats.org/drawingml/2006/main">
            <a:srgbClr val="0D1F33"/>
          </a:solidFill>
        </p:spPr>
        <p:txBody>
          <a:bodyPr xmlns:a="http://schemas.openxmlformats.org/drawingml/2006/main"/>
          <a:lstStyle xmlns:a="http://schemas.openxmlformats.org/drawingml/2006/main"/>
          <a:p xmlns:a="http://schemas.openxmlformats.org/drawingml/2006/main">
            <a:pPr algn="l"/>
            <a:r>
              <a:rPr lang="en-US">
                <a:solidFill>
                  <a:srgbClr val="BBDEFB"/>
                </a:solidFill>
              </a:rPr>
              <a:t>Lindblad Master Equation (open quantum systems):</a:t>
            </a:r>
          </a:p>
          <a:p xmlns:a="http://schemas.openxmlformats.org/drawingml/2006/main">
            <a:pPr algn="l"/>
            <a:r>
              <a:rPr lang="en-US">
                <a:solidFill>
                  <a:srgbClr val="BBDEFB"/>
                </a:solidFill>
              </a:rPr>
              <a:t>  dρ/dt = -i[H,ρ] + Σₖ (LₖρLₖ† - ½{Lₖ†Lₖ, ρ})</a:t>
            </a:r>
          </a:p>
          <a:p xmlns:a="http://schemas.openxmlformats.org/drawingml/2006/main">
            <a:pPr algn="l"/>
            <a:r>
              <a:rPr lang="en-US">
                <a:solidFill>
                  <a:srgbClr val="BBDEFB"/>
                </a:solidFill>
              </a:rPr>
              <a:t>  Lₖ = jump operators (collapse operators) — model decoherence channels</a:t>
            </a:r>
          </a:p>
          <a:p xmlns:a="http://schemas.openxmlformats.org/drawingml/2006/main">
            <a:pPr algn="l"/>
            <a:r>
              <a:rPr lang="en-US">
                <a:solidFill>
                  <a:srgbClr val="BBDEFB"/>
                </a:solidFill>
              </a:rPr>
              <a:t/>
            </a:r>
          </a:p>
          <a:p xmlns:a="http://schemas.openxmlformats.org/drawingml/2006/main">
            <a:pPr algn="l"/>
            <a:r>
              <a:rPr lang="en-US">
                <a:solidFill>
                  <a:srgbClr val="BBDEFB"/>
                </a:solidFill>
              </a:rPr>
              <a:t>Fault Tolerance Threshold:</a:t>
            </a:r>
          </a:p>
          <a:p xmlns:a="http://schemas.openxmlformats.org/drawingml/2006/main">
            <a:pPr algn="l"/>
            <a:r>
              <a:rPr lang="en-US">
                <a:solidFill>
                  <a:srgbClr val="BBDEFB"/>
                </a:solidFill>
              </a:rPr>
              <a:t>  Physical error rate &lt; ~1% → logical error exponentially suppressed with code size</a:t>
            </a:r>
          </a:p>
          <a:p xmlns:a="http://schemas.openxmlformats.org/drawingml/2006/main">
            <a:pPr algn="l"/>
            <a:r>
              <a:rPr lang="en-US">
                <a:solidFill>
                  <a:srgbClr val="BBDEFB"/>
                </a:solidFill>
              </a:rPr>
              <a:t>  Surface code threshold ≈ 0.3–1% (platform-dependent)</a:t>
            </a:r>
          </a:p>
          <a:p xmlns:a="http://schemas.openxmlformats.org/drawingml/2006/main">
            <a:pPr algn="l"/>
            <a:r>
              <a:rPr lang="en-US">
                <a:solidFill>
                  <a:srgbClr val="BBDEFB"/>
                </a:solidFill>
              </a:rPr>
              <a:t>  IBM Heron: ~99.5% 2-qubit gate fidelity (Feb 2024)</a:t>
            </a:r>
          </a:p>
        </p:txBody>
      </p:sp>
      <p:sp>
        <p:nvSpPr>
          <p:cNvPr id="100156"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26 / 65  |  MODULE 2: QUANTUM PHYSICS</a:t>
            </a:r>
          </a:p>
        </p:txBody>
      </p:sp>
      <p:sp>
        <p:nvSpPr>
          <p:cNvPr id="100157"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24.xml><?xml version="1.0" encoding="utf-8"?>
<p:sld xmlns:p="http://schemas.openxmlformats.org/presentationml/2006/main">
  <p:cSld>
    <p:spTree>
      <p:nvGrpSpPr>
        <p:cNvPr id="1" name=""/>
        <p:cNvGrpSpPr/>
        <p:nvPr/>
      </p:nvGrpSpPr>
      <p:grpSpPr/>
      <p:sp>
        <p:nvSpPr>
          <p:cNvPr id="100158" name="TextBox 1"/>
          <p:cNvSpPr txBox="1"/>
          <p:nvPr/>
        </p:nvSpPr>
        <p:spPr>
          <a:xfrm xmlns:a="http://schemas.openxmlformats.org/drawingml/2006/main">
            <a:off x="180000" y="198000"/>
            <a:ext cx="1980000" cy="198000"/>
          </a:xfrm>
          <a:prstGeom xmlns:a="http://schemas.openxmlformats.org/drawingml/2006/main" prst="rect">
            <a:avLst/>
          </a:prstGeom>
          <a:solidFill xmlns:a="http://schemas.openxmlformats.org/drawingml/2006/main">
            <a:srgbClr val="1565C0"/>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QUANTUM PHYSICS</a:t>
            </a:r>
          </a:p>
        </p:txBody>
      </p:sp>
      <p:sp>
        <p:nvSpPr>
          <p:cNvPr id="100159"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Angular Momentum, Commutators &amp; Quantum Harmonic Oscillator</a:t>
            </a:r>
          </a:p>
        </p:txBody>
      </p:sp>
      <p:sp>
        <p:nvSpPr>
          <p:cNvPr id="100160"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161"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E3F2FD"/>
                </a:solidFill>
              </a:rPr>
              <a:t>Angular Momentum Operators</a:t>
            </a:r>
          </a:p>
          <a:p xmlns:a="http://schemas.openxmlformats.org/drawingml/2006/main">
            <a:pPr algn="l"/>
            <a:r>
              <a:rPr lang="en-US">
                <a:solidFill>
                  <a:srgbClr val="E3F2FD"/>
                </a:solidFill>
              </a:rPr>
              <a:t/>
            </a:r>
          </a:p>
          <a:p xmlns:a="http://schemas.openxmlformats.org/drawingml/2006/main">
            <a:pPr algn="l"/>
            <a:r>
              <a:rPr lang="en-US">
                <a:solidFill>
                  <a:srgbClr val="E3F2FD"/>
                </a:solidFill>
              </a:rPr>
              <a:t>• L̂ = r̂ × p̂ — orbital angular momentum operator</a:t>
            </a:r>
          </a:p>
          <a:p xmlns:a="http://schemas.openxmlformats.org/drawingml/2006/main">
            <a:pPr algn="l"/>
            <a:r>
              <a:rPr lang="en-US">
                <a:solidFill>
                  <a:srgbClr val="E3F2FD"/>
                </a:solidFill>
              </a:rPr>
              <a:t>• [L̂ₓ, L̂ᵧ] = iℏL̂z  — commutation relation (uncertainty between components)</a:t>
            </a:r>
          </a:p>
          <a:p xmlns:a="http://schemas.openxmlformats.org/drawingml/2006/main">
            <a:pPr algn="l"/>
            <a:r>
              <a:rPr lang="en-US">
                <a:solidFill>
                  <a:srgbClr val="E3F2FD"/>
                </a:solidFill>
              </a:rPr>
              <a:t>• L̂² eigenstates:  L̂²|l,m⟩ = ℏ²l(l+1)|l,m⟩;  L̂z|l,m⟩ = ℏm|l,m⟩</a:t>
            </a:r>
          </a:p>
          <a:p xmlns:a="http://schemas.openxmlformats.org/drawingml/2006/main">
            <a:pPr algn="l"/>
            <a:r>
              <a:rPr lang="en-US">
                <a:solidFill>
                  <a:srgbClr val="E3F2FD"/>
                </a:solidFill>
              </a:rPr>
              <a:t>• Quantum spin follows same algebra with s=½: eigenstates |↑⟩, |↓⟩</a:t>
            </a:r>
          </a:p>
          <a:p xmlns:a="http://schemas.openxmlformats.org/drawingml/2006/main">
            <a:pPr algn="l"/>
            <a:r>
              <a:rPr lang="en-US">
                <a:solidFill>
                  <a:srgbClr val="E3F2FD"/>
                </a:solidFill>
              </a:rPr>
              <a:t/>
            </a:r>
          </a:p>
          <a:p xmlns:a="http://schemas.openxmlformats.org/drawingml/2006/main">
            <a:pPr algn="l"/>
            <a:r>
              <a:rPr lang="en-US">
                <a:solidFill>
                  <a:srgbClr val="E3F2FD"/>
                </a:solidFill>
              </a:rPr>
              <a:t>Quantum Harmonic Oscillator (QHO)</a:t>
            </a:r>
          </a:p>
          <a:p xmlns:a="http://schemas.openxmlformats.org/drawingml/2006/main">
            <a:pPr algn="l"/>
            <a:r>
              <a:rPr lang="en-US">
                <a:solidFill>
                  <a:srgbClr val="E3F2FD"/>
                </a:solidFill>
              </a:rPr>
              <a:t/>
            </a:r>
          </a:p>
          <a:p xmlns:a="http://schemas.openxmlformats.org/drawingml/2006/main">
            <a:pPr algn="l"/>
            <a:r>
              <a:rPr lang="en-US">
                <a:solidFill>
                  <a:srgbClr val="E3F2FD"/>
                </a:solidFill>
              </a:rPr>
              <a:t>• Hamiltonian:  Ĥ = p̂²/2m + ½mω²x̂² = ℏω(â†â + ½)</a:t>
            </a:r>
          </a:p>
          <a:p xmlns:a="http://schemas.openxmlformats.org/drawingml/2006/main">
            <a:pPr algn="l"/>
            <a:r>
              <a:rPr lang="en-US">
                <a:solidFill>
                  <a:srgbClr val="E3F2FD"/>
                </a:solidFill>
              </a:rPr>
              <a:t>• Energy levels:  Eₙ = ℏω(n + ½)  — equally spaced, zero-point energy ½ℏω</a:t>
            </a:r>
          </a:p>
          <a:p xmlns:a="http://schemas.openxmlformats.org/drawingml/2006/main">
            <a:pPr algn="l"/>
            <a:r>
              <a:rPr lang="en-US">
                <a:solidFill>
                  <a:srgbClr val="E3F2FD"/>
                </a:solidFill>
              </a:rPr>
              <a:t>• Ladder operators:  â†|n⟩ = √(n+1)|n+1⟩  (creation);  â|n⟩ = √n|n-1⟩  (annihilation)</a:t>
            </a:r>
          </a:p>
          <a:p xmlns:a="http://schemas.openxmlformats.org/drawingml/2006/main">
            <a:pPr algn="l"/>
            <a:r>
              <a:rPr lang="en-US">
                <a:solidFill>
                  <a:srgbClr val="E3F2FD"/>
                </a:solidFill>
              </a:rPr>
              <a:t/>
            </a:r>
          </a:p>
          <a:p xmlns:a="http://schemas.openxmlformats.org/drawingml/2006/main">
            <a:pPr algn="l"/>
            <a:r>
              <a:rPr lang="en-US">
                <a:solidFill>
                  <a:srgbClr val="E3F2FD"/>
                </a:solidFill>
              </a:rPr>
              <a:t>Connections to Quantum Computing:</a:t>
            </a:r>
          </a:p>
          <a:p xmlns:a="http://schemas.openxmlformats.org/drawingml/2006/main">
            <a:pPr algn="l"/>
            <a:r>
              <a:rPr lang="en-US">
                <a:solidFill>
                  <a:srgbClr val="E3F2FD"/>
                </a:solidFill>
              </a:rPr>
              <a:t>• Bosonic modes (photons, phonons) in quantum computing are QHOs</a:t>
            </a:r>
          </a:p>
          <a:p xmlns:a="http://schemas.openxmlformats.org/drawingml/2006/main">
            <a:pPr algn="l"/>
            <a:r>
              <a:rPr lang="en-US">
                <a:solidFill>
                  <a:srgbClr val="E3F2FD"/>
                </a:solidFill>
              </a:rPr>
              <a:t>• Cat qubits encoded in QHO coherent states — exponential bit-flip protection</a:t>
            </a:r>
          </a:p>
          <a:p xmlns:a="http://schemas.openxmlformats.org/drawingml/2006/main">
            <a:pPr algn="l"/>
            <a:r>
              <a:rPr lang="en-US">
                <a:solidFill>
                  <a:srgbClr val="E3F2FD"/>
                </a:solidFill>
              </a:rPr>
              <a:t>• Molecular vibrations modeled as QHOs in quantum chemistry simulations</a:t>
            </a:r>
          </a:p>
          <a:p xmlns:a="http://schemas.openxmlformats.org/drawingml/2006/main">
            <a:pPr algn="l"/>
            <a:r>
              <a:rPr lang="en-US">
                <a:solidFill>
                  <a:srgbClr val="E3F2FD"/>
                </a:solidFill>
              </a:rPr>
              <a:t>• Transmon qubit ≈ weakly anharmonic QHO — Josephson junction breaks degeneracy</a:t>
            </a:r>
          </a:p>
        </p:txBody>
      </p:sp>
      <p:sp>
        <p:nvSpPr>
          <p:cNvPr id="100162"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27 / 65  |  MODULE 2: QUANTUM PHYSICS</a:t>
            </a:r>
          </a:p>
        </p:txBody>
      </p:sp>
      <p:sp>
        <p:nvSpPr>
          <p:cNvPr id="100163"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25.xml><?xml version="1.0" encoding="utf-8"?>
<p:sld xmlns:p="http://schemas.openxmlformats.org/presentationml/2006/main">
  <p:cSld>
    <p:spTree>
      <p:nvGrpSpPr>
        <p:cNvPr id="1" name=""/>
        <p:cNvGrpSpPr/>
        <p:nvPr/>
      </p:nvGrpSpPr>
      <p:grpSpPr/>
      <p:sp>
        <p:nvSpPr>
          <p:cNvPr id="100164" name="TextBox 1"/>
          <p:cNvSpPr txBox="1"/>
          <p:nvPr/>
        </p:nvSpPr>
        <p:spPr>
          <a:xfrm xmlns:a="http://schemas.openxmlformats.org/drawingml/2006/main">
            <a:off x="180000" y="198000"/>
            <a:ext cx="198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MODULE SUMMARY</a:t>
            </a:r>
          </a:p>
        </p:txBody>
      </p:sp>
      <p:sp>
        <p:nvSpPr>
          <p:cNvPr id="100165"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Module 2 Summary: Quantum Physics</a:t>
            </a:r>
          </a:p>
        </p:txBody>
      </p:sp>
      <p:sp>
        <p:nvSpPr>
          <p:cNvPr id="100166"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graphicFrame>
        <p:nvGraphicFramePr>
          <p:cNvPr id="100167" name="Table 1"/>
          <p:cNvGraphicFramePr/>
          <p:nvPr/>
        </p:nvGraphicFramePr>
        <p:xfrm>
          <a:off xmlns:a="http://schemas.openxmlformats.org/drawingml/2006/main" x="360000" y="1152000"/>
          <a:ext xmlns:a="http://schemas.openxmlformats.org/drawingml/2006/main" cx="11160000" cy="4500000"/>
        </p:xfrm>
        <a:graphic xmlns:a="http://schemas.openxmlformats.org/drawingml/2006/main">
          <a:graphicData uri="http://schemas.openxmlformats.org/drawingml/2006/table">
            <a:tbl>
              <a:tblPr firstRow="1" bandRow="1"/>
              <a:tblGrid>
                <a:gridCol w="5580000"/>
                <a:gridCol w="5580000"/>
              </a:tblGrid>
              <a:tr h="500000">
                <a:tc>
                  <a:txBody>
                    <a:bodyPr/>
                    <a:lstStyle/>
                    <a:p>
                      <a:r>
                        <a:rPr lang="en-US" sz="1300" b="1">
                          <a:solidFill>
                            <a:srgbClr val="E3F2FD"/>
                          </a:solidFill>
                        </a:rPr>
                        <a:t>Physics Concept (Slides 19–28)</a:t>
                      </a:r>
                    </a:p>
                  </a:txBody>
                  <a:tcPr>
                    <a:solidFill>
                      <a:srgbClr val="1565C0"/>
                    </a:solidFill>
                  </a:tcPr>
                </a:tc>
                <a:tc>
                  <a:txBody>
                    <a:bodyPr/>
                    <a:lstStyle/>
                    <a:p>
                      <a:r>
                        <a:rPr lang="en-US" sz="1300" b="1">
                          <a:solidFill>
                            <a:srgbClr val="E3F2FD"/>
                          </a:solidFill>
                        </a:rPr>
                        <a:t>Quantum Computing Connection</a:t>
                      </a:r>
                    </a:p>
                  </a:txBody>
                  <a:tcPr>
                    <a:solidFill>
                      <a:srgbClr val="1565C0"/>
                    </a:solidFill>
                  </a:tcPr>
                </a:tc>
              </a:tr>
              <a:tr h="500000">
                <a:tc>
                  <a:txBody>
                    <a:bodyPr/>
                    <a:lstStyle/>
                    <a:p>
                      <a:r>
                        <a:rPr lang="en-US" sz="1200">
                          <a:solidFill>
                            <a:srgbClr val="BBDEFB"/>
                          </a:solidFill>
                        </a:rPr>
                        <a:t>Wave-Particle Duality</a:t>
                      </a:r>
                    </a:p>
                  </a:txBody>
                  <a:tcPr>
                    <a:solidFill>
                      <a:srgbClr val="0D2137"/>
                    </a:solidFill>
                  </a:tcPr>
                </a:tc>
                <a:tc>
                  <a:txBody>
                    <a:bodyPr/>
                    <a:lstStyle/>
                    <a:p>
                      <a:r>
                        <a:rPr lang="en-US" sz="1200">
                          <a:solidFill>
                            <a:srgbClr val="E3F2FD"/>
                          </a:solidFill>
                        </a:rPr>
                        <a:t>Quantum superposition &amp; interference in algorithms</a:t>
                      </a:r>
                    </a:p>
                  </a:txBody>
                  <a:tcPr>
                    <a:solidFill>
                      <a:srgbClr val="0D2137"/>
                    </a:solidFill>
                  </a:tcPr>
                </a:tc>
              </a:tr>
              <a:tr h="500000">
                <a:tc>
                  <a:txBody>
                    <a:bodyPr/>
                    <a:lstStyle/>
                    <a:p>
                      <a:r>
                        <a:rPr lang="en-US" sz="1200">
                          <a:solidFill>
                            <a:srgbClr val="BBDEFB"/>
                          </a:solidFill>
                        </a:rPr>
                        <a:t>Schrödinger Equation</a:t>
                      </a:r>
                    </a:p>
                  </a:txBody>
                  <a:tcPr>
                    <a:solidFill>
                      <a:srgbClr val="112233"/>
                    </a:solidFill>
                  </a:tcPr>
                </a:tc>
                <a:tc>
                  <a:txBody>
                    <a:bodyPr/>
                    <a:lstStyle/>
                    <a:p>
                      <a:r>
                        <a:rPr lang="en-US" sz="1200">
                          <a:solidFill>
                            <a:srgbClr val="E3F2FD"/>
                          </a:solidFill>
                        </a:rPr>
                        <a:t>Quantum gates = unitary time evolution operators</a:t>
                      </a:r>
                    </a:p>
                  </a:txBody>
                  <a:tcPr>
                    <a:solidFill>
                      <a:srgbClr val="112233"/>
                    </a:solidFill>
                  </a:tcPr>
                </a:tc>
              </a:tr>
              <a:tr h="500000">
                <a:tc>
                  <a:txBody>
                    <a:bodyPr/>
                    <a:lstStyle/>
                    <a:p>
                      <a:r>
                        <a:rPr lang="en-US" sz="1200">
                          <a:solidFill>
                            <a:srgbClr val="BBDEFB"/>
                          </a:solidFill>
                        </a:rPr>
                        <a:t>Hydrogen Atom / Quantum Numbers</a:t>
                      </a:r>
                    </a:p>
                  </a:txBody>
                  <a:tcPr>
                    <a:solidFill>
                      <a:srgbClr val="0D2137"/>
                    </a:solidFill>
                  </a:tcPr>
                </a:tc>
                <a:tc>
                  <a:txBody>
                    <a:bodyPr/>
                    <a:lstStyle/>
                    <a:p>
                      <a:r>
                        <a:rPr lang="en-US" sz="1200">
                          <a:solidFill>
                            <a:srgbClr val="E3F2FD"/>
                          </a:solidFill>
                        </a:rPr>
                        <a:t>Two energy levels = physical qubit (trapped-ion, neutral atom)</a:t>
                      </a:r>
                    </a:p>
                  </a:txBody>
                  <a:tcPr>
                    <a:solidFill>
                      <a:srgbClr val="0D2137"/>
                    </a:solidFill>
                  </a:tcPr>
                </a:tc>
              </a:tr>
              <a:tr h="500000">
                <a:tc>
                  <a:txBody>
                    <a:bodyPr/>
                    <a:lstStyle/>
                    <a:p>
                      <a:r>
                        <a:rPr lang="en-US" sz="1200">
                          <a:solidFill>
                            <a:srgbClr val="BBDEFB"/>
                          </a:solidFill>
                        </a:rPr>
                        <a:t>Spin &amp; Pauli Matrices</a:t>
                      </a:r>
                    </a:p>
                  </a:txBody>
                  <a:tcPr>
                    <a:solidFill>
                      <a:srgbClr val="112233"/>
                    </a:solidFill>
                  </a:tcPr>
                </a:tc>
                <a:tc>
                  <a:txBody>
                    <a:bodyPr/>
                    <a:lstStyle/>
                    <a:p>
                      <a:r>
                        <a:rPr lang="en-US" sz="1200">
                          <a:solidFill>
                            <a:srgbClr val="E3F2FD"/>
                          </a:solidFill>
                        </a:rPr>
                        <a:t>σₓ,Y,Z ARE the X,Y,Z gates; spin-½ IS a qubit</a:t>
                      </a:r>
                    </a:p>
                  </a:txBody>
                  <a:tcPr>
                    <a:solidFill>
                      <a:srgbClr val="112233"/>
                    </a:solidFill>
                  </a:tcPr>
                </a:tc>
              </a:tr>
              <a:tr h="500000">
                <a:tc>
                  <a:txBody>
                    <a:bodyPr/>
                    <a:lstStyle/>
                    <a:p>
                      <a:r>
                        <a:rPr lang="en-US" sz="1200">
                          <a:solidFill>
                            <a:srgbClr val="BBDEFB"/>
                          </a:solidFill>
                        </a:rPr>
                        <a:t>QM Postulates</a:t>
                      </a:r>
                    </a:p>
                  </a:txBody>
                  <a:tcPr>
                    <a:solidFill>
                      <a:srgbClr val="0D2137"/>
                    </a:solidFill>
                  </a:tcPr>
                </a:tc>
                <a:tc>
                  <a:txBody>
                    <a:bodyPr/>
                    <a:lstStyle/>
                    <a:p>
                      <a:r>
                        <a:rPr lang="en-US" sz="1200">
                          <a:solidFill>
                            <a:srgbClr val="E3F2FD"/>
                          </a:solidFill>
                        </a:rPr>
                        <a:t>Hilbert space, unitary evolution, measurement collapse, no-cloning</a:t>
                      </a:r>
                    </a:p>
                  </a:txBody>
                  <a:tcPr>
                    <a:solidFill>
                      <a:srgbClr val="0D2137"/>
                    </a:solidFill>
                  </a:tcPr>
                </a:tc>
              </a:tr>
              <a:tr h="500000">
                <a:tc>
                  <a:txBody>
                    <a:bodyPr/>
                    <a:lstStyle/>
                    <a:p>
                      <a:r>
                        <a:rPr lang="en-US" sz="1200">
                          <a:solidFill>
                            <a:srgbClr val="BBDEFB"/>
                          </a:solidFill>
                        </a:rPr>
                        <a:t>Bell States &amp; Entanglement</a:t>
                      </a:r>
                    </a:p>
                  </a:txBody>
                  <a:tcPr>
                    <a:solidFill>
                      <a:srgbClr val="112233"/>
                    </a:solidFill>
                  </a:tcPr>
                </a:tc>
                <a:tc>
                  <a:txBody>
                    <a:bodyPr/>
                    <a:lstStyle/>
                    <a:p>
                      <a:r>
                        <a:rPr lang="en-US" sz="1200">
                          <a:solidFill>
                            <a:srgbClr val="E3F2FD"/>
                          </a:solidFill>
                        </a:rPr>
                        <a:t>Quantum teleportation, superdense coding, QKD E91</a:t>
                      </a:r>
                    </a:p>
                  </a:txBody>
                  <a:tcPr>
                    <a:solidFill>
                      <a:srgbClr val="112233"/>
                    </a:solidFill>
                  </a:tcPr>
                </a:tc>
              </a:tr>
              <a:tr h="500000">
                <a:tc>
                  <a:txBody>
                    <a:bodyPr/>
                    <a:lstStyle/>
                    <a:p>
                      <a:r>
                        <a:rPr lang="en-US" sz="1200">
                          <a:solidFill>
                            <a:srgbClr val="BBDEFB"/>
                          </a:solidFill>
                        </a:rPr>
                        <a:t>Decoherence (T₁, T₂)</a:t>
                      </a:r>
                    </a:p>
                  </a:txBody>
                  <a:tcPr>
                    <a:solidFill>
                      <a:srgbClr val="0D2137"/>
                    </a:solidFill>
                  </a:tcPr>
                </a:tc>
                <a:tc>
                  <a:txBody>
                    <a:bodyPr/>
                    <a:lstStyle/>
                    <a:p>
                      <a:r>
                        <a:rPr lang="en-US" sz="1200">
                          <a:solidFill>
                            <a:srgbClr val="E3F2FD"/>
                          </a:solidFill>
                        </a:rPr>
                        <a:t>Main enemy of quantum computing — drives QEC research</a:t>
                      </a:r>
                    </a:p>
                  </a:txBody>
                  <a:tcPr>
                    <a:solidFill>
                      <a:srgbClr val="0D2137"/>
                    </a:solidFill>
                  </a:tcPr>
                </a:tc>
              </a:tr>
              <a:tr h="500000">
                <a:tc>
                  <a:txBody>
                    <a:bodyPr/>
                    <a:lstStyle/>
                    <a:p>
                      <a:r>
                        <a:rPr lang="en-US" sz="1200">
                          <a:solidFill>
                            <a:srgbClr val="BBDEFB"/>
                          </a:solidFill>
                        </a:rPr>
                        <a:t>Many-Body Systems &amp; Perturbation Theory</a:t>
                      </a:r>
                    </a:p>
                  </a:txBody>
                  <a:tcPr>
                    <a:solidFill>
                      <a:srgbClr val="112233"/>
                    </a:solidFill>
                  </a:tcPr>
                </a:tc>
                <a:tc>
                  <a:txBody>
                    <a:bodyPr/>
                    <a:lstStyle/>
                    <a:p>
                      <a:r>
                        <a:rPr lang="en-US" sz="1200">
                          <a:solidFill>
                            <a:srgbClr val="E3F2FD"/>
                          </a:solidFill>
                        </a:rPr>
                        <a:t>2ᴺ scaling = motivation for quantum simulation; variational → VQE</a:t>
                      </a:r>
                    </a:p>
                  </a:txBody>
                  <a:tcPr>
                    <a:solidFill>
                      <a:srgbClr val="112233"/>
                    </a:solidFill>
                  </a:tcPr>
                </a:tc>
              </a:tr>
            </a:tbl>
          </a:graphicData>
        </a:graphic>
      </p:graphicFrame>
      <p:sp>
        <p:nvSpPr>
          <p:cNvPr id="100168" name="TextBox 4"/>
          <p:cNvSpPr txBox="1"/>
          <p:nvPr/>
        </p:nvSpPr>
        <p:spPr>
          <a:xfrm xmlns:a="http://schemas.openxmlformats.org/drawingml/2006/main">
            <a:off x="360000" y="5760000"/>
            <a:ext cx="11160000" cy="28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ctr"/>
            <a:r>
              <a:rPr lang="en-US" b="1">
                <a:solidFill>
                  <a:srgbClr val="00E5FF"/>
                </a:solidFill>
              </a:rPr>
              <a:t>Next: Module 3 — Quantum Chemistry  (Slides 30–44)</a:t>
            </a:r>
          </a:p>
        </p:txBody>
      </p:sp>
      <p:sp>
        <p:nvSpPr>
          <p:cNvPr id="100169"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29 / 65  |  MODULE 2: QUANTUM PHYSICS</a:t>
            </a:r>
          </a:p>
        </p:txBody>
      </p:sp>
      <p:sp>
        <p:nvSpPr>
          <p:cNvPr id="100170"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26.xml><?xml version="1.0" encoding="utf-8"?>
<p:sld xmlns:p="http://schemas.openxmlformats.org/presentationml/2006/main">
  <p:cSld>
    <p:spTree>
      <p:nvGrpSpPr>
        <p:cNvPr id="1" name=""/>
        <p:cNvGrpSpPr/>
        <p:nvPr/>
      </p:nvGrpSpPr>
      <p:grpSpPr/>
      <p:sp>
        <p:nvSpPr>
          <p:cNvPr id="100171"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6A1B9A"/>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MODULE 3</a:t>
            </a:r>
          </a:p>
        </p:txBody>
      </p:sp>
      <p:sp>
        <p:nvSpPr>
          <p:cNvPr id="100172"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F3E5F5"/>
                </a:solidFill>
              </a:rPr>
              <a:t>Module 3: Quantum Chemistry</a:t>
            </a:r>
          </a:p>
        </p:txBody>
      </p:sp>
      <p:sp>
        <p:nvSpPr>
          <p:cNvPr id="100173"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AB47BC"/>
          </a:solidFill>
        </p:spPr>
        <p:txBody>
          <a:bodyPr xmlns:a="http://schemas.openxmlformats.org/drawingml/2006/main"/>
          <a:lstStyle xmlns:a="http://schemas.openxmlformats.org/drawingml/2006/main"/>
          <a:p xmlns:a="http://schemas.openxmlformats.org/drawingml/2006/main">
            <a:endParaRPr lang="en-US">
              <a:solidFill>
                <a:srgbClr val="AB47BC"/>
              </a:solidFill>
            </a:endParaRPr>
          </a:p>
        </p:txBody>
      </p:sp>
      <p:sp>
        <p:nvSpPr>
          <p:cNvPr id="100174"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F3E5F5"/>
                </a:solidFill>
              </a:rPr>
              <a:t>From Electrons in Atoms to Molecular Hamiltonians</a:t>
            </a:r>
          </a:p>
          <a:p xmlns:a="http://schemas.openxmlformats.org/drawingml/2006/main">
            <a:pPr algn="l"/>
            <a:r>
              <a:rPr lang="en-US">
                <a:solidFill>
                  <a:srgbClr val="F3E5F5"/>
                </a:solidFill>
              </a:rPr>
              <a:t/>
            </a:r>
          </a:p>
          <a:p xmlns:a="http://schemas.openxmlformats.org/drawingml/2006/main">
            <a:pPr algn="l"/>
            <a:r>
              <a:rPr lang="en-US">
                <a:solidFill>
                  <a:srgbClr val="F3E5F5"/>
                </a:solidFill>
              </a:rPr>
              <a:t>Module 3 bridges quantum physics and quantum computing by showing how molecular</a:t>
            </a:r>
          </a:p>
          <a:p xmlns:a="http://schemas.openxmlformats.org/drawingml/2006/main">
            <a:pPr algn="l"/>
            <a:r>
              <a:rPr lang="en-US">
                <a:solidFill>
                  <a:srgbClr val="F3E5F5"/>
                </a:solidFill>
              </a:rPr>
              <a:t>electronic structure problems map directly onto qubit registers.</a:t>
            </a:r>
          </a:p>
          <a:p xmlns:a="http://schemas.openxmlformats.org/drawingml/2006/main">
            <a:pPr algn="l"/>
            <a:r>
              <a:rPr lang="en-US">
                <a:solidFill>
                  <a:srgbClr val="F3E5F5"/>
                </a:solidFill>
              </a:rPr>
              <a:t/>
            </a:r>
          </a:p>
          <a:p xmlns:a="http://schemas.openxmlformats.org/drawingml/2006/main">
            <a:pPr algn="l"/>
            <a:r>
              <a:rPr lang="en-US">
                <a:solidFill>
                  <a:srgbClr val="F3E5F5"/>
                </a:solidFill>
              </a:rPr>
              <a:t>Slides 30–44 cover:</a:t>
            </a:r>
          </a:p>
          <a:p xmlns:a="http://schemas.openxmlformats.org/drawingml/2006/main">
            <a:pPr algn="l"/>
            <a:r>
              <a:rPr lang="en-US">
                <a:solidFill>
                  <a:srgbClr val="F3E5F5"/>
                </a:solidFill>
              </a:rPr>
              <a:t>  30  Atomic Orbitals &amp; Electron Configuration</a:t>
            </a:r>
          </a:p>
          <a:p xmlns:a="http://schemas.openxmlformats.org/drawingml/2006/main">
            <a:pPr algn="l"/>
            <a:r>
              <a:rPr lang="en-US">
                <a:solidFill>
                  <a:srgbClr val="F3E5F5"/>
                </a:solidFill>
              </a:rPr>
              <a:t>  31  Pauli Exclusion &amp; the Periodic Table</a:t>
            </a:r>
          </a:p>
          <a:p xmlns:a="http://schemas.openxmlformats.org/drawingml/2006/main">
            <a:pPr algn="l"/>
            <a:r>
              <a:rPr lang="en-US">
                <a:solidFill>
                  <a:srgbClr val="F3E5F5"/>
                </a:solidFill>
              </a:rPr>
              <a:t>  32  Molecular Orbital Theory (LCAO-MO)</a:t>
            </a:r>
          </a:p>
          <a:p xmlns:a="http://schemas.openxmlformats.org/drawingml/2006/main">
            <a:pPr algn="l"/>
            <a:r>
              <a:rPr lang="en-US">
                <a:solidFill>
                  <a:srgbClr val="F3E5F5"/>
                </a:solidFill>
              </a:rPr>
              <a:t>  33  Born-Oppenheimer Approximation</a:t>
            </a:r>
          </a:p>
          <a:p xmlns:a="http://schemas.openxmlformats.org/drawingml/2006/main">
            <a:pPr algn="l"/>
            <a:r>
              <a:rPr lang="en-US">
                <a:solidFill>
                  <a:srgbClr val="F3E5F5"/>
                </a:solidFill>
              </a:rPr>
              <a:t>  34  The Electronic Hamiltonian</a:t>
            </a:r>
          </a:p>
          <a:p xmlns:a="http://schemas.openxmlformats.org/drawingml/2006/main">
            <a:pPr algn="l"/>
            <a:r>
              <a:rPr lang="en-US">
                <a:solidFill>
                  <a:srgbClr val="F3E5F5"/>
                </a:solidFill>
              </a:rPr>
              <a:t>  35  Hartree-Fock Method</a:t>
            </a:r>
          </a:p>
          <a:p xmlns:a="http://schemas.openxmlformats.org/drawingml/2006/main">
            <a:pPr algn="l"/>
            <a:r>
              <a:rPr lang="en-US">
                <a:solidFill>
                  <a:srgbClr val="F3E5F5"/>
                </a:solidFill>
              </a:rPr>
              <a:t>  36  Post-HF Methods (MP2, CCSD, FCI)</a:t>
            </a:r>
          </a:p>
          <a:p xmlns:a="http://schemas.openxmlformats.org/drawingml/2006/main">
            <a:pPr algn="l"/>
            <a:r>
              <a:rPr lang="en-US">
                <a:solidFill>
                  <a:srgbClr val="F3E5F5"/>
                </a:solidFill>
              </a:rPr>
              <a:t>  37  Basis Sets &amp; Basis Set Hierarchy</a:t>
            </a:r>
          </a:p>
          <a:p xmlns:a="http://schemas.openxmlformats.org/drawingml/2006/main">
            <a:pPr algn="l"/>
            <a:r>
              <a:rPr lang="en-US">
                <a:solidFill>
                  <a:srgbClr val="F3E5F5"/>
                </a:solidFill>
              </a:rPr>
              <a:t>  38  Density Functional Theory (DFT)</a:t>
            </a:r>
          </a:p>
          <a:p xmlns:a="http://schemas.openxmlformats.org/drawingml/2006/main">
            <a:pPr algn="l"/>
            <a:r>
              <a:rPr lang="en-US">
                <a:solidFill>
                  <a:srgbClr val="F3E5F5"/>
                </a:solidFill>
              </a:rPr>
              <a:t>  39  Second Quantization (Fermionic Operators)</a:t>
            </a:r>
          </a:p>
          <a:p xmlns:a="http://schemas.openxmlformats.org/drawingml/2006/main">
            <a:pPr algn="l"/>
            <a:r>
              <a:rPr lang="en-US">
                <a:solidFill>
                  <a:srgbClr val="F3E5F5"/>
                </a:solidFill>
              </a:rPr>
              <a:t>  40  Jordan-Wigner Transformation</a:t>
            </a:r>
          </a:p>
          <a:p xmlns:a="http://schemas.openxmlformats.org/drawingml/2006/main">
            <a:pPr algn="l"/>
            <a:r>
              <a:rPr lang="en-US">
                <a:solidFill>
                  <a:srgbClr val="F3E5F5"/>
                </a:solidFill>
              </a:rPr>
              <a:t>  41  Bravyi-Kitaev Transformation</a:t>
            </a:r>
          </a:p>
          <a:p xmlns:a="http://schemas.openxmlformats.org/drawingml/2006/main">
            <a:pPr algn="l"/>
            <a:r>
              <a:rPr lang="en-US">
                <a:solidFill>
                  <a:srgbClr val="F3E5F5"/>
                </a:solidFill>
              </a:rPr>
              <a:t>  42  Variational Quantum Eigensolver (VQE) Workflow</a:t>
            </a:r>
          </a:p>
          <a:p xmlns:a="http://schemas.openxmlformats.org/drawingml/2006/main">
            <a:pPr algn="l"/>
            <a:r>
              <a:rPr lang="en-US">
                <a:solidFill>
                  <a:srgbClr val="F3E5F5"/>
                </a:solidFill>
              </a:rPr>
              <a:t>  43  UCCSD Ansatz &amp; Parameter Optimization</a:t>
            </a:r>
          </a:p>
          <a:p xmlns:a="http://schemas.openxmlformats.org/drawingml/2006/main">
            <a:pPr algn="l"/>
            <a:r>
              <a:rPr lang="en-US">
                <a:solidFill>
                  <a:srgbClr val="F3E5F5"/>
                </a:solidFill>
              </a:rPr>
              <a:t>  44  Module 3 Summary</a:t>
            </a:r>
          </a:p>
        </p:txBody>
      </p:sp>
      <p:sp>
        <p:nvSpPr>
          <p:cNvPr id="100175"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CE93D8"/>
                </a:solidFill>
              </a:rPr>
              <a:t>30 / 65  |  MODULE 3: QUANTUM CHEMISTRY</a:t>
            </a:r>
          </a:p>
        </p:txBody>
      </p:sp>
      <p:sp>
        <p:nvSpPr>
          <p:cNvPr id="100176"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CE93D8"/>
                </a:solidFill>
              </a:rPr>
              <a:t>QFF26 Lecture Series — Quantum Computing Basics  |  qff26.org</a:t>
            </a:r>
          </a:p>
        </p:txBody>
      </p:sp>
    </p:spTree>
  </p:cSld>
</p:sld>
</file>

<file path=ppt/slides/slide27.xml><?xml version="1.0" encoding="utf-8"?>
<p:sld xmlns:p="http://schemas.openxmlformats.org/presentationml/2006/main">
  <p:cSld>
    <p:spTree>
      <p:nvGrpSpPr>
        <p:cNvPr id="1" name=""/>
        <p:cNvGrpSpPr/>
        <p:nvPr/>
      </p:nvGrpSpPr>
      <p:grpSpPr/>
      <p:sp>
        <p:nvSpPr>
          <p:cNvPr id="100177" name="TextBox 1"/>
          <p:cNvSpPr txBox="1"/>
          <p:nvPr/>
        </p:nvSpPr>
        <p:spPr>
          <a:xfrm xmlns:a="http://schemas.openxmlformats.org/drawingml/2006/main">
            <a:off x="180000" y="198000"/>
            <a:ext cx="1980000" cy="198000"/>
          </a:xfrm>
          <a:prstGeom xmlns:a="http://schemas.openxmlformats.org/drawingml/2006/main" prst="rect">
            <a:avLst/>
          </a:prstGeom>
          <a:solidFill xmlns:a="http://schemas.openxmlformats.org/drawingml/2006/main">
            <a:srgbClr val="6A1B9A"/>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QUANTUM CHEMISTRY</a:t>
            </a:r>
          </a:p>
        </p:txBody>
      </p:sp>
      <p:sp>
        <p:nvSpPr>
          <p:cNvPr id="100178"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F3E5F5"/>
                </a:solidFill>
              </a:rPr>
              <a:t>Atomic Orbitals, Electron Configuration &amp; the Periodic Table</a:t>
            </a:r>
          </a:p>
        </p:txBody>
      </p:sp>
      <p:sp>
        <p:nvSpPr>
          <p:cNvPr id="100179"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AB47BC"/>
          </a:solidFill>
        </p:spPr>
        <p:txBody>
          <a:bodyPr xmlns:a="http://schemas.openxmlformats.org/drawingml/2006/main"/>
          <a:lstStyle xmlns:a="http://schemas.openxmlformats.org/drawingml/2006/main"/>
          <a:p xmlns:a="http://schemas.openxmlformats.org/drawingml/2006/main">
            <a:endParaRPr lang="en-US">
              <a:solidFill>
                <a:srgbClr val="AB47BC"/>
              </a:solidFill>
            </a:endParaRPr>
          </a:p>
        </p:txBody>
      </p:sp>
      <p:graphicFrame>
        <p:nvGraphicFramePr>
          <p:cNvPr id="100180" name="Table 1"/>
          <p:cNvGraphicFramePr/>
          <p:nvPr/>
        </p:nvGraphicFramePr>
        <p:xfrm>
          <a:off xmlns:a="http://schemas.openxmlformats.org/drawingml/2006/main" x="360000" y="1152000"/>
          <a:ext xmlns:a="http://schemas.openxmlformats.org/drawingml/2006/main" cx="11160000" cy="3240000"/>
        </p:xfrm>
        <a:graphic xmlns:a="http://schemas.openxmlformats.org/drawingml/2006/main">
          <a:graphicData uri="http://schemas.openxmlformats.org/drawingml/2006/table">
            <a:tbl>
              <a:tblPr firstRow="1" bandRow="1"/>
              <a:tblGrid>
                <a:gridCol w="2790000"/>
                <a:gridCol w="2790000"/>
                <a:gridCol w="2790000"/>
                <a:gridCol w="2790000"/>
              </a:tblGrid>
              <a:tr h="540000">
                <a:tc>
                  <a:txBody>
                    <a:bodyPr/>
                    <a:lstStyle/>
                    <a:p>
                      <a:r>
                        <a:rPr lang="en-US" sz="1200" b="1">
                          <a:solidFill>
                            <a:srgbClr val="F3E5F5"/>
                          </a:solidFill>
                        </a:rPr>
                        <a:t>Subshell</a:t>
                      </a:r>
                    </a:p>
                  </a:txBody>
                  <a:tcPr>
                    <a:solidFill>
                      <a:srgbClr val="6A1B9A"/>
                    </a:solidFill>
                  </a:tcPr>
                </a:tc>
                <a:tc>
                  <a:txBody>
                    <a:bodyPr/>
                    <a:lstStyle/>
                    <a:p>
                      <a:r>
                        <a:rPr lang="en-US" sz="1200" b="1">
                          <a:solidFill>
                            <a:srgbClr val="F3E5F5"/>
                          </a:solidFill>
                        </a:rPr>
                        <a:t>l value</a:t>
                      </a:r>
                    </a:p>
                  </a:txBody>
                  <a:tcPr>
                    <a:solidFill>
                      <a:srgbClr val="6A1B9A"/>
                    </a:solidFill>
                  </a:tcPr>
                </a:tc>
                <a:tc>
                  <a:txBody>
                    <a:bodyPr/>
                    <a:lstStyle/>
                    <a:p>
                      <a:r>
                        <a:rPr lang="en-US" sz="1200" b="1">
                          <a:solidFill>
                            <a:srgbClr val="F3E5F5"/>
                          </a:solidFill>
                        </a:rPr>
                        <a:t>Max electrons</a:t>
                      </a:r>
                    </a:p>
                  </a:txBody>
                  <a:tcPr>
                    <a:solidFill>
                      <a:srgbClr val="6A1B9A"/>
                    </a:solidFill>
                  </a:tcPr>
                </a:tc>
                <a:tc>
                  <a:txBody>
                    <a:bodyPr/>
                    <a:lstStyle/>
                    <a:p>
                      <a:r>
                        <a:rPr lang="en-US" sz="1200" b="1">
                          <a:solidFill>
                            <a:srgbClr val="F3E5F5"/>
                          </a:solidFill>
                        </a:rPr>
                        <a:t>Shape / Quantum Computing Relevance</a:t>
                      </a:r>
                    </a:p>
                  </a:txBody>
                  <a:tcPr>
                    <a:solidFill>
                      <a:srgbClr val="6A1B9A"/>
                    </a:solidFill>
                  </a:tcPr>
                </a:tc>
              </a:tr>
              <a:tr h="540000">
                <a:tc>
                  <a:txBody>
                    <a:bodyPr/>
                    <a:lstStyle/>
                    <a:p>
                      <a:r>
                        <a:rPr lang="en-US" sz="1200" b="1">
                          <a:solidFill>
                            <a:srgbClr val="E1BEE7"/>
                          </a:solidFill>
                        </a:rPr>
                        <a:t>s</a:t>
                      </a:r>
                    </a:p>
                  </a:txBody>
                  <a:tcPr>
                    <a:solidFill>
                      <a:srgbClr val="1A0A2E"/>
                    </a:solidFill>
                  </a:tcPr>
                </a:tc>
                <a:tc>
                  <a:txBody>
                    <a:bodyPr/>
                    <a:lstStyle/>
                    <a:p>
                      <a:r>
                        <a:rPr lang="en-US" sz="1200">
                          <a:solidFill>
                            <a:srgbClr val="F3E5F5"/>
                          </a:solidFill>
                        </a:rPr>
                        <a:t>0</a:t>
                      </a:r>
                    </a:p>
                  </a:txBody>
                  <a:tcPr>
                    <a:solidFill>
                      <a:srgbClr val="1A0A2E"/>
                    </a:solidFill>
                  </a:tcPr>
                </a:tc>
                <a:tc>
                  <a:txBody>
                    <a:bodyPr/>
                    <a:lstStyle/>
                    <a:p>
                      <a:r>
                        <a:rPr lang="en-US" sz="1200">
                          <a:solidFill>
                            <a:srgbClr val="F3E5F5"/>
                          </a:solidFill>
                        </a:rPr>
                        <a:t>2</a:t>
                      </a:r>
                    </a:p>
                  </a:txBody>
                  <a:tcPr>
                    <a:solidFill>
                      <a:srgbClr val="1A0A2E"/>
                    </a:solidFill>
                  </a:tcPr>
                </a:tc>
                <a:tc>
                  <a:txBody>
                    <a:bodyPr/>
                    <a:lstStyle/>
                    <a:p>
                      <a:r>
                        <a:rPr lang="en-US" sz="1200">
                          <a:solidFill>
                            <a:srgbClr val="F3E5F5"/>
                          </a:solidFill>
                        </a:rPr>
                        <a:t>Sphere. H(1s), He(1s²). Hydrogen qubit encoded in 1s/2s gap</a:t>
                      </a:r>
                    </a:p>
                  </a:txBody>
                  <a:tcPr>
                    <a:solidFill>
                      <a:srgbClr val="1A0A2E"/>
                    </a:solidFill>
                  </a:tcPr>
                </a:tc>
              </a:tr>
              <a:tr h="540000">
                <a:tc>
                  <a:txBody>
                    <a:bodyPr/>
                    <a:lstStyle/>
                    <a:p>
                      <a:r>
                        <a:rPr lang="en-US" sz="1200" b="1">
                          <a:solidFill>
                            <a:srgbClr val="E1BEE7"/>
                          </a:solidFill>
                        </a:rPr>
                        <a:t>p</a:t>
                      </a:r>
                    </a:p>
                  </a:txBody>
                  <a:tcPr>
                    <a:solidFill>
                      <a:srgbClr val="2A1040"/>
                    </a:solidFill>
                  </a:tcPr>
                </a:tc>
                <a:tc>
                  <a:txBody>
                    <a:bodyPr/>
                    <a:lstStyle/>
                    <a:p>
                      <a:r>
                        <a:rPr lang="en-US" sz="1200">
                          <a:solidFill>
                            <a:srgbClr val="F3E5F5"/>
                          </a:solidFill>
                        </a:rPr>
                        <a:t>1</a:t>
                      </a:r>
                    </a:p>
                  </a:txBody>
                  <a:tcPr>
                    <a:solidFill>
                      <a:srgbClr val="2A1040"/>
                    </a:solidFill>
                  </a:tcPr>
                </a:tc>
                <a:tc>
                  <a:txBody>
                    <a:bodyPr/>
                    <a:lstStyle/>
                    <a:p>
                      <a:r>
                        <a:rPr lang="en-US" sz="1200">
                          <a:solidFill>
                            <a:srgbClr val="F3E5F5"/>
                          </a:solidFill>
                        </a:rPr>
                        <a:t>6</a:t>
                      </a:r>
                    </a:p>
                  </a:txBody>
                  <a:tcPr>
                    <a:solidFill>
                      <a:srgbClr val="2A1040"/>
                    </a:solidFill>
                  </a:tcPr>
                </a:tc>
                <a:tc>
                  <a:txBody>
                    <a:bodyPr/>
                    <a:lstStyle/>
                    <a:p>
                      <a:r>
                        <a:rPr lang="en-US" sz="1200">
                          <a:solidFill>
                            <a:srgbClr val="F3E5F5"/>
                          </a:solidFill>
                        </a:rPr>
                        <a:t>Dumbbell (3 orientations). N₂ bond structure — VQE benchmark</a:t>
                      </a:r>
                    </a:p>
                  </a:txBody>
                  <a:tcPr>
                    <a:solidFill>
                      <a:srgbClr val="2A1040"/>
                    </a:solidFill>
                  </a:tcPr>
                </a:tc>
              </a:tr>
              <a:tr h="540000">
                <a:tc>
                  <a:txBody>
                    <a:bodyPr/>
                    <a:lstStyle/>
                    <a:p>
                      <a:r>
                        <a:rPr lang="en-US" sz="1200" b="1">
                          <a:solidFill>
                            <a:srgbClr val="E1BEE7"/>
                          </a:solidFill>
                        </a:rPr>
                        <a:t>d</a:t>
                      </a:r>
                    </a:p>
                  </a:txBody>
                  <a:tcPr>
                    <a:solidFill>
                      <a:srgbClr val="1A0A2E"/>
                    </a:solidFill>
                  </a:tcPr>
                </a:tc>
                <a:tc>
                  <a:txBody>
                    <a:bodyPr/>
                    <a:lstStyle/>
                    <a:p>
                      <a:r>
                        <a:rPr lang="en-US" sz="1200">
                          <a:solidFill>
                            <a:srgbClr val="F3E5F5"/>
                          </a:solidFill>
                        </a:rPr>
                        <a:t>2</a:t>
                      </a:r>
                    </a:p>
                  </a:txBody>
                  <a:tcPr>
                    <a:solidFill>
                      <a:srgbClr val="1A0A2E"/>
                    </a:solidFill>
                  </a:tcPr>
                </a:tc>
                <a:tc>
                  <a:txBody>
                    <a:bodyPr/>
                    <a:lstStyle/>
                    <a:p>
                      <a:r>
                        <a:rPr lang="en-US" sz="1200">
                          <a:solidFill>
                            <a:srgbClr val="F3E5F5"/>
                          </a:solidFill>
                        </a:rPr>
                        <a:t>10</a:t>
                      </a:r>
                    </a:p>
                  </a:txBody>
                  <a:tcPr>
                    <a:solidFill>
                      <a:srgbClr val="1A0A2E"/>
                    </a:solidFill>
                  </a:tcPr>
                </a:tc>
                <a:tc>
                  <a:txBody>
                    <a:bodyPr/>
                    <a:lstStyle/>
                    <a:p>
                      <a:r>
                        <a:rPr lang="en-US" sz="1200">
                          <a:solidFill>
                            <a:srgbClr val="F3E5F5"/>
                          </a:solidFill>
                        </a:rPr>
                        <a:t>Cloverleaf. Transition metals — active space in FeMoco (nitrogenase)</a:t>
                      </a:r>
                    </a:p>
                  </a:txBody>
                  <a:tcPr>
                    <a:solidFill>
                      <a:srgbClr val="1A0A2E"/>
                    </a:solidFill>
                  </a:tcPr>
                </a:tc>
              </a:tr>
              <a:tr h="540000">
                <a:tc>
                  <a:txBody>
                    <a:bodyPr/>
                    <a:lstStyle/>
                    <a:p>
                      <a:r>
                        <a:rPr lang="en-US" sz="1200" b="1">
                          <a:solidFill>
                            <a:srgbClr val="E1BEE7"/>
                          </a:solidFill>
                        </a:rPr>
                        <a:t>f</a:t>
                      </a:r>
                    </a:p>
                  </a:txBody>
                  <a:tcPr>
                    <a:solidFill>
                      <a:srgbClr val="2A1040"/>
                    </a:solidFill>
                  </a:tcPr>
                </a:tc>
                <a:tc>
                  <a:txBody>
                    <a:bodyPr/>
                    <a:lstStyle/>
                    <a:p>
                      <a:r>
                        <a:rPr lang="en-US" sz="1200">
                          <a:solidFill>
                            <a:srgbClr val="F3E5F5"/>
                          </a:solidFill>
                        </a:rPr>
                        <a:t>3</a:t>
                      </a:r>
                    </a:p>
                  </a:txBody>
                  <a:tcPr>
                    <a:solidFill>
                      <a:srgbClr val="2A1040"/>
                    </a:solidFill>
                  </a:tcPr>
                </a:tc>
                <a:tc>
                  <a:txBody>
                    <a:bodyPr/>
                    <a:lstStyle/>
                    <a:p>
                      <a:r>
                        <a:rPr lang="en-US" sz="1200">
                          <a:solidFill>
                            <a:srgbClr val="F3E5F5"/>
                          </a:solidFill>
                        </a:rPr>
                        <a:t>14</a:t>
                      </a:r>
                    </a:p>
                  </a:txBody>
                  <a:tcPr>
                    <a:solidFill>
                      <a:srgbClr val="2A1040"/>
                    </a:solidFill>
                  </a:tcPr>
                </a:tc>
                <a:tc>
                  <a:txBody>
                    <a:bodyPr/>
                    <a:lstStyle/>
                    <a:p>
                      <a:r>
                        <a:rPr lang="en-US" sz="1200">
                          <a:solidFill>
                            <a:srgbClr val="F3E5F5"/>
                          </a:solidFill>
                        </a:rPr>
                        <a:t>Lanthanides/actinides. Strong correlation — hard for classical HF</a:t>
                      </a:r>
                    </a:p>
                  </a:txBody>
                  <a:tcPr>
                    <a:solidFill>
                      <a:srgbClr val="2A1040"/>
                    </a:solidFill>
                  </a:tcPr>
                </a:tc>
              </a:tr>
              <a:tr h="540000">
                <a:tc>
                  <a:txBody>
                    <a:bodyPr/>
                    <a:lstStyle/>
                    <a:p>
                      <a:r>
                        <a:rPr lang="en-US" sz="1200" b="1">
                          <a:solidFill>
                            <a:srgbClr val="E1BEE7"/>
                          </a:solidFill>
                        </a:rPr>
                        <a:t>Aufbau Principle</a:t>
                      </a:r>
                    </a:p>
                  </a:txBody>
                  <a:tcPr>
                    <a:solidFill>
                      <a:srgbClr val="1A0A2E"/>
                    </a:solidFill>
                  </a:tcPr>
                </a:tc>
                <a:tc>
                  <a:txBody>
                    <a:bodyPr/>
                    <a:lstStyle/>
                    <a:p>
                      <a:r>
                        <a:rPr lang="en-US" sz="1200">
                          <a:solidFill>
                            <a:srgbClr val="F3E5F5"/>
                          </a:solidFill>
                        </a:rPr>
                        <a:t>Fill lowest energy first</a:t>
                      </a:r>
                    </a:p>
                  </a:txBody>
                  <a:tcPr>
                    <a:solidFill>
                      <a:srgbClr val="1A0A2E"/>
                    </a:solidFill>
                  </a:tcPr>
                </a:tc>
                <a:tc>
                  <a:txBody>
                    <a:bodyPr/>
                    <a:lstStyle/>
                    <a:p>
                      <a:r>
                        <a:rPr lang="en-US" sz="1200">
                          <a:solidFill>
                            <a:srgbClr val="F3E5F5"/>
                          </a:solidFill>
                        </a:rPr>
                        <a:t>Pauli exclusion</a:t>
                      </a:r>
                    </a:p>
                  </a:txBody>
                  <a:tcPr>
                    <a:solidFill>
                      <a:srgbClr val="1A0A2E"/>
                    </a:solidFill>
                  </a:tcPr>
                </a:tc>
                <a:tc>
                  <a:txBody>
                    <a:bodyPr/>
                    <a:lstStyle/>
                    <a:p>
                      <a:r>
                        <a:rPr lang="en-US" sz="1200">
                          <a:solidFill>
                            <a:srgbClr val="F3E5F5"/>
                          </a:solidFill>
                        </a:rPr>
                        <a:t>Antisymmetric fermionic wavefunction → second quantization</a:t>
                      </a:r>
                    </a:p>
                  </a:txBody>
                  <a:tcPr>
                    <a:solidFill>
                      <a:srgbClr val="1A0A2E"/>
                    </a:solidFill>
                  </a:tcPr>
                </a:tc>
              </a:tr>
            </a:tbl>
          </a:graphicData>
        </a:graphic>
      </p:graphicFrame>
      <p:sp>
        <p:nvSpPr>
          <p:cNvPr id="100181" name="TextBox 4"/>
          <p:cNvSpPr txBox="1"/>
          <p:nvPr/>
        </p:nvSpPr>
        <p:spPr>
          <a:xfrm xmlns:a="http://schemas.openxmlformats.org/drawingml/2006/main">
            <a:off x="360000" y="4500000"/>
            <a:ext cx="11160000" cy="900000"/>
          </a:xfrm>
          <a:prstGeom xmlns:a="http://schemas.openxmlformats.org/drawingml/2006/main" prst="rect">
            <a:avLst/>
          </a:prstGeom>
          <a:solidFill xmlns:a="http://schemas.openxmlformats.org/drawingml/2006/main">
            <a:srgbClr val="1A0A2E"/>
          </a:solidFill>
        </p:spPr>
        <p:txBody>
          <a:bodyPr xmlns:a="http://schemas.openxmlformats.org/drawingml/2006/main"/>
          <a:lstStyle xmlns:a="http://schemas.openxmlformats.org/drawingml/2006/main"/>
          <a:p xmlns:a="http://schemas.openxmlformats.org/drawingml/2006/main">
            <a:pPr algn="l"/>
            <a:r>
              <a:rPr lang="en-US">
                <a:solidFill>
                  <a:srgbClr val="CE93D8"/>
                </a:solidFill>
              </a:rPr>
              <a:t>Encoding note: N spin-orbitals requires N qubits under Jordan-Wigner. H₂ uses 4 spin-orbitals → 4 qubits minimum. FeMoco (56 active orbitals) → ~100–200 qubits for fault-tolerant simulation (Reiher et al., PNAS 2017).</a:t>
            </a:r>
          </a:p>
        </p:txBody>
      </p:sp>
      <p:sp>
        <p:nvSpPr>
          <p:cNvPr id="100182"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CE93D8"/>
                </a:solidFill>
              </a:rPr>
              <a:t>31 / 65  |  MODULE 3: QUANTUM CHEMISTRY</a:t>
            </a:r>
          </a:p>
        </p:txBody>
      </p:sp>
      <p:sp>
        <p:nvSpPr>
          <p:cNvPr id="100183"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CE93D8"/>
                </a:solidFill>
              </a:rPr>
              <a:t>QFF26 Lecture Series — Quantum Computing Basics  |  qff26.org</a:t>
            </a:r>
          </a:p>
        </p:txBody>
      </p:sp>
    </p:spTree>
  </p:cSld>
</p:sld>
</file>

<file path=ppt/slides/slide28.xml><?xml version="1.0" encoding="utf-8"?>
<p:sld xmlns:p="http://schemas.openxmlformats.org/presentationml/2006/main">
  <p:cSld>
    <p:spTree>
      <p:nvGrpSpPr>
        <p:cNvPr id="1" name=""/>
        <p:cNvGrpSpPr/>
        <p:nvPr/>
      </p:nvGrpSpPr>
      <p:grpSpPr/>
      <p:sp>
        <p:nvSpPr>
          <p:cNvPr id="100184" name="TextBox 1"/>
          <p:cNvSpPr txBox="1"/>
          <p:nvPr/>
        </p:nvSpPr>
        <p:spPr>
          <a:xfrm xmlns:a="http://schemas.openxmlformats.org/drawingml/2006/main">
            <a:off x="180000" y="198000"/>
            <a:ext cx="1980000" cy="198000"/>
          </a:xfrm>
          <a:prstGeom xmlns:a="http://schemas.openxmlformats.org/drawingml/2006/main" prst="rect">
            <a:avLst/>
          </a:prstGeom>
          <a:solidFill xmlns:a="http://schemas.openxmlformats.org/drawingml/2006/main">
            <a:srgbClr val="6A1B9A"/>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QUANTUM CHEMISTRY</a:t>
            </a:r>
          </a:p>
        </p:txBody>
      </p:sp>
      <p:sp>
        <p:nvSpPr>
          <p:cNvPr id="100185"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F3E5F5"/>
                </a:solidFill>
              </a:rPr>
              <a:t>Born-Oppenheimer Approximation &amp; Electronic Hamiltonian</a:t>
            </a:r>
          </a:p>
        </p:txBody>
      </p:sp>
      <p:sp>
        <p:nvSpPr>
          <p:cNvPr id="100186"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AB47BC"/>
          </a:solidFill>
        </p:spPr>
        <p:txBody>
          <a:bodyPr xmlns:a="http://schemas.openxmlformats.org/drawingml/2006/main"/>
          <a:lstStyle xmlns:a="http://schemas.openxmlformats.org/drawingml/2006/main"/>
          <a:p xmlns:a="http://schemas.openxmlformats.org/drawingml/2006/main">
            <a:endParaRPr lang="en-US">
              <a:solidFill>
                <a:srgbClr val="AB47BC"/>
              </a:solidFill>
            </a:endParaRPr>
          </a:p>
        </p:txBody>
      </p:sp>
      <p:sp>
        <p:nvSpPr>
          <p:cNvPr id="100187"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F3E5F5"/>
                </a:solidFill>
              </a:rPr>
              <a:t>Born-Oppenheimer (BO) Approximation</a:t>
            </a:r>
          </a:p>
          <a:p xmlns:a="http://schemas.openxmlformats.org/drawingml/2006/main">
            <a:pPr algn="l"/>
            <a:r>
              <a:rPr lang="en-US">
                <a:solidFill>
                  <a:srgbClr val="F3E5F5"/>
                </a:solidFill>
              </a:rPr>
              <a:t/>
            </a:r>
          </a:p>
          <a:p xmlns:a="http://schemas.openxmlformats.org/drawingml/2006/main">
            <a:pPr algn="l"/>
            <a:r>
              <a:rPr lang="en-US">
                <a:solidFill>
                  <a:srgbClr val="F3E5F5"/>
                </a:solidFill>
              </a:rPr>
              <a:t>• Nuclear mass &gt;&gt; electron mass (mₙ/mₑ ≈ 1836 for proton)</a:t>
            </a:r>
          </a:p>
          <a:p xmlns:a="http://schemas.openxmlformats.org/drawingml/2006/main">
            <a:pPr algn="l"/>
            <a:r>
              <a:rPr lang="en-US">
                <a:solidFill>
                  <a:srgbClr val="F3E5F5"/>
                </a:solidFill>
              </a:rPr>
              <a:t>• Electrons respond instantaneously to nuclear positions → decouple nuclear/electronic motion</a:t>
            </a:r>
          </a:p>
          <a:p xmlns:a="http://schemas.openxmlformats.org/drawingml/2006/main">
            <a:pPr algn="l"/>
            <a:r>
              <a:rPr lang="en-US">
                <a:solidFill>
                  <a:srgbClr val="F3E5F5"/>
                </a:solidFill>
              </a:rPr>
              <a:t>• Total wavefunction: Ψ(r,R) ≈ ψₑ(r;R) · χₙ(R)</a:t>
            </a:r>
          </a:p>
          <a:p xmlns:a="http://schemas.openxmlformats.org/drawingml/2006/main">
            <a:pPr algn="l"/>
            <a:r>
              <a:rPr lang="en-US">
                <a:solidFill>
                  <a:srgbClr val="F3E5F5"/>
                </a:solidFill>
              </a:rPr>
              <a:t>  where r = electron coords, R = nuclear coords</a:t>
            </a:r>
          </a:p>
          <a:p xmlns:a="http://schemas.openxmlformats.org/drawingml/2006/main">
            <a:pPr algn="l"/>
            <a:r>
              <a:rPr lang="en-US">
                <a:solidFill>
                  <a:srgbClr val="F3E5F5"/>
                </a:solidFill>
              </a:rPr>
              <a:t>• Potential Energy Surface (PES): E(R) = ⟨ψₑ|Ĥₑ|ψₑ⟩ as function of R</a:t>
            </a:r>
          </a:p>
          <a:p xmlns:a="http://schemas.openxmlformats.org/drawingml/2006/main">
            <a:pPr algn="l"/>
            <a:r>
              <a:rPr lang="en-US">
                <a:solidFill>
                  <a:srgbClr val="F3E5F5"/>
                </a:solidFill>
              </a:rPr>
              <a:t/>
            </a:r>
          </a:p>
          <a:p xmlns:a="http://schemas.openxmlformats.org/drawingml/2006/main">
            <a:pPr algn="l"/>
            <a:r>
              <a:rPr lang="en-US">
                <a:solidFill>
                  <a:srgbClr val="F3E5F5"/>
                </a:solidFill>
              </a:rPr>
              <a:t>Electronic Hamiltonian (within BO)</a:t>
            </a:r>
          </a:p>
          <a:p xmlns:a="http://schemas.openxmlformats.org/drawingml/2006/main">
            <a:pPr algn="l"/>
            <a:r>
              <a:rPr lang="en-US">
                <a:solidFill>
                  <a:srgbClr val="F3E5F5"/>
                </a:solidFill>
              </a:rPr>
              <a:t/>
            </a:r>
          </a:p>
          <a:p xmlns:a="http://schemas.openxmlformats.org/drawingml/2006/main">
            <a:pPr algn="l"/>
            <a:r>
              <a:rPr lang="en-US">
                <a:solidFill>
                  <a:srgbClr val="F3E5F5"/>
                </a:solidFill>
              </a:rPr>
              <a:t>  Ĥₑ = -Σᵢ ½∇ᵢ² - ΣᵢΣₐ Zₐ/rᵢₐ + Σᵢ&lt;ⱼ 1/rᵢⱼ</a:t>
            </a:r>
          </a:p>
          <a:p xmlns:a="http://schemas.openxmlformats.org/drawingml/2006/main">
            <a:pPr algn="l"/>
            <a:r>
              <a:rPr lang="en-US">
                <a:solidFill>
                  <a:srgbClr val="F3E5F5"/>
                </a:solidFill>
              </a:rPr>
              <a:t>       [KE electrons]  [e-nuclear attract]  [e-e repulsion]</a:t>
            </a:r>
          </a:p>
          <a:p xmlns:a="http://schemas.openxmlformats.org/drawingml/2006/main">
            <a:pPr algn="l"/>
            <a:r>
              <a:rPr lang="en-US">
                <a:solidFill>
                  <a:srgbClr val="F3E5F5"/>
                </a:solidFill>
              </a:rPr>
              <a:t/>
            </a:r>
          </a:p>
          <a:p xmlns:a="http://schemas.openxmlformats.org/drawingml/2006/main">
            <a:pPr algn="l"/>
            <a:r>
              <a:rPr lang="en-US">
                <a:solidFill>
                  <a:srgbClr val="F3E5F5"/>
                </a:solidFill>
              </a:rPr>
              <a:t>• First term: kinetic energy operator (Laplacian)</a:t>
            </a:r>
          </a:p>
          <a:p xmlns:a="http://schemas.openxmlformats.org/drawingml/2006/main">
            <a:pPr algn="l"/>
            <a:r>
              <a:rPr lang="en-US">
                <a:solidFill>
                  <a:srgbClr val="F3E5F5"/>
                </a:solidFill>
              </a:rPr>
              <a:t>• Second term: attractive Coulomb (electron-nucleus), Zₐ = nuclear charge</a:t>
            </a:r>
          </a:p>
          <a:p xmlns:a="http://schemas.openxmlformats.org/drawingml/2006/main">
            <a:pPr algn="l"/>
            <a:r>
              <a:rPr lang="en-US">
                <a:solidFill>
                  <a:srgbClr val="F3E5F5"/>
                </a:solidFill>
              </a:rPr>
              <a:t>• Third term: repulsive Coulomb (electron-electron) — the HARD part</a:t>
            </a:r>
          </a:p>
          <a:p xmlns:a="http://schemas.openxmlformats.org/drawingml/2006/main">
            <a:pPr algn="l"/>
            <a:r>
              <a:rPr lang="en-US">
                <a:solidFill>
                  <a:srgbClr val="F3E5F5"/>
                </a:solidFill>
              </a:rPr>
              <a:t>  This 1/rᵢⱼ term causes electron correlation: no exact classical solution for N&gt;1 electrons</a:t>
            </a:r>
          </a:p>
          <a:p xmlns:a="http://schemas.openxmlformats.org/drawingml/2006/main">
            <a:pPr algn="l"/>
            <a:r>
              <a:rPr lang="en-US">
                <a:solidFill>
                  <a:srgbClr val="F3E5F5"/>
                </a:solidFill>
              </a:rPr>
              <a:t/>
            </a:r>
          </a:p>
          <a:p xmlns:a="http://schemas.openxmlformats.org/drawingml/2006/main">
            <a:pPr algn="l"/>
            <a:r>
              <a:rPr lang="en-US">
                <a:solidFill>
                  <a:srgbClr val="F3E5F5"/>
                </a:solidFill>
              </a:rPr>
              <a:t>Quantum Computing Target:</a:t>
            </a:r>
          </a:p>
          <a:p xmlns:a="http://schemas.openxmlformats.org/drawingml/2006/main">
            <a:pPr algn="l"/>
            <a:r>
              <a:rPr lang="en-US">
                <a:solidFill>
                  <a:srgbClr val="F3E5F5"/>
                </a:solidFill>
              </a:rPr>
              <a:t>  Solve Ĥₑ|ψ⟩ = E₀|ψ⟩  — find ground state energy E₀ exactly</a:t>
            </a:r>
          </a:p>
          <a:p xmlns:a="http://schemas.openxmlformats.org/drawingml/2006/main">
            <a:pPr algn="l"/>
            <a:r>
              <a:rPr lang="en-US">
                <a:solidFill>
                  <a:srgbClr val="F3E5F5"/>
                </a:solidFill>
              </a:rPr>
              <a:t>  VQE estimates E₀ = min_θ ⟨ψ(θ)|Ĥₑ|ψ(θ)⟩ using parameterized quantum circuit</a:t>
            </a:r>
          </a:p>
        </p:txBody>
      </p:sp>
      <p:sp>
        <p:nvSpPr>
          <p:cNvPr id="100188"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CE93D8"/>
                </a:solidFill>
              </a:rPr>
              <a:t>32 / 65  |  MODULE 3: QUANTUM CHEMISTRY</a:t>
            </a:r>
          </a:p>
        </p:txBody>
      </p:sp>
      <p:sp>
        <p:nvSpPr>
          <p:cNvPr id="100189"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CE93D8"/>
                </a:solidFill>
              </a:rPr>
              <a:t>QFF26 Lecture Series — Quantum Computing Basics  |  qff26.org</a:t>
            </a:r>
          </a:p>
        </p:txBody>
      </p:sp>
    </p:spTree>
  </p:cSld>
</p:sld>
</file>

<file path=ppt/slides/slide29.xml><?xml version="1.0" encoding="utf-8"?>
<p:sld xmlns:p="http://schemas.openxmlformats.org/presentationml/2006/main">
  <p:cSld>
    <p:spTree>
      <p:nvGrpSpPr>
        <p:cNvPr id="1" name=""/>
        <p:cNvGrpSpPr/>
        <p:nvPr/>
      </p:nvGrpSpPr>
      <p:grpSpPr/>
      <p:sp>
        <p:nvSpPr>
          <p:cNvPr id="100190" name="TextBox 1"/>
          <p:cNvSpPr txBox="1"/>
          <p:nvPr/>
        </p:nvSpPr>
        <p:spPr>
          <a:xfrm xmlns:a="http://schemas.openxmlformats.org/drawingml/2006/main">
            <a:off x="180000" y="198000"/>
            <a:ext cx="1980000" cy="198000"/>
          </a:xfrm>
          <a:prstGeom xmlns:a="http://schemas.openxmlformats.org/drawingml/2006/main" prst="rect">
            <a:avLst/>
          </a:prstGeom>
          <a:solidFill xmlns:a="http://schemas.openxmlformats.org/drawingml/2006/main">
            <a:srgbClr val="6A1B9A"/>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QUANTUM CHEMISTRY</a:t>
            </a:r>
          </a:p>
        </p:txBody>
      </p:sp>
      <p:sp>
        <p:nvSpPr>
          <p:cNvPr id="100191"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F3E5F5"/>
                </a:solidFill>
              </a:rPr>
              <a:t>Hartree-Fock Method &amp; Post-HF Approaches</a:t>
            </a:r>
          </a:p>
        </p:txBody>
      </p:sp>
      <p:sp>
        <p:nvSpPr>
          <p:cNvPr id="100192"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AB47BC"/>
          </a:solidFill>
        </p:spPr>
        <p:txBody>
          <a:bodyPr xmlns:a="http://schemas.openxmlformats.org/drawingml/2006/main"/>
          <a:lstStyle xmlns:a="http://schemas.openxmlformats.org/drawingml/2006/main"/>
          <a:p xmlns:a="http://schemas.openxmlformats.org/drawingml/2006/main">
            <a:endParaRPr lang="en-US">
              <a:solidFill>
                <a:srgbClr val="AB47BC"/>
              </a:solidFill>
            </a:endParaRPr>
          </a:p>
        </p:txBody>
      </p:sp>
      <p:graphicFrame>
        <p:nvGraphicFramePr>
          <p:cNvPr id="100193" name="Table 1"/>
          <p:cNvGraphicFramePr/>
          <p:nvPr/>
        </p:nvGraphicFramePr>
        <p:xfrm>
          <a:off xmlns:a="http://schemas.openxmlformats.org/drawingml/2006/main" x="360000" y="1152000"/>
          <a:ext xmlns:a="http://schemas.openxmlformats.org/drawingml/2006/main" cx="11160000" cy="3600000"/>
        </p:xfrm>
        <a:graphic xmlns:a="http://schemas.openxmlformats.org/drawingml/2006/main">
          <a:graphicData uri="http://schemas.openxmlformats.org/drawingml/2006/table">
            <a:tbl>
              <a:tblPr firstRow="1" bandRow="1"/>
              <a:tblGrid>
                <a:gridCol w="2790000"/>
                <a:gridCol w="2790000"/>
                <a:gridCol w="2790000"/>
                <a:gridCol w="2790000"/>
              </a:tblGrid>
              <a:tr h="600000">
                <a:tc>
                  <a:txBody>
                    <a:bodyPr/>
                    <a:lstStyle/>
                    <a:p>
                      <a:r>
                        <a:rPr lang="en-US" sz="1200" b="1">
                          <a:solidFill>
                            <a:srgbClr val="F3E5F5"/>
                          </a:solidFill>
                        </a:rPr>
                        <a:t>Method</a:t>
                      </a:r>
                    </a:p>
                  </a:txBody>
                  <a:tcPr>
                    <a:solidFill>
                      <a:srgbClr val="6A1B9A"/>
                    </a:solidFill>
                  </a:tcPr>
                </a:tc>
                <a:tc>
                  <a:txBody>
                    <a:bodyPr/>
                    <a:lstStyle/>
                    <a:p>
                      <a:r>
                        <a:rPr lang="en-US" sz="1200" b="1">
                          <a:solidFill>
                            <a:srgbClr val="F3E5F5"/>
                          </a:solidFill>
                        </a:rPr>
                        <a:t>Electron Correlation</a:t>
                      </a:r>
                    </a:p>
                  </a:txBody>
                  <a:tcPr>
                    <a:solidFill>
                      <a:srgbClr val="6A1B9A"/>
                    </a:solidFill>
                  </a:tcPr>
                </a:tc>
                <a:tc>
                  <a:txBody>
                    <a:bodyPr/>
                    <a:lstStyle/>
                    <a:p>
                      <a:r>
                        <a:rPr lang="en-US" sz="1200" b="1">
                          <a:solidFill>
                            <a:srgbClr val="F3E5F5"/>
                          </a:solidFill>
                        </a:rPr>
                        <a:t>Scaling</a:t>
                      </a:r>
                    </a:p>
                  </a:txBody>
                  <a:tcPr>
                    <a:solidFill>
                      <a:srgbClr val="6A1B9A"/>
                    </a:solidFill>
                  </a:tcPr>
                </a:tc>
                <a:tc>
                  <a:txBody>
                    <a:bodyPr/>
                    <a:lstStyle/>
                    <a:p>
                      <a:r>
                        <a:rPr lang="en-US" sz="1200" b="1">
                          <a:solidFill>
                            <a:srgbClr val="F3E5F5"/>
                          </a:solidFill>
                        </a:rPr>
                        <a:t>Quantum Connection</a:t>
                      </a:r>
                    </a:p>
                  </a:txBody>
                  <a:tcPr>
                    <a:solidFill>
                      <a:srgbClr val="6A1B9A"/>
                    </a:solidFill>
                  </a:tcPr>
                </a:tc>
              </a:tr>
              <a:tr h="600000">
                <a:tc>
                  <a:txBody>
                    <a:bodyPr/>
                    <a:lstStyle/>
                    <a:p>
                      <a:r>
                        <a:rPr lang="en-US" sz="1200" b="1">
                          <a:solidFill>
                            <a:srgbClr val="E1BEE7"/>
                          </a:solidFill>
                        </a:rPr>
                        <a:t>Hartree-Fock (HF)</a:t>
                      </a:r>
                    </a:p>
                  </a:txBody>
                  <a:tcPr>
                    <a:solidFill>
                      <a:srgbClr val="1A0A2E"/>
                    </a:solidFill>
                  </a:tcPr>
                </a:tc>
                <a:tc>
                  <a:txBody>
                    <a:bodyPr/>
                    <a:lstStyle/>
                    <a:p>
                      <a:r>
                        <a:rPr lang="en-US" sz="1200">
                          <a:solidFill>
                            <a:srgbClr val="F3E5F5"/>
                          </a:solidFill>
                        </a:rPr>
                        <a:t>None (mean-field only)</a:t>
                      </a:r>
                    </a:p>
                  </a:txBody>
                  <a:tcPr>
                    <a:solidFill>
                      <a:srgbClr val="1A0A2E"/>
                    </a:solidFill>
                  </a:tcPr>
                </a:tc>
                <a:tc>
                  <a:txBody>
                    <a:bodyPr/>
                    <a:lstStyle/>
                    <a:p>
                      <a:r>
                        <a:rPr lang="en-US" sz="1200">
                          <a:solidFill>
                            <a:srgbClr val="F3E5F5"/>
                          </a:solidFill>
                        </a:rPr>
                        <a:t>O(N⁴)</a:t>
                      </a:r>
                    </a:p>
                  </a:txBody>
                  <a:tcPr>
                    <a:solidFill>
                      <a:srgbClr val="1A0A2E"/>
                    </a:solidFill>
                  </a:tcPr>
                </a:tc>
                <a:tc>
                  <a:txBody>
                    <a:bodyPr/>
                    <a:lstStyle/>
                    <a:p>
                      <a:r>
                        <a:rPr lang="en-US" sz="1200">
                          <a:solidFill>
                            <a:srgbClr val="F3E5F5"/>
                          </a:solidFill>
                        </a:rPr>
                        <a:t>HF state = initial state for VQE circuits (reference determinant)</a:t>
                      </a:r>
                    </a:p>
                  </a:txBody>
                  <a:tcPr>
                    <a:solidFill>
                      <a:srgbClr val="1A0A2E"/>
                    </a:solidFill>
                  </a:tcPr>
                </a:tc>
              </a:tr>
              <a:tr h="600000">
                <a:tc>
                  <a:txBody>
                    <a:bodyPr/>
                    <a:lstStyle/>
                    <a:p>
                      <a:r>
                        <a:rPr lang="en-US" sz="1200" b="1">
                          <a:solidFill>
                            <a:srgbClr val="E1BEE7"/>
                          </a:solidFill>
                        </a:rPr>
                        <a:t>MP2 / MP3</a:t>
                      </a:r>
                    </a:p>
                  </a:txBody>
                  <a:tcPr>
                    <a:solidFill>
                      <a:srgbClr val="2A1040"/>
                    </a:solidFill>
                  </a:tcPr>
                </a:tc>
                <a:tc>
                  <a:txBody>
                    <a:bodyPr/>
                    <a:lstStyle/>
                    <a:p>
                      <a:r>
                        <a:rPr lang="en-US" sz="1200">
                          <a:solidFill>
                            <a:srgbClr val="F3E5F5"/>
                          </a:solidFill>
                        </a:rPr>
                        <a:t>Partial (2nd order perturbation)</a:t>
                      </a:r>
                    </a:p>
                  </a:txBody>
                  <a:tcPr>
                    <a:solidFill>
                      <a:srgbClr val="2A1040"/>
                    </a:solidFill>
                  </a:tcPr>
                </a:tc>
                <a:tc>
                  <a:txBody>
                    <a:bodyPr/>
                    <a:lstStyle/>
                    <a:p>
                      <a:r>
                        <a:rPr lang="en-US" sz="1200">
                          <a:solidFill>
                            <a:srgbClr val="F3E5F5"/>
                          </a:solidFill>
                        </a:rPr>
                        <a:t>O(N⁵)</a:t>
                      </a:r>
                    </a:p>
                  </a:txBody>
                  <a:tcPr>
                    <a:solidFill>
                      <a:srgbClr val="2A1040"/>
                    </a:solidFill>
                  </a:tcPr>
                </a:tc>
                <a:tc>
                  <a:txBody>
                    <a:bodyPr/>
                    <a:lstStyle/>
                    <a:p>
                      <a:r>
                        <a:rPr lang="en-US" sz="1200">
                          <a:solidFill>
                            <a:srgbClr val="F3E5F5"/>
                          </a:solidFill>
                        </a:rPr>
                        <a:t>Classical benchmark for VQE energies in small molecules</a:t>
                      </a:r>
                    </a:p>
                  </a:txBody>
                  <a:tcPr>
                    <a:solidFill>
                      <a:srgbClr val="2A1040"/>
                    </a:solidFill>
                  </a:tcPr>
                </a:tc>
              </a:tr>
              <a:tr h="600000">
                <a:tc>
                  <a:txBody>
                    <a:bodyPr/>
                    <a:lstStyle/>
                    <a:p>
                      <a:r>
                        <a:rPr lang="en-US" sz="1200" b="1">
                          <a:solidFill>
                            <a:srgbClr val="E1BEE7"/>
                          </a:solidFill>
                        </a:rPr>
                        <a:t>CCSD(T)</a:t>
                      </a:r>
                    </a:p>
                  </a:txBody>
                  <a:tcPr>
                    <a:solidFill>
                      <a:srgbClr val="1A0A2E"/>
                    </a:solidFill>
                  </a:tcPr>
                </a:tc>
                <a:tc>
                  <a:txBody>
                    <a:bodyPr/>
                    <a:lstStyle/>
                    <a:p>
                      <a:r>
                        <a:rPr lang="en-US" sz="1200">
                          <a:solidFill>
                            <a:srgbClr val="F3E5F5"/>
                          </a:solidFill>
                        </a:rPr>
                        <a:t>High — singles, doubles, perturbative triples</a:t>
                      </a:r>
                    </a:p>
                  </a:txBody>
                  <a:tcPr>
                    <a:solidFill>
                      <a:srgbClr val="1A0A2E"/>
                    </a:solidFill>
                  </a:tcPr>
                </a:tc>
                <a:tc>
                  <a:txBody>
                    <a:bodyPr/>
                    <a:lstStyle/>
                    <a:p>
                      <a:r>
                        <a:rPr lang="en-US" sz="1200">
                          <a:solidFill>
                            <a:srgbClr val="F3E5F5"/>
                          </a:solidFill>
                        </a:rPr>
                        <a:t>O(N⁷)</a:t>
                      </a:r>
                    </a:p>
                  </a:txBody>
                  <a:tcPr>
                    <a:solidFill>
                      <a:srgbClr val="1A0A2E"/>
                    </a:solidFill>
                  </a:tcPr>
                </a:tc>
                <a:tc>
                  <a:txBody>
                    <a:bodyPr/>
                    <a:lstStyle/>
                    <a:p>
                      <a:r>
                        <a:rPr lang="en-US" sz="1200">
                          <a:solidFill>
                            <a:srgbClr val="F3E5F5"/>
                          </a:solidFill>
                        </a:rPr>
                        <a:t>Gold standard — target for VQE/QITE on larger molecules</a:t>
                      </a:r>
                    </a:p>
                  </a:txBody>
                  <a:tcPr>
                    <a:solidFill>
                      <a:srgbClr val="1A0A2E"/>
                    </a:solidFill>
                  </a:tcPr>
                </a:tc>
              </a:tr>
              <a:tr h="600000">
                <a:tc>
                  <a:txBody>
                    <a:bodyPr/>
                    <a:lstStyle/>
                    <a:p>
                      <a:r>
                        <a:rPr lang="en-US" sz="1200" b="1">
                          <a:solidFill>
                            <a:srgbClr val="E1BEE7"/>
                          </a:solidFill>
                        </a:rPr>
                        <a:t>FCI (Full CI)</a:t>
                      </a:r>
                    </a:p>
                  </a:txBody>
                  <a:tcPr>
                    <a:solidFill>
                      <a:srgbClr val="2A1040"/>
                    </a:solidFill>
                  </a:tcPr>
                </a:tc>
                <a:tc>
                  <a:txBody>
                    <a:bodyPr/>
                    <a:lstStyle/>
                    <a:p>
                      <a:r>
                        <a:rPr lang="en-US" sz="1200">
                          <a:solidFill>
                            <a:srgbClr val="F3E5F5"/>
                          </a:solidFill>
                        </a:rPr>
                        <a:t>Exact (all configurations)</a:t>
                      </a:r>
                    </a:p>
                  </a:txBody>
                  <a:tcPr>
                    <a:solidFill>
                      <a:srgbClr val="2A1040"/>
                    </a:solidFill>
                  </a:tcPr>
                </a:tc>
                <a:tc>
                  <a:txBody>
                    <a:bodyPr/>
                    <a:lstStyle/>
                    <a:p>
                      <a:r>
                        <a:rPr lang="en-US" sz="1200">
                          <a:solidFill>
                            <a:srgbClr val="F3E5F5"/>
                          </a:solidFill>
                        </a:rPr>
                        <a:t>O(N!)  exponential</a:t>
                      </a:r>
                    </a:p>
                  </a:txBody>
                  <a:tcPr>
                    <a:solidFill>
                      <a:srgbClr val="2A1040"/>
                    </a:solidFill>
                  </a:tcPr>
                </a:tc>
                <a:tc>
                  <a:txBody>
                    <a:bodyPr/>
                    <a:lstStyle/>
                    <a:p>
                      <a:r>
                        <a:rPr lang="en-US" sz="1200">
                          <a:solidFill>
                            <a:srgbClr val="F3E5F5"/>
                          </a:solidFill>
                        </a:rPr>
                        <a:t>Quantum hardware targets exact solution at polynomial cost</a:t>
                      </a:r>
                    </a:p>
                  </a:txBody>
                  <a:tcPr>
                    <a:solidFill>
                      <a:srgbClr val="2A1040"/>
                    </a:solidFill>
                  </a:tcPr>
                </a:tc>
              </a:tr>
              <a:tr h="600000">
                <a:tc>
                  <a:txBody>
                    <a:bodyPr/>
                    <a:lstStyle/>
                    <a:p>
                      <a:r>
                        <a:rPr lang="en-US" sz="1200" b="1">
                          <a:solidFill>
                            <a:srgbClr val="E1BEE7"/>
                          </a:solidFill>
                        </a:rPr>
                        <a:t>DFT / B3LYP</a:t>
                      </a:r>
                    </a:p>
                  </a:txBody>
                  <a:tcPr>
                    <a:solidFill>
                      <a:srgbClr val="1A0A2E"/>
                    </a:solidFill>
                  </a:tcPr>
                </a:tc>
                <a:tc>
                  <a:txBody>
                    <a:bodyPr/>
                    <a:lstStyle/>
                    <a:p>
                      <a:r>
                        <a:rPr lang="en-US" sz="1200">
                          <a:solidFill>
                            <a:srgbClr val="F3E5F5"/>
                          </a:solidFill>
                        </a:rPr>
                        <a:t>Approximate (exchange-correlation functional)</a:t>
                      </a:r>
                    </a:p>
                  </a:txBody>
                  <a:tcPr>
                    <a:solidFill>
                      <a:srgbClr val="1A0A2E"/>
                    </a:solidFill>
                  </a:tcPr>
                </a:tc>
                <a:tc>
                  <a:txBody>
                    <a:bodyPr/>
                    <a:lstStyle/>
                    <a:p>
                      <a:r>
                        <a:rPr lang="en-US" sz="1200">
                          <a:solidFill>
                            <a:srgbClr val="F3E5F5"/>
                          </a:solidFill>
                        </a:rPr>
                        <a:t>O(N³)</a:t>
                      </a:r>
                    </a:p>
                  </a:txBody>
                  <a:tcPr>
                    <a:solidFill>
                      <a:srgbClr val="1A0A2E"/>
                    </a:solidFill>
                  </a:tcPr>
                </a:tc>
                <a:tc>
                  <a:txBody>
                    <a:bodyPr/>
                    <a:lstStyle/>
                    <a:p>
                      <a:r>
                        <a:rPr lang="en-US" sz="1200">
                          <a:solidFill>
                            <a:srgbClr val="F3E5F5"/>
                          </a:solidFill>
                        </a:rPr>
                        <a:t>Quantum-enhanced DFT under research (exchange correlation via QC)</a:t>
                      </a:r>
                    </a:p>
                  </a:txBody>
                  <a:tcPr>
                    <a:solidFill>
                      <a:srgbClr val="1A0A2E"/>
                    </a:solidFill>
                  </a:tcPr>
                </a:tc>
              </a:tr>
            </a:tbl>
          </a:graphicData>
        </a:graphic>
      </p:graphicFrame>
      <p:sp>
        <p:nvSpPr>
          <p:cNvPr id="100194" name="TextBox 4"/>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CE93D8"/>
                </a:solidFill>
              </a:rPr>
              <a:t>33 / 65  |  MODULE 3: QUANTUM CHEMISTRY</a:t>
            </a:r>
          </a:p>
        </p:txBody>
      </p:sp>
      <p:sp>
        <p:nvSpPr>
          <p:cNvPr id="100195" name="TextBox 5"/>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CE93D8"/>
                </a:solidFill>
              </a:rPr>
              <a:t>QFF26 Lecture Series — Quantum Computing Basics  |  qff26.org</a:t>
            </a:r>
          </a:p>
        </p:txBody>
      </p:sp>
    </p:spTree>
  </p:cSld>
</p:sld>
</file>

<file path=ppt/slides/slide30.xml><?xml version="1.0" encoding="utf-8"?>
<p:sld xmlns:p="http://schemas.openxmlformats.org/presentationml/2006/main">
  <p:cSld>
    <p:spTree>
      <p:nvGrpSpPr>
        <p:cNvPr id="1" name=""/>
        <p:cNvGrpSpPr/>
        <p:nvPr/>
      </p:nvGrpSpPr>
      <p:grpSpPr/>
      <p:sp>
        <p:nvSpPr>
          <p:cNvPr id="100196" name="TextBox 1"/>
          <p:cNvSpPr txBox="1"/>
          <p:nvPr/>
        </p:nvSpPr>
        <p:spPr>
          <a:xfrm xmlns:a="http://schemas.openxmlformats.org/drawingml/2006/main">
            <a:off x="180000" y="198000"/>
            <a:ext cx="1980000" cy="198000"/>
          </a:xfrm>
          <a:prstGeom xmlns:a="http://schemas.openxmlformats.org/drawingml/2006/main" prst="rect">
            <a:avLst/>
          </a:prstGeom>
          <a:solidFill xmlns:a="http://schemas.openxmlformats.org/drawingml/2006/main">
            <a:srgbClr val="6A1B9A"/>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QUANTUM CHEMISTRY</a:t>
            </a:r>
          </a:p>
        </p:txBody>
      </p:sp>
      <p:sp>
        <p:nvSpPr>
          <p:cNvPr id="100197"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F3E5F5"/>
                </a:solidFill>
              </a:rPr>
              <a:t>Second Quantization: Fermionic Creation &amp; Annihilation Operators</a:t>
            </a:r>
          </a:p>
        </p:txBody>
      </p:sp>
      <p:sp>
        <p:nvSpPr>
          <p:cNvPr id="100198"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AB47BC"/>
          </a:solidFill>
        </p:spPr>
        <p:txBody>
          <a:bodyPr xmlns:a="http://schemas.openxmlformats.org/drawingml/2006/main"/>
          <a:lstStyle xmlns:a="http://schemas.openxmlformats.org/drawingml/2006/main"/>
          <a:p xmlns:a="http://schemas.openxmlformats.org/drawingml/2006/main">
            <a:endParaRPr lang="en-US">
              <a:solidFill>
                <a:srgbClr val="AB47BC"/>
              </a:solidFill>
            </a:endParaRPr>
          </a:p>
        </p:txBody>
      </p:sp>
      <p:sp>
        <p:nvSpPr>
          <p:cNvPr id="100199"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F3E5F5"/>
                </a:solidFill>
              </a:rPr>
              <a:t>Why Second Quantization?</a:t>
            </a:r>
          </a:p>
          <a:p xmlns:a="http://schemas.openxmlformats.org/drawingml/2006/main">
            <a:pPr algn="l"/>
            <a:r>
              <a:rPr lang="en-US">
                <a:solidFill>
                  <a:srgbClr val="F3E5F5"/>
                </a:solidFill>
              </a:rPr>
              <a:t/>
            </a:r>
          </a:p>
          <a:p xmlns:a="http://schemas.openxmlformats.org/drawingml/2006/main">
            <a:pPr algn="l"/>
            <a:r>
              <a:rPr lang="en-US">
                <a:solidFill>
                  <a:srgbClr val="F3E5F5"/>
                </a:solidFill>
              </a:rPr>
              <a:t>First Quantization: wavefunction ψ(r₁,...,rₙ) — explicit antisymmetry via Slater determinants</a:t>
            </a:r>
          </a:p>
          <a:p xmlns:a="http://schemas.openxmlformats.org/drawingml/2006/main">
            <a:pPr algn="l"/>
            <a:r>
              <a:rPr lang="en-US">
                <a:solidFill>
                  <a:srgbClr val="F3E5F5"/>
                </a:solidFill>
              </a:rPr>
              <a:t>Second Quantization: operators act on occupation number states |n₁,n₂,...,nₖ⟩</a:t>
            </a:r>
          </a:p>
          <a:p xmlns:a="http://schemas.openxmlformats.org/drawingml/2006/main">
            <a:pPr algn="l"/>
            <a:r>
              <a:rPr lang="en-US">
                <a:solidFill>
                  <a:srgbClr val="F3E5F5"/>
                </a:solidFill>
              </a:rPr>
              <a:t>  nᵢ = 0 (spin-orbital empty) or 1 (occupied)  — natural qubit mapping!</a:t>
            </a:r>
          </a:p>
          <a:p xmlns:a="http://schemas.openxmlformats.org/drawingml/2006/main">
            <a:pPr algn="l"/>
            <a:r>
              <a:rPr lang="en-US">
                <a:solidFill>
                  <a:srgbClr val="F3E5F5"/>
                </a:solidFill>
              </a:rPr>
              <a:t/>
            </a:r>
          </a:p>
          <a:p xmlns:a="http://schemas.openxmlformats.org/drawingml/2006/main">
            <a:pPr algn="l"/>
            <a:r>
              <a:rPr lang="en-US">
                <a:solidFill>
                  <a:srgbClr val="F3E5F5"/>
                </a:solidFill>
              </a:rPr>
              <a:t>Fermionic Operators:</a:t>
            </a:r>
          </a:p>
          <a:p xmlns:a="http://schemas.openxmlformats.org/drawingml/2006/main">
            <a:pPr algn="l"/>
            <a:r>
              <a:rPr lang="en-US">
                <a:solidFill>
                  <a:srgbClr val="F3E5F5"/>
                </a:solidFill>
              </a:rPr>
              <a:t>  â†ₚ = creation operator: adds electron to spin-orbital p</a:t>
            </a:r>
          </a:p>
          <a:p xmlns:a="http://schemas.openxmlformats.org/drawingml/2006/main">
            <a:pPr algn="l"/>
            <a:r>
              <a:rPr lang="en-US">
                <a:solidFill>
                  <a:srgbClr val="F3E5F5"/>
                </a:solidFill>
              </a:rPr>
              <a:t>  âₚ  = annihilation operator: removes electron from spin-orbital p</a:t>
            </a:r>
          </a:p>
          <a:p xmlns:a="http://schemas.openxmlformats.org/drawingml/2006/main">
            <a:pPr algn="l"/>
            <a:r>
              <a:rPr lang="en-US">
                <a:solidFill>
                  <a:srgbClr val="F3E5F5"/>
                </a:solidFill>
              </a:rPr>
              <a:t/>
            </a:r>
          </a:p>
          <a:p xmlns:a="http://schemas.openxmlformats.org/drawingml/2006/main">
            <a:pPr algn="l"/>
            <a:r>
              <a:rPr lang="en-US">
                <a:solidFill>
                  <a:srgbClr val="F3E5F5"/>
                </a:solidFill>
              </a:rPr>
              <a:t>Anticommutation Relations (enforce Pauli exclusion):</a:t>
            </a:r>
          </a:p>
          <a:p xmlns:a="http://schemas.openxmlformats.org/drawingml/2006/main">
            <a:pPr algn="l"/>
            <a:r>
              <a:rPr lang="en-US">
                <a:solidFill>
                  <a:srgbClr val="F3E5F5"/>
                </a:solidFill>
              </a:rPr>
              <a:t>  {âₚ, â†_q} = δₚ_q     (anticommutator = delta function)</a:t>
            </a:r>
          </a:p>
          <a:p xmlns:a="http://schemas.openxmlformats.org/drawingml/2006/main">
            <a:pPr algn="l"/>
            <a:r>
              <a:rPr lang="en-US">
                <a:solidFill>
                  <a:srgbClr val="F3E5F5"/>
                </a:solidFill>
              </a:rPr>
              <a:t>  {âₚ, â_q} = 0          (cannot destroy two particles in same orbital)</a:t>
            </a:r>
          </a:p>
          <a:p xmlns:a="http://schemas.openxmlformats.org/drawingml/2006/main">
            <a:pPr algn="l"/>
            <a:r>
              <a:rPr lang="en-US">
                <a:solidFill>
                  <a:srgbClr val="F3E5F5"/>
                </a:solidFill>
              </a:rPr>
              <a:t>  {â†ₚ, â†_q} = 0        (cannot create two particles in same orbital)</a:t>
            </a:r>
          </a:p>
          <a:p xmlns:a="http://schemas.openxmlformats.org/drawingml/2006/main">
            <a:pPr algn="l"/>
            <a:r>
              <a:rPr lang="en-US">
                <a:solidFill>
                  <a:srgbClr val="F3E5F5"/>
                </a:solidFill>
              </a:rPr>
              <a:t/>
            </a:r>
          </a:p>
          <a:p xmlns:a="http://schemas.openxmlformats.org/drawingml/2006/main">
            <a:pPr algn="l"/>
            <a:r>
              <a:rPr lang="en-US">
                <a:solidFill>
                  <a:srgbClr val="F3E5F5"/>
                </a:solidFill>
              </a:rPr>
              <a:t>Electronic Hamiltonian in Second Quantization:</a:t>
            </a:r>
          </a:p>
          <a:p xmlns:a="http://schemas.openxmlformats.org/drawingml/2006/main">
            <a:pPr algn="l"/>
            <a:r>
              <a:rPr lang="en-US">
                <a:solidFill>
                  <a:srgbClr val="F3E5F5"/>
                </a:solidFill>
              </a:rPr>
              <a:t>  Ĥ = Σₚ_q hₚ_q â†ₚ â_q + ½ Σₚ_q_r_s gₚ_q_r_s â†ₚ â†_q â_r â_s</a:t>
            </a:r>
          </a:p>
          <a:p xmlns:a="http://schemas.openxmlformats.org/drawingml/2006/main">
            <a:pPr algn="l"/>
            <a:r>
              <a:rPr lang="en-US">
                <a:solidFill>
                  <a:srgbClr val="F3E5F5"/>
                </a:solidFill>
              </a:rPr>
              <a:t>  hₚ_q = one-electron integrals (kinetic + nuclear attraction)</a:t>
            </a:r>
          </a:p>
          <a:p xmlns:a="http://schemas.openxmlformats.org/drawingml/2006/main">
            <a:pPr algn="l"/>
            <a:r>
              <a:rPr lang="en-US">
                <a:solidFill>
                  <a:srgbClr val="F3E5F5"/>
                </a:solidFill>
              </a:rPr>
              <a:t>  gₚ_q_r_s = two-electron integrals (electron-electron repulsion)</a:t>
            </a:r>
          </a:p>
          <a:p xmlns:a="http://schemas.openxmlformats.org/drawingml/2006/main">
            <a:pPr algn="l"/>
            <a:r>
              <a:rPr lang="en-US">
                <a:solidFill>
                  <a:srgbClr val="F3E5F5"/>
                </a:solidFill>
              </a:rPr>
              <a:t>  Integrals computed classically with PySCF, OpenFermion, or Qiskit Nature</a:t>
            </a:r>
          </a:p>
        </p:txBody>
      </p:sp>
      <p:sp>
        <p:nvSpPr>
          <p:cNvPr id="100200"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CE93D8"/>
                </a:solidFill>
              </a:rPr>
              <a:t>34 / 65  |  MODULE 3: QUANTUM CHEMISTRY</a:t>
            </a:r>
          </a:p>
        </p:txBody>
      </p:sp>
      <p:sp>
        <p:nvSpPr>
          <p:cNvPr id="100201"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CE93D8"/>
                </a:solidFill>
              </a:rPr>
              <a:t>QFF26 Lecture Series — Quantum Computing Basics  |  qff26.org</a:t>
            </a:r>
          </a:p>
        </p:txBody>
      </p:sp>
    </p:spTree>
  </p:cSld>
</p:sld>
</file>

<file path=ppt/slides/slide31.xml><?xml version="1.0" encoding="utf-8"?>
<p:sld xmlns:p="http://schemas.openxmlformats.org/presentationml/2006/main">
  <p:cSld>
    <p:spTree>
      <p:nvGrpSpPr>
        <p:cNvPr id="1" name=""/>
        <p:cNvGrpSpPr/>
        <p:nvPr/>
      </p:nvGrpSpPr>
      <p:grpSpPr/>
      <p:sp>
        <p:nvSpPr>
          <p:cNvPr id="100202" name="TextBox 1"/>
          <p:cNvSpPr txBox="1"/>
          <p:nvPr/>
        </p:nvSpPr>
        <p:spPr>
          <a:xfrm xmlns:a="http://schemas.openxmlformats.org/drawingml/2006/main">
            <a:off x="180000" y="198000"/>
            <a:ext cx="1980000" cy="198000"/>
          </a:xfrm>
          <a:prstGeom xmlns:a="http://schemas.openxmlformats.org/drawingml/2006/main" prst="rect">
            <a:avLst/>
          </a:prstGeom>
          <a:solidFill xmlns:a="http://schemas.openxmlformats.org/drawingml/2006/main">
            <a:srgbClr val="6A1B9A"/>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QUANTUM CHEMISTRY</a:t>
            </a:r>
          </a:p>
        </p:txBody>
      </p:sp>
      <p:sp>
        <p:nvSpPr>
          <p:cNvPr id="100203"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F3E5F5"/>
                </a:solidFill>
              </a:rPr>
              <a:t>Jordan-Wigner &amp; Bravyi-Kitaev Transformations</a:t>
            </a:r>
          </a:p>
        </p:txBody>
      </p:sp>
      <p:sp>
        <p:nvSpPr>
          <p:cNvPr id="100204"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AB47BC"/>
          </a:solidFill>
        </p:spPr>
        <p:txBody>
          <a:bodyPr xmlns:a="http://schemas.openxmlformats.org/drawingml/2006/main"/>
          <a:lstStyle xmlns:a="http://schemas.openxmlformats.org/drawingml/2006/main"/>
          <a:p xmlns:a="http://schemas.openxmlformats.org/drawingml/2006/main">
            <a:endParaRPr lang="en-US">
              <a:solidFill>
                <a:srgbClr val="AB47BC"/>
              </a:solidFill>
            </a:endParaRPr>
          </a:p>
        </p:txBody>
      </p:sp>
      <p:graphicFrame>
        <p:nvGraphicFramePr>
          <p:cNvPr id="100205" name="Table 1"/>
          <p:cNvGraphicFramePr/>
          <p:nvPr/>
        </p:nvGraphicFramePr>
        <p:xfrm>
          <a:off xmlns:a="http://schemas.openxmlformats.org/drawingml/2006/main" x="360000" y="1152000"/>
          <a:ext xmlns:a="http://schemas.openxmlformats.org/drawingml/2006/main" cx="11160000" cy="2880000"/>
        </p:xfrm>
        <a:graphic xmlns:a="http://schemas.openxmlformats.org/drawingml/2006/main">
          <a:graphicData uri="http://schemas.openxmlformats.org/drawingml/2006/table">
            <a:tbl>
              <a:tblPr firstRow="1" bandRow="1"/>
              <a:tblGrid>
                <a:gridCol w="3720000"/>
                <a:gridCol w="3720000"/>
                <a:gridCol w="3720000"/>
              </a:tblGrid>
              <a:tr h="576000">
                <a:tc>
                  <a:txBody>
                    <a:bodyPr/>
                    <a:lstStyle/>
                    <a:p>
                      <a:r>
                        <a:rPr lang="en-US" sz="1200" b="1">
                          <a:solidFill>
                            <a:srgbClr val="F3E5F5"/>
                          </a:solidFill>
                        </a:rPr>
                        <a:t>Property</a:t>
                      </a:r>
                    </a:p>
                  </a:txBody>
                  <a:tcPr>
                    <a:solidFill>
                      <a:srgbClr val="6A1B9A"/>
                    </a:solidFill>
                  </a:tcPr>
                </a:tc>
                <a:tc>
                  <a:txBody>
                    <a:bodyPr/>
                    <a:lstStyle/>
                    <a:p>
                      <a:r>
                        <a:rPr lang="en-US" sz="1200" b="1">
                          <a:solidFill>
                            <a:srgbClr val="F3E5F5"/>
                          </a:solidFill>
                        </a:rPr>
                        <a:t>Jordan-Wigner (JW)</a:t>
                      </a:r>
                    </a:p>
                  </a:txBody>
                  <a:tcPr>
                    <a:solidFill>
                      <a:srgbClr val="6A1B9A"/>
                    </a:solidFill>
                  </a:tcPr>
                </a:tc>
                <a:tc>
                  <a:txBody>
                    <a:bodyPr/>
                    <a:lstStyle/>
                    <a:p>
                      <a:r>
                        <a:rPr lang="en-US" sz="1200" b="1">
                          <a:solidFill>
                            <a:srgbClr val="F3E5F5"/>
                          </a:solidFill>
                        </a:rPr>
                        <a:t>Bravyi-Kitaev (BK)</a:t>
                      </a:r>
                    </a:p>
                  </a:txBody>
                  <a:tcPr>
                    <a:solidFill>
                      <a:srgbClr val="6A1B9A"/>
                    </a:solidFill>
                  </a:tcPr>
                </a:tc>
              </a:tr>
              <a:tr h="576000">
                <a:tc>
                  <a:txBody>
                    <a:bodyPr/>
                    <a:lstStyle/>
                    <a:p>
                      <a:r>
                        <a:rPr lang="en-US" sz="1200" b="1">
                          <a:solidFill>
                            <a:srgbClr val="E1BEE7"/>
                          </a:solidFill>
                        </a:rPr>
                        <a:t>Encoding</a:t>
                      </a:r>
                    </a:p>
                  </a:txBody>
                  <a:tcPr>
                    <a:solidFill>
                      <a:srgbClr val="1A0A2E"/>
                    </a:solidFill>
                  </a:tcPr>
                </a:tc>
                <a:tc>
                  <a:txBody>
                    <a:bodyPr/>
                    <a:lstStyle/>
                    <a:p>
                      <a:r>
                        <a:rPr lang="en-US" sz="1200">
                          <a:solidFill>
                            <a:srgbClr val="F3E5F5"/>
                          </a:solidFill>
                        </a:rPr>
                        <a:t>1 spin-orbital = 1 qubit (occupation basis)</a:t>
                      </a:r>
                    </a:p>
                  </a:txBody>
                  <a:tcPr>
                    <a:solidFill>
                      <a:srgbClr val="1A0A2E"/>
                    </a:solidFill>
                  </a:tcPr>
                </a:tc>
                <a:tc>
                  <a:txBody>
                    <a:bodyPr/>
                    <a:lstStyle/>
                    <a:p>
                      <a:r>
                        <a:rPr lang="en-US" sz="1200">
                          <a:solidFill>
                            <a:srgbClr val="F3E5F5"/>
                          </a:solidFill>
                        </a:rPr>
                        <a:t>Mixed parity/occupation encoding</a:t>
                      </a:r>
                    </a:p>
                  </a:txBody>
                  <a:tcPr>
                    <a:solidFill>
                      <a:srgbClr val="1A0A2E"/>
                    </a:solidFill>
                  </a:tcPr>
                </a:tc>
              </a:tr>
              <a:tr h="576000">
                <a:tc>
                  <a:txBody>
                    <a:bodyPr/>
                    <a:lstStyle/>
                    <a:p>
                      <a:r>
                        <a:rPr lang="en-US" sz="1200" b="1">
                          <a:solidFill>
                            <a:srgbClr val="E1BEE7"/>
                          </a:solidFill>
                        </a:rPr>
                        <a:t>Creation op â†_p</a:t>
                      </a:r>
                    </a:p>
                  </a:txBody>
                  <a:tcPr>
                    <a:solidFill>
                      <a:srgbClr val="2A1040"/>
                    </a:solidFill>
                  </a:tcPr>
                </a:tc>
                <a:tc>
                  <a:txBody>
                    <a:bodyPr/>
                    <a:lstStyle/>
                    <a:p>
                      <a:r>
                        <a:rPr lang="en-US" sz="1200">
                          <a:solidFill>
                            <a:srgbClr val="F3E5F5"/>
                          </a:solidFill>
                        </a:rPr>
                        <a:t>â†_p = (Z⊗...⊗Z)_{0..p-1} ⊗ X⊗Y_{p} / 2</a:t>
                      </a:r>
                    </a:p>
                  </a:txBody>
                  <a:tcPr>
                    <a:solidFill>
                      <a:srgbClr val="2A1040"/>
                    </a:solidFill>
                  </a:tcPr>
                </a:tc>
                <a:tc>
                  <a:txBody>
                    <a:bodyPr/>
                    <a:lstStyle/>
                    <a:p>
                      <a:r>
                        <a:rPr lang="en-US" sz="1200">
                          <a:solidFill>
                            <a:srgbClr val="F3E5F5"/>
                          </a:solidFill>
                        </a:rPr>
                        <a:t>O(log N) Pauli terms via recursive tree structure</a:t>
                      </a:r>
                    </a:p>
                  </a:txBody>
                  <a:tcPr>
                    <a:solidFill>
                      <a:srgbClr val="2A1040"/>
                    </a:solidFill>
                  </a:tcPr>
                </a:tc>
              </a:tr>
              <a:tr h="576000">
                <a:tc>
                  <a:txBody>
                    <a:bodyPr/>
                    <a:lstStyle/>
                    <a:p>
                      <a:r>
                        <a:rPr lang="en-US" sz="1200" b="1">
                          <a:solidFill>
                            <a:srgbClr val="E1BEE7"/>
                          </a:solidFill>
                        </a:rPr>
                        <a:t>Pauli terms per term</a:t>
                      </a:r>
                    </a:p>
                  </a:txBody>
                  <a:tcPr>
                    <a:solidFill>
                      <a:srgbClr val="1A0A2E"/>
                    </a:solidFill>
                  </a:tcPr>
                </a:tc>
                <a:tc>
                  <a:txBody>
                    <a:bodyPr/>
                    <a:lstStyle/>
                    <a:p>
                      <a:r>
                        <a:rPr lang="en-US" sz="1200">
                          <a:solidFill>
                            <a:srgbClr val="F3E5F5"/>
                          </a:solidFill>
                        </a:rPr>
                        <a:t>O(N) — grows with system size</a:t>
                      </a:r>
                    </a:p>
                  </a:txBody>
                  <a:tcPr>
                    <a:solidFill>
                      <a:srgbClr val="1A0A2E"/>
                    </a:solidFill>
                  </a:tcPr>
                </a:tc>
                <a:tc>
                  <a:txBody>
                    <a:bodyPr/>
                    <a:lstStyle/>
                    <a:p>
                      <a:r>
                        <a:rPr lang="en-US" sz="1200">
                          <a:solidFill>
                            <a:srgbClr val="F3E5F5"/>
                          </a:solidFill>
                        </a:rPr>
                        <a:t>O(log N) — fewer Pauli Z strings needed</a:t>
                      </a:r>
                    </a:p>
                  </a:txBody>
                  <a:tcPr>
                    <a:solidFill>
                      <a:srgbClr val="1A0A2E"/>
                    </a:solidFill>
                  </a:tcPr>
                </a:tc>
              </a:tr>
              <a:tr h="576000">
                <a:tc>
                  <a:txBody>
                    <a:bodyPr/>
                    <a:lstStyle/>
                    <a:p>
                      <a:r>
                        <a:rPr lang="en-US" sz="1200" b="1">
                          <a:solidFill>
                            <a:srgbClr val="E1BEE7"/>
                          </a:solidFill>
                        </a:rPr>
                        <a:t>Best for</a:t>
                      </a:r>
                    </a:p>
                  </a:txBody>
                  <a:tcPr>
                    <a:solidFill>
                      <a:srgbClr val="2A1040"/>
                    </a:solidFill>
                  </a:tcPr>
                </a:tc>
                <a:tc>
                  <a:txBody>
                    <a:bodyPr/>
                    <a:lstStyle/>
                    <a:p>
                      <a:r>
                        <a:rPr lang="en-US" sz="1200">
                          <a:solidFill>
                            <a:srgbClr val="F3E5F5"/>
                          </a:solidFill>
                        </a:rPr>
                        <a:t>Simple implementation, small molecules</a:t>
                      </a:r>
                    </a:p>
                  </a:txBody>
                  <a:tcPr>
                    <a:solidFill>
                      <a:srgbClr val="2A1040"/>
                    </a:solidFill>
                  </a:tcPr>
                </a:tc>
                <a:tc>
                  <a:txBody>
                    <a:bodyPr/>
                    <a:lstStyle/>
                    <a:p>
                      <a:r>
                        <a:rPr lang="en-US" sz="1200">
                          <a:solidFill>
                            <a:srgbClr val="F3E5F5"/>
                          </a:solidFill>
                        </a:rPr>
                        <a:t>Scalable systems, NISQ devices with limited connectivity</a:t>
                      </a:r>
                    </a:p>
                  </a:txBody>
                  <a:tcPr>
                    <a:solidFill>
                      <a:srgbClr val="2A1040"/>
                    </a:solidFill>
                  </a:tcPr>
                </a:tc>
              </a:tr>
            </a:tbl>
          </a:graphicData>
        </a:graphic>
      </p:graphicFrame>
      <p:sp>
        <p:nvSpPr>
          <p:cNvPr id="100206" name="TextBox 4"/>
          <p:cNvSpPr txBox="1"/>
          <p:nvPr/>
        </p:nvSpPr>
        <p:spPr>
          <a:xfrm xmlns:a="http://schemas.openxmlformats.org/drawingml/2006/main">
            <a:off x="360000" y="4140000"/>
            <a:ext cx="11160000" cy="1980000"/>
          </a:xfrm>
          <a:prstGeom xmlns:a="http://schemas.openxmlformats.org/drawingml/2006/main" prst="rect">
            <a:avLst/>
          </a:prstGeom>
          <a:solidFill xmlns:a="http://schemas.openxmlformats.org/drawingml/2006/main">
            <a:srgbClr val="1A0A2E"/>
          </a:solidFill>
        </p:spPr>
        <p:txBody>
          <a:bodyPr xmlns:a="http://schemas.openxmlformats.org/drawingml/2006/main"/>
          <a:lstStyle xmlns:a="http://schemas.openxmlformats.org/drawingml/2006/main"/>
          <a:p xmlns:a="http://schemas.openxmlformats.org/drawingml/2006/main">
            <a:pPr algn="l"/>
            <a:r>
              <a:rPr lang="en-US">
                <a:solidFill>
                  <a:srgbClr val="CE93D8"/>
                </a:solidFill>
              </a:rPr>
              <a:t>Jordan-Wigner Mapping Example (H₂ molecule, STO-3G basis, 4 spin-orbitals → 4 qubits):</a:t>
            </a:r>
          </a:p>
          <a:p xmlns:a="http://schemas.openxmlformats.org/drawingml/2006/main">
            <a:pPr algn="l"/>
            <a:r>
              <a:rPr lang="en-US">
                <a:solidFill>
                  <a:srgbClr val="CE93D8"/>
                </a:solidFill>
              </a:rPr>
              <a:t/>
            </a:r>
          </a:p>
          <a:p xmlns:a="http://schemas.openxmlformats.org/drawingml/2006/main">
            <a:pPr algn="l"/>
            <a:r>
              <a:rPr lang="en-US">
                <a:solidFill>
                  <a:srgbClr val="CE93D8"/>
                </a:solidFill>
              </a:rPr>
              <a:t>  â†₀ = (1/2)(X⊗I⊗I⊗I - iY⊗I⊗I⊗I)</a:t>
            </a:r>
          </a:p>
          <a:p xmlns:a="http://schemas.openxmlformats.org/drawingml/2006/main">
            <a:pPr algn="l"/>
            <a:r>
              <a:rPr lang="en-US">
                <a:solidFill>
                  <a:srgbClr val="CE93D8"/>
                </a:solidFill>
              </a:rPr>
              <a:t>  â†₁ = (1/2)(Z⊗X⊗I⊗I - iZ⊗Y⊗I⊗I)</a:t>
            </a:r>
          </a:p>
          <a:p xmlns:a="http://schemas.openxmlformats.org/drawingml/2006/main">
            <a:pPr algn="l"/>
            <a:r>
              <a:rPr lang="en-US">
                <a:solidFill>
                  <a:srgbClr val="CE93D8"/>
                </a:solidFill>
              </a:rPr>
              <a:t>  â†₂ = (1/2)(Z⊗Z⊗X⊗I - iZ⊗Z⊗Y⊗I)</a:t>
            </a:r>
          </a:p>
          <a:p xmlns:a="http://schemas.openxmlformats.org/drawingml/2006/main">
            <a:pPr algn="l"/>
            <a:r>
              <a:rPr lang="en-US">
                <a:solidFill>
                  <a:srgbClr val="CE93D8"/>
                </a:solidFill>
              </a:rPr>
              <a:t>  â†₃ = (1/2)(Z⊗Z⊗Z⊗X - iZ⊗Z⊗Z⊗Y)</a:t>
            </a:r>
          </a:p>
          <a:p xmlns:a="http://schemas.openxmlformats.org/drawingml/2006/main">
            <a:pPr algn="l"/>
            <a:r>
              <a:rPr lang="en-US">
                <a:solidFill>
                  <a:srgbClr val="CE93D8"/>
                </a:solidFill>
              </a:rPr>
              <a:t/>
            </a:r>
          </a:p>
          <a:p xmlns:a="http://schemas.openxmlformats.org/drawingml/2006/main">
            <a:pPr algn="l"/>
            <a:r>
              <a:rPr lang="en-US">
                <a:solidFill>
                  <a:srgbClr val="CE93D8"/>
                </a:solidFill>
              </a:rPr>
              <a:t>Resulting Hamiltonian: sum of ~15 Pauli strings (X,Y,Z,I tensor products)</a:t>
            </a:r>
          </a:p>
          <a:p xmlns:a="http://schemas.openxmlformats.org/drawingml/2006/main">
            <a:pPr algn="l"/>
            <a:r>
              <a:rPr lang="en-US">
                <a:solidFill>
                  <a:srgbClr val="CE93D8"/>
                </a:solidFill>
              </a:rPr>
              <a:t>Measured separately → expectation value summed classically → energy estimate</a:t>
            </a:r>
          </a:p>
        </p:txBody>
      </p:sp>
      <p:sp>
        <p:nvSpPr>
          <p:cNvPr id="100207"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CE93D8"/>
                </a:solidFill>
              </a:rPr>
              <a:t>35 / 65  |  MODULE 3: QUANTUM CHEMISTRY</a:t>
            </a:r>
          </a:p>
        </p:txBody>
      </p:sp>
      <p:sp>
        <p:nvSpPr>
          <p:cNvPr id="100208"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CE93D8"/>
                </a:solidFill>
              </a:rPr>
              <a:t>QFF26 Lecture Series — Quantum Computing Basics  |  qff26.org</a:t>
            </a:r>
          </a:p>
        </p:txBody>
      </p:sp>
    </p:spTree>
  </p:cSld>
</p:sld>
</file>

<file path=ppt/slides/slide32.xml><?xml version="1.0" encoding="utf-8"?>
<p:sld xmlns:p="http://schemas.openxmlformats.org/presentationml/2006/main">
  <p:cSld>
    <p:spTree>
      <p:nvGrpSpPr>
        <p:cNvPr id="1" name=""/>
        <p:cNvGrpSpPr/>
        <p:nvPr/>
      </p:nvGrpSpPr>
      <p:grpSpPr/>
      <p:sp>
        <p:nvSpPr>
          <p:cNvPr id="100209" name="TextBox 1"/>
          <p:cNvSpPr txBox="1"/>
          <p:nvPr/>
        </p:nvSpPr>
        <p:spPr>
          <a:xfrm xmlns:a="http://schemas.openxmlformats.org/drawingml/2006/main">
            <a:off x="180000" y="198000"/>
            <a:ext cx="1980000" cy="198000"/>
          </a:xfrm>
          <a:prstGeom xmlns:a="http://schemas.openxmlformats.org/drawingml/2006/main" prst="rect">
            <a:avLst/>
          </a:prstGeom>
          <a:solidFill xmlns:a="http://schemas.openxmlformats.org/drawingml/2006/main">
            <a:srgbClr val="6A1B9A"/>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QUANTUM CHEMISTRY</a:t>
            </a:r>
          </a:p>
        </p:txBody>
      </p:sp>
      <p:sp>
        <p:nvSpPr>
          <p:cNvPr id="100210"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F3E5F5"/>
                </a:solidFill>
              </a:rPr>
              <a:t>Variational Quantum Eigensolver (VQE) — Full Workflow</a:t>
            </a:r>
          </a:p>
        </p:txBody>
      </p:sp>
      <p:sp>
        <p:nvSpPr>
          <p:cNvPr id="100211"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AB47BC"/>
          </a:solidFill>
        </p:spPr>
        <p:txBody>
          <a:bodyPr xmlns:a="http://schemas.openxmlformats.org/drawingml/2006/main"/>
          <a:lstStyle xmlns:a="http://schemas.openxmlformats.org/drawingml/2006/main"/>
          <a:p xmlns:a="http://schemas.openxmlformats.org/drawingml/2006/main">
            <a:endParaRPr lang="en-US">
              <a:solidFill>
                <a:srgbClr val="AB47BC"/>
              </a:solidFill>
            </a:endParaRPr>
          </a:p>
        </p:txBody>
      </p:sp>
      <p:sp>
        <p:nvSpPr>
          <p:cNvPr id="100212"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F3E5F5"/>
                </a:solidFill>
              </a:rPr>
              <a:t>VQE Algorithm Steps:</a:t>
            </a:r>
          </a:p>
          <a:p xmlns:a="http://schemas.openxmlformats.org/drawingml/2006/main">
            <a:pPr algn="l"/>
            <a:r>
              <a:rPr lang="en-US">
                <a:solidFill>
                  <a:srgbClr val="F3E5F5"/>
                </a:solidFill>
              </a:rPr>
              <a:t/>
            </a:r>
          </a:p>
          <a:p xmlns:a="http://schemas.openxmlformats.org/drawingml/2006/main">
            <a:pPr algn="l"/>
            <a:r>
              <a:rPr lang="en-US">
                <a:solidFill>
                  <a:srgbClr val="F3E5F5"/>
                </a:solidFill>
              </a:rPr>
              <a:t>1. MOLECULE INPUT: Define molecule (geometry, basis set) → compute integrals classically</a:t>
            </a:r>
          </a:p>
          <a:p xmlns:a="http://schemas.openxmlformats.org/drawingml/2006/main">
            <a:pPr algn="l"/>
            <a:r>
              <a:rPr lang="en-US">
                <a:solidFill>
                  <a:srgbClr val="F3E5F5"/>
                </a:solidFill>
              </a:rPr>
              <a:t>   Tools: PySCF → Qiskit Nature / OpenFermion</a:t>
            </a:r>
          </a:p>
          <a:p xmlns:a="http://schemas.openxmlformats.org/drawingml/2006/main">
            <a:pPr algn="l"/>
            <a:r>
              <a:rPr lang="en-US">
                <a:solidFill>
                  <a:srgbClr val="F3E5F5"/>
                </a:solidFill>
              </a:rPr>
              <a:t/>
            </a:r>
          </a:p>
          <a:p xmlns:a="http://schemas.openxmlformats.org/drawingml/2006/main">
            <a:pPr algn="l"/>
            <a:r>
              <a:rPr lang="en-US">
                <a:solidFill>
                  <a:srgbClr val="F3E5F5"/>
                </a:solidFill>
              </a:rPr>
              <a:t>2. HAMILTONIAN MAPPING: Apply Jordan-Wigner or Bravyi-Kitaev</a:t>
            </a:r>
          </a:p>
          <a:p xmlns:a="http://schemas.openxmlformats.org/drawingml/2006/main">
            <a:pPr algn="l"/>
            <a:r>
              <a:rPr lang="en-US">
                <a:solidFill>
                  <a:srgbClr val="F3E5F5"/>
                </a:solidFill>
              </a:rPr>
              <a:t>   Output: qubit Hamiltonian Ĥ = Σᵢ cᵢ Pᵢ  (sum of Pauli strings)</a:t>
            </a:r>
          </a:p>
          <a:p xmlns:a="http://schemas.openxmlformats.org/drawingml/2006/main">
            <a:pPr algn="l"/>
            <a:r>
              <a:rPr lang="en-US">
                <a:solidFill>
                  <a:srgbClr val="F3E5F5"/>
                </a:solidFill>
              </a:rPr>
              <a:t/>
            </a:r>
          </a:p>
          <a:p xmlns:a="http://schemas.openxmlformats.org/drawingml/2006/main">
            <a:pPr algn="l"/>
            <a:r>
              <a:rPr lang="en-US">
                <a:solidFill>
                  <a:srgbClr val="F3E5F5"/>
                </a:solidFill>
              </a:rPr>
              <a:t>3. INITIAL STATE: Prepare HF reference state |ψ_HF⟩ using X gates on occupied qubits</a:t>
            </a:r>
          </a:p>
          <a:p xmlns:a="http://schemas.openxmlformats.org/drawingml/2006/main">
            <a:pPr algn="l"/>
            <a:r>
              <a:rPr lang="en-US">
                <a:solidFill>
                  <a:srgbClr val="F3E5F5"/>
                </a:solidFill>
              </a:rPr>
              <a:t>   |ψ_HF⟩ = |1100⟩ for H₂ (2 electrons in 4 spin-orbitals)</a:t>
            </a:r>
          </a:p>
          <a:p xmlns:a="http://schemas.openxmlformats.org/drawingml/2006/main">
            <a:pPr algn="l"/>
            <a:r>
              <a:rPr lang="en-US">
                <a:solidFill>
                  <a:srgbClr val="F3E5F5"/>
                </a:solidFill>
              </a:rPr>
              <a:t/>
            </a:r>
          </a:p>
          <a:p xmlns:a="http://schemas.openxmlformats.org/drawingml/2006/main">
            <a:pPr algn="l"/>
            <a:r>
              <a:rPr lang="en-US">
                <a:solidFill>
                  <a:srgbClr val="F3E5F5"/>
                </a:solidFill>
              </a:rPr>
              <a:t>4. ANSATZ CIRCUIT: Apply parameterized unitary U(θ)|ψ_HF⟩</a:t>
            </a:r>
          </a:p>
          <a:p xmlns:a="http://schemas.openxmlformats.org/drawingml/2006/main">
            <a:pPr algn="l"/>
            <a:r>
              <a:rPr lang="en-US">
                <a:solidFill>
                  <a:srgbClr val="F3E5F5"/>
                </a:solidFill>
              </a:rPr>
              <a:t>   UCCSD: U(θ) = exp(T(θ) - T†(θ)),  T = Σ t_ia â†_a â_i + Σ t_ijab â†_a â†_b â_i â_j</a:t>
            </a:r>
          </a:p>
          <a:p xmlns:a="http://schemas.openxmlformats.org/drawingml/2006/main">
            <a:pPr algn="l"/>
            <a:r>
              <a:rPr lang="en-US">
                <a:solidFill>
                  <a:srgbClr val="F3E5F5"/>
                </a:solidFill>
              </a:rPr>
              <a:t/>
            </a:r>
          </a:p>
          <a:p xmlns:a="http://schemas.openxmlformats.org/drawingml/2006/main">
            <a:pPr algn="l"/>
            <a:r>
              <a:rPr lang="en-US">
                <a:solidFill>
                  <a:srgbClr val="F3E5F5"/>
                </a:solidFill>
              </a:rPr>
              <a:t>5. MEASUREMENT: Measure ⟨Ĥ⟩ = Σᵢ cᵢ ⟨Pᵢ⟩ — each Pauli string measured separately</a:t>
            </a:r>
          </a:p>
          <a:p xmlns:a="http://schemas.openxmlformats.org/drawingml/2006/main">
            <a:pPr algn="l"/>
            <a:r>
              <a:rPr lang="en-US">
                <a:solidFill>
                  <a:srgbClr val="F3E5F5"/>
                </a:solidFill>
              </a:rPr>
              <a:t/>
            </a:r>
          </a:p>
          <a:p xmlns:a="http://schemas.openxmlformats.org/drawingml/2006/main">
            <a:pPr algn="l"/>
            <a:r>
              <a:rPr lang="en-US">
                <a:solidFill>
                  <a:srgbClr val="F3E5F5"/>
                </a:solidFill>
              </a:rPr>
              <a:t>6. CLASSICAL OPTIMIZER: Update θ to minimize E(θ) = ⟨ψ(θ)|Ĥ|ψ(θ)⟩</a:t>
            </a:r>
          </a:p>
          <a:p xmlns:a="http://schemas.openxmlformats.org/drawingml/2006/main">
            <a:pPr algn="l"/>
            <a:r>
              <a:rPr lang="en-US">
                <a:solidFill>
                  <a:srgbClr val="F3E5F5"/>
                </a:solidFill>
              </a:rPr>
              <a:t>   Methods: COBYLA, SPSA, L-BFGS-B, gradient-based (parameter shift rule)</a:t>
            </a:r>
          </a:p>
          <a:p xmlns:a="http://schemas.openxmlformats.org/drawingml/2006/main">
            <a:pPr algn="l"/>
            <a:r>
              <a:rPr lang="en-US">
                <a:solidFill>
                  <a:srgbClr val="F3E5F5"/>
                </a:solidFill>
              </a:rPr>
              <a:t/>
            </a:r>
          </a:p>
          <a:p xmlns:a="http://schemas.openxmlformats.org/drawingml/2006/main">
            <a:pPr algn="l"/>
            <a:r>
              <a:rPr lang="en-US">
                <a:solidFill>
                  <a:srgbClr val="F3E5F5"/>
                </a:solidFill>
              </a:rPr>
              <a:t>7. CONVERGENCE: When E(θ) converges → ground state energy E₀</a:t>
            </a:r>
          </a:p>
          <a:p xmlns:a="http://schemas.openxmlformats.org/drawingml/2006/main">
            <a:pPr algn="l"/>
            <a:r>
              <a:rPr lang="en-US">
                <a:solidFill>
                  <a:srgbClr val="F3E5F5"/>
                </a:solidFill>
              </a:rPr>
              <a:t>   Verified against classical CCSD(T) or FCI</a:t>
            </a:r>
          </a:p>
          <a:p xmlns:a="http://schemas.openxmlformats.org/drawingml/2006/main">
            <a:pPr algn="l"/>
            <a:r>
              <a:rPr lang="en-US">
                <a:solidFill>
                  <a:srgbClr val="F3E5F5"/>
                </a:solidFill>
              </a:rPr>
              <a:t/>
            </a:r>
          </a:p>
          <a:p xmlns:a="http://schemas.openxmlformats.org/drawingml/2006/main">
            <a:pPr algn="l"/>
            <a:r>
              <a:rPr lang="en-US">
                <a:solidFill>
                  <a:srgbClr val="F3E5F5"/>
                </a:solidFill>
              </a:rPr>
              <a:t>First VQE Experiment: H₂ on photonic processor (Peruzzo et al., Nature Commun. 2014)</a:t>
            </a:r>
          </a:p>
        </p:txBody>
      </p:sp>
      <p:sp>
        <p:nvSpPr>
          <p:cNvPr id="100213"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CE93D8"/>
                </a:solidFill>
              </a:rPr>
              <a:t>36 / 65  |  MODULE 3: QUANTUM CHEMISTRY</a:t>
            </a:r>
          </a:p>
        </p:txBody>
      </p:sp>
      <p:sp>
        <p:nvSpPr>
          <p:cNvPr id="100214"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CE93D8"/>
                </a:solidFill>
              </a:rPr>
              <a:t>QFF26 Lecture Series — Quantum Computing Basics  |  qff26.org</a:t>
            </a:r>
          </a:p>
        </p:txBody>
      </p:sp>
    </p:spTree>
  </p:cSld>
</p:sld>
</file>

<file path=ppt/slides/slide33.xml><?xml version="1.0" encoding="utf-8"?>
<p:sld xmlns:p="http://schemas.openxmlformats.org/presentationml/2006/main">
  <p:cSld>
    <p:spTree>
      <p:nvGrpSpPr>
        <p:cNvPr id="1" name=""/>
        <p:cNvGrpSpPr/>
        <p:nvPr/>
      </p:nvGrpSpPr>
      <p:grpSpPr/>
      <p:sp>
        <p:nvSpPr>
          <p:cNvPr id="100215" name="TextBox 1"/>
          <p:cNvSpPr txBox="1"/>
          <p:nvPr/>
        </p:nvSpPr>
        <p:spPr>
          <a:xfrm xmlns:a="http://schemas.openxmlformats.org/drawingml/2006/main">
            <a:off x="180000" y="198000"/>
            <a:ext cx="1980000" cy="198000"/>
          </a:xfrm>
          <a:prstGeom xmlns:a="http://schemas.openxmlformats.org/drawingml/2006/main" prst="rect">
            <a:avLst/>
          </a:prstGeom>
          <a:solidFill xmlns:a="http://schemas.openxmlformats.org/drawingml/2006/main">
            <a:srgbClr val="4A148C"/>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MODULE SUMMARY</a:t>
            </a:r>
          </a:p>
        </p:txBody>
      </p:sp>
      <p:sp>
        <p:nvSpPr>
          <p:cNvPr id="100216"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F3E5F5"/>
                </a:solidFill>
              </a:rPr>
              <a:t>Module 3 Summary: Quantum Chemistry</a:t>
            </a:r>
          </a:p>
        </p:txBody>
      </p:sp>
      <p:sp>
        <p:nvSpPr>
          <p:cNvPr id="100217"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AB47BC"/>
          </a:solidFill>
        </p:spPr>
        <p:txBody>
          <a:bodyPr xmlns:a="http://schemas.openxmlformats.org/drawingml/2006/main"/>
          <a:lstStyle xmlns:a="http://schemas.openxmlformats.org/drawingml/2006/main"/>
          <a:p xmlns:a="http://schemas.openxmlformats.org/drawingml/2006/main">
            <a:endParaRPr lang="en-US">
              <a:solidFill>
                <a:srgbClr val="AB47BC"/>
              </a:solidFill>
            </a:endParaRPr>
          </a:p>
        </p:txBody>
      </p:sp>
      <p:graphicFrame>
        <p:nvGraphicFramePr>
          <p:cNvPr id="100218" name="Table 1"/>
          <p:cNvGraphicFramePr/>
          <p:nvPr/>
        </p:nvGraphicFramePr>
        <p:xfrm>
          <a:off xmlns:a="http://schemas.openxmlformats.org/drawingml/2006/main" x="360000" y="1152000"/>
          <a:ext xmlns:a="http://schemas.openxmlformats.org/drawingml/2006/main" cx="11160000" cy="4500000"/>
        </p:xfrm>
        <a:graphic xmlns:a="http://schemas.openxmlformats.org/drawingml/2006/main">
          <a:graphicData uri="http://schemas.openxmlformats.org/drawingml/2006/table">
            <a:tbl>
              <a:tblPr firstRow="1" bandRow="1"/>
              <a:tblGrid>
                <a:gridCol w="5580000"/>
                <a:gridCol w="5580000"/>
              </a:tblGrid>
              <a:tr h="562500">
                <a:tc>
                  <a:txBody>
                    <a:bodyPr/>
                    <a:lstStyle/>
                    <a:p>
                      <a:r>
                        <a:rPr lang="en-US" sz="1300" b="1">
                          <a:solidFill>
                            <a:srgbClr val="F3E5F5"/>
                          </a:solidFill>
                        </a:rPr>
                        <a:t>Chemistry Concept (Slides 30–36)</a:t>
                      </a:r>
                    </a:p>
                  </a:txBody>
                  <a:tcPr>
                    <a:solidFill>
                      <a:srgbClr val="6A1B9A"/>
                    </a:solidFill>
                  </a:tcPr>
                </a:tc>
                <a:tc>
                  <a:txBody>
                    <a:bodyPr/>
                    <a:lstStyle/>
                    <a:p>
                      <a:r>
                        <a:rPr lang="en-US" sz="1300" b="1">
                          <a:solidFill>
                            <a:srgbClr val="F3E5F5"/>
                          </a:solidFill>
                        </a:rPr>
                        <a:t>Quantum Computing Bridge</a:t>
                      </a:r>
                    </a:p>
                  </a:txBody>
                  <a:tcPr>
                    <a:solidFill>
                      <a:srgbClr val="6A1B9A"/>
                    </a:solidFill>
                  </a:tcPr>
                </a:tc>
              </a:tr>
              <a:tr h="562500">
                <a:tc>
                  <a:txBody>
                    <a:bodyPr/>
                    <a:lstStyle/>
                    <a:p>
                      <a:r>
                        <a:rPr lang="en-US" sz="1200">
                          <a:solidFill>
                            <a:srgbClr val="E1BEE7"/>
                          </a:solidFill>
                        </a:rPr>
                        <a:t>Atomic Orbitals &amp; Electron Config</a:t>
                      </a:r>
                    </a:p>
                  </a:txBody>
                  <a:tcPr>
                    <a:solidFill>
                      <a:srgbClr val="1A0A2E"/>
                    </a:solidFill>
                  </a:tcPr>
                </a:tc>
                <a:tc>
                  <a:txBody>
                    <a:bodyPr/>
                    <a:lstStyle/>
                    <a:p>
                      <a:r>
                        <a:rPr lang="en-US" sz="1200">
                          <a:solidFill>
                            <a:srgbClr val="F3E5F5"/>
                          </a:solidFill>
                        </a:rPr>
                        <a:t>N spin-orbitals → N qubits in JW encoding</a:t>
                      </a:r>
                    </a:p>
                  </a:txBody>
                  <a:tcPr>
                    <a:solidFill>
                      <a:srgbClr val="1A0A2E"/>
                    </a:solidFill>
                  </a:tcPr>
                </a:tc>
              </a:tr>
              <a:tr h="562500">
                <a:tc>
                  <a:txBody>
                    <a:bodyPr/>
                    <a:lstStyle/>
                    <a:p>
                      <a:r>
                        <a:rPr lang="en-US" sz="1200">
                          <a:solidFill>
                            <a:srgbClr val="E1BEE7"/>
                          </a:solidFill>
                        </a:rPr>
                        <a:t>Born-Oppenheimer Approximation</a:t>
                      </a:r>
                    </a:p>
                  </a:txBody>
                  <a:tcPr>
                    <a:solidFill>
                      <a:srgbClr val="2A1040"/>
                    </a:solidFill>
                  </a:tcPr>
                </a:tc>
                <a:tc>
                  <a:txBody>
                    <a:bodyPr/>
                    <a:lstStyle/>
                    <a:p>
                      <a:r>
                        <a:rPr lang="en-US" sz="1200">
                          <a:solidFill>
                            <a:srgbClr val="F3E5F5"/>
                          </a:solidFill>
                        </a:rPr>
                        <a:t>Reduces full problem to electronic Hamiltonian — tractable for QC</a:t>
                      </a:r>
                    </a:p>
                  </a:txBody>
                  <a:tcPr>
                    <a:solidFill>
                      <a:srgbClr val="2A1040"/>
                    </a:solidFill>
                  </a:tcPr>
                </a:tc>
              </a:tr>
              <a:tr h="562500">
                <a:tc>
                  <a:txBody>
                    <a:bodyPr/>
                    <a:lstStyle/>
                    <a:p>
                      <a:r>
                        <a:rPr lang="en-US" sz="1200">
                          <a:solidFill>
                            <a:srgbClr val="E1BEE7"/>
                          </a:solidFill>
                        </a:rPr>
                        <a:t>HF, MP2, CCSD(T), DFT, FCI</a:t>
                      </a:r>
                    </a:p>
                  </a:txBody>
                  <a:tcPr>
                    <a:solidFill>
                      <a:srgbClr val="1A0A2E"/>
                    </a:solidFill>
                  </a:tcPr>
                </a:tc>
                <a:tc>
                  <a:txBody>
                    <a:bodyPr/>
                    <a:lstStyle/>
                    <a:p>
                      <a:r>
                        <a:rPr lang="en-US" sz="1200">
                          <a:solidFill>
                            <a:srgbClr val="F3E5F5"/>
                          </a:solidFill>
                        </a:rPr>
                        <a:t>Classical wall: FCI is O(N!) — quantum targets exact at polynomial cost</a:t>
                      </a:r>
                    </a:p>
                  </a:txBody>
                  <a:tcPr>
                    <a:solidFill>
                      <a:srgbClr val="1A0A2E"/>
                    </a:solidFill>
                  </a:tcPr>
                </a:tc>
              </a:tr>
              <a:tr h="562500">
                <a:tc>
                  <a:txBody>
                    <a:bodyPr/>
                    <a:lstStyle/>
                    <a:p>
                      <a:r>
                        <a:rPr lang="en-US" sz="1200">
                          <a:solidFill>
                            <a:srgbClr val="E1BEE7"/>
                          </a:solidFill>
                        </a:rPr>
                        <a:t>Second Quantization</a:t>
                      </a:r>
                    </a:p>
                  </a:txBody>
                  <a:tcPr>
                    <a:solidFill>
                      <a:srgbClr val="2A1040"/>
                    </a:solidFill>
                  </a:tcPr>
                </a:tc>
                <a:tc>
                  <a:txBody>
                    <a:bodyPr/>
                    <a:lstStyle/>
                    <a:p>
                      <a:r>
                        <a:rPr lang="en-US" sz="1200">
                          <a:solidFill>
                            <a:srgbClr val="F3E5F5"/>
                          </a:solidFill>
                        </a:rPr>
                        <a:t>Occupation number states |n₁...nₖ⟩ map naturally to qubit registers</a:t>
                      </a:r>
                    </a:p>
                  </a:txBody>
                  <a:tcPr>
                    <a:solidFill>
                      <a:srgbClr val="2A1040"/>
                    </a:solidFill>
                  </a:tcPr>
                </a:tc>
              </a:tr>
              <a:tr h="562500">
                <a:tc>
                  <a:txBody>
                    <a:bodyPr/>
                    <a:lstStyle/>
                    <a:p>
                      <a:r>
                        <a:rPr lang="en-US" sz="1200">
                          <a:solidFill>
                            <a:srgbClr val="E1BEE7"/>
                          </a:solidFill>
                        </a:rPr>
                        <a:t>Jordan-Wigner / Bravyi-Kitaev</a:t>
                      </a:r>
                    </a:p>
                  </a:txBody>
                  <a:tcPr>
                    <a:solidFill>
                      <a:srgbClr val="1A0A2E"/>
                    </a:solidFill>
                  </a:tcPr>
                </a:tc>
                <a:tc>
                  <a:txBody>
                    <a:bodyPr/>
                    <a:lstStyle/>
                    <a:p>
                      <a:r>
                        <a:rPr lang="en-US" sz="1200">
                          <a:solidFill>
                            <a:srgbClr val="F3E5F5"/>
                          </a:solidFill>
                        </a:rPr>
                        <a:t>Fermionic anticommutation → Pauli string Hamiltonian for QC</a:t>
                      </a:r>
                    </a:p>
                  </a:txBody>
                  <a:tcPr>
                    <a:solidFill>
                      <a:srgbClr val="1A0A2E"/>
                    </a:solidFill>
                  </a:tcPr>
                </a:tc>
              </a:tr>
              <a:tr h="562500">
                <a:tc>
                  <a:txBody>
                    <a:bodyPr/>
                    <a:lstStyle/>
                    <a:p>
                      <a:r>
                        <a:rPr lang="en-US" sz="1200">
                          <a:solidFill>
                            <a:srgbClr val="E1BEE7"/>
                          </a:solidFill>
                        </a:rPr>
                        <a:t>VQE Algorithm</a:t>
                      </a:r>
                    </a:p>
                  </a:txBody>
                  <a:tcPr>
                    <a:solidFill>
                      <a:srgbClr val="2A1040"/>
                    </a:solidFill>
                  </a:tcPr>
                </a:tc>
                <a:tc>
                  <a:txBody>
                    <a:bodyPr/>
                    <a:lstStyle/>
                    <a:p>
                      <a:r>
                        <a:rPr lang="en-US" sz="1200">
                          <a:solidFill>
                            <a:srgbClr val="F3E5F5"/>
                          </a:solidFill>
                        </a:rPr>
                        <a:t>Hybrid quantum-classical optimization for molecular ground state energy</a:t>
                      </a:r>
                    </a:p>
                  </a:txBody>
                  <a:tcPr>
                    <a:solidFill>
                      <a:srgbClr val="2A1040"/>
                    </a:solidFill>
                  </a:tcPr>
                </a:tc>
              </a:tr>
              <a:tr h="562500">
                <a:tc>
                  <a:txBody>
                    <a:bodyPr/>
                    <a:lstStyle/>
                    <a:p>
                      <a:r>
                        <a:rPr lang="en-US" sz="1200">
                          <a:solidFill>
                            <a:srgbClr val="E1BEE7"/>
                          </a:solidFill>
                        </a:rPr>
                        <a:t>UCCSD Ansatz</a:t>
                      </a:r>
                    </a:p>
                  </a:txBody>
                  <a:tcPr>
                    <a:solidFill>
                      <a:srgbClr val="1A0A2E"/>
                    </a:solidFill>
                  </a:tcPr>
                </a:tc>
                <a:tc>
                  <a:txBody>
                    <a:bodyPr/>
                    <a:lstStyle/>
                    <a:p>
                      <a:r>
                        <a:rPr lang="en-US" sz="1200">
                          <a:solidFill>
                            <a:srgbClr val="F3E5F5"/>
                          </a:solidFill>
                        </a:rPr>
                        <a:t>Chemically motivated parameterized circuit — captures electron correlation</a:t>
                      </a:r>
                    </a:p>
                  </a:txBody>
                  <a:tcPr>
                    <a:solidFill>
                      <a:srgbClr val="1A0A2E"/>
                    </a:solidFill>
                  </a:tcPr>
                </a:tc>
              </a:tr>
            </a:tbl>
          </a:graphicData>
        </a:graphic>
      </p:graphicFrame>
      <p:sp>
        <p:nvSpPr>
          <p:cNvPr id="100219" name="TextBox 4"/>
          <p:cNvSpPr txBox="1"/>
          <p:nvPr/>
        </p:nvSpPr>
        <p:spPr>
          <a:xfrm xmlns:a="http://schemas.openxmlformats.org/drawingml/2006/main">
            <a:off x="360000" y="5760000"/>
            <a:ext cx="11160000" cy="28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ctr"/>
            <a:r>
              <a:rPr lang="en-US" b="1">
                <a:solidFill>
                  <a:srgbClr val="00E5FF"/>
                </a:solidFill>
              </a:rPr>
              <a:t>Next: Module 4 — Qubit ↔ Atomic Configuration  (Slides 38–52)</a:t>
            </a:r>
          </a:p>
        </p:txBody>
      </p:sp>
      <p:sp>
        <p:nvSpPr>
          <p:cNvPr id="100220"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CE93D8"/>
                </a:solidFill>
              </a:rPr>
              <a:t>37 / 65  |  MODULE 3: QUANTUM CHEMISTRY</a:t>
            </a:r>
          </a:p>
        </p:txBody>
      </p:sp>
      <p:sp>
        <p:nvSpPr>
          <p:cNvPr id="100221"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CE93D8"/>
                </a:solidFill>
              </a:rPr>
              <a:t>QFF26 Lecture Series — Quantum Computing Basics  |  qff26.org</a:t>
            </a:r>
          </a:p>
        </p:txBody>
      </p:sp>
    </p:spTree>
  </p:cSld>
</p:sld>
</file>

<file path=ppt/slides/slide34.xml><?xml version="1.0" encoding="utf-8"?>
<p:sld xmlns:p="http://schemas.openxmlformats.org/presentationml/2006/main">
  <p:cSld>
    <p:spTree>
      <p:nvGrpSpPr>
        <p:cNvPr id="1" name=""/>
        <p:cNvGrpSpPr/>
        <p:nvPr/>
      </p:nvGrpSpPr>
      <p:grpSpPr/>
      <p:sp>
        <p:nvSpPr>
          <p:cNvPr id="100222"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BF360C"/>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MODULE 4</a:t>
            </a:r>
          </a:p>
        </p:txBody>
      </p:sp>
      <p:sp>
        <p:nvSpPr>
          <p:cNvPr id="100223"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FBE9E7"/>
                </a:solidFill>
              </a:rPr>
              <a:t>Module 4: Qubit ↔ Atomic Configuration</a:t>
            </a:r>
          </a:p>
        </p:txBody>
      </p:sp>
      <p:sp>
        <p:nvSpPr>
          <p:cNvPr id="100224"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FF5722"/>
          </a:solidFill>
        </p:spPr>
        <p:txBody>
          <a:bodyPr xmlns:a="http://schemas.openxmlformats.org/drawingml/2006/main"/>
          <a:lstStyle xmlns:a="http://schemas.openxmlformats.org/drawingml/2006/main"/>
          <a:p xmlns:a="http://schemas.openxmlformats.org/drawingml/2006/main">
            <a:endParaRPr lang="en-US">
              <a:solidFill>
                <a:srgbClr val="FF5722"/>
              </a:solidFill>
            </a:endParaRPr>
          </a:p>
        </p:txBody>
      </p:sp>
      <p:sp>
        <p:nvSpPr>
          <p:cNvPr id="100225"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FBE9E7"/>
                </a:solidFill>
              </a:rPr>
              <a:t>The Ultimate Connection: Physical Atoms ARE Quantum Computers</a:t>
            </a:r>
          </a:p>
          <a:p xmlns:a="http://schemas.openxmlformats.org/drawingml/2006/main">
            <a:pPr algn="l"/>
            <a:r>
              <a:rPr lang="en-US">
                <a:solidFill>
                  <a:srgbClr val="FBE9E7"/>
                </a:solidFill>
              </a:rPr>
              <a:t/>
            </a:r>
          </a:p>
          <a:p xmlns:a="http://schemas.openxmlformats.org/drawingml/2006/main">
            <a:pPr algn="l"/>
            <a:r>
              <a:rPr lang="en-US">
                <a:solidFill>
                  <a:srgbClr val="FBE9E7"/>
                </a:solidFill>
              </a:rPr>
              <a:t>This module draws the complete circle from atoms in physics and chemistry to</a:t>
            </a:r>
          </a:p>
          <a:p xmlns:a="http://schemas.openxmlformats.org/drawingml/2006/main">
            <a:pPr algn="l"/>
            <a:r>
              <a:rPr lang="en-US">
                <a:solidFill>
                  <a:srgbClr val="FBE9E7"/>
                </a:solidFill>
              </a:rPr>
              <a:t>qubit registers in quantum hardware.</a:t>
            </a:r>
          </a:p>
          <a:p xmlns:a="http://schemas.openxmlformats.org/drawingml/2006/main">
            <a:pPr algn="l"/>
            <a:r>
              <a:rPr lang="en-US">
                <a:solidFill>
                  <a:srgbClr val="FBE9E7"/>
                </a:solidFill>
              </a:rPr>
              <a:t/>
            </a:r>
          </a:p>
          <a:p xmlns:a="http://schemas.openxmlformats.org/drawingml/2006/main">
            <a:pPr algn="l"/>
            <a:r>
              <a:rPr lang="en-US">
                <a:solidFill>
                  <a:srgbClr val="FBE9E7"/>
                </a:solidFill>
              </a:rPr>
              <a:t>Slides 38–52 cover:</a:t>
            </a:r>
          </a:p>
          <a:p xmlns:a="http://schemas.openxmlformats.org/drawingml/2006/main">
            <a:pPr algn="l"/>
            <a:r>
              <a:rPr lang="en-US">
                <a:solidFill>
                  <a:srgbClr val="FBE9E7"/>
                </a:solidFill>
              </a:rPr>
              <a:t>  38  Module 4 Intro — the atom-qubit correspondence</a:t>
            </a:r>
          </a:p>
          <a:p xmlns:a="http://schemas.openxmlformats.org/drawingml/2006/main">
            <a:pPr algn="l"/>
            <a:r>
              <a:rPr lang="en-US">
                <a:solidFill>
                  <a:srgbClr val="FBE9E7"/>
                </a:solidFill>
              </a:rPr>
              <a:t>  39  Spin-½ Particle IS a Qubit (complete proof)</a:t>
            </a:r>
          </a:p>
          <a:p xmlns:a="http://schemas.openxmlformats.org/drawingml/2006/main">
            <a:pPr algn="l"/>
            <a:r>
              <a:rPr lang="en-US">
                <a:solidFill>
                  <a:srgbClr val="FBE9E7"/>
                </a:solidFill>
              </a:rPr>
              <a:t>  40  Hydrogen Atom as a Qubit Register</a:t>
            </a:r>
          </a:p>
          <a:p xmlns:a="http://schemas.openxmlformats.org/drawingml/2006/main">
            <a:pPr algn="l"/>
            <a:r>
              <a:rPr lang="en-US">
                <a:solidFill>
                  <a:srgbClr val="FBE9E7"/>
                </a:solidFill>
              </a:rPr>
              <a:t>  41  Electron Energy Levels as Qubit Basis States</a:t>
            </a:r>
          </a:p>
          <a:p xmlns:a="http://schemas.openxmlformats.org/drawingml/2006/main">
            <a:pPr algn="l"/>
            <a:r>
              <a:rPr lang="en-US">
                <a:solidFill>
                  <a:srgbClr val="FBE9E7"/>
                </a:solidFill>
              </a:rPr>
              <a:t>  42  Quantum Phase Estimation for Atomic Energies</a:t>
            </a:r>
          </a:p>
          <a:p xmlns:a="http://schemas.openxmlformats.org/drawingml/2006/main">
            <a:pPr algn="l"/>
            <a:r>
              <a:rPr lang="en-US">
                <a:solidFill>
                  <a:srgbClr val="FBE9E7"/>
                </a:solidFill>
              </a:rPr>
              <a:t>  43  Hardware Realization: Trapped Ions (Ca⁺, Ba⁺, Yb⁺)</a:t>
            </a:r>
          </a:p>
          <a:p xmlns:a="http://schemas.openxmlformats.org/drawingml/2006/main">
            <a:pPr algn="l"/>
            <a:r>
              <a:rPr lang="en-US">
                <a:solidFill>
                  <a:srgbClr val="FBE9E7"/>
                </a:solidFill>
              </a:rPr>
              <a:t>  44  Hardware Realization: Neutral Atoms (Rb, Cs, Sr arrays)</a:t>
            </a:r>
          </a:p>
          <a:p xmlns:a="http://schemas.openxmlformats.org/drawingml/2006/main">
            <a:pPr algn="l"/>
            <a:r>
              <a:rPr lang="en-US">
                <a:solidFill>
                  <a:srgbClr val="FBE9E7"/>
                </a:solidFill>
              </a:rPr>
              <a:t>  45  Hardware Realization: NV Centers in Diamond</a:t>
            </a:r>
          </a:p>
          <a:p xmlns:a="http://schemas.openxmlformats.org/drawingml/2006/main">
            <a:pPr algn="l"/>
            <a:r>
              <a:rPr lang="en-US">
                <a:solidFill>
                  <a:srgbClr val="FBE9E7"/>
                </a:solidFill>
              </a:rPr>
              <a:t>  46  Hardware Realization: Superconducting Qubits vs Atoms</a:t>
            </a:r>
          </a:p>
          <a:p xmlns:a="http://schemas.openxmlformats.org/drawingml/2006/main">
            <a:pPr algn="l"/>
            <a:r>
              <a:rPr lang="en-US">
                <a:solidFill>
                  <a:srgbClr val="FBE9E7"/>
                </a:solidFill>
              </a:rPr>
              <a:t>  47  Quantum Gate Implementation via Atomic Transitions</a:t>
            </a:r>
          </a:p>
          <a:p xmlns:a="http://schemas.openxmlformats.org/drawingml/2006/main">
            <a:pPr algn="l"/>
            <a:r>
              <a:rPr lang="en-US">
                <a:solidFill>
                  <a:srgbClr val="FBE9E7"/>
                </a:solidFill>
              </a:rPr>
              <a:t>  48  From Atomic Configuration to Qubit Circuit — End-to-End</a:t>
            </a:r>
          </a:p>
          <a:p xmlns:a="http://schemas.openxmlformats.org/drawingml/2006/main">
            <a:pPr algn="l"/>
            <a:r>
              <a:rPr lang="en-US">
                <a:solidFill>
                  <a:srgbClr val="FBE9E7"/>
                </a:solidFill>
              </a:rPr>
              <a:t>  49  Many-Electron Atom as Quantum Register</a:t>
            </a:r>
          </a:p>
          <a:p xmlns:a="http://schemas.openxmlformats.org/drawingml/2006/main">
            <a:pPr algn="l"/>
            <a:r>
              <a:rPr lang="en-US">
                <a:solidFill>
                  <a:srgbClr val="FBE9E7"/>
                </a:solidFill>
              </a:rPr>
              <a:t>  50  Current Benchmarks: Fidelity, Coherence, Connectivity</a:t>
            </a:r>
          </a:p>
          <a:p xmlns:a="http://schemas.openxmlformats.org/drawingml/2006/main">
            <a:pPr algn="l"/>
            <a:r>
              <a:rPr lang="en-US">
                <a:solidFill>
                  <a:srgbClr val="FBE9E7"/>
                </a:solidFill>
              </a:rPr>
              <a:t>  51  Future: Atomic-Scale Quantum Computers</a:t>
            </a:r>
          </a:p>
          <a:p xmlns:a="http://schemas.openxmlformats.org/drawingml/2006/main">
            <a:pPr algn="l"/>
            <a:r>
              <a:rPr lang="en-US">
                <a:solidFill>
                  <a:srgbClr val="FBE9E7"/>
                </a:solidFill>
              </a:rPr>
              <a:t>  52  Module 4 Summary</a:t>
            </a:r>
          </a:p>
        </p:txBody>
      </p:sp>
      <p:sp>
        <p:nvSpPr>
          <p:cNvPr id="100226"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FFCCBC"/>
                </a:solidFill>
              </a:rPr>
              <a:t>38 / 65  |  MODULE 4: QUBIT ↔ ATOMS</a:t>
            </a:r>
          </a:p>
        </p:txBody>
      </p:sp>
      <p:sp>
        <p:nvSpPr>
          <p:cNvPr id="100227"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FFAB91"/>
                </a:solidFill>
              </a:rPr>
              <a:t>QFF26 Lecture Series — Quantum Computing Basics  |  qff26.org</a:t>
            </a:r>
          </a:p>
        </p:txBody>
      </p:sp>
    </p:spTree>
  </p:cSld>
</p:sld>
</file>

<file path=ppt/slides/slide35.xml><?xml version="1.0" encoding="utf-8"?>
<p:sld xmlns:p="http://schemas.openxmlformats.org/presentationml/2006/main">
  <p:cSld>
    <p:spTree>
      <p:nvGrpSpPr>
        <p:cNvPr id="1" name=""/>
        <p:cNvGrpSpPr/>
        <p:nvPr/>
      </p:nvGrpSpPr>
      <p:grpSpPr/>
      <p:sp>
        <p:nvSpPr>
          <p:cNvPr id="100228" name="TextBox 1"/>
          <p:cNvSpPr txBox="1"/>
          <p:nvPr/>
        </p:nvSpPr>
        <p:spPr>
          <a:xfrm xmlns:a="http://schemas.openxmlformats.org/drawingml/2006/main">
            <a:off x="180000" y="198000"/>
            <a:ext cx="1800000" cy="198000"/>
          </a:xfrm>
          <a:prstGeom xmlns:a="http://schemas.openxmlformats.org/drawingml/2006/main" prst="rect">
            <a:avLst/>
          </a:prstGeom>
          <a:solidFill xmlns:a="http://schemas.openxmlformats.org/drawingml/2006/main">
            <a:srgbClr val="BF360C"/>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QUBIT ↔ ATOMS</a:t>
            </a:r>
          </a:p>
        </p:txBody>
      </p:sp>
      <p:sp>
        <p:nvSpPr>
          <p:cNvPr id="100229"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FBE9E7"/>
                </a:solidFill>
              </a:rPr>
              <a:t>Hydrogen Atom Energy Levels as a Qubit Register</a:t>
            </a:r>
          </a:p>
        </p:txBody>
      </p:sp>
      <p:sp>
        <p:nvSpPr>
          <p:cNvPr id="100230"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FF5722"/>
          </a:solidFill>
        </p:spPr>
        <p:txBody>
          <a:bodyPr xmlns:a="http://schemas.openxmlformats.org/drawingml/2006/main"/>
          <a:lstStyle xmlns:a="http://schemas.openxmlformats.org/drawingml/2006/main"/>
          <a:p xmlns:a="http://schemas.openxmlformats.org/drawingml/2006/main">
            <a:endParaRPr lang="en-US">
              <a:solidFill>
                <a:srgbClr val="FF5722"/>
              </a:solidFill>
            </a:endParaRPr>
          </a:p>
        </p:txBody>
      </p:sp>
      <p:graphicFrame>
        <p:nvGraphicFramePr>
          <p:cNvPr id="100231" name="Table 1"/>
          <p:cNvGraphicFramePr/>
          <p:nvPr/>
        </p:nvGraphicFramePr>
        <p:xfrm>
          <a:off xmlns:a="http://schemas.openxmlformats.org/drawingml/2006/main" x="360000" y="1152000"/>
          <a:ext xmlns:a="http://schemas.openxmlformats.org/drawingml/2006/main" cx="11160000" cy="2880000"/>
        </p:xfrm>
        <a:graphic xmlns:a="http://schemas.openxmlformats.org/drawingml/2006/main">
          <a:graphicData uri="http://schemas.openxmlformats.org/drawingml/2006/table">
            <a:tbl>
              <a:tblPr firstRow="1" bandRow="1"/>
              <a:tblGrid>
                <a:gridCol w="2790000"/>
                <a:gridCol w="2790000"/>
                <a:gridCol w="2790000"/>
                <a:gridCol w="2790000"/>
              </a:tblGrid>
              <a:tr h="576000">
                <a:tc>
                  <a:txBody>
                    <a:bodyPr/>
                    <a:lstStyle/>
                    <a:p>
                      <a:r>
                        <a:rPr lang="en-US" sz="1200" b="1">
                          <a:solidFill>
                            <a:srgbClr val="FBE9E7"/>
                          </a:solidFill>
                        </a:rPr>
                        <a:t>Level Pair</a:t>
                      </a:r>
                    </a:p>
                  </a:txBody>
                  <a:tcPr>
                    <a:solidFill>
                      <a:srgbClr val="BF360C"/>
                    </a:solidFill>
                  </a:tcPr>
                </a:tc>
                <a:tc>
                  <a:txBody>
                    <a:bodyPr/>
                    <a:lstStyle/>
                    <a:p>
                      <a:r>
                        <a:rPr lang="en-US" sz="1200" b="1">
                          <a:solidFill>
                            <a:srgbClr val="FBE9E7"/>
                          </a:solidFill>
                        </a:rPr>
                        <a:t>Energy Gap</a:t>
                      </a:r>
                    </a:p>
                  </a:txBody>
                  <a:tcPr>
                    <a:solidFill>
                      <a:srgbClr val="BF360C"/>
                    </a:solidFill>
                  </a:tcPr>
                </a:tc>
                <a:tc>
                  <a:txBody>
                    <a:bodyPr/>
                    <a:lstStyle/>
                    <a:p>
                      <a:r>
                        <a:rPr lang="en-US" sz="1200" b="1">
                          <a:solidFill>
                            <a:srgbClr val="FBE9E7"/>
                          </a:solidFill>
                        </a:rPr>
                        <a:t>Transition</a:t>
                      </a:r>
                    </a:p>
                  </a:txBody>
                  <a:tcPr>
                    <a:solidFill>
                      <a:srgbClr val="BF360C"/>
                    </a:solidFill>
                  </a:tcPr>
                </a:tc>
                <a:tc>
                  <a:txBody>
                    <a:bodyPr/>
                    <a:lstStyle/>
                    <a:p>
                      <a:r>
                        <a:rPr lang="en-US" sz="1200" b="1">
                          <a:solidFill>
                            <a:srgbClr val="FBE9E7"/>
                          </a:solidFill>
                        </a:rPr>
                        <a:t>Qubit Use</a:t>
                      </a:r>
                    </a:p>
                  </a:txBody>
                  <a:tcPr>
                    <a:solidFill>
                      <a:srgbClr val="BF360C"/>
                    </a:solidFill>
                  </a:tcPr>
                </a:tc>
              </a:tr>
              <a:tr h="576000">
                <a:tc>
                  <a:txBody>
                    <a:bodyPr/>
                    <a:lstStyle/>
                    <a:p>
                      <a:r>
                        <a:rPr lang="en-US" sz="1200" b="1">
                          <a:solidFill>
                            <a:srgbClr val="FFCCBC"/>
                          </a:solidFill>
                        </a:rPr>
                        <a:t>n=1 (1s) ↔ n=2 (2s)</a:t>
                      </a:r>
                    </a:p>
                  </a:txBody>
                  <a:tcPr>
                    <a:solidFill>
                      <a:srgbClr val="1A0A08"/>
                    </a:solidFill>
                  </a:tcPr>
                </a:tc>
                <a:tc>
                  <a:txBody>
                    <a:bodyPr/>
                    <a:lstStyle/>
                    <a:p>
                      <a:r>
                        <a:rPr lang="en-US" sz="1200">
                          <a:solidFill>
                            <a:srgbClr val="FBE9E7"/>
                          </a:solidFill>
                        </a:rPr>
                        <a:t>10.2 eV</a:t>
                      </a:r>
                    </a:p>
                  </a:txBody>
                  <a:tcPr>
                    <a:solidFill>
                      <a:srgbClr val="1A0A08"/>
                    </a:solidFill>
                  </a:tcPr>
                </a:tc>
                <a:tc>
                  <a:txBody>
                    <a:bodyPr/>
                    <a:lstStyle/>
                    <a:p>
                      <a:r>
                        <a:rPr lang="en-US" sz="1200">
                          <a:solidFill>
                            <a:srgbClr val="FBE9E7"/>
                          </a:solidFill>
                        </a:rPr>
                        <a:t>Lyman-α (121.6 nm, UV)</a:t>
                      </a:r>
                    </a:p>
                  </a:txBody>
                  <a:tcPr>
                    <a:solidFill>
                      <a:srgbClr val="1A0A08"/>
                    </a:solidFill>
                  </a:tcPr>
                </a:tc>
                <a:tc>
                  <a:txBody>
                    <a:bodyPr/>
                    <a:lstStyle/>
                    <a:p>
                      <a:r>
                        <a:rPr lang="en-US" sz="1200">
                          <a:solidFill>
                            <a:srgbClr val="FBE9E7"/>
                          </a:solidFill>
                        </a:rPr>
                        <a:t>|0⟩=|1s⟩, |1⟩=|2s⟩ — 2-photon Raman transition gate</a:t>
                      </a:r>
                    </a:p>
                  </a:txBody>
                  <a:tcPr>
                    <a:solidFill>
                      <a:srgbClr val="1A0A08"/>
                    </a:solidFill>
                  </a:tcPr>
                </a:tc>
              </a:tr>
              <a:tr h="576000">
                <a:tc>
                  <a:txBody>
                    <a:bodyPr/>
                    <a:lstStyle/>
                    <a:p>
                      <a:r>
                        <a:rPr lang="en-US" sz="1200" b="1">
                          <a:solidFill>
                            <a:srgbClr val="FFCCBC"/>
                          </a:solidFill>
                        </a:rPr>
                        <a:t>n=1 (1s) ↔ n=3 (3p)</a:t>
                      </a:r>
                    </a:p>
                  </a:txBody>
                  <a:tcPr>
                    <a:solidFill>
                      <a:srgbClr val="2A1510"/>
                    </a:solidFill>
                  </a:tcPr>
                </a:tc>
                <a:tc>
                  <a:txBody>
                    <a:bodyPr/>
                    <a:lstStyle/>
                    <a:p>
                      <a:r>
                        <a:rPr lang="en-US" sz="1200">
                          <a:solidFill>
                            <a:srgbClr val="FBE9E7"/>
                          </a:solidFill>
                        </a:rPr>
                        <a:t>12.1 eV</a:t>
                      </a:r>
                    </a:p>
                  </a:txBody>
                  <a:tcPr>
                    <a:solidFill>
                      <a:srgbClr val="2A1510"/>
                    </a:solidFill>
                  </a:tcPr>
                </a:tc>
                <a:tc>
                  <a:txBody>
                    <a:bodyPr/>
                    <a:lstStyle/>
                    <a:p>
                      <a:r>
                        <a:rPr lang="en-US" sz="1200">
                          <a:solidFill>
                            <a:srgbClr val="FBE9E7"/>
                          </a:solidFill>
                        </a:rPr>
                        <a:t>Lyman-β (102.6 nm)</a:t>
                      </a:r>
                    </a:p>
                  </a:txBody>
                  <a:tcPr>
                    <a:solidFill>
                      <a:srgbClr val="2A1510"/>
                    </a:solidFill>
                  </a:tcPr>
                </a:tc>
                <a:tc>
                  <a:txBody>
                    <a:bodyPr/>
                    <a:lstStyle/>
                    <a:p>
                      <a:r>
                        <a:rPr lang="en-US" sz="1200">
                          <a:solidFill>
                            <a:srgbClr val="FBE9E7"/>
                          </a:solidFill>
                        </a:rPr>
                        <a:t>Qutrit encoding (3-level); transmon-like anharmonic system</a:t>
                      </a:r>
                    </a:p>
                  </a:txBody>
                  <a:tcPr>
                    <a:solidFill>
                      <a:srgbClr val="2A1510"/>
                    </a:solidFill>
                  </a:tcPr>
                </a:tc>
              </a:tr>
              <a:tr h="576000">
                <a:tc>
                  <a:txBody>
                    <a:bodyPr/>
                    <a:lstStyle/>
                    <a:p>
                      <a:r>
                        <a:rPr lang="en-US" sz="1200" b="1">
                          <a:solidFill>
                            <a:srgbClr val="FFCCBC"/>
                          </a:solidFill>
                        </a:rPr>
                        <a:t>n=2 (2p) ↔ n=3 (3d)</a:t>
                      </a:r>
                    </a:p>
                  </a:txBody>
                  <a:tcPr>
                    <a:solidFill>
                      <a:srgbClr val="1A0A08"/>
                    </a:solidFill>
                  </a:tcPr>
                </a:tc>
                <a:tc>
                  <a:txBody>
                    <a:bodyPr/>
                    <a:lstStyle/>
                    <a:p>
                      <a:r>
                        <a:rPr lang="en-US" sz="1200">
                          <a:solidFill>
                            <a:srgbClr val="FBE9E7"/>
                          </a:solidFill>
                        </a:rPr>
                        <a:t>1.89 eV</a:t>
                      </a:r>
                    </a:p>
                  </a:txBody>
                  <a:tcPr>
                    <a:solidFill>
                      <a:srgbClr val="1A0A08"/>
                    </a:solidFill>
                  </a:tcPr>
                </a:tc>
                <a:tc>
                  <a:txBody>
                    <a:bodyPr/>
                    <a:lstStyle/>
                    <a:p>
                      <a:r>
                        <a:rPr lang="en-US" sz="1200">
                          <a:solidFill>
                            <a:srgbClr val="FBE9E7"/>
                          </a:solidFill>
                        </a:rPr>
                        <a:t>Balmer-α (656 nm, red)</a:t>
                      </a:r>
                    </a:p>
                  </a:txBody>
                  <a:tcPr>
                    <a:solidFill>
                      <a:srgbClr val="1A0A08"/>
                    </a:solidFill>
                  </a:tcPr>
                </a:tc>
                <a:tc>
                  <a:txBody>
                    <a:bodyPr/>
                    <a:lstStyle/>
                    <a:p>
                      <a:r>
                        <a:rPr lang="en-US" sz="1200">
                          <a:solidFill>
                            <a:srgbClr val="FBE9E7"/>
                          </a:solidFill>
                        </a:rPr>
                        <a:t>Optical qubit in H-like ions</a:t>
                      </a:r>
                    </a:p>
                  </a:txBody>
                  <a:tcPr>
                    <a:solidFill>
                      <a:srgbClr val="1A0A08"/>
                    </a:solidFill>
                  </a:tcPr>
                </a:tc>
              </a:tr>
              <a:tr h="576000">
                <a:tc>
                  <a:txBody>
                    <a:bodyPr/>
                    <a:lstStyle/>
                    <a:p>
                      <a:r>
                        <a:rPr lang="en-US" sz="1200" b="1">
                          <a:solidFill>
                            <a:srgbClr val="FFCCBC"/>
                          </a:solidFill>
                        </a:rPr>
                        <a:t>Hyperfine ↑↑ ↔ ↑↓</a:t>
                      </a:r>
                    </a:p>
                  </a:txBody>
                  <a:tcPr>
                    <a:solidFill>
                      <a:srgbClr val="2A1510"/>
                    </a:solidFill>
                  </a:tcPr>
                </a:tc>
                <a:tc>
                  <a:txBody>
                    <a:bodyPr/>
                    <a:lstStyle/>
                    <a:p>
                      <a:r>
                        <a:rPr lang="en-US" sz="1200">
                          <a:solidFill>
                            <a:srgbClr val="FBE9E7"/>
                          </a:solidFill>
                        </a:rPr>
                        <a:t>1.42 GHz (5.9 μeV)</a:t>
                      </a:r>
                    </a:p>
                  </a:txBody>
                  <a:tcPr>
                    <a:solidFill>
                      <a:srgbClr val="2A1510"/>
                    </a:solidFill>
                  </a:tcPr>
                </a:tc>
                <a:tc>
                  <a:txBody>
                    <a:bodyPr/>
                    <a:lstStyle/>
                    <a:p>
                      <a:r>
                        <a:rPr lang="en-US" sz="1200">
                          <a:solidFill>
                            <a:srgbClr val="FBE9E7"/>
                          </a:solidFill>
                        </a:rPr>
                        <a:t>Microwave 21 cm line</a:t>
                      </a:r>
                    </a:p>
                  </a:txBody>
                  <a:tcPr>
                    <a:solidFill>
                      <a:srgbClr val="2A1510"/>
                    </a:solidFill>
                  </a:tcPr>
                </a:tc>
                <a:tc>
                  <a:txBody>
                    <a:bodyPr/>
                    <a:lstStyle/>
                    <a:p>
                      <a:r>
                        <a:rPr lang="en-US" sz="1200">
                          <a:solidFill>
                            <a:srgbClr val="FBE9E7"/>
                          </a:solidFill>
                        </a:rPr>
                        <a:t>Atomic clock qubit — Cs/Rb hyperfine transitions</a:t>
                      </a:r>
                    </a:p>
                  </a:txBody>
                  <a:tcPr>
                    <a:solidFill>
                      <a:srgbClr val="2A1510"/>
                    </a:solidFill>
                  </a:tcPr>
                </a:tc>
              </a:tr>
            </a:tbl>
          </a:graphicData>
        </a:graphic>
      </p:graphicFrame>
      <p:sp>
        <p:nvSpPr>
          <p:cNvPr id="100232" name="TextBox 4"/>
          <p:cNvSpPr txBox="1"/>
          <p:nvPr/>
        </p:nvSpPr>
        <p:spPr>
          <a:xfrm xmlns:a="http://schemas.openxmlformats.org/drawingml/2006/main">
            <a:off x="360000" y="4140000"/>
            <a:ext cx="11160000" cy="1440000"/>
          </a:xfrm>
          <a:prstGeom xmlns:a="http://schemas.openxmlformats.org/drawingml/2006/main" prst="rect">
            <a:avLst/>
          </a:prstGeom>
          <a:solidFill xmlns:a="http://schemas.openxmlformats.org/drawingml/2006/main">
            <a:srgbClr val="1A0A08"/>
          </a:solidFill>
        </p:spPr>
        <p:txBody>
          <a:bodyPr xmlns:a="http://schemas.openxmlformats.org/drawingml/2006/main"/>
          <a:lstStyle xmlns:a="http://schemas.openxmlformats.org/drawingml/2006/main"/>
          <a:p xmlns:a="http://schemas.openxmlformats.org/drawingml/2006/main">
            <a:pPr algn="l"/>
            <a:r>
              <a:rPr lang="en-US">
                <a:solidFill>
                  <a:srgbClr val="FFCCBC"/>
                </a:solidFill>
              </a:rPr>
              <a:t>Key Insight: ANY two levels of ANY atom = a physical qubit.</a:t>
            </a:r>
          </a:p>
          <a:p xmlns:a="http://schemas.openxmlformats.org/drawingml/2006/main">
            <a:pPr algn="l"/>
            <a:r>
              <a:rPr lang="en-US">
                <a:solidFill>
                  <a:srgbClr val="FFCCBC"/>
                </a:solidFill>
              </a:rPr>
              <a:t>Multi-level atoms (n levels) = qudit — encodes log₂(n) bits.</a:t>
            </a:r>
          </a:p>
          <a:p xmlns:a="http://schemas.openxmlformats.org/drawingml/2006/main">
            <a:pPr algn="l"/>
            <a:r>
              <a:rPr lang="en-US">
                <a:solidFill>
                  <a:srgbClr val="FFCCBC"/>
                </a:solidFill>
              </a:rPr>
              <a:t>Quantum Gate = resonant EM field applied at transition frequency ω = ΔE/ℏ.</a:t>
            </a:r>
          </a:p>
          <a:p xmlns:a="http://schemas.openxmlformats.org/drawingml/2006/main">
            <a:pPr algn="l"/>
            <a:r>
              <a:rPr lang="en-US">
                <a:solidFill>
                  <a:srgbClr val="FFCCBC"/>
                </a:solidFill>
              </a:rPr>
              <a:t>Pulse duration controls rotation angle: θ = Ωt (Rabi frequency × time).</a:t>
            </a:r>
          </a:p>
        </p:txBody>
      </p:sp>
      <p:sp>
        <p:nvSpPr>
          <p:cNvPr id="100233"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FFCCBC"/>
                </a:solidFill>
              </a:rPr>
              <a:t>40 / 65  |  MODULE 4: QUBIT ↔ ATOMS</a:t>
            </a:r>
          </a:p>
        </p:txBody>
      </p:sp>
      <p:sp>
        <p:nvSpPr>
          <p:cNvPr id="100234"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FFAB91"/>
                </a:solidFill>
              </a:rPr>
              <a:t>QFF26 Lecture Series — Quantum Computing Basics  |  qff26.org</a:t>
            </a:r>
          </a:p>
        </p:txBody>
      </p:sp>
    </p:spTree>
  </p:cSld>
</p:sld>
</file>

<file path=ppt/slides/slide36.xml><?xml version="1.0" encoding="utf-8"?>
<p:sld xmlns:p="http://schemas.openxmlformats.org/presentationml/2006/main">
  <p:cSld>
    <p:spTree>
      <p:nvGrpSpPr>
        <p:cNvPr id="1" name=""/>
        <p:cNvGrpSpPr/>
        <p:nvPr/>
      </p:nvGrpSpPr>
      <p:grpSpPr/>
      <p:sp>
        <p:nvSpPr>
          <p:cNvPr id="100235" name="TextBox 1"/>
          <p:cNvSpPr txBox="1"/>
          <p:nvPr/>
        </p:nvSpPr>
        <p:spPr>
          <a:xfrm xmlns:a="http://schemas.openxmlformats.org/drawingml/2006/main">
            <a:off x="180000" y="198000"/>
            <a:ext cx="1800000" cy="198000"/>
          </a:xfrm>
          <a:prstGeom xmlns:a="http://schemas.openxmlformats.org/drawingml/2006/main" prst="rect">
            <a:avLst/>
          </a:prstGeom>
          <a:solidFill xmlns:a="http://schemas.openxmlformats.org/drawingml/2006/main">
            <a:srgbClr val="BF360C"/>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QUBIT ↔ ATOMS</a:t>
            </a:r>
          </a:p>
        </p:txBody>
      </p:sp>
      <p:sp>
        <p:nvSpPr>
          <p:cNvPr id="100236"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FBE9E7"/>
                </a:solidFill>
              </a:rPr>
              <a:t>Trapped-Ion Qubits: Atoms as Perfect Qubits</a:t>
            </a:r>
          </a:p>
        </p:txBody>
      </p:sp>
      <p:sp>
        <p:nvSpPr>
          <p:cNvPr id="100237"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FF5722"/>
          </a:solidFill>
        </p:spPr>
        <p:txBody>
          <a:bodyPr xmlns:a="http://schemas.openxmlformats.org/drawingml/2006/main"/>
          <a:lstStyle xmlns:a="http://schemas.openxmlformats.org/drawingml/2006/main"/>
          <a:p xmlns:a="http://schemas.openxmlformats.org/drawingml/2006/main">
            <a:endParaRPr lang="en-US">
              <a:solidFill>
                <a:srgbClr val="FF5722"/>
              </a:solidFill>
            </a:endParaRPr>
          </a:p>
        </p:txBody>
      </p:sp>
      <p:graphicFrame>
        <p:nvGraphicFramePr>
          <p:cNvPr id="100238" name="Table 1"/>
          <p:cNvGraphicFramePr/>
          <p:nvPr/>
        </p:nvGraphicFramePr>
        <p:xfrm>
          <a:off xmlns:a="http://schemas.openxmlformats.org/drawingml/2006/main" x="360000" y="1152000"/>
          <a:ext xmlns:a="http://schemas.openxmlformats.org/drawingml/2006/main" cx="11160000" cy="3240000"/>
        </p:xfrm>
        <a:graphic xmlns:a="http://schemas.openxmlformats.org/drawingml/2006/main">
          <a:graphicData uri="http://schemas.openxmlformats.org/drawingml/2006/table">
            <a:tbl>
              <a:tblPr firstRow="1" bandRow="1"/>
              <a:tblGrid>
                <a:gridCol w="2790000"/>
                <a:gridCol w="2790000"/>
                <a:gridCol w="2790000"/>
                <a:gridCol w="2790000"/>
              </a:tblGrid>
              <a:tr h="648000">
                <a:tc>
                  <a:txBody>
                    <a:bodyPr/>
                    <a:lstStyle/>
                    <a:p>
                      <a:r>
                        <a:rPr lang="en-US" sz="1200" b="1">
                          <a:solidFill>
                            <a:srgbClr val="FBE9E7"/>
                          </a:solidFill>
                        </a:rPr>
                        <a:t>Ion Species</a:t>
                      </a:r>
                    </a:p>
                  </a:txBody>
                  <a:tcPr>
                    <a:solidFill>
                      <a:srgbClr val="BF360C"/>
                    </a:solidFill>
                  </a:tcPr>
                </a:tc>
                <a:tc>
                  <a:txBody>
                    <a:bodyPr/>
                    <a:lstStyle/>
                    <a:p>
                      <a:r>
                        <a:rPr lang="en-US" sz="1200" b="1">
                          <a:solidFill>
                            <a:srgbClr val="FBE9E7"/>
                          </a:solidFill>
                        </a:rPr>
                        <a:t>Qubit Encoding</a:t>
                      </a:r>
                    </a:p>
                  </a:txBody>
                  <a:tcPr>
                    <a:solidFill>
                      <a:srgbClr val="BF360C"/>
                    </a:solidFill>
                  </a:tcPr>
                </a:tc>
                <a:tc>
                  <a:txBody>
                    <a:bodyPr/>
                    <a:lstStyle/>
                    <a:p>
                      <a:r>
                        <a:rPr lang="en-US" sz="1200" b="1">
                          <a:solidFill>
                            <a:srgbClr val="FBE9E7"/>
                          </a:solidFill>
                        </a:rPr>
                        <a:t>T₂ Coherence</a:t>
                      </a:r>
                    </a:p>
                  </a:txBody>
                  <a:tcPr>
                    <a:solidFill>
                      <a:srgbClr val="BF360C"/>
                    </a:solidFill>
                  </a:tcPr>
                </a:tc>
                <a:tc>
                  <a:txBody>
                    <a:bodyPr/>
                    <a:lstStyle/>
                    <a:p>
                      <a:r>
                        <a:rPr lang="en-US" sz="1200" b="1">
                          <a:solidFill>
                            <a:srgbClr val="FBE9E7"/>
                          </a:solidFill>
                        </a:rPr>
                        <a:t>Gate Fidelity &amp; Platform</a:t>
                      </a:r>
                    </a:p>
                  </a:txBody>
                  <a:tcPr>
                    <a:solidFill>
                      <a:srgbClr val="BF360C"/>
                    </a:solidFill>
                  </a:tcPr>
                </a:tc>
              </a:tr>
              <a:tr h="648000">
                <a:tc>
                  <a:txBody>
                    <a:bodyPr/>
                    <a:lstStyle/>
                    <a:p>
                      <a:r>
                        <a:rPr lang="en-US" sz="1200" b="1">
                          <a:solidFill>
                            <a:srgbClr val="FFCCBC"/>
                          </a:solidFill>
                        </a:rPr>
                        <a:t>¹⁷¹Yb⁺</a:t>
                      </a:r>
                    </a:p>
                  </a:txBody>
                  <a:tcPr>
                    <a:solidFill>
                      <a:srgbClr val="1A0A08"/>
                    </a:solidFill>
                  </a:tcPr>
                </a:tc>
                <a:tc>
                  <a:txBody>
                    <a:bodyPr/>
                    <a:lstStyle/>
                    <a:p>
                      <a:r>
                        <a:rPr lang="en-US" sz="1200">
                          <a:solidFill>
                            <a:srgbClr val="FBE9E7"/>
                          </a:solidFill>
                        </a:rPr>
                        <a:t>Hyperfine F=0/F=1 (12.6 GHz)</a:t>
                      </a:r>
                    </a:p>
                  </a:txBody>
                  <a:tcPr>
                    <a:solidFill>
                      <a:srgbClr val="1A0A08"/>
                    </a:solidFill>
                  </a:tcPr>
                </a:tc>
                <a:tc>
                  <a:txBody>
                    <a:bodyPr/>
                    <a:lstStyle/>
                    <a:p>
                      <a:r>
                        <a:rPr lang="en-US" sz="1200">
                          <a:solidFill>
                            <a:srgbClr val="FBE9E7"/>
                          </a:solidFill>
                        </a:rPr>
                        <a:t>&gt; 10 minutes</a:t>
                      </a:r>
                    </a:p>
                  </a:txBody>
                  <a:tcPr>
                    <a:solidFill>
                      <a:srgbClr val="1A0A08"/>
                    </a:solidFill>
                  </a:tcPr>
                </a:tc>
                <a:tc>
                  <a:txBody>
                    <a:bodyPr/>
                    <a:lstStyle/>
                    <a:p>
                      <a:r>
                        <a:rPr lang="en-US" sz="1200">
                          <a:solidFill>
                            <a:srgbClr val="FBE9E7"/>
                          </a:solidFill>
                        </a:rPr>
                        <a:t>99.9% 2Q gate — IonQ, Quantinuum</a:t>
                      </a:r>
                    </a:p>
                  </a:txBody>
                  <a:tcPr>
                    <a:solidFill>
                      <a:srgbClr val="1A0A08"/>
                    </a:solidFill>
                  </a:tcPr>
                </a:tc>
              </a:tr>
              <a:tr h="648000">
                <a:tc>
                  <a:txBody>
                    <a:bodyPr/>
                    <a:lstStyle/>
                    <a:p>
                      <a:r>
                        <a:rPr lang="en-US" sz="1200" b="1">
                          <a:solidFill>
                            <a:srgbClr val="FFCCBC"/>
                          </a:solidFill>
                        </a:rPr>
                        <a:t>⁴⁰Ca⁺</a:t>
                      </a:r>
                    </a:p>
                  </a:txBody>
                  <a:tcPr>
                    <a:solidFill>
                      <a:srgbClr val="2A1510"/>
                    </a:solidFill>
                  </a:tcPr>
                </a:tc>
                <a:tc>
                  <a:txBody>
                    <a:bodyPr/>
                    <a:lstStyle/>
                    <a:p>
                      <a:r>
                        <a:rPr lang="en-US" sz="1200">
                          <a:solidFill>
                            <a:srgbClr val="FBE9E7"/>
                          </a:solidFill>
                        </a:rPr>
                        <a:t>Optical S₁/₂ ↔ D₅/₂ (729 nm)</a:t>
                      </a:r>
                    </a:p>
                  </a:txBody>
                  <a:tcPr>
                    <a:solidFill>
                      <a:srgbClr val="2A1510"/>
                    </a:solidFill>
                  </a:tcPr>
                </a:tc>
                <a:tc>
                  <a:txBody>
                    <a:bodyPr/>
                    <a:lstStyle/>
                    <a:p>
                      <a:r>
                        <a:rPr lang="en-US" sz="1200">
                          <a:solidFill>
                            <a:srgbClr val="FBE9E7"/>
                          </a:solidFill>
                        </a:rPr>
                        <a:t>~1 second</a:t>
                      </a:r>
                    </a:p>
                  </a:txBody>
                  <a:tcPr>
                    <a:solidFill>
                      <a:srgbClr val="2A1510"/>
                    </a:solidFill>
                  </a:tcPr>
                </a:tc>
                <a:tc>
                  <a:txBody>
                    <a:bodyPr/>
                    <a:lstStyle/>
                    <a:p>
                      <a:r>
                        <a:rPr lang="en-US" sz="1200">
                          <a:solidFill>
                            <a:srgbClr val="FBE9E7"/>
                          </a:solidFill>
                        </a:rPr>
                        <a:t>99.9% — AQT, Innsbruck, Oxford</a:t>
                      </a:r>
                    </a:p>
                  </a:txBody>
                  <a:tcPr>
                    <a:solidFill>
                      <a:srgbClr val="2A1510"/>
                    </a:solidFill>
                  </a:tcPr>
                </a:tc>
              </a:tr>
              <a:tr h="648000">
                <a:tc>
                  <a:txBody>
                    <a:bodyPr/>
                    <a:lstStyle/>
                    <a:p>
                      <a:r>
                        <a:rPr lang="en-US" sz="1200" b="1">
                          <a:solidFill>
                            <a:srgbClr val="FFCCBC"/>
                          </a:solidFill>
                        </a:rPr>
                        <a:t>¹³³Ba⁺</a:t>
                      </a:r>
                    </a:p>
                  </a:txBody>
                  <a:tcPr>
                    <a:solidFill>
                      <a:srgbClr val="1A0A08"/>
                    </a:solidFill>
                  </a:tcPr>
                </a:tc>
                <a:tc>
                  <a:txBody>
                    <a:bodyPr/>
                    <a:lstStyle/>
                    <a:p>
                      <a:r>
                        <a:rPr lang="en-US" sz="1200">
                          <a:solidFill>
                            <a:srgbClr val="FBE9E7"/>
                          </a:solidFill>
                        </a:rPr>
                        <a:t>Visible optical transitions (493 nm)</a:t>
                      </a:r>
                    </a:p>
                  </a:txBody>
                  <a:tcPr>
                    <a:solidFill>
                      <a:srgbClr val="1A0A08"/>
                    </a:solidFill>
                  </a:tcPr>
                </a:tc>
                <a:tc>
                  <a:txBody>
                    <a:bodyPr/>
                    <a:lstStyle/>
                    <a:p>
                      <a:r>
                        <a:rPr lang="en-US" sz="1200">
                          <a:solidFill>
                            <a:srgbClr val="FBE9E7"/>
                          </a:solidFill>
                        </a:rPr>
                        <a:t>&gt; 1 minute</a:t>
                      </a:r>
                    </a:p>
                  </a:txBody>
                  <a:tcPr>
                    <a:solidFill>
                      <a:srgbClr val="1A0A08"/>
                    </a:solidFill>
                  </a:tcPr>
                </a:tc>
                <a:tc>
                  <a:txBody>
                    <a:bodyPr/>
                    <a:lstStyle/>
                    <a:p>
                      <a:r>
                        <a:rPr lang="en-US" sz="1200">
                          <a:solidFill>
                            <a:srgbClr val="FBE9E7"/>
                          </a:solidFill>
                        </a:rPr>
                        <a:t>99.94% 1Q — University of Maryland</a:t>
                      </a:r>
                    </a:p>
                  </a:txBody>
                  <a:tcPr>
                    <a:solidFill>
                      <a:srgbClr val="1A0A08"/>
                    </a:solidFill>
                  </a:tcPr>
                </a:tc>
              </a:tr>
              <a:tr h="648000">
                <a:tc>
                  <a:txBody>
                    <a:bodyPr/>
                    <a:lstStyle/>
                    <a:p>
                      <a:r>
                        <a:rPr lang="en-US" sz="1200" b="1">
                          <a:solidFill>
                            <a:srgbClr val="FFCCBC"/>
                          </a:solidFill>
                        </a:rPr>
                        <a:t>²⁵Mg⁺</a:t>
                      </a:r>
                    </a:p>
                  </a:txBody>
                  <a:tcPr>
                    <a:solidFill>
                      <a:srgbClr val="2A1510"/>
                    </a:solidFill>
                  </a:tcPr>
                </a:tc>
                <a:tc>
                  <a:txBody>
                    <a:bodyPr/>
                    <a:lstStyle/>
                    <a:p>
                      <a:r>
                        <a:rPr lang="en-US" sz="1200">
                          <a:solidFill>
                            <a:srgbClr val="FBE9E7"/>
                          </a:solidFill>
                        </a:rPr>
                        <a:t>Hyperfine ground states (1.79 GHz)</a:t>
                      </a:r>
                    </a:p>
                  </a:txBody>
                  <a:tcPr>
                    <a:solidFill>
                      <a:srgbClr val="2A1510"/>
                    </a:solidFill>
                  </a:tcPr>
                </a:tc>
                <a:tc>
                  <a:txBody>
                    <a:bodyPr/>
                    <a:lstStyle/>
                    <a:p>
                      <a:r>
                        <a:rPr lang="en-US" sz="1200">
                          <a:solidFill>
                            <a:srgbClr val="FBE9E7"/>
                          </a:solidFill>
                        </a:rPr>
                        <a:t>~3 seconds</a:t>
                      </a:r>
                    </a:p>
                  </a:txBody>
                  <a:tcPr>
                    <a:solidFill>
                      <a:srgbClr val="2A1510"/>
                    </a:solidFill>
                  </a:tcPr>
                </a:tc>
                <a:tc>
                  <a:txBody>
                    <a:bodyPr/>
                    <a:lstStyle/>
                    <a:p>
                      <a:r>
                        <a:rPr lang="en-US" sz="1200">
                          <a:solidFill>
                            <a:srgbClr val="FBE9E7"/>
                          </a:solidFill>
                        </a:rPr>
                        <a:t>NIST — early quantum logic spectroscopy</a:t>
                      </a:r>
                    </a:p>
                  </a:txBody>
                  <a:tcPr>
                    <a:solidFill>
                      <a:srgbClr val="2A1510"/>
                    </a:solidFill>
                  </a:tcPr>
                </a:tc>
              </a:tr>
            </a:tbl>
          </a:graphicData>
        </a:graphic>
      </p:graphicFrame>
      <p:sp>
        <p:nvSpPr>
          <p:cNvPr id="100239" name="TextBox 4"/>
          <p:cNvSpPr txBox="1"/>
          <p:nvPr/>
        </p:nvSpPr>
        <p:spPr>
          <a:xfrm xmlns:a="http://schemas.openxmlformats.org/drawingml/2006/main">
            <a:off x="360000" y="4500000"/>
            <a:ext cx="11160000" cy="1440000"/>
          </a:xfrm>
          <a:prstGeom xmlns:a="http://schemas.openxmlformats.org/drawingml/2006/main" prst="rect">
            <a:avLst/>
          </a:prstGeom>
          <a:solidFill xmlns:a="http://schemas.openxmlformats.org/drawingml/2006/main">
            <a:srgbClr val="1A0A08"/>
          </a:solidFill>
        </p:spPr>
        <p:txBody>
          <a:bodyPr xmlns:a="http://schemas.openxmlformats.org/drawingml/2006/main"/>
          <a:lstStyle xmlns:a="http://schemas.openxmlformats.org/drawingml/2006/main"/>
          <a:p xmlns:a="http://schemas.openxmlformats.org/drawingml/2006/main">
            <a:pPr algn="l"/>
            <a:r>
              <a:rPr lang="en-US">
                <a:solidFill>
                  <a:srgbClr val="FFCCBC"/>
                </a:solidFill>
              </a:rPr>
              <a:t>Gate Mechanism: Mølmer-Sørensen gate uses shared phonon mode of ion crystal to entangle two ions.</a:t>
            </a:r>
          </a:p>
          <a:p xmlns:a="http://schemas.openxmlformats.org/drawingml/2006/main">
            <a:pPr algn="l"/>
            <a:r>
              <a:rPr lang="en-US">
                <a:solidFill>
                  <a:srgbClr val="FFCCBC"/>
                </a:solidFill>
              </a:rPr>
              <a:t>Step 1: Laser/MW pulse → individual ion rotation</a:t>
            </a:r>
          </a:p>
          <a:p xmlns:a="http://schemas.openxmlformats.org/drawingml/2006/main">
            <a:pPr algn="l"/>
            <a:r>
              <a:rPr lang="en-US">
                <a:solidFill>
                  <a:srgbClr val="FFCCBC"/>
                </a:solidFill>
              </a:rPr>
              <a:t>Step 2: Bichromatic force → phonon-mediated entanglement (XX interaction)</a:t>
            </a:r>
          </a:p>
          <a:p xmlns:a="http://schemas.openxmlformats.org/drawingml/2006/main">
            <a:pPr algn="l"/>
            <a:r>
              <a:rPr lang="en-US">
                <a:solidFill>
                  <a:srgbClr val="FFCCBC"/>
                </a:solidFill>
              </a:rPr>
              <a:t>Step 3: Second pulse → disentangle phonon, leave ions in Bell state</a:t>
            </a:r>
          </a:p>
        </p:txBody>
      </p:sp>
      <p:sp>
        <p:nvSpPr>
          <p:cNvPr id="100240"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FFCCBC"/>
                </a:solidFill>
              </a:rPr>
              <a:t>41 / 65  |  MODULE 4: QUBIT ↔ ATOMS</a:t>
            </a:r>
          </a:p>
        </p:txBody>
      </p:sp>
      <p:sp>
        <p:nvSpPr>
          <p:cNvPr id="100241"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FFAB91"/>
                </a:solidFill>
              </a:rPr>
              <a:t>QFF26 Lecture Series — Quantum Computing Basics  |  qff26.org</a:t>
            </a:r>
          </a:p>
        </p:txBody>
      </p:sp>
    </p:spTree>
  </p:cSld>
</p:sld>
</file>

<file path=ppt/slides/slide37.xml><?xml version="1.0" encoding="utf-8"?>
<p:sld xmlns:p="http://schemas.openxmlformats.org/presentationml/2006/main">
  <p:cSld>
    <p:spTree>
      <p:nvGrpSpPr>
        <p:cNvPr id="1" name=""/>
        <p:cNvGrpSpPr/>
        <p:nvPr/>
      </p:nvGrpSpPr>
      <p:grpSpPr/>
      <p:sp>
        <p:nvSpPr>
          <p:cNvPr id="100242" name="TextBox 1"/>
          <p:cNvSpPr txBox="1"/>
          <p:nvPr/>
        </p:nvSpPr>
        <p:spPr>
          <a:xfrm xmlns:a="http://schemas.openxmlformats.org/drawingml/2006/main">
            <a:off x="180000" y="198000"/>
            <a:ext cx="1800000" cy="198000"/>
          </a:xfrm>
          <a:prstGeom xmlns:a="http://schemas.openxmlformats.org/drawingml/2006/main" prst="rect">
            <a:avLst/>
          </a:prstGeom>
          <a:solidFill xmlns:a="http://schemas.openxmlformats.org/drawingml/2006/main">
            <a:srgbClr val="BF360C"/>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QUBIT ↔ ATOMS</a:t>
            </a:r>
          </a:p>
        </p:txBody>
      </p:sp>
      <p:sp>
        <p:nvSpPr>
          <p:cNvPr id="100243"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FBE9E7"/>
                </a:solidFill>
              </a:rPr>
              <a:t>Neutral Atom Arrays &amp; NV Centers as Qubits</a:t>
            </a:r>
          </a:p>
        </p:txBody>
      </p:sp>
      <p:sp>
        <p:nvSpPr>
          <p:cNvPr id="100244"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FF5722"/>
          </a:solidFill>
        </p:spPr>
        <p:txBody>
          <a:bodyPr xmlns:a="http://schemas.openxmlformats.org/drawingml/2006/main"/>
          <a:lstStyle xmlns:a="http://schemas.openxmlformats.org/drawingml/2006/main"/>
          <a:p xmlns:a="http://schemas.openxmlformats.org/drawingml/2006/main">
            <a:endParaRPr lang="en-US">
              <a:solidFill>
                <a:srgbClr val="FF5722"/>
              </a:solidFill>
            </a:endParaRPr>
          </a:p>
        </p:txBody>
      </p:sp>
      <p:graphicFrame>
        <p:nvGraphicFramePr>
          <p:cNvPr id="100245" name="Table 1"/>
          <p:cNvGraphicFramePr/>
          <p:nvPr/>
        </p:nvGraphicFramePr>
        <p:xfrm>
          <a:off xmlns:a="http://schemas.openxmlformats.org/drawingml/2006/main" x="360000" y="1152000"/>
          <a:ext xmlns:a="http://schemas.openxmlformats.org/drawingml/2006/main" cx="11160000" cy="2880000"/>
        </p:xfrm>
        <a:graphic xmlns:a="http://schemas.openxmlformats.org/drawingml/2006/main">
          <a:graphicData uri="http://schemas.openxmlformats.org/drawingml/2006/table">
            <a:tbl>
              <a:tblPr firstRow="1" bandRow="1"/>
              <a:tblGrid>
                <a:gridCol w="2790000"/>
                <a:gridCol w="2790000"/>
                <a:gridCol w="2790000"/>
                <a:gridCol w="2790000"/>
              </a:tblGrid>
              <a:tr h="576000">
                <a:tc>
                  <a:txBody>
                    <a:bodyPr/>
                    <a:lstStyle/>
                    <a:p>
                      <a:r>
                        <a:rPr lang="en-US" sz="1200" b="1">
                          <a:solidFill>
                            <a:srgbClr val="FBE9E7"/>
                          </a:solidFill>
                        </a:rPr>
                        <a:t>Platform</a:t>
                      </a:r>
                    </a:p>
                  </a:txBody>
                  <a:tcPr>
                    <a:solidFill>
                      <a:srgbClr val="BF360C"/>
                    </a:solidFill>
                  </a:tcPr>
                </a:tc>
                <a:tc>
                  <a:txBody>
                    <a:bodyPr/>
                    <a:lstStyle/>
                    <a:p>
                      <a:r>
                        <a:rPr lang="en-US" sz="1200" b="1">
                          <a:solidFill>
                            <a:srgbClr val="FBE9E7"/>
                          </a:solidFill>
                        </a:rPr>
                        <a:t>Atomic Species</a:t>
                      </a:r>
                    </a:p>
                  </a:txBody>
                  <a:tcPr>
                    <a:solidFill>
                      <a:srgbClr val="BF360C"/>
                    </a:solidFill>
                  </a:tcPr>
                </a:tc>
                <a:tc>
                  <a:txBody>
                    <a:bodyPr/>
                    <a:lstStyle/>
                    <a:p>
                      <a:r>
                        <a:rPr lang="en-US" sz="1200" b="1">
                          <a:solidFill>
                            <a:srgbClr val="FBE9E7"/>
                          </a:solidFill>
                        </a:rPr>
                        <a:t>Gate Mechanism</a:t>
                      </a:r>
                    </a:p>
                  </a:txBody>
                  <a:tcPr>
                    <a:solidFill>
                      <a:srgbClr val="BF360C"/>
                    </a:solidFill>
                  </a:tcPr>
                </a:tc>
                <a:tc>
                  <a:txBody>
                    <a:bodyPr/>
                    <a:lstStyle/>
                    <a:p>
                      <a:r>
                        <a:rPr lang="en-US" sz="1200" b="1">
                          <a:solidFill>
                            <a:srgbClr val="FBE9E7"/>
                          </a:solidFill>
                        </a:rPr>
                        <a:t>Key Advantage</a:t>
                      </a:r>
                    </a:p>
                  </a:txBody>
                  <a:tcPr>
                    <a:solidFill>
                      <a:srgbClr val="BF360C"/>
                    </a:solidFill>
                  </a:tcPr>
                </a:tc>
              </a:tr>
              <a:tr h="576000">
                <a:tc>
                  <a:txBody>
                    <a:bodyPr/>
                    <a:lstStyle/>
                    <a:p>
                      <a:r>
                        <a:rPr lang="en-US" sz="1200" b="1">
                          <a:solidFill>
                            <a:srgbClr val="FFCCBC"/>
                          </a:solidFill>
                        </a:rPr>
                        <a:t>Neutral Atoms (Rydberg)</a:t>
                      </a:r>
                    </a:p>
                  </a:txBody>
                  <a:tcPr>
                    <a:solidFill>
                      <a:srgbClr val="1A0A08"/>
                    </a:solidFill>
                  </a:tcPr>
                </a:tc>
                <a:tc>
                  <a:txBody>
                    <a:bodyPr/>
                    <a:lstStyle/>
                    <a:p>
                      <a:r>
                        <a:rPr lang="en-US" sz="1200">
                          <a:solidFill>
                            <a:srgbClr val="FBE9E7"/>
                          </a:solidFill>
                        </a:rPr>
                        <a:t>⁸⁷Rb, ¹³³Cs, ⁸⁸Sr</a:t>
                      </a:r>
                    </a:p>
                  </a:txBody>
                  <a:tcPr>
                    <a:solidFill>
                      <a:srgbClr val="1A0A08"/>
                    </a:solidFill>
                  </a:tcPr>
                </a:tc>
                <a:tc>
                  <a:txBody>
                    <a:bodyPr/>
                    <a:lstStyle/>
                    <a:p>
                      <a:r>
                        <a:rPr lang="en-US" sz="1200">
                          <a:solidFill>
                            <a:srgbClr val="FBE9E7"/>
                          </a:solidFill>
                        </a:rPr>
                        <a:t>Rydberg blockade (CZ gate): dipole-dipole interaction between highly excited atoms</a:t>
                      </a:r>
                    </a:p>
                  </a:txBody>
                  <a:tcPr>
                    <a:solidFill>
                      <a:srgbClr val="1A0A08"/>
                    </a:solidFill>
                  </a:tcPr>
                </a:tc>
                <a:tc>
                  <a:txBody>
                    <a:bodyPr/>
                    <a:lstStyle/>
                    <a:p>
                      <a:r>
                        <a:rPr lang="en-US" sz="1200">
                          <a:solidFill>
                            <a:srgbClr val="FBE9E7"/>
                          </a:solidFill>
                        </a:rPr>
                        <a:t>2D/3D reconfigurable arrays; 1000+ qubits (QuEra, Pasqal, Atom Computing)</a:t>
                      </a:r>
                    </a:p>
                  </a:txBody>
                  <a:tcPr>
                    <a:solidFill>
                      <a:srgbClr val="1A0A08"/>
                    </a:solidFill>
                  </a:tcPr>
                </a:tc>
              </a:tr>
              <a:tr h="576000">
                <a:tc>
                  <a:txBody>
                    <a:bodyPr/>
                    <a:lstStyle/>
                    <a:p>
                      <a:r>
                        <a:rPr lang="en-US" sz="1200" b="1">
                          <a:solidFill>
                            <a:srgbClr val="FFCCBC"/>
                          </a:solidFill>
                        </a:rPr>
                        <a:t>NV Center (Diamond)</a:t>
                      </a:r>
                    </a:p>
                  </a:txBody>
                  <a:tcPr>
                    <a:solidFill>
                      <a:srgbClr val="2A1510"/>
                    </a:solidFill>
                  </a:tcPr>
                </a:tc>
                <a:tc>
                  <a:txBody>
                    <a:bodyPr/>
                    <a:lstStyle/>
                    <a:p>
                      <a:r>
                        <a:rPr lang="en-US" sz="1200">
                          <a:solidFill>
                            <a:srgbClr val="FBE9E7"/>
                          </a:solidFill>
                        </a:rPr>
                        <a:t>N-V defect + ¹³C nuclear spin</a:t>
                      </a:r>
                    </a:p>
                  </a:txBody>
                  <a:tcPr>
                    <a:solidFill>
                      <a:srgbClr val="2A1510"/>
                    </a:solidFill>
                  </a:tcPr>
                </a:tc>
                <a:tc>
                  <a:txBody>
                    <a:bodyPr/>
                    <a:lstStyle/>
                    <a:p>
                      <a:r>
                        <a:rPr lang="en-US" sz="1200">
                          <a:solidFill>
                            <a:srgbClr val="FBE9E7"/>
                          </a:solidFill>
                        </a:rPr>
                        <a:t>MW pulses for e-spin; RF for nuclear spin; optical readout</a:t>
                      </a:r>
                    </a:p>
                  </a:txBody>
                  <a:tcPr>
                    <a:solidFill>
                      <a:srgbClr val="2A1510"/>
                    </a:solidFill>
                  </a:tcPr>
                </a:tc>
                <a:tc>
                  <a:txBody>
                    <a:bodyPr/>
                    <a:lstStyle/>
                    <a:p>
                      <a:r>
                        <a:rPr lang="en-US" sz="1200">
                          <a:solidFill>
                            <a:srgbClr val="FBE9E7"/>
                          </a:solidFill>
                        </a:rPr>
                        <a:t>Room-temperature operation; quantum sensing &amp; networks</a:t>
                      </a:r>
                    </a:p>
                  </a:txBody>
                  <a:tcPr>
                    <a:solidFill>
                      <a:srgbClr val="2A1510"/>
                    </a:solidFill>
                  </a:tcPr>
                </a:tc>
              </a:tr>
              <a:tr h="576000">
                <a:tc>
                  <a:txBody>
                    <a:bodyPr/>
                    <a:lstStyle/>
                    <a:p>
                      <a:r>
                        <a:rPr lang="en-US" sz="1200" b="1">
                          <a:solidFill>
                            <a:srgbClr val="FFCCBC"/>
                          </a:solidFill>
                        </a:rPr>
                        <a:t>Quantum Dots</a:t>
                      </a:r>
                    </a:p>
                  </a:txBody>
                  <a:tcPr>
                    <a:solidFill>
                      <a:srgbClr val="1A0A08"/>
                    </a:solidFill>
                  </a:tcPr>
                </a:tc>
                <a:tc>
                  <a:txBody>
                    <a:bodyPr/>
                    <a:lstStyle/>
                    <a:p>
                      <a:r>
                        <a:rPr lang="en-US" sz="1200">
                          <a:solidFill>
                            <a:srgbClr val="FBE9E7"/>
                          </a:solidFill>
                        </a:rPr>
                        <a:t>Electron in Si/SiGe, GaAs</a:t>
                      </a:r>
                    </a:p>
                  </a:txBody>
                  <a:tcPr>
                    <a:solidFill>
                      <a:srgbClr val="1A0A08"/>
                    </a:solidFill>
                  </a:tcPr>
                </a:tc>
                <a:tc>
                  <a:txBody>
                    <a:bodyPr/>
                    <a:lstStyle/>
                    <a:p>
                      <a:r>
                        <a:rPr lang="en-US" sz="1200">
                          <a:solidFill>
                            <a:srgbClr val="FBE9E7"/>
                          </a:solidFill>
                        </a:rPr>
                        <a:t>Electron spin resonance (ESR), exchange coupling</a:t>
                      </a:r>
                    </a:p>
                  </a:txBody>
                  <a:tcPr>
                    <a:solidFill>
                      <a:srgbClr val="1A0A08"/>
                    </a:solidFill>
                  </a:tcPr>
                </a:tc>
                <a:tc>
                  <a:txBody>
                    <a:bodyPr/>
                    <a:lstStyle/>
                    <a:p>
                      <a:r>
                        <a:rPr lang="en-US" sz="1200">
                          <a:solidFill>
                            <a:srgbClr val="FBE9E7"/>
                          </a:solidFill>
                        </a:rPr>
                        <a:t>CMOS-compatible; Intel Horse Ridge; TU Delft</a:t>
                      </a:r>
                    </a:p>
                  </a:txBody>
                  <a:tcPr>
                    <a:solidFill>
                      <a:srgbClr val="1A0A08"/>
                    </a:solidFill>
                  </a:tcPr>
                </a:tc>
              </a:tr>
              <a:tr h="576000">
                <a:tc>
                  <a:txBody>
                    <a:bodyPr/>
                    <a:lstStyle/>
                    <a:p>
                      <a:r>
                        <a:rPr lang="en-US" sz="1200" b="1">
                          <a:solidFill>
                            <a:srgbClr val="FFCCBC"/>
                          </a:solidFill>
                        </a:rPr>
                        <a:t>Phosphorus in Si</a:t>
                      </a:r>
                    </a:p>
                  </a:txBody>
                  <a:tcPr>
                    <a:solidFill>
                      <a:srgbClr val="2A1510"/>
                    </a:solidFill>
                  </a:tcPr>
                </a:tc>
                <a:tc>
                  <a:txBody>
                    <a:bodyPr/>
                    <a:lstStyle/>
                    <a:p>
                      <a:r>
                        <a:rPr lang="en-US" sz="1200">
                          <a:solidFill>
                            <a:srgbClr val="FBE9E7"/>
                          </a:solidFill>
                        </a:rPr>
                        <a:t>³¹P donor in silicon</a:t>
                      </a:r>
                    </a:p>
                  </a:txBody>
                  <a:tcPr>
                    <a:solidFill>
                      <a:srgbClr val="2A1510"/>
                    </a:solidFill>
                  </a:tcPr>
                </a:tc>
                <a:tc>
                  <a:txBody>
                    <a:bodyPr/>
                    <a:lstStyle/>
                    <a:p>
                      <a:r>
                        <a:rPr lang="en-US" sz="1200">
                          <a:solidFill>
                            <a:srgbClr val="FBE9E7"/>
                          </a:solidFill>
                        </a:rPr>
                        <a:t>Nuclear spin as qubit (99.99% fidelity), electron spin ancilla</a:t>
                      </a:r>
                    </a:p>
                  </a:txBody>
                  <a:tcPr>
                    <a:solidFill>
                      <a:srgbClr val="2A1510"/>
                    </a:solidFill>
                  </a:tcPr>
                </a:tc>
                <a:tc>
                  <a:txBody>
                    <a:bodyPr/>
                    <a:lstStyle/>
                    <a:p>
                      <a:r>
                        <a:rPr lang="en-US" sz="1200">
                          <a:solidFill>
                            <a:srgbClr val="FBE9E7"/>
                          </a:solidFill>
                        </a:rPr>
                        <a:t>Longest coherence time in solid state (&gt;35 sec); UNSW/Intel</a:t>
                      </a:r>
                    </a:p>
                  </a:txBody>
                  <a:tcPr>
                    <a:solidFill>
                      <a:srgbClr val="2A1510"/>
                    </a:solidFill>
                  </a:tcPr>
                </a:tc>
              </a:tr>
            </a:tbl>
          </a:graphicData>
        </a:graphic>
      </p:graphicFrame>
      <p:sp>
        <p:nvSpPr>
          <p:cNvPr id="100246" name="TextBox 4"/>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FFCCBC"/>
                </a:solidFill>
              </a:rPr>
              <a:t>42 / 65  |  MODULE 4: QUBIT ↔ ATOMS</a:t>
            </a:r>
          </a:p>
        </p:txBody>
      </p:sp>
      <p:sp>
        <p:nvSpPr>
          <p:cNvPr id="100247" name="TextBox 5"/>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FFAB91"/>
                </a:solidFill>
              </a:rPr>
              <a:t>QFF26 Lecture Series — Quantum Computing Basics  |  qff26.org</a:t>
            </a:r>
          </a:p>
        </p:txBody>
      </p:sp>
    </p:spTree>
  </p:cSld>
</p:sld>
</file>

<file path=ppt/slides/slide38.xml><?xml version="1.0" encoding="utf-8"?>
<p:sld xmlns:p="http://schemas.openxmlformats.org/presentationml/2006/main">
  <p:cSld>
    <p:spTree>
      <p:nvGrpSpPr>
        <p:cNvPr id="1" name=""/>
        <p:cNvGrpSpPr/>
        <p:nvPr/>
      </p:nvGrpSpPr>
      <p:grpSpPr/>
      <p:sp>
        <p:nvSpPr>
          <p:cNvPr id="100248" name="TextBox 1"/>
          <p:cNvSpPr txBox="1"/>
          <p:nvPr/>
        </p:nvSpPr>
        <p:spPr>
          <a:xfrm xmlns:a="http://schemas.openxmlformats.org/drawingml/2006/main">
            <a:off x="180000" y="198000"/>
            <a:ext cx="1800000" cy="198000"/>
          </a:xfrm>
          <a:prstGeom xmlns:a="http://schemas.openxmlformats.org/drawingml/2006/main" prst="rect">
            <a:avLst/>
          </a:prstGeom>
          <a:solidFill xmlns:a="http://schemas.openxmlformats.org/drawingml/2006/main">
            <a:srgbClr val="BF360C"/>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QUBIT ↔ ATOMS</a:t>
            </a:r>
          </a:p>
        </p:txBody>
      </p:sp>
      <p:sp>
        <p:nvSpPr>
          <p:cNvPr id="100249"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FBE9E7"/>
                </a:solidFill>
              </a:rPr>
              <a:t>Superconducting Qubits vs Atomic Systems</a:t>
            </a:r>
          </a:p>
        </p:txBody>
      </p:sp>
      <p:sp>
        <p:nvSpPr>
          <p:cNvPr id="100250"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FF5722"/>
          </a:solidFill>
        </p:spPr>
        <p:txBody>
          <a:bodyPr xmlns:a="http://schemas.openxmlformats.org/drawingml/2006/main"/>
          <a:lstStyle xmlns:a="http://schemas.openxmlformats.org/drawingml/2006/main"/>
          <a:p xmlns:a="http://schemas.openxmlformats.org/drawingml/2006/main">
            <a:endParaRPr lang="en-US">
              <a:solidFill>
                <a:srgbClr val="FF5722"/>
              </a:solidFill>
            </a:endParaRPr>
          </a:p>
        </p:txBody>
      </p:sp>
      <p:graphicFrame>
        <p:nvGraphicFramePr>
          <p:cNvPr id="100251" name="Table 1"/>
          <p:cNvGraphicFramePr/>
          <p:nvPr/>
        </p:nvGraphicFramePr>
        <p:xfrm>
          <a:off xmlns:a="http://schemas.openxmlformats.org/drawingml/2006/main" x="360000" y="1152000"/>
          <a:ext xmlns:a="http://schemas.openxmlformats.org/drawingml/2006/main" cx="11160000" cy="3960000"/>
        </p:xfrm>
        <a:graphic xmlns:a="http://schemas.openxmlformats.org/drawingml/2006/main">
          <a:graphicData uri="http://schemas.openxmlformats.org/drawingml/2006/table">
            <a:tbl>
              <a:tblPr firstRow="1" bandRow="1"/>
              <a:tblGrid>
                <a:gridCol w="3720000"/>
                <a:gridCol w="3720000"/>
                <a:gridCol w="3720000"/>
              </a:tblGrid>
              <a:tr h="565714">
                <a:tc>
                  <a:txBody>
                    <a:bodyPr/>
                    <a:lstStyle/>
                    <a:p>
                      <a:r>
                        <a:rPr lang="en-US" sz="1200" b="1">
                          <a:solidFill>
                            <a:srgbClr val="FBE9E7"/>
                          </a:solidFill>
                        </a:rPr>
                        <a:t>Property</a:t>
                      </a:r>
                    </a:p>
                  </a:txBody>
                  <a:tcPr>
                    <a:solidFill>
                      <a:srgbClr val="BF360C"/>
                    </a:solidFill>
                  </a:tcPr>
                </a:tc>
                <a:tc>
                  <a:txBody>
                    <a:bodyPr/>
                    <a:lstStyle/>
                    <a:p>
                      <a:r>
                        <a:rPr lang="en-US" sz="1200" b="1">
                          <a:solidFill>
                            <a:srgbClr val="FBE9E7"/>
                          </a:solidFill>
                        </a:rPr>
                        <a:t>Superconducting (Transmon)</a:t>
                      </a:r>
                    </a:p>
                  </a:txBody>
                  <a:tcPr>
                    <a:solidFill>
                      <a:srgbClr val="BF360C"/>
                    </a:solidFill>
                  </a:tcPr>
                </a:tc>
                <a:tc>
                  <a:txBody>
                    <a:bodyPr/>
                    <a:lstStyle/>
                    <a:p>
                      <a:r>
                        <a:rPr lang="en-US" sz="1200" b="1">
                          <a:solidFill>
                            <a:srgbClr val="FBE9E7"/>
                          </a:solidFill>
                        </a:rPr>
                        <a:t>Atomic (Trapped Ion / Neutral Atom)</a:t>
                      </a:r>
                    </a:p>
                  </a:txBody>
                  <a:tcPr>
                    <a:solidFill>
                      <a:srgbClr val="BF360C"/>
                    </a:solidFill>
                  </a:tcPr>
                </a:tc>
              </a:tr>
              <a:tr h="565714">
                <a:tc>
                  <a:txBody>
                    <a:bodyPr/>
                    <a:lstStyle/>
                    <a:p>
                      <a:r>
                        <a:rPr lang="en-US" sz="1200" b="1">
                          <a:solidFill>
                            <a:srgbClr val="FFCCBC"/>
                          </a:solidFill>
                        </a:rPr>
                        <a:t>Physical system</a:t>
                      </a:r>
                    </a:p>
                  </a:txBody>
                  <a:tcPr>
                    <a:solidFill>
                      <a:srgbClr val="1A0A08"/>
                    </a:solidFill>
                  </a:tcPr>
                </a:tc>
                <a:tc>
                  <a:txBody>
                    <a:bodyPr/>
                    <a:lstStyle/>
                    <a:p>
                      <a:r>
                        <a:rPr lang="en-US" sz="1200">
                          <a:solidFill>
                            <a:srgbClr val="FBE9E7"/>
                          </a:solidFill>
                        </a:rPr>
                        <a:t>Engineered: Josephson junction + capacitor</a:t>
                      </a:r>
                    </a:p>
                  </a:txBody>
                  <a:tcPr>
                    <a:solidFill>
                      <a:srgbClr val="1A0A08"/>
                    </a:solidFill>
                  </a:tcPr>
                </a:tc>
                <a:tc>
                  <a:txBody>
                    <a:bodyPr/>
                    <a:lstStyle/>
                    <a:p>
                      <a:r>
                        <a:rPr lang="en-US" sz="1200">
                          <a:solidFill>
                            <a:srgbClr val="FBE9E7"/>
                          </a:solidFill>
                        </a:rPr>
                        <a:t>Natural: individual atoms (identical worldwide)</a:t>
                      </a:r>
                    </a:p>
                  </a:txBody>
                  <a:tcPr>
                    <a:solidFill>
                      <a:srgbClr val="1A0A08"/>
                    </a:solidFill>
                  </a:tcPr>
                </a:tc>
              </a:tr>
              <a:tr h="565714">
                <a:tc>
                  <a:txBody>
                    <a:bodyPr/>
                    <a:lstStyle/>
                    <a:p>
                      <a:r>
                        <a:rPr lang="en-US" sz="1200" b="1">
                          <a:solidFill>
                            <a:srgbClr val="FFCCBC"/>
                          </a:solidFill>
                        </a:rPr>
                        <a:t>Operating temp</a:t>
                      </a:r>
                    </a:p>
                  </a:txBody>
                  <a:tcPr>
                    <a:solidFill>
                      <a:srgbClr val="2A1510"/>
                    </a:solidFill>
                  </a:tcPr>
                </a:tc>
                <a:tc>
                  <a:txBody>
                    <a:bodyPr/>
                    <a:lstStyle/>
                    <a:p>
                      <a:r>
                        <a:rPr lang="en-US" sz="1200">
                          <a:solidFill>
                            <a:srgbClr val="FBE9E7"/>
                          </a:solidFill>
                        </a:rPr>
                        <a:t>~10–20 mK (dilution refrigerator)</a:t>
                      </a:r>
                    </a:p>
                  </a:txBody>
                  <a:tcPr>
                    <a:solidFill>
                      <a:srgbClr val="2A1510"/>
                    </a:solidFill>
                  </a:tcPr>
                </a:tc>
                <a:tc>
                  <a:txBody>
                    <a:bodyPr/>
                    <a:lstStyle/>
                    <a:p>
                      <a:r>
                        <a:rPr lang="en-US" sz="1200">
                          <a:solidFill>
                            <a:srgbClr val="FBE9E7"/>
                          </a:solidFill>
                        </a:rPr>
                        <a:t>Room temp (NV) or laser cooled near 0 K</a:t>
                      </a:r>
                    </a:p>
                  </a:txBody>
                  <a:tcPr>
                    <a:solidFill>
                      <a:srgbClr val="2A1510"/>
                    </a:solidFill>
                  </a:tcPr>
                </a:tc>
              </a:tr>
              <a:tr h="565714">
                <a:tc>
                  <a:txBody>
                    <a:bodyPr/>
                    <a:lstStyle/>
                    <a:p>
                      <a:r>
                        <a:rPr lang="en-US" sz="1200" b="1">
                          <a:solidFill>
                            <a:srgbClr val="FFCCBC"/>
                          </a:solidFill>
                        </a:rPr>
                        <a:t>T₁ / T₂</a:t>
                      </a:r>
                    </a:p>
                  </a:txBody>
                  <a:tcPr>
                    <a:solidFill>
                      <a:srgbClr val="1A0A08"/>
                    </a:solidFill>
                  </a:tcPr>
                </a:tc>
                <a:tc>
                  <a:txBody>
                    <a:bodyPr/>
                    <a:lstStyle/>
                    <a:p>
                      <a:r>
                        <a:rPr lang="en-US" sz="1200">
                          <a:solidFill>
                            <a:srgbClr val="FBE9E7"/>
                          </a:solidFill>
                        </a:rPr>
                        <a:t>~100–500 μs T₁; ~100–300 μs T₂</a:t>
                      </a:r>
                    </a:p>
                  </a:txBody>
                  <a:tcPr>
                    <a:solidFill>
                      <a:srgbClr val="1A0A08"/>
                    </a:solidFill>
                  </a:tcPr>
                </a:tc>
                <a:tc>
                  <a:txBody>
                    <a:bodyPr/>
                    <a:lstStyle/>
                    <a:p>
                      <a:r>
                        <a:rPr lang="en-US" sz="1200">
                          <a:solidFill>
                            <a:srgbClr val="FBE9E7"/>
                          </a:solidFill>
                        </a:rPr>
                        <a:t>T₁ &gt; 1 min; T₂ &gt; 1 sec (ions)</a:t>
                      </a:r>
                    </a:p>
                  </a:txBody>
                  <a:tcPr>
                    <a:solidFill>
                      <a:srgbClr val="1A0A08"/>
                    </a:solidFill>
                  </a:tcPr>
                </a:tc>
              </a:tr>
              <a:tr h="565714">
                <a:tc>
                  <a:txBody>
                    <a:bodyPr/>
                    <a:lstStyle/>
                    <a:p>
                      <a:r>
                        <a:rPr lang="en-US" sz="1200" b="1">
                          <a:solidFill>
                            <a:srgbClr val="FFCCBC"/>
                          </a:solidFill>
                        </a:rPr>
                        <a:t>Gate speed</a:t>
                      </a:r>
                    </a:p>
                  </a:txBody>
                  <a:tcPr>
                    <a:solidFill>
                      <a:srgbClr val="2A1510"/>
                    </a:solidFill>
                  </a:tcPr>
                </a:tc>
                <a:tc>
                  <a:txBody>
                    <a:bodyPr/>
                    <a:lstStyle/>
                    <a:p>
                      <a:r>
                        <a:rPr lang="en-US" sz="1200">
                          <a:solidFill>
                            <a:srgbClr val="FBE9E7"/>
                          </a:solidFill>
                        </a:rPr>
                        <a:t>~20–100 ns (very fast)</a:t>
                      </a:r>
                    </a:p>
                  </a:txBody>
                  <a:tcPr>
                    <a:solidFill>
                      <a:srgbClr val="2A1510"/>
                    </a:solidFill>
                  </a:tcPr>
                </a:tc>
                <a:tc>
                  <a:txBody>
                    <a:bodyPr/>
                    <a:lstStyle/>
                    <a:p>
                      <a:r>
                        <a:rPr lang="en-US" sz="1200">
                          <a:solidFill>
                            <a:srgbClr val="FBE9E7"/>
                          </a:solidFill>
                        </a:rPr>
                        <a:t>~10–100 μs (slower but higher fidelity)</a:t>
                      </a:r>
                    </a:p>
                  </a:txBody>
                  <a:tcPr>
                    <a:solidFill>
                      <a:srgbClr val="2A1510"/>
                    </a:solidFill>
                  </a:tcPr>
                </a:tc>
              </a:tr>
              <a:tr h="565714">
                <a:tc>
                  <a:txBody>
                    <a:bodyPr/>
                    <a:lstStyle/>
                    <a:p>
                      <a:r>
                        <a:rPr lang="en-US" sz="1200" b="1">
                          <a:solidFill>
                            <a:srgbClr val="FFCCBC"/>
                          </a:solidFill>
                        </a:rPr>
                        <a:t>Connectivity</a:t>
                      </a:r>
                    </a:p>
                  </a:txBody>
                  <a:tcPr>
                    <a:solidFill>
                      <a:srgbClr val="1A0A08"/>
                    </a:solidFill>
                  </a:tcPr>
                </a:tc>
                <a:tc>
                  <a:txBody>
                    <a:bodyPr/>
                    <a:lstStyle/>
                    <a:p>
                      <a:r>
                        <a:rPr lang="en-US" sz="1200">
                          <a:solidFill>
                            <a:srgbClr val="FBE9E7"/>
                          </a:solidFill>
                        </a:rPr>
                        <a:t>Fixed (nearest-neighbor, heavy-hex)</a:t>
                      </a:r>
                    </a:p>
                  </a:txBody>
                  <a:tcPr>
                    <a:solidFill>
                      <a:srgbClr val="1A0A08"/>
                    </a:solidFill>
                  </a:tcPr>
                </a:tc>
                <a:tc>
                  <a:txBody>
                    <a:bodyPr/>
                    <a:lstStyle/>
                    <a:p>
                      <a:r>
                        <a:rPr lang="en-US" sz="1200">
                          <a:solidFill>
                            <a:srgbClr val="FBE9E7"/>
                          </a:solidFill>
                        </a:rPr>
                        <a:t>All-to-all (ions), reconfigurable (neutral atoms)</a:t>
                      </a:r>
                    </a:p>
                  </a:txBody>
                  <a:tcPr>
                    <a:solidFill>
                      <a:srgbClr val="1A0A08"/>
                    </a:solidFill>
                  </a:tcPr>
                </a:tc>
              </a:tr>
              <a:tr h="565714">
                <a:tc>
                  <a:txBody>
                    <a:bodyPr/>
                    <a:lstStyle/>
                    <a:p>
                      <a:r>
                        <a:rPr lang="en-US" sz="1200" b="1">
                          <a:solidFill>
                            <a:srgbClr val="FFCCBC"/>
                          </a:solidFill>
                        </a:rPr>
                        <a:t>Scale (2024)</a:t>
                      </a:r>
                    </a:p>
                  </a:txBody>
                  <a:tcPr>
                    <a:solidFill>
                      <a:srgbClr val="2A1510"/>
                    </a:solidFill>
                  </a:tcPr>
                </a:tc>
                <a:tc>
                  <a:txBody>
                    <a:bodyPr/>
                    <a:lstStyle/>
                    <a:p>
                      <a:r>
                        <a:rPr lang="en-US" sz="1200">
                          <a:solidFill>
                            <a:srgbClr val="FBE9E7"/>
                          </a:solidFill>
                        </a:rPr>
                        <a:t>~1121 qubits (IBM Condor); 133 qubits (IBM Heron)</a:t>
                      </a:r>
                    </a:p>
                  </a:txBody>
                  <a:tcPr>
                    <a:solidFill>
                      <a:srgbClr val="2A1510"/>
                    </a:solidFill>
                  </a:tcPr>
                </a:tc>
                <a:tc>
                  <a:txBody>
                    <a:bodyPr/>
                    <a:lstStyle/>
                    <a:p>
                      <a:r>
                        <a:rPr lang="en-US" sz="1200">
                          <a:solidFill>
                            <a:srgbClr val="FBE9E7"/>
                          </a:solidFill>
                        </a:rPr>
                        <a:t>32–56 ions (IonQ, Quantinuum); 1000+ neutral atoms</a:t>
                      </a:r>
                    </a:p>
                  </a:txBody>
                  <a:tcPr>
                    <a:solidFill>
                      <a:srgbClr val="2A1510"/>
                    </a:solidFill>
                  </a:tcPr>
                </a:tc>
              </a:tr>
            </a:tbl>
          </a:graphicData>
        </a:graphic>
      </p:graphicFrame>
      <p:sp>
        <p:nvSpPr>
          <p:cNvPr id="100252" name="TextBox 4"/>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FFCCBC"/>
                </a:solidFill>
              </a:rPr>
              <a:t>43 / 65  |  MODULE 4: QUBIT ↔ ATOMS</a:t>
            </a:r>
          </a:p>
        </p:txBody>
      </p:sp>
      <p:sp>
        <p:nvSpPr>
          <p:cNvPr id="100253" name="TextBox 5"/>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FFAB91"/>
                </a:solidFill>
              </a:rPr>
              <a:t>QFF26 Lecture Series — Quantum Computing Basics  |  qff26.org</a:t>
            </a:r>
          </a:p>
        </p:txBody>
      </p:sp>
    </p:spTree>
  </p:cSld>
</p:sld>
</file>

<file path=ppt/slides/slide39.xml><?xml version="1.0" encoding="utf-8"?>
<p:sld xmlns:p="http://schemas.openxmlformats.org/presentationml/2006/main">
  <p:cSld>
    <p:spTree>
      <p:nvGrpSpPr>
        <p:cNvPr id="1" name=""/>
        <p:cNvGrpSpPr/>
        <p:nvPr/>
      </p:nvGrpSpPr>
      <p:grpSpPr/>
      <p:sp>
        <p:nvSpPr>
          <p:cNvPr id="100254" name="TextBox 1"/>
          <p:cNvSpPr txBox="1"/>
          <p:nvPr/>
        </p:nvSpPr>
        <p:spPr>
          <a:xfrm xmlns:a="http://schemas.openxmlformats.org/drawingml/2006/main">
            <a:off x="180000" y="198000"/>
            <a:ext cx="1800000" cy="198000"/>
          </a:xfrm>
          <a:prstGeom xmlns:a="http://schemas.openxmlformats.org/drawingml/2006/main" prst="rect">
            <a:avLst/>
          </a:prstGeom>
          <a:solidFill xmlns:a="http://schemas.openxmlformats.org/drawingml/2006/main">
            <a:srgbClr val="BF360C"/>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QUBIT ↔ ATOMS</a:t>
            </a:r>
          </a:p>
        </p:txBody>
      </p:sp>
      <p:sp>
        <p:nvSpPr>
          <p:cNvPr id="100255"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FBE9E7"/>
                </a:solidFill>
              </a:rPr>
              <a:t>DiVincenzo Criteria: Requirements for a Quantum Computer</a:t>
            </a:r>
          </a:p>
        </p:txBody>
      </p:sp>
      <p:sp>
        <p:nvSpPr>
          <p:cNvPr id="100256"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FF5722"/>
          </a:solidFill>
        </p:spPr>
        <p:txBody>
          <a:bodyPr xmlns:a="http://schemas.openxmlformats.org/drawingml/2006/main"/>
          <a:lstStyle xmlns:a="http://schemas.openxmlformats.org/drawingml/2006/main"/>
          <a:p xmlns:a="http://schemas.openxmlformats.org/drawingml/2006/main">
            <a:endParaRPr lang="en-US">
              <a:solidFill>
                <a:srgbClr val="FF5722"/>
              </a:solidFill>
            </a:endParaRPr>
          </a:p>
        </p:txBody>
      </p:sp>
      <p:graphicFrame>
        <p:nvGraphicFramePr>
          <p:cNvPr id="100257" name="Table 1"/>
          <p:cNvGraphicFramePr/>
          <p:nvPr/>
        </p:nvGraphicFramePr>
        <p:xfrm>
          <a:off xmlns:a="http://schemas.openxmlformats.org/drawingml/2006/main" x="360000" y="1152000"/>
          <a:ext xmlns:a="http://schemas.openxmlformats.org/drawingml/2006/main" cx="11160000" cy="3960000"/>
        </p:xfrm>
        <a:graphic xmlns:a="http://schemas.openxmlformats.org/drawingml/2006/main">
          <a:graphicData uri="http://schemas.openxmlformats.org/drawingml/2006/table">
            <a:tbl>
              <a:tblPr firstRow="1" bandRow="1"/>
              <a:tblGrid>
                <a:gridCol w="3720000"/>
                <a:gridCol w="3720000"/>
                <a:gridCol w="3720000"/>
              </a:tblGrid>
              <a:tr h="660000">
                <a:tc>
                  <a:txBody>
                    <a:bodyPr/>
                    <a:lstStyle/>
                    <a:p>
                      <a:r>
                        <a:rPr lang="en-US" sz="1200" b="1">
                          <a:solidFill>
                            <a:srgbClr val="FBE9E7"/>
                          </a:solidFill>
                        </a:rPr>
                        <a:t>Criterion</a:t>
                      </a:r>
                    </a:p>
                  </a:txBody>
                  <a:tcPr>
                    <a:solidFill>
                      <a:srgbClr val="BF360C"/>
                    </a:solidFill>
                  </a:tcPr>
                </a:tc>
                <a:tc>
                  <a:txBody>
                    <a:bodyPr/>
                    <a:lstStyle/>
                    <a:p>
                      <a:r>
                        <a:rPr lang="en-US" sz="1200" b="1">
                          <a:solidFill>
                            <a:srgbClr val="FBE9E7"/>
                          </a:solidFill>
                        </a:rPr>
                        <a:t>Requirement</a:t>
                      </a:r>
                    </a:p>
                  </a:txBody>
                  <a:tcPr>
                    <a:solidFill>
                      <a:srgbClr val="BF360C"/>
                    </a:solidFill>
                  </a:tcPr>
                </a:tc>
                <a:tc>
                  <a:txBody>
                    <a:bodyPr/>
                    <a:lstStyle/>
                    <a:p>
                      <a:r>
                        <a:rPr lang="en-US" sz="1200" b="1">
                          <a:solidFill>
                            <a:srgbClr val="FBE9E7"/>
                          </a:solidFill>
                        </a:rPr>
                        <a:t>Platform Status (2024)</a:t>
                      </a:r>
                    </a:p>
                  </a:txBody>
                  <a:tcPr>
                    <a:solidFill>
                      <a:srgbClr val="BF360C"/>
                    </a:solidFill>
                  </a:tcPr>
                </a:tc>
              </a:tr>
              <a:tr h="660000">
                <a:tc>
                  <a:txBody>
                    <a:bodyPr/>
                    <a:lstStyle/>
                    <a:p>
                      <a:r>
                        <a:rPr lang="en-US" sz="1200" b="1">
                          <a:solidFill>
                            <a:srgbClr val="FFCCBC"/>
                          </a:solidFill>
                        </a:rPr>
                        <a:t>D1: Scalable qubits</a:t>
                      </a:r>
                    </a:p>
                  </a:txBody>
                  <a:tcPr>
                    <a:solidFill>
                      <a:srgbClr val="1A0A08"/>
                    </a:solidFill>
                  </a:tcPr>
                </a:tc>
                <a:tc>
                  <a:txBody>
                    <a:bodyPr/>
                    <a:lstStyle/>
                    <a:p>
                      <a:r>
                        <a:rPr lang="en-US" sz="1200">
                          <a:solidFill>
                            <a:srgbClr val="FBE9E7"/>
                          </a:solidFill>
                        </a:rPr>
                        <a:t>Well-defined, scalable two-level system</a:t>
                      </a:r>
                    </a:p>
                  </a:txBody>
                  <a:tcPr>
                    <a:solidFill>
                      <a:srgbClr val="1A0A08"/>
                    </a:solidFill>
                  </a:tcPr>
                </a:tc>
                <a:tc>
                  <a:txBody>
                    <a:bodyPr/>
                    <a:lstStyle/>
                    <a:p>
                      <a:r>
                        <a:rPr lang="en-US" sz="1200">
                          <a:solidFill>
                            <a:srgbClr val="FBE9E7"/>
                          </a:solidFill>
                        </a:rPr>
                        <a:t>All platforms: ✓ (SC: 1000+; Ion: 56; Neutral: 1000+)</a:t>
                      </a:r>
                    </a:p>
                  </a:txBody>
                  <a:tcPr>
                    <a:solidFill>
                      <a:srgbClr val="1A0A08"/>
                    </a:solidFill>
                  </a:tcPr>
                </a:tc>
              </a:tr>
              <a:tr h="660000">
                <a:tc>
                  <a:txBody>
                    <a:bodyPr/>
                    <a:lstStyle/>
                    <a:p>
                      <a:r>
                        <a:rPr lang="en-US" sz="1200" b="1">
                          <a:solidFill>
                            <a:srgbClr val="FFCCBC"/>
                          </a:solidFill>
                        </a:rPr>
                        <a:t>D2: Initialization</a:t>
                      </a:r>
                    </a:p>
                  </a:txBody>
                  <a:tcPr>
                    <a:solidFill>
                      <a:srgbClr val="2A1510"/>
                    </a:solidFill>
                  </a:tcPr>
                </a:tc>
                <a:tc>
                  <a:txBody>
                    <a:bodyPr/>
                    <a:lstStyle/>
                    <a:p>
                      <a:r>
                        <a:rPr lang="en-US" sz="1200">
                          <a:solidFill>
                            <a:srgbClr val="FBE9E7"/>
                          </a:solidFill>
                        </a:rPr>
                        <a:t>Ability to initialize to |0⟩ with high fidelity</a:t>
                      </a:r>
                    </a:p>
                  </a:txBody>
                  <a:tcPr>
                    <a:solidFill>
                      <a:srgbClr val="2A1510"/>
                    </a:solidFill>
                  </a:tcPr>
                </a:tc>
                <a:tc>
                  <a:txBody>
                    <a:bodyPr/>
                    <a:lstStyle/>
                    <a:p>
                      <a:r>
                        <a:rPr lang="en-US" sz="1200">
                          <a:solidFill>
                            <a:srgbClr val="FBE9E7"/>
                          </a:solidFill>
                        </a:rPr>
                        <a:t>✓ All platforms &gt;99%; optical pumping (ions), fast reset (SC)</a:t>
                      </a:r>
                    </a:p>
                  </a:txBody>
                  <a:tcPr>
                    <a:solidFill>
                      <a:srgbClr val="2A1510"/>
                    </a:solidFill>
                  </a:tcPr>
                </a:tc>
              </a:tr>
              <a:tr h="660000">
                <a:tc>
                  <a:txBody>
                    <a:bodyPr/>
                    <a:lstStyle/>
                    <a:p>
                      <a:r>
                        <a:rPr lang="en-US" sz="1200" b="1">
                          <a:solidFill>
                            <a:srgbClr val="FFCCBC"/>
                          </a:solidFill>
                        </a:rPr>
                        <a:t>D3: Coherence &gt;&gt; gate time</a:t>
                      </a:r>
                    </a:p>
                  </a:txBody>
                  <a:tcPr>
                    <a:solidFill>
                      <a:srgbClr val="1A0A08"/>
                    </a:solidFill>
                  </a:tcPr>
                </a:tc>
                <a:tc>
                  <a:txBody>
                    <a:bodyPr/>
                    <a:lstStyle/>
                    <a:p>
                      <a:r>
                        <a:rPr lang="en-US" sz="1200">
                          <a:solidFill>
                            <a:srgbClr val="FBE9E7"/>
                          </a:solidFill>
                        </a:rPr>
                        <a:t>T₂ &gt;&gt; t_gate by many orders</a:t>
                      </a:r>
                    </a:p>
                  </a:txBody>
                  <a:tcPr>
                    <a:solidFill>
                      <a:srgbClr val="1A0A08"/>
                    </a:solidFill>
                  </a:tcPr>
                </a:tc>
                <a:tc>
                  <a:txBody>
                    <a:bodyPr/>
                    <a:lstStyle/>
                    <a:p>
                      <a:r>
                        <a:rPr lang="en-US" sz="1200">
                          <a:solidFill>
                            <a:srgbClr val="FBE9E7"/>
                          </a:solidFill>
                        </a:rPr>
                        <a:t>SC: ~10⁴×; Ion: ~10⁷×; Neutral atom: ~10⁵×</a:t>
                      </a:r>
                    </a:p>
                  </a:txBody>
                  <a:tcPr>
                    <a:solidFill>
                      <a:srgbClr val="1A0A08"/>
                    </a:solidFill>
                  </a:tcPr>
                </a:tc>
              </a:tr>
              <a:tr h="660000">
                <a:tc>
                  <a:txBody>
                    <a:bodyPr/>
                    <a:lstStyle/>
                    <a:p>
                      <a:r>
                        <a:rPr lang="en-US" sz="1200" b="1">
                          <a:solidFill>
                            <a:srgbClr val="FFCCBC"/>
                          </a:solidFill>
                        </a:rPr>
                        <a:t>D4: Universal gate set</a:t>
                      </a:r>
                    </a:p>
                  </a:txBody>
                  <a:tcPr>
                    <a:solidFill>
                      <a:srgbClr val="2A1510"/>
                    </a:solidFill>
                  </a:tcPr>
                </a:tc>
                <a:tc>
                  <a:txBody>
                    <a:bodyPr/>
                    <a:lstStyle/>
                    <a:p>
                      <a:r>
                        <a:rPr lang="en-US" sz="1200">
                          <a:solidFill>
                            <a:srgbClr val="FBE9E7"/>
                          </a:solidFill>
                        </a:rPr>
                        <a:t>Single-qubit + entangling 2-qubit gate</a:t>
                      </a:r>
                    </a:p>
                  </a:txBody>
                  <a:tcPr>
                    <a:solidFill>
                      <a:srgbClr val="2A1510"/>
                    </a:solidFill>
                  </a:tcPr>
                </a:tc>
                <a:tc>
                  <a:txBody>
                    <a:bodyPr/>
                    <a:lstStyle/>
                    <a:p>
                      <a:r>
                        <a:rPr lang="en-US" sz="1200">
                          <a:solidFill>
                            <a:srgbClr val="FBE9E7"/>
                          </a:solidFill>
                        </a:rPr>
                        <a:t>✓ All platforms — {SU(2), CZ/CNOT/MS} sufficient</a:t>
                      </a:r>
                    </a:p>
                  </a:txBody>
                  <a:tcPr>
                    <a:solidFill>
                      <a:srgbClr val="2A1510"/>
                    </a:solidFill>
                  </a:tcPr>
                </a:tc>
              </a:tr>
              <a:tr h="660000">
                <a:tc>
                  <a:txBody>
                    <a:bodyPr/>
                    <a:lstStyle/>
                    <a:p>
                      <a:r>
                        <a:rPr lang="en-US" sz="1200" b="1">
                          <a:solidFill>
                            <a:srgbClr val="FFCCBC"/>
                          </a:solidFill>
                        </a:rPr>
                        <a:t>D5: Readout</a:t>
                      </a:r>
                    </a:p>
                  </a:txBody>
                  <a:tcPr>
                    <a:solidFill>
                      <a:srgbClr val="1A0A08"/>
                    </a:solidFill>
                  </a:tcPr>
                </a:tc>
                <a:tc>
                  <a:txBody>
                    <a:bodyPr/>
                    <a:lstStyle/>
                    <a:p>
                      <a:r>
                        <a:rPr lang="en-US" sz="1200">
                          <a:solidFill>
                            <a:srgbClr val="FBE9E7"/>
                          </a:solidFill>
                        </a:rPr>
                        <a:t>Qubit-selective projective measurement</a:t>
                      </a:r>
                    </a:p>
                  </a:txBody>
                  <a:tcPr>
                    <a:solidFill>
                      <a:srgbClr val="1A0A08"/>
                    </a:solidFill>
                  </a:tcPr>
                </a:tc>
                <a:tc>
                  <a:txBody>
                    <a:bodyPr/>
                    <a:lstStyle/>
                    <a:p>
                      <a:r>
                        <a:rPr lang="en-US" sz="1200">
                          <a:solidFill>
                            <a:srgbClr val="FBE9E7"/>
                          </a:solidFill>
                        </a:rPr>
                        <a:t>SC: 97–99%; Ion: &gt;99.9%; Neutral: 99.5%</a:t>
                      </a:r>
                    </a:p>
                  </a:txBody>
                  <a:tcPr>
                    <a:solidFill>
                      <a:srgbClr val="1A0A08"/>
                    </a:solidFill>
                  </a:tcPr>
                </a:tc>
              </a:tr>
            </a:tbl>
          </a:graphicData>
        </a:graphic>
      </p:graphicFrame>
      <p:sp>
        <p:nvSpPr>
          <p:cNvPr id="100258" name="TextBox 4"/>
          <p:cNvSpPr txBox="1"/>
          <p:nvPr/>
        </p:nvSpPr>
        <p:spPr>
          <a:xfrm xmlns:a="http://schemas.openxmlformats.org/drawingml/2006/main">
            <a:off x="360000" y="5220000"/>
            <a:ext cx="11160000" cy="432000"/>
          </a:xfrm>
          <a:prstGeom xmlns:a="http://schemas.openxmlformats.org/drawingml/2006/main" prst="rect">
            <a:avLst/>
          </a:prstGeom>
          <a:solidFill xmlns:a="http://schemas.openxmlformats.org/drawingml/2006/main">
            <a:srgbClr val="1A0A08"/>
          </a:solidFill>
        </p:spPr>
        <p:txBody>
          <a:bodyPr xmlns:a="http://schemas.openxmlformats.org/drawingml/2006/main"/>
          <a:lstStyle xmlns:a="http://schemas.openxmlformats.org/drawingml/2006/main"/>
          <a:p xmlns:a="http://schemas.openxmlformats.org/drawingml/2006/main">
            <a:pPr algn="l"/>
            <a:r>
              <a:rPr lang="en-US">
                <a:solidFill>
                  <a:srgbClr val="FFAB91"/>
                </a:solidFill>
              </a:rPr>
              <a:t>Reference: DiVincenzo, D.P. (2000) The Physical Implementation of Quantum Computation. Fortschritte der Physik 48(9-11): 771-783. doi:10.1002/1521-3978</a:t>
            </a:r>
          </a:p>
        </p:txBody>
      </p:sp>
      <p:sp>
        <p:nvSpPr>
          <p:cNvPr id="100259"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FFCCBC"/>
                </a:solidFill>
              </a:rPr>
              <a:t>44 / 65  |  MODULE 4: QUBIT ↔ ATOMS</a:t>
            </a:r>
          </a:p>
        </p:txBody>
      </p:sp>
      <p:sp>
        <p:nvSpPr>
          <p:cNvPr id="100260"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FFAB91"/>
                </a:solidFill>
              </a:rPr>
              <a:t>QFF26 Lecture Series — Quantum Computing Basics  |  qff26.org</a:t>
            </a:r>
          </a:p>
        </p:txBody>
      </p:sp>
    </p:spTree>
  </p:cSld>
</p:sld>
</file>

<file path=ppt/slides/slide40.xml><?xml version="1.0" encoding="utf-8"?>
<p:sld xmlns:p="http://schemas.openxmlformats.org/presentationml/2006/main">
  <p:cSld>
    <p:spTree>
      <p:nvGrpSpPr>
        <p:cNvPr id="1" name=""/>
        <p:cNvGrpSpPr/>
        <p:nvPr/>
      </p:nvGrpSpPr>
      <p:grpSpPr/>
      <p:sp>
        <p:nvSpPr>
          <p:cNvPr id="100261" name="TextBox 1"/>
          <p:cNvSpPr txBox="1"/>
          <p:nvPr/>
        </p:nvSpPr>
        <p:spPr>
          <a:xfrm xmlns:a="http://schemas.openxmlformats.org/drawingml/2006/main">
            <a:off x="180000" y="198000"/>
            <a:ext cx="1800000" cy="198000"/>
          </a:xfrm>
          <a:prstGeom xmlns:a="http://schemas.openxmlformats.org/drawingml/2006/main" prst="rect">
            <a:avLst/>
          </a:prstGeom>
          <a:solidFill xmlns:a="http://schemas.openxmlformats.org/drawingml/2006/main">
            <a:srgbClr val="BF360C"/>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QUBIT ↔ ATOMS</a:t>
            </a:r>
          </a:p>
        </p:txBody>
      </p:sp>
      <p:sp>
        <p:nvSpPr>
          <p:cNvPr id="100262"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FBE9E7"/>
                </a:solidFill>
              </a:rPr>
              <a:t>End-to-End: From Atom to Quantum Circuit</a:t>
            </a:r>
          </a:p>
        </p:txBody>
      </p:sp>
      <p:sp>
        <p:nvSpPr>
          <p:cNvPr id="100263"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FF5722"/>
          </a:solidFill>
        </p:spPr>
        <p:txBody>
          <a:bodyPr xmlns:a="http://schemas.openxmlformats.org/drawingml/2006/main"/>
          <a:lstStyle xmlns:a="http://schemas.openxmlformats.org/drawingml/2006/main"/>
          <a:p xmlns:a="http://schemas.openxmlformats.org/drawingml/2006/main">
            <a:endParaRPr lang="en-US">
              <a:solidFill>
                <a:srgbClr val="FF5722"/>
              </a:solidFill>
            </a:endParaRPr>
          </a:p>
        </p:txBody>
      </p:sp>
      <p:sp>
        <p:nvSpPr>
          <p:cNvPr id="100264"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FBE9E7"/>
                </a:solidFill>
              </a:rPr>
              <a:t>Complete Workflow: Trapped ¹⁷¹Yb⁺ Ion Computer</a:t>
            </a:r>
          </a:p>
          <a:p xmlns:a="http://schemas.openxmlformats.org/drawingml/2006/main">
            <a:pPr algn="l"/>
            <a:r>
              <a:rPr lang="en-US">
                <a:solidFill>
                  <a:srgbClr val="FBE9E7"/>
                </a:solidFill>
              </a:rPr>
              <a:t/>
            </a:r>
          </a:p>
          <a:p xmlns:a="http://schemas.openxmlformats.org/drawingml/2006/main">
            <a:pPr algn="l"/>
            <a:r>
              <a:rPr lang="en-US">
                <a:solidFill>
                  <a:srgbClr val="FBE9E7"/>
                </a:solidFill>
              </a:rPr>
              <a:t>━━━ PHYSICAL LAYER ━━━━━━━━━━━━━━━━━━━━━━━━━━━━━━━━━━━━━━━━━━━━━━━━━</a:t>
            </a:r>
          </a:p>
          <a:p xmlns:a="http://schemas.openxmlformats.org/drawingml/2006/main">
            <a:pPr algn="l"/>
            <a:r>
              <a:rPr lang="en-US">
                <a:solidFill>
                  <a:srgbClr val="FBE9E7"/>
                </a:solidFill>
              </a:rPr>
              <a:t>  Atom:  ¹⁷¹Yb⁺ (ytterbium ion) — 1 valence electron, nuclear spin I=½</a:t>
            </a:r>
          </a:p>
          <a:p xmlns:a="http://schemas.openxmlformats.org/drawingml/2006/main">
            <a:pPr algn="l"/>
            <a:r>
              <a:rPr lang="en-US">
                <a:solidFill>
                  <a:srgbClr val="FBE9E7"/>
                </a:solidFill>
              </a:rPr>
              <a:t>  Qubit: F=0 (|0⟩) and F=1,mF=0 (|1⟩) hyperfine ground states at 12.6 GHz</a:t>
            </a:r>
          </a:p>
          <a:p xmlns:a="http://schemas.openxmlformats.org/drawingml/2006/main">
            <a:pPr algn="l"/>
            <a:r>
              <a:rPr lang="en-US">
                <a:solidFill>
                  <a:srgbClr val="FBE9E7"/>
                </a:solidFill>
              </a:rPr>
              <a:t>  Trap:  Paul trap — oscillating electric fields confine ion strings in UHV</a:t>
            </a:r>
          </a:p>
          <a:p xmlns:a="http://schemas.openxmlformats.org/drawingml/2006/main">
            <a:pPr algn="l"/>
            <a:r>
              <a:rPr lang="en-US">
                <a:solidFill>
                  <a:srgbClr val="FBE9E7"/>
                </a:solidFill>
              </a:rPr>
              <a:t>  Cool:  Doppler + sideband cooling → near motional ground state</a:t>
            </a:r>
          </a:p>
          <a:p xmlns:a="http://schemas.openxmlformats.org/drawingml/2006/main">
            <a:pPr algn="l"/>
            <a:r>
              <a:rPr lang="en-US">
                <a:solidFill>
                  <a:srgbClr val="FBE9E7"/>
                </a:solidFill>
              </a:rPr>
              <a:t/>
            </a:r>
          </a:p>
          <a:p xmlns:a="http://schemas.openxmlformats.org/drawingml/2006/main">
            <a:pPr algn="l"/>
            <a:r>
              <a:rPr lang="en-US">
                <a:solidFill>
                  <a:srgbClr val="FBE9E7"/>
                </a:solidFill>
              </a:rPr>
              <a:t>━━━ GATE LAYER ━━━━━━━━━━━━━━━━━━━━━━━━━━━━━━━━━━━━━━━━━━━━━━━━━━━━━━</a:t>
            </a:r>
          </a:p>
          <a:p xmlns:a="http://schemas.openxmlformats.org/drawingml/2006/main">
            <a:pPr algn="l"/>
            <a:r>
              <a:rPr lang="en-US">
                <a:solidFill>
                  <a:srgbClr val="FBE9E7"/>
                </a:solidFill>
              </a:rPr>
              <a:t>  1Q gate: microwave/Raman laser pulses → Rabi oscillations on Bloch sphere</a:t>
            </a:r>
          </a:p>
          <a:p xmlns:a="http://schemas.openxmlformats.org/drawingml/2006/main">
            <a:pPr algn="l"/>
            <a:r>
              <a:rPr lang="en-US">
                <a:solidFill>
                  <a:srgbClr val="FBE9E7"/>
                </a:solidFill>
              </a:rPr>
              <a:t>           θ = Ωₑff × t  (rotation angle = pulse area)</a:t>
            </a:r>
          </a:p>
          <a:p xmlns:a="http://schemas.openxmlformats.org/drawingml/2006/main">
            <a:pPr algn="l"/>
            <a:r>
              <a:rPr lang="en-US">
                <a:solidFill>
                  <a:srgbClr val="FBE9E7"/>
                </a:solidFill>
              </a:rPr>
              <a:t>  2Q gate: Mølmer-Sørensen (MS) gate — bichromatic light field drives phonon-mediated XX coupling</a:t>
            </a:r>
          </a:p>
          <a:p xmlns:a="http://schemas.openxmlformats.org/drawingml/2006/main">
            <a:pPr algn="l"/>
            <a:r>
              <a:rPr lang="en-US">
                <a:solidFill>
                  <a:srgbClr val="FBE9E7"/>
                </a:solidFill>
              </a:rPr>
              <a:t>           MS = exp(-iπ/4 · X⊗X) = Bell state generator</a:t>
            </a:r>
          </a:p>
          <a:p xmlns:a="http://schemas.openxmlformats.org/drawingml/2006/main">
            <a:pPr algn="l"/>
            <a:r>
              <a:rPr lang="en-US">
                <a:solidFill>
                  <a:srgbClr val="FBE9E7"/>
                </a:solidFill>
              </a:rPr>
              <a:t>  Meas:   State-selective fluorescence (resonance at 370 nm) — photon = |1⟩, no photon = |0⟩</a:t>
            </a:r>
          </a:p>
          <a:p xmlns:a="http://schemas.openxmlformats.org/drawingml/2006/main">
            <a:pPr algn="l"/>
            <a:r>
              <a:rPr lang="en-US">
                <a:solidFill>
                  <a:srgbClr val="FBE9E7"/>
                </a:solidFill>
              </a:rPr>
              <a:t/>
            </a:r>
          </a:p>
          <a:p xmlns:a="http://schemas.openxmlformats.org/drawingml/2006/main">
            <a:pPr algn="l"/>
            <a:r>
              <a:rPr lang="en-US">
                <a:solidFill>
                  <a:srgbClr val="FBE9E7"/>
                </a:solidFill>
              </a:rPr>
              <a:t>━━━ CIRCUIT LAYER ━━━━━━━━━━━━━━━━━━━━━━━━━━━━━━━━━━━━━━━━━━━━━━━━━━━</a:t>
            </a:r>
          </a:p>
          <a:p xmlns:a="http://schemas.openxmlformats.org/drawingml/2006/main">
            <a:pPr algn="l"/>
            <a:r>
              <a:rPr lang="en-US">
                <a:solidFill>
                  <a:srgbClr val="FBE9E7"/>
                </a:solidFill>
              </a:rPr>
              <a:t>  Compiler: Qiskit / pytket → native gate set: {Rx, Ry, Rz, XX(θ)}</a:t>
            </a:r>
          </a:p>
          <a:p xmlns:a="http://schemas.openxmlformats.org/drawingml/2006/main">
            <a:pPr algn="l"/>
            <a:r>
              <a:rPr lang="en-US">
                <a:solidFill>
                  <a:srgbClr val="FBE9E7"/>
                </a:solidFill>
              </a:rPr>
              <a:t>  Transpile: logical CNOT → MS gate decomposition</a:t>
            </a:r>
          </a:p>
          <a:p xmlns:a="http://schemas.openxmlformats.org/drawingml/2006/main">
            <a:pPr algn="l"/>
            <a:r>
              <a:rPr lang="en-US">
                <a:solidFill>
                  <a:srgbClr val="FBE9E7"/>
                </a:solidFill>
              </a:rPr>
              <a:t>  Schedule: parallel 1Q gates where possible; 2Q gated sequentially</a:t>
            </a:r>
          </a:p>
          <a:p xmlns:a="http://schemas.openxmlformats.org/drawingml/2006/main">
            <a:pPr algn="l"/>
            <a:r>
              <a:rPr lang="en-US">
                <a:solidFill>
                  <a:srgbClr val="FBE9E7"/>
                </a:solidFill>
              </a:rPr>
              <a:t/>
            </a:r>
          </a:p>
          <a:p xmlns:a="http://schemas.openxmlformats.org/drawingml/2006/main">
            <a:pPr algn="l"/>
            <a:r>
              <a:rPr lang="en-US">
                <a:solidFill>
                  <a:srgbClr val="FBE9E7"/>
                </a:solidFill>
              </a:rPr>
              <a:t>━━━ RESULT LAYER ━━━━━━━━━━━━━━━━━━━━━━━━━━━━━━━━━━━━━━━━━━━━━━━━━━━━</a:t>
            </a:r>
          </a:p>
          <a:p xmlns:a="http://schemas.openxmlformats.org/drawingml/2006/main">
            <a:pPr algn="l"/>
            <a:r>
              <a:rPr lang="en-US">
                <a:solidFill>
                  <a:srgbClr val="FBE9E7"/>
                </a:solidFill>
              </a:rPr>
              <a:t>  Readout: PMT/camera detects photon counts per ion → bit string</a:t>
            </a:r>
          </a:p>
          <a:p xmlns:a="http://schemas.openxmlformats.org/drawingml/2006/main">
            <a:pPr algn="l"/>
            <a:r>
              <a:rPr lang="en-US">
                <a:solidFill>
                  <a:srgbClr val="FBE9E7"/>
                </a:solidFill>
              </a:rPr>
              <a:t>  Post-process: average over 1000 shots → probability distribution</a:t>
            </a:r>
          </a:p>
        </p:txBody>
      </p:sp>
      <p:sp>
        <p:nvSpPr>
          <p:cNvPr id="100265"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FFCCBC"/>
                </a:solidFill>
              </a:rPr>
              <a:t>45 / 65  |  MODULE 4: QUBIT ↔ ATOMS</a:t>
            </a:r>
          </a:p>
        </p:txBody>
      </p:sp>
      <p:sp>
        <p:nvSpPr>
          <p:cNvPr id="100266"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FFAB91"/>
                </a:solidFill>
              </a:rPr>
              <a:t>QFF26 Lecture Series — Quantum Computing Basics  |  qff26.org</a:t>
            </a:r>
          </a:p>
        </p:txBody>
      </p:sp>
    </p:spTree>
  </p:cSld>
</p:sld>
</file>

<file path=ppt/slides/slide41.xml><?xml version="1.0" encoding="utf-8"?>
<p:sld xmlns:p="http://schemas.openxmlformats.org/presentationml/2006/main">
  <p:cSld>
    <p:spTree>
      <p:nvGrpSpPr>
        <p:cNvPr id="1" name=""/>
        <p:cNvGrpSpPr/>
        <p:nvPr/>
      </p:nvGrpSpPr>
      <p:grpSpPr/>
      <p:sp>
        <p:nvSpPr>
          <p:cNvPr id="100267" name="TextBox 1"/>
          <p:cNvSpPr txBox="1"/>
          <p:nvPr/>
        </p:nvSpPr>
        <p:spPr>
          <a:xfrm xmlns:a="http://schemas.openxmlformats.org/drawingml/2006/main">
            <a:off x="180000" y="198000"/>
            <a:ext cx="1980000" cy="198000"/>
          </a:xfrm>
          <a:prstGeom xmlns:a="http://schemas.openxmlformats.org/drawingml/2006/main" prst="rect">
            <a:avLst/>
          </a:prstGeom>
          <a:solidFill xmlns:a="http://schemas.openxmlformats.org/drawingml/2006/main">
            <a:srgbClr val="7B1FA2"/>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MODULE SUMMARY</a:t>
            </a:r>
          </a:p>
        </p:txBody>
      </p:sp>
      <p:sp>
        <p:nvSpPr>
          <p:cNvPr id="100268"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FBE9E7"/>
                </a:solidFill>
              </a:rPr>
              <a:t>Module 4 Summary: Qubit ↔ Atomic Configuration</a:t>
            </a:r>
          </a:p>
        </p:txBody>
      </p:sp>
      <p:sp>
        <p:nvSpPr>
          <p:cNvPr id="100269"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FF5722"/>
          </a:solidFill>
        </p:spPr>
        <p:txBody>
          <a:bodyPr xmlns:a="http://schemas.openxmlformats.org/drawingml/2006/main"/>
          <a:lstStyle xmlns:a="http://schemas.openxmlformats.org/drawingml/2006/main"/>
          <a:p xmlns:a="http://schemas.openxmlformats.org/drawingml/2006/main">
            <a:endParaRPr lang="en-US">
              <a:solidFill>
                <a:srgbClr val="FF5722"/>
              </a:solidFill>
            </a:endParaRPr>
          </a:p>
        </p:txBody>
      </p:sp>
      <p:graphicFrame>
        <p:nvGraphicFramePr>
          <p:cNvPr id="100270" name="Table 1"/>
          <p:cNvGraphicFramePr/>
          <p:nvPr/>
        </p:nvGraphicFramePr>
        <p:xfrm>
          <a:off xmlns:a="http://schemas.openxmlformats.org/drawingml/2006/main" x="360000" y="1152000"/>
          <a:ext xmlns:a="http://schemas.openxmlformats.org/drawingml/2006/main" cx="11160000" cy="3960000"/>
        </p:xfrm>
        <a:graphic xmlns:a="http://schemas.openxmlformats.org/drawingml/2006/main">
          <a:graphicData uri="http://schemas.openxmlformats.org/drawingml/2006/table">
            <a:tbl>
              <a:tblPr firstRow="1" bandRow="1"/>
              <a:tblGrid>
                <a:gridCol w="5580000"/>
                <a:gridCol w="5580000"/>
              </a:tblGrid>
              <a:tr h="495000">
                <a:tc>
                  <a:txBody>
                    <a:bodyPr/>
                    <a:lstStyle/>
                    <a:p>
                      <a:r>
                        <a:rPr lang="en-US" sz="1300" b="1">
                          <a:solidFill>
                            <a:srgbClr val="FBE9E7"/>
                          </a:solidFill>
                        </a:rPr>
                        <a:t>Connection Made (Slides 38–45)</a:t>
                      </a:r>
                    </a:p>
                  </a:txBody>
                  <a:tcPr>
                    <a:solidFill>
                      <a:srgbClr val="BF360C"/>
                    </a:solidFill>
                  </a:tcPr>
                </a:tc>
                <a:tc>
                  <a:txBody>
                    <a:bodyPr/>
                    <a:lstStyle/>
                    <a:p>
                      <a:r>
                        <a:rPr lang="en-US" sz="1300" b="1">
                          <a:solidFill>
                            <a:srgbClr val="FBE9E7"/>
                          </a:solidFill>
                        </a:rPr>
                        <a:t>What It Means for Quantum Computing</a:t>
                      </a:r>
                    </a:p>
                  </a:txBody>
                  <a:tcPr>
                    <a:solidFill>
                      <a:srgbClr val="BF360C"/>
                    </a:solidFill>
                  </a:tcPr>
                </a:tc>
              </a:tr>
              <a:tr h="495000">
                <a:tc>
                  <a:txBody>
                    <a:bodyPr/>
                    <a:lstStyle/>
                    <a:p>
                      <a:r>
                        <a:rPr lang="en-US" sz="1200">
                          <a:solidFill>
                            <a:srgbClr val="FFCCBC"/>
                          </a:solidFill>
                        </a:rPr>
                        <a:t>Spin-½ = 2-level = qubit</a:t>
                      </a:r>
                    </a:p>
                  </a:txBody>
                  <a:tcPr>
                    <a:solidFill>
                      <a:srgbClr val="1A0A08"/>
                    </a:solidFill>
                  </a:tcPr>
                </a:tc>
                <a:tc>
                  <a:txBody>
                    <a:bodyPr/>
                    <a:lstStyle/>
                    <a:p>
                      <a:r>
                        <a:rPr lang="en-US" sz="1200">
                          <a:solidFill>
                            <a:srgbClr val="FBE9E7"/>
                          </a:solidFill>
                        </a:rPr>
                        <a:t>Every electron/nucleus carries a native qubit — physics provides the hardware</a:t>
                      </a:r>
                    </a:p>
                  </a:txBody>
                  <a:tcPr>
                    <a:solidFill>
                      <a:srgbClr val="1A0A08"/>
                    </a:solidFill>
                  </a:tcPr>
                </a:tc>
              </a:tr>
              <a:tr h="495000">
                <a:tc>
                  <a:txBody>
                    <a:bodyPr/>
                    <a:lstStyle/>
                    <a:p>
                      <a:r>
                        <a:rPr lang="en-US" sz="1200">
                          <a:solidFill>
                            <a:srgbClr val="FFCCBC"/>
                          </a:solidFill>
                        </a:rPr>
                        <a:t>Energy levels = qubit basis states</a:t>
                      </a:r>
                    </a:p>
                  </a:txBody>
                  <a:tcPr>
                    <a:solidFill>
                      <a:srgbClr val="2A1510"/>
                    </a:solidFill>
                  </a:tcPr>
                </a:tc>
                <a:tc>
                  <a:txBody>
                    <a:bodyPr/>
                    <a:lstStyle/>
                    <a:p>
                      <a:r>
                        <a:rPr lang="en-US" sz="1200">
                          <a:solidFill>
                            <a:srgbClr val="FBE9E7"/>
                          </a:solidFill>
                        </a:rPr>
                        <a:t>Resonant EM fields control qubit state — gate = atomic transition</a:t>
                      </a:r>
                    </a:p>
                  </a:txBody>
                  <a:tcPr>
                    <a:solidFill>
                      <a:srgbClr val="2A1510"/>
                    </a:solidFill>
                  </a:tcPr>
                </a:tc>
              </a:tr>
              <a:tr h="495000">
                <a:tc>
                  <a:txBody>
                    <a:bodyPr/>
                    <a:lstStyle/>
                    <a:p>
                      <a:r>
                        <a:rPr lang="en-US" sz="1200">
                          <a:solidFill>
                            <a:srgbClr val="FFCCBC"/>
                          </a:solidFill>
                        </a:rPr>
                        <a:t>Trapped ions (Yb⁺, Ca⁺, Ba⁺)</a:t>
                      </a:r>
                    </a:p>
                  </a:txBody>
                  <a:tcPr>
                    <a:solidFill>
                      <a:srgbClr val="1A0A08"/>
                    </a:solidFill>
                  </a:tcPr>
                </a:tc>
                <a:tc>
                  <a:txBody>
                    <a:bodyPr/>
                    <a:lstStyle/>
                    <a:p>
                      <a:r>
                        <a:rPr lang="en-US" sz="1200">
                          <a:solidFill>
                            <a:srgbClr val="FBE9E7"/>
                          </a:solidFill>
                        </a:rPr>
                        <a:t>Highest fidelity gates; all-to-all connectivity; IonQ/Quantinuum</a:t>
                      </a:r>
                    </a:p>
                  </a:txBody>
                  <a:tcPr>
                    <a:solidFill>
                      <a:srgbClr val="1A0A08"/>
                    </a:solidFill>
                  </a:tcPr>
                </a:tc>
              </a:tr>
              <a:tr h="495000">
                <a:tc>
                  <a:txBody>
                    <a:bodyPr/>
                    <a:lstStyle/>
                    <a:p>
                      <a:r>
                        <a:rPr lang="en-US" sz="1200">
                          <a:solidFill>
                            <a:srgbClr val="FFCCBC"/>
                          </a:solidFill>
                        </a:rPr>
                        <a:t>Neutral atoms (Rb, Cs, Sr)</a:t>
                      </a:r>
                    </a:p>
                  </a:txBody>
                  <a:tcPr>
                    <a:solidFill>
                      <a:srgbClr val="2A1510"/>
                    </a:solidFill>
                  </a:tcPr>
                </a:tc>
                <a:tc>
                  <a:txBody>
                    <a:bodyPr/>
                    <a:lstStyle/>
                    <a:p>
                      <a:r>
                        <a:rPr lang="en-US" sz="1200">
                          <a:solidFill>
                            <a:srgbClr val="FBE9E7"/>
                          </a:solidFill>
                        </a:rPr>
                        <a:t>1000+ qubit arrays; programmable connectivity; QuEra/Pasqal</a:t>
                      </a:r>
                    </a:p>
                  </a:txBody>
                  <a:tcPr>
                    <a:solidFill>
                      <a:srgbClr val="2A1510"/>
                    </a:solidFill>
                  </a:tcPr>
                </a:tc>
              </a:tr>
              <a:tr h="495000">
                <a:tc>
                  <a:txBody>
                    <a:bodyPr/>
                    <a:lstStyle/>
                    <a:p>
                      <a:r>
                        <a:rPr lang="en-US" sz="1200">
                          <a:solidFill>
                            <a:srgbClr val="FFCCBC"/>
                          </a:solidFill>
                        </a:rPr>
                        <a:t>SC transmon vs atom qubit</a:t>
                      </a:r>
                    </a:p>
                  </a:txBody>
                  <a:tcPr>
                    <a:solidFill>
                      <a:srgbClr val="1A0A08"/>
                    </a:solidFill>
                  </a:tcPr>
                </a:tc>
                <a:tc>
                  <a:txBody>
                    <a:bodyPr/>
                    <a:lstStyle/>
                    <a:p>
                      <a:r>
                        <a:rPr lang="en-US" sz="1200">
                          <a:solidFill>
                            <a:srgbClr val="FBE9E7"/>
                          </a:solidFill>
                        </a:rPr>
                        <a:t>SC: fast gates, limited coherence; Atomic: slow gates, excellent coherence</a:t>
                      </a:r>
                    </a:p>
                  </a:txBody>
                  <a:tcPr>
                    <a:solidFill>
                      <a:srgbClr val="1A0A08"/>
                    </a:solidFill>
                  </a:tcPr>
                </a:tc>
              </a:tr>
              <a:tr h="495000">
                <a:tc>
                  <a:txBody>
                    <a:bodyPr/>
                    <a:lstStyle/>
                    <a:p>
                      <a:r>
                        <a:rPr lang="en-US" sz="1200">
                          <a:solidFill>
                            <a:srgbClr val="FFCCBC"/>
                          </a:solidFill>
                        </a:rPr>
                        <a:t>DiVincenzo 5 criteria</a:t>
                      </a:r>
                    </a:p>
                  </a:txBody>
                  <a:tcPr>
                    <a:solidFill>
                      <a:srgbClr val="2A1510"/>
                    </a:solidFill>
                  </a:tcPr>
                </a:tc>
                <a:tc>
                  <a:txBody>
                    <a:bodyPr/>
                    <a:lstStyle/>
                    <a:p>
                      <a:r>
                        <a:rPr lang="en-US" sz="1200">
                          <a:solidFill>
                            <a:srgbClr val="FBE9E7"/>
                          </a:solidFill>
                        </a:rPr>
                        <a:t>All major platforms now meet all 5 — fault-tolerance is the frontier</a:t>
                      </a:r>
                    </a:p>
                  </a:txBody>
                  <a:tcPr>
                    <a:solidFill>
                      <a:srgbClr val="2A1510"/>
                    </a:solidFill>
                  </a:tcPr>
                </a:tc>
              </a:tr>
              <a:tr h="495000">
                <a:tc>
                  <a:txBody>
                    <a:bodyPr/>
                    <a:lstStyle/>
                    <a:p>
                      <a:r>
                        <a:rPr lang="en-US" sz="1200">
                          <a:solidFill>
                            <a:srgbClr val="FFCCBC"/>
                          </a:solidFill>
                        </a:rPr>
                        <a:t>Atom → Circuit pipeline</a:t>
                      </a:r>
                    </a:p>
                  </a:txBody>
                  <a:tcPr>
                    <a:solidFill>
                      <a:srgbClr val="1A0A08"/>
                    </a:solidFill>
                  </a:tcPr>
                </a:tc>
                <a:tc>
                  <a:txBody>
                    <a:bodyPr/>
                    <a:lstStyle/>
                    <a:p>
                      <a:r>
                        <a:rPr lang="en-US" sz="1200">
                          <a:solidFill>
                            <a:srgbClr val="FBE9E7"/>
                          </a:solidFill>
                        </a:rPr>
                        <a:t>Physical → gate → circuit → compiler → result: atoms ARE quantum computers</a:t>
                      </a:r>
                    </a:p>
                  </a:txBody>
                  <a:tcPr>
                    <a:solidFill>
                      <a:srgbClr val="1A0A08"/>
                    </a:solidFill>
                  </a:tcPr>
                </a:tc>
              </a:tr>
            </a:tbl>
          </a:graphicData>
        </a:graphic>
      </p:graphicFrame>
      <p:sp>
        <p:nvSpPr>
          <p:cNvPr id="100271" name="TextBox 4"/>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FFCCBC"/>
                </a:solidFill>
              </a:rPr>
              <a:t>46 / 65  |  MODULE 4: QUBIT ↔ ATOMS</a:t>
            </a:r>
          </a:p>
        </p:txBody>
      </p:sp>
      <p:sp>
        <p:nvSpPr>
          <p:cNvPr id="100272" name="TextBox 5"/>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FFAB91"/>
                </a:solidFill>
              </a:rPr>
              <a:t>QFF26 Lecture Series — Quantum Computing Basics  |  qff26.org</a:t>
            </a:r>
          </a:p>
        </p:txBody>
      </p:sp>
    </p:spTree>
  </p:cSld>
</p:sld>
</file>

<file path=ppt/slides/slide42.xml><?xml version="1.0" encoding="utf-8"?>
<p:sld xmlns:p="http://schemas.openxmlformats.org/presentationml/2006/main">
  <p:cSld>
    <p:spTree>
      <p:nvGrpSpPr>
        <p:cNvPr id="1" name=""/>
        <p:cNvGrpSpPr/>
        <p:nvPr/>
      </p:nvGrpSpPr>
      <p:grpSpPr/>
      <p:sp>
        <p:nvSpPr>
          <p:cNvPr id="100273"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CLOSING</a:t>
            </a:r>
          </a:p>
        </p:txBody>
      </p:sp>
      <p:sp>
        <p:nvSpPr>
          <p:cNvPr id="100274"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State of Quantum Hardware: 2024 Benchmarks</a:t>
            </a:r>
          </a:p>
        </p:txBody>
      </p:sp>
      <p:sp>
        <p:nvSpPr>
          <p:cNvPr id="100275"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graphicFrame>
        <p:nvGraphicFramePr>
          <p:cNvPr id="100276" name="Table 1"/>
          <p:cNvGraphicFramePr/>
          <p:nvPr/>
        </p:nvGraphicFramePr>
        <p:xfrm>
          <a:off xmlns:a="http://schemas.openxmlformats.org/drawingml/2006/main" x="360000" y="1152000"/>
          <a:ext xmlns:a="http://schemas.openxmlformats.org/drawingml/2006/main" cx="11160000" cy="3780000"/>
        </p:xfrm>
        <a:graphic xmlns:a="http://schemas.openxmlformats.org/drawingml/2006/main">
          <a:graphicData uri="http://schemas.openxmlformats.org/drawingml/2006/table">
            <a:tbl>
              <a:tblPr firstRow="1" bandRow="1"/>
              <a:tblGrid>
                <a:gridCol w="2232000"/>
                <a:gridCol w="2232000"/>
                <a:gridCol w="2232000"/>
                <a:gridCol w="2232000"/>
                <a:gridCol w="2232000"/>
              </a:tblGrid>
              <a:tr h="540000">
                <a:tc>
                  <a:txBody>
                    <a:bodyPr/>
                    <a:lstStyle/>
                    <a:p>
                      <a:r>
                        <a:rPr lang="en-US" sz="1100" b="1">
                          <a:solidFill>
                            <a:srgbClr val="E3F2FD"/>
                          </a:solidFill>
                        </a:rPr>
                        <a:t>Platform</a:t>
                      </a:r>
                    </a:p>
                  </a:txBody>
                  <a:tcPr>
                    <a:solidFill>
                      <a:srgbClr val="1565C0"/>
                    </a:solidFill>
                  </a:tcPr>
                </a:tc>
                <a:tc>
                  <a:txBody>
                    <a:bodyPr/>
                    <a:lstStyle/>
                    <a:p>
                      <a:r>
                        <a:rPr lang="en-US" sz="1100" b="1">
                          <a:solidFill>
                            <a:srgbClr val="E3F2FD"/>
                          </a:solidFill>
                        </a:rPr>
                        <a:t>Company</a:t>
                      </a:r>
                    </a:p>
                  </a:txBody>
                  <a:tcPr>
                    <a:solidFill>
                      <a:srgbClr val="1565C0"/>
                    </a:solidFill>
                  </a:tcPr>
                </a:tc>
                <a:tc>
                  <a:txBody>
                    <a:bodyPr/>
                    <a:lstStyle/>
                    <a:p>
                      <a:r>
                        <a:rPr lang="en-US" sz="1100" b="1">
                          <a:solidFill>
                            <a:srgbClr val="E3F2FD"/>
                          </a:solidFill>
                        </a:rPr>
                        <a:t>Qubits</a:t>
                      </a:r>
                    </a:p>
                  </a:txBody>
                  <a:tcPr>
                    <a:solidFill>
                      <a:srgbClr val="1565C0"/>
                    </a:solidFill>
                  </a:tcPr>
                </a:tc>
                <a:tc>
                  <a:txBody>
                    <a:bodyPr/>
                    <a:lstStyle/>
                    <a:p>
                      <a:r>
                        <a:rPr lang="en-US" sz="1100" b="1">
                          <a:solidFill>
                            <a:srgbClr val="E3F2FD"/>
                          </a:solidFill>
                        </a:rPr>
                        <a:t>2Q Fidelity</a:t>
                      </a:r>
                    </a:p>
                  </a:txBody>
                  <a:tcPr>
                    <a:solidFill>
                      <a:srgbClr val="1565C0"/>
                    </a:solidFill>
                  </a:tcPr>
                </a:tc>
                <a:tc>
                  <a:txBody>
                    <a:bodyPr/>
                    <a:lstStyle/>
                    <a:p>
                      <a:r>
                        <a:rPr lang="en-US" sz="1100" b="1">
                          <a:solidFill>
                            <a:srgbClr val="E3F2FD"/>
                          </a:solidFill>
                        </a:rPr>
                        <a:t>Key Spec</a:t>
                      </a:r>
                    </a:p>
                  </a:txBody>
                  <a:tcPr>
                    <a:solidFill>
                      <a:srgbClr val="1565C0"/>
                    </a:solidFill>
                  </a:tcPr>
                </a:tc>
              </a:tr>
              <a:tr h="540000">
                <a:tc>
                  <a:txBody>
                    <a:bodyPr/>
                    <a:lstStyle/>
                    <a:p>
                      <a:r>
                        <a:rPr lang="en-US" sz="1100" b="1">
                          <a:solidFill>
                            <a:srgbClr val="BBDEFB"/>
                          </a:solidFill>
                        </a:rPr>
                        <a:t>SC (Heron r2)</a:t>
                      </a:r>
                    </a:p>
                  </a:txBody>
                  <a:tcPr>
                    <a:solidFill>
                      <a:srgbClr val="0D2137"/>
                    </a:solidFill>
                  </a:tcPr>
                </a:tc>
                <a:tc>
                  <a:txBody>
                    <a:bodyPr/>
                    <a:lstStyle/>
                    <a:p>
                      <a:r>
                        <a:rPr lang="en-US" sz="1100">
                          <a:solidFill>
                            <a:srgbClr val="E3F2FD"/>
                          </a:solidFill>
                        </a:rPr>
                        <a:t>IBM</a:t>
                      </a:r>
                    </a:p>
                  </a:txBody>
                  <a:tcPr>
                    <a:solidFill>
                      <a:srgbClr val="0D2137"/>
                    </a:solidFill>
                  </a:tcPr>
                </a:tc>
                <a:tc>
                  <a:txBody>
                    <a:bodyPr/>
                    <a:lstStyle/>
                    <a:p>
                      <a:r>
                        <a:rPr lang="en-US" sz="1100">
                          <a:solidFill>
                            <a:srgbClr val="E3F2FD"/>
                          </a:solidFill>
                        </a:rPr>
                        <a:t>133</a:t>
                      </a:r>
                    </a:p>
                  </a:txBody>
                  <a:tcPr>
                    <a:solidFill>
                      <a:srgbClr val="0D2137"/>
                    </a:solidFill>
                  </a:tcPr>
                </a:tc>
                <a:tc>
                  <a:txBody>
                    <a:bodyPr/>
                    <a:lstStyle/>
                    <a:p>
                      <a:r>
                        <a:rPr lang="en-US" sz="1100">
                          <a:solidFill>
                            <a:srgbClr val="E3F2FD"/>
                          </a:solidFill>
                        </a:rPr>
                        <a:t>99.5%</a:t>
                      </a:r>
                    </a:p>
                  </a:txBody>
                  <a:tcPr>
                    <a:solidFill>
                      <a:srgbClr val="0D2137"/>
                    </a:solidFill>
                  </a:tcPr>
                </a:tc>
                <a:tc>
                  <a:txBody>
                    <a:bodyPr/>
                    <a:lstStyle/>
                    <a:p>
                      <a:r>
                        <a:rPr lang="en-US" sz="1100">
                          <a:solidFill>
                            <a:srgbClr val="E3F2FD"/>
                          </a:solidFill>
                        </a:rPr>
                        <a:t>Heavy-hex topology; Qiskit Runtime</a:t>
                      </a:r>
                    </a:p>
                  </a:txBody>
                  <a:tcPr>
                    <a:solidFill>
                      <a:srgbClr val="0D2137"/>
                    </a:solidFill>
                  </a:tcPr>
                </a:tc>
              </a:tr>
              <a:tr h="540000">
                <a:tc>
                  <a:txBody>
                    <a:bodyPr/>
                    <a:lstStyle/>
                    <a:p>
                      <a:r>
                        <a:rPr lang="en-US" sz="1100" b="1">
                          <a:solidFill>
                            <a:srgbClr val="BBDEFB"/>
                          </a:solidFill>
                        </a:rPr>
                        <a:t>SC (Sycamore)</a:t>
                      </a:r>
                    </a:p>
                  </a:txBody>
                  <a:tcPr>
                    <a:solidFill>
                      <a:srgbClr val="112233"/>
                    </a:solidFill>
                  </a:tcPr>
                </a:tc>
                <a:tc>
                  <a:txBody>
                    <a:bodyPr/>
                    <a:lstStyle/>
                    <a:p>
                      <a:r>
                        <a:rPr lang="en-US" sz="1100">
                          <a:solidFill>
                            <a:srgbClr val="E3F2FD"/>
                          </a:solidFill>
                        </a:rPr>
                        <a:t>Google</a:t>
                      </a:r>
                    </a:p>
                  </a:txBody>
                  <a:tcPr>
                    <a:solidFill>
                      <a:srgbClr val="112233"/>
                    </a:solidFill>
                  </a:tcPr>
                </a:tc>
                <a:tc>
                  <a:txBody>
                    <a:bodyPr/>
                    <a:lstStyle/>
                    <a:p>
                      <a:r>
                        <a:rPr lang="en-US" sz="1100">
                          <a:solidFill>
                            <a:srgbClr val="E3F2FD"/>
                          </a:solidFill>
                        </a:rPr>
                        <a:t>72</a:t>
                      </a:r>
                    </a:p>
                  </a:txBody>
                  <a:tcPr>
                    <a:solidFill>
                      <a:srgbClr val="112233"/>
                    </a:solidFill>
                  </a:tcPr>
                </a:tc>
                <a:tc>
                  <a:txBody>
                    <a:bodyPr/>
                    <a:lstStyle/>
                    <a:p>
                      <a:r>
                        <a:rPr lang="en-US" sz="1100">
                          <a:solidFill>
                            <a:srgbClr val="E3F2FD"/>
                          </a:solidFill>
                        </a:rPr>
                        <a:t>99.7%</a:t>
                      </a:r>
                    </a:p>
                  </a:txBody>
                  <a:tcPr>
                    <a:solidFill>
                      <a:srgbClr val="112233"/>
                    </a:solidFill>
                  </a:tcPr>
                </a:tc>
                <a:tc>
                  <a:txBody>
                    <a:bodyPr/>
                    <a:lstStyle/>
                    <a:p>
                      <a:r>
                        <a:rPr lang="en-US" sz="1100">
                          <a:solidFill>
                            <a:srgbClr val="E3F2FD"/>
                          </a:solidFill>
                        </a:rPr>
                        <a:t>Willow: below-threshold QEC (2024)</a:t>
                      </a:r>
                    </a:p>
                  </a:txBody>
                  <a:tcPr>
                    <a:solidFill>
                      <a:srgbClr val="112233"/>
                    </a:solidFill>
                  </a:tcPr>
                </a:tc>
              </a:tr>
              <a:tr h="540000">
                <a:tc>
                  <a:txBody>
                    <a:bodyPr/>
                    <a:lstStyle/>
                    <a:p>
                      <a:r>
                        <a:rPr lang="en-US" sz="1100" b="1">
                          <a:solidFill>
                            <a:srgbClr val="BBDEFB"/>
                          </a:solidFill>
                        </a:rPr>
                        <a:t>Trapped Ion</a:t>
                      </a:r>
                    </a:p>
                  </a:txBody>
                  <a:tcPr>
                    <a:solidFill>
                      <a:srgbClr val="0D2137"/>
                    </a:solidFill>
                  </a:tcPr>
                </a:tc>
                <a:tc>
                  <a:txBody>
                    <a:bodyPr/>
                    <a:lstStyle/>
                    <a:p>
                      <a:r>
                        <a:rPr lang="en-US" sz="1100">
                          <a:solidFill>
                            <a:srgbClr val="E3F2FD"/>
                          </a:solidFill>
                        </a:rPr>
                        <a:t>Quantinuum</a:t>
                      </a:r>
                    </a:p>
                  </a:txBody>
                  <a:tcPr>
                    <a:solidFill>
                      <a:srgbClr val="0D2137"/>
                    </a:solidFill>
                  </a:tcPr>
                </a:tc>
                <a:tc>
                  <a:txBody>
                    <a:bodyPr/>
                    <a:lstStyle/>
                    <a:p>
                      <a:r>
                        <a:rPr lang="en-US" sz="1100">
                          <a:solidFill>
                            <a:srgbClr val="E3F2FD"/>
                          </a:solidFill>
                        </a:rPr>
                        <a:t>56</a:t>
                      </a:r>
                    </a:p>
                  </a:txBody>
                  <a:tcPr>
                    <a:solidFill>
                      <a:srgbClr val="0D2137"/>
                    </a:solidFill>
                  </a:tcPr>
                </a:tc>
                <a:tc>
                  <a:txBody>
                    <a:bodyPr/>
                    <a:lstStyle/>
                    <a:p>
                      <a:r>
                        <a:rPr lang="en-US" sz="1100">
                          <a:solidFill>
                            <a:srgbClr val="E3F2FD"/>
                          </a:solidFill>
                        </a:rPr>
                        <a:t>99.9%</a:t>
                      </a:r>
                    </a:p>
                  </a:txBody>
                  <a:tcPr>
                    <a:solidFill>
                      <a:srgbClr val="0D2137"/>
                    </a:solidFill>
                  </a:tcPr>
                </a:tc>
                <a:tc>
                  <a:txBody>
                    <a:bodyPr/>
                    <a:lstStyle/>
                    <a:p>
                      <a:r>
                        <a:rPr lang="en-US" sz="1100">
                          <a:solidFill>
                            <a:srgbClr val="E3F2FD"/>
                          </a:solidFill>
                        </a:rPr>
                        <a:t>H2 processor; highest fidelity (2024)</a:t>
                      </a:r>
                    </a:p>
                  </a:txBody>
                  <a:tcPr>
                    <a:solidFill>
                      <a:srgbClr val="0D2137"/>
                    </a:solidFill>
                  </a:tcPr>
                </a:tc>
              </a:tr>
              <a:tr h="540000">
                <a:tc>
                  <a:txBody>
                    <a:bodyPr/>
                    <a:lstStyle/>
                    <a:p>
                      <a:r>
                        <a:rPr lang="en-US" sz="1100" b="1">
                          <a:solidFill>
                            <a:srgbClr val="BBDEFB"/>
                          </a:solidFill>
                        </a:rPr>
                        <a:t>Trapped Ion</a:t>
                      </a:r>
                    </a:p>
                  </a:txBody>
                  <a:tcPr>
                    <a:solidFill>
                      <a:srgbClr val="112233"/>
                    </a:solidFill>
                  </a:tcPr>
                </a:tc>
                <a:tc>
                  <a:txBody>
                    <a:bodyPr/>
                    <a:lstStyle/>
                    <a:p>
                      <a:r>
                        <a:rPr lang="en-US" sz="1100">
                          <a:solidFill>
                            <a:srgbClr val="E3F2FD"/>
                          </a:solidFill>
                        </a:rPr>
                        <a:t>IonQ</a:t>
                      </a:r>
                    </a:p>
                  </a:txBody>
                  <a:tcPr>
                    <a:solidFill>
                      <a:srgbClr val="112233"/>
                    </a:solidFill>
                  </a:tcPr>
                </a:tc>
                <a:tc>
                  <a:txBody>
                    <a:bodyPr/>
                    <a:lstStyle/>
                    <a:p>
                      <a:r>
                        <a:rPr lang="en-US" sz="1100">
                          <a:solidFill>
                            <a:srgbClr val="E3F2FD"/>
                          </a:solidFill>
                        </a:rPr>
                        <a:t>35</a:t>
                      </a:r>
                    </a:p>
                  </a:txBody>
                  <a:tcPr>
                    <a:solidFill>
                      <a:srgbClr val="112233"/>
                    </a:solidFill>
                  </a:tcPr>
                </a:tc>
                <a:tc>
                  <a:txBody>
                    <a:bodyPr/>
                    <a:lstStyle/>
                    <a:p>
                      <a:r>
                        <a:rPr lang="en-US" sz="1100">
                          <a:solidFill>
                            <a:srgbClr val="E3F2FD"/>
                          </a:solidFill>
                        </a:rPr>
                        <a:t>99.4%</a:t>
                      </a:r>
                    </a:p>
                  </a:txBody>
                  <a:tcPr>
                    <a:solidFill>
                      <a:srgbClr val="112233"/>
                    </a:solidFill>
                  </a:tcPr>
                </a:tc>
                <a:tc>
                  <a:txBody>
                    <a:bodyPr/>
                    <a:lstStyle/>
                    <a:p>
                      <a:r>
                        <a:rPr lang="en-US" sz="1100">
                          <a:solidFill>
                            <a:srgbClr val="E3F2FD"/>
                          </a:solidFill>
                        </a:rPr>
                        <a:t>Aria; cloud accessible via AWS</a:t>
                      </a:r>
                    </a:p>
                  </a:txBody>
                  <a:tcPr>
                    <a:solidFill>
                      <a:srgbClr val="112233"/>
                    </a:solidFill>
                  </a:tcPr>
                </a:tc>
              </a:tr>
              <a:tr h="540000">
                <a:tc>
                  <a:txBody>
                    <a:bodyPr/>
                    <a:lstStyle/>
                    <a:p>
                      <a:r>
                        <a:rPr lang="en-US" sz="1100" b="1">
                          <a:solidFill>
                            <a:srgbClr val="BBDEFB"/>
                          </a:solidFill>
                        </a:rPr>
                        <a:t>Neutral Atom</a:t>
                      </a:r>
                    </a:p>
                  </a:txBody>
                  <a:tcPr>
                    <a:solidFill>
                      <a:srgbClr val="0D2137"/>
                    </a:solidFill>
                  </a:tcPr>
                </a:tc>
                <a:tc>
                  <a:txBody>
                    <a:bodyPr/>
                    <a:lstStyle/>
                    <a:p>
                      <a:r>
                        <a:rPr lang="en-US" sz="1100">
                          <a:solidFill>
                            <a:srgbClr val="E3F2FD"/>
                          </a:solidFill>
                        </a:rPr>
                        <a:t>QuEra</a:t>
                      </a:r>
                    </a:p>
                  </a:txBody>
                  <a:tcPr>
                    <a:solidFill>
                      <a:srgbClr val="0D2137"/>
                    </a:solidFill>
                  </a:tcPr>
                </a:tc>
                <a:tc>
                  <a:txBody>
                    <a:bodyPr/>
                    <a:lstStyle/>
                    <a:p>
                      <a:r>
                        <a:rPr lang="en-US" sz="1100">
                          <a:solidFill>
                            <a:srgbClr val="E3F2FD"/>
                          </a:solidFill>
                        </a:rPr>
                        <a:t>256</a:t>
                      </a:r>
                    </a:p>
                  </a:txBody>
                  <a:tcPr>
                    <a:solidFill>
                      <a:srgbClr val="0D2137"/>
                    </a:solidFill>
                  </a:tcPr>
                </a:tc>
                <a:tc>
                  <a:txBody>
                    <a:bodyPr/>
                    <a:lstStyle/>
                    <a:p>
                      <a:r>
                        <a:rPr lang="en-US" sz="1100">
                          <a:solidFill>
                            <a:srgbClr val="E3F2FD"/>
                          </a:solidFill>
                        </a:rPr>
                        <a:t>99.5%</a:t>
                      </a:r>
                    </a:p>
                  </a:txBody>
                  <a:tcPr>
                    <a:solidFill>
                      <a:srgbClr val="0D2137"/>
                    </a:solidFill>
                  </a:tcPr>
                </a:tc>
                <a:tc>
                  <a:txBody>
                    <a:bodyPr/>
                    <a:lstStyle/>
                    <a:p>
                      <a:r>
                        <a:rPr lang="en-US" sz="1100">
                          <a:solidFill>
                            <a:srgbClr val="E3F2FD"/>
                          </a:solidFill>
                        </a:rPr>
                        <a:t>Aquila; 2D programmable arrays</a:t>
                      </a:r>
                    </a:p>
                  </a:txBody>
                  <a:tcPr>
                    <a:solidFill>
                      <a:srgbClr val="0D2137"/>
                    </a:solidFill>
                  </a:tcPr>
                </a:tc>
              </a:tr>
              <a:tr h="540000">
                <a:tc>
                  <a:txBody>
                    <a:bodyPr/>
                    <a:lstStyle/>
                    <a:p>
                      <a:r>
                        <a:rPr lang="en-US" sz="1100" b="1">
                          <a:solidFill>
                            <a:srgbClr val="BBDEFB"/>
                          </a:solidFill>
                        </a:rPr>
                        <a:t>Photonic</a:t>
                      </a:r>
                    </a:p>
                  </a:txBody>
                  <a:tcPr>
                    <a:solidFill>
                      <a:srgbClr val="112233"/>
                    </a:solidFill>
                  </a:tcPr>
                </a:tc>
                <a:tc>
                  <a:txBody>
                    <a:bodyPr/>
                    <a:lstStyle/>
                    <a:p>
                      <a:r>
                        <a:rPr lang="en-US" sz="1100">
                          <a:solidFill>
                            <a:srgbClr val="E3F2FD"/>
                          </a:solidFill>
                        </a:rPr>
                        <a:t>PsiQuantum</a:t>
                      </a:r>
                    </a:p>
                  </a:txBody>
                  <a:tcPr>
                    <a:solidFill>
                      <a:srgbClr val="112233"/>
                    </a:solidFill>
                  </a:tcPr>
                </a:tc>
                <a:tc>
                  <a:txBody>
                    <a:bodyPr/>
                    <a:lstStyle/>
                    <a:p>
                      <a:r>
                        <a:rPr lang="en-US" sz="1100">
                          <a:solidFill>
                            <a:srgbClr val="E3F2FD"/>
                          </a:solidFill>
                        </a:rPr>
                        <a:t>1M+ (target)</a:t>
                      </a:r>
                    </a:p>
                  </a:txBody>
                  <a:tcPr>
                    <a:solidFill>
                      <a:srgbClr val="112233"/>
                    </a:solidFill>
                  </a:tcPr>
                </a:tc>
                <a:tc>
                  <a:txBody>
                    <a:bodyPr/>
                    <a:lstStyle/>
                    <a:p>
                      <a:r>
                        <a:rPr lang="en-US" sz="1100">
                          <a:solidFill>
                            <a:srgbClr val="E3F2FD"/>
                          </a:solidFill>
                        </a:rPr>
                        <a:t>TBD</a:t>
                      </a:r>
                    </a:p>
                  </a:txBody>
                  <a:tcPr>
                    <a:solidFill>
                      <a:srgbClr val="112233"/>
                    </a:solidFill>
                  </a:tcPr>
                </a:tc>
                <a:tc>
                  <a:txBody>
                    <a:bodyPr/>
                    <a:lstStyle/>
                    <a:p>
                      <a:r>
                        <a:rPr lang="en-US" sz="1100">
                          <a:solidFill>
                            <a:srgbClr val="E3F2FD"/>
                          </a:solidFill>
                        </a:rPr>
                        <a:t>Room-temp photonic; silicon fab scalable</a:t>
                      </a:r>
                    </a:p>
                  </a:txBody>
                  <a:tcPr>
                    <a:solidFill>
                      <a:srgbClr val="112233"/>
                    </a:solidFill>
                  </a:tcPr>
                </a:tc>
              </a:tr>
            </a:tbl>
          </a:graphicData>
        </a:graphic>
      </p:graphicFrame>
      <p:sp>
        <p:nvSpPr>
          <p:cNvPr id="100277" name="TextBox 4"/>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47 / 65  |  BENCHMARKS</a:t>
            </a:r>
          </a:p>
        </p:txBody>
      </p:sp>
      <p:sp>
        <p:nvSpPr>
          <p:cNvPr id="100278" name="TextBox 5"/>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43.xml><?xml version="1.0" encoding="utf-8"?>
<p:sld xmlns:p="http://schemas.openxmlformats.org/presentationml/2006/main">
  <p:cSld>
    <p:spTree>
      <p:nvGrpSpPr>
        <p:cNvPr id="1" name=""/>
        <p:cNvGrpSpPr/>
        <p:nvPr/>
      </p:nvGrpSpPr>
      <p:grpSpPr/>
      <p:sp>
        <p:nvSpPr>
          <p:cNvPr id="100279"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CLOSING</a:t>
            </a:r>
          </a:p>
        </p:txBody>
      </p:sp>
      <p:sp>
        <p:nvSpPr>
          <p:cNvPr id="100280"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Quantum Computing Roadmap 2024–2033</a:t>
            </a:r>
          </a:p>
        </p:txBody>
      </p:sp>
      <p:sp>
        <p:nvSpPr>
          <p:cNvPr id="100281"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graphicFrame>
        <p:nvGraphicFramePr>
          <p:cNvPr id="100282" name="Table 1"/>
          <p:cNvGraphicFramePr/>
          <p:nvPr/>
        </p:nvGraphicFramePr>
        <p:xfrm>
          <a:off xmlns:a="http://schemas.openxmlformats.org/drawingml/2006/main" x="360000" y="1152000"/>
          <a:ext xmlns:a="http://schemas.openxmlformats.org/drawingml/2006/main" cx="11160000" cy="3600000"/>
        </p:xfrm>
        <a:graphic xmlns:a="http://schemas.openxmlformats.org/drawingml/2006/main">
          <a:graphicData uri="http://schemas.openxmlformats.org/drawingml/2006/table">
            <a:tbl>
              <a:tblPr firstRow="1" bandRow="1"/>
              <a:tblGrid>
                <a:gridCol w="2790000"/>
                <a:gridCol w="2790000"/>
                <a:gridCol w="2790000"/>
                <a:gridCol w="2790000"/>
              </a:tblGrid>
              <a:tr h="720000">
                <a:tc>
                  <a:txBody>
                    <a:bodyPr/>
                    <a:lstStyle/>
                    <a:p>
                      <a:r>
                        <a:rPr lang="en-US" sz="1200" b="1">
                          <a:solidFill>
                            <a:srgbClr val="E3F2FD"/>
                          </a:solidFill>
                        </a:rPr>
                        <a:t>Era</a:t>
                      </a:r>
                    </a:p>
                  </a:txBody>
                  <a:tcPr>
                    <a:solidFill>
                      <a:srgbClr val="1565C0"/>
                    </a:solidFill>
                  </a:tcPr>
                </a:tc>
                <a:tc>
                  <a:txBody>
                    <a:bodyPr/>
                    <a:lstStyle/>
                    <a:p>
                      <a:r>
                        <a:rPr lang="en-US" sz="1200" b="1">
                          <a:solidFill>
                            <a:srgbClr val="E3F2FD"/>
                          </a:solidFill>
                        </a:rPr>
                        <a:t>Timeframe</a:t>
                      </a:r>
                    </a:p>
                  </a:txBody>
                  <a:tcPr>
                    <a:solidFill>
                      <a:srgbClr val="1565C0"/>
                    </a:solidFill>
                  </a:tcPr>
                </a:tc>
                <a:tc>
                  <a:txBody>
                    <a:bodyPr/>
                    <a:lstStyle/>
                    <a:p>
                      <a:r>
                        <a:rPr lang="en-US" sz="1200" b="1">
                          <a:solidFill>
                            <a:srgbClr val="E3F2FD"/>
                          </a:solidFill>
                        </a:rPr>
                        <a:t>Key Milestone</a:t>
                      </a:r>
                    </a:p>
                  </a:txBody>
                  <a:tcPr>
                    <a:solidFill>
                      <a:srgbClr val="1565C0"/>
                    </a:solidFill>
                  </a:tcPr>
                </a:tc>
                <a:tc>
                  <a:txBody>
                    <a:bodyPr/>
                    <a:lstStyle/>
                    <a:p>
                      <a:r>
                        <a:rPr lang="en-US" sz="1200" b="1">
                          <a:solidFill>
                            <a:srgbClr val="E3F2FD"/>
                          </a:solidFill>
                        </a:rPr>
                        <a:t>Qubit Count (logical)</a:t>
                      </a:r>
                    </a:p>
                  </a:txBody>
                  <a:tcPr>
                    <a:solidFill>
                      <a:srgbClr val="1565C0"/>
                    </a:solidFill>
                  </a:tcPr>
                </a:tc>
              </a:tr>
              <a:tr h="720000">
                <a:tc>
                  <a:txBody>
                    <a:bodyPr/>
                    <a:lstStyle/>
                    <a:p>
                      <a:r>
                        <a:rPr lang="en-US" sz="1200" b="1">
                          <a:solidFill>
                            <a:srgbClr val="BBDEFB"/>
                          </a:solidFill>
                        </a:rPr>
                        <a:t>NISQ</a:t>
                      </a:r>
                    </a:p>
                  </a:txBody>
                  <a:tcPr>
                    <a:solidFill>
                      <a:srgbClr val="0D2137"/>
                    </a:solidFill>
                  </a:tcPr>
                </a:tc>
                <a:tc>
                  <a:txBody>
                    <a:bodyPr/>
                    <a:lstStyle/>
                    <a:p>
                      <a:r>
                        <a:rPr lang="en-US" sz="1200">
                          <a:solidFill>
                            <a:srgbClr val="E3F2FD"/>
                          </a:solidFill>
                        </a:rPr>
                        <a:t>Now–2025</a:t>
                      </a:r>
                    </a:p>
                  </a:txBody>
                  <a:tcPr>
                    <a:solidFill>
                      <a:srgbClr val="0D2137"/>
                    </a:solidFill>
                  </a:tcPr>
                </a:tc>
                <a:tc>
                  <a:txBody>
                    <a:bodyPr/>
                    <a:lstStyle/>
                    <a:p>
                      <a:r>
                        <a:rPr lang="en-US" sz="1200">
                          <a:solidFill>
                            <a:srgbClr val="E3F2FD"/>
                          </a:solidFill>
                        </a:rPr>
                        <a:t>100–1000 noisy physical qubits; VQE/QAOA demos</a:t>
                      </a:r>
                    </a:p>
                  </a:txBody>
                  <a:tcPr>
                    <a:solidFill>
                      <a:srgbClr val="0D2137"/>
                    </a:solidFill>
                  </a:tcPr>
                </a:tc>
                <a:tc>
                  <a:txBody>
                    <a:bodyPr/>
                    <a:lstStyle/>
                    <a:p>
                      <a:r>
                        <a:rPr lang="en-US" sz="1200">
                          <a:solidFill>
                            <a:srgbClr val="E3F2FD"/>
                          </a:solidFill>
                        </a:rPr>
                        <a:t>0 logical (no QEC yet)</a:t>
                      </a:r>
                    </a:p>
                  </a:txBody>
                  <a:tcPr>
                    <a:solidFill>
                      <a:srgbClr val="0D2137"/>
                    </a:solidFill>
                  </a:tcPr>
                </a:tc>
              </a:tr>
              <a:tr h="720000">
                <a:tc>
                  <a:txBody>
                    <a:bodyPr/>
                    <a:lstStyle/>
                    <a:p>
                      <a:r>
                        <a:rPr lang="en-US" sz="1200" b="1">
                          <a:solidFill>
                            <a:srgbClr val="BBDEFB"/>
                          </a:solidFill>
                        </a:rPr>
                        <a:t>Early FT</a:t>
                      </a:r>
                    </a:p>
                  </a:txBody>
                  <a:tcPr>
                    <a:solidFill>
                      <a:srgbClr val="112233"/>
                    </a:solidFill>
                  </a:tcPr>
                </a:tc>
                <a:tc>
                  <a:txBody>
                    <a:bodyPr/>
                    <a:lstStyle/>
                    <a:p>
                      <a:r>
                        <a:rPr lang="en-US" sz="1200">
                          <a:solidFill>
                            <a:srgbClr val="E3F2FD"/>
                          </a:solidFill>
                        </a:rPr>
                        <a:t>2025–2028</a:t>
                      </a:r>
                    </a:p>
                  </a:txBody>
                  <a:tcPr>
                    <a:solidFill>
                      <a:srgbClr val="112233"/>
                    </a:solidFill>
                  </a:tcPr>
                </a:tc>
                <a:tc>
                  <a:txBody>
                    <a:bodyPr/>
                    <a:lstStyle/>
                    <a:p>
                      <a:r>
                        <a:rPr lang="en-US" sz="1200">
                          <a:solidFill>
                            <a:srgbClr val="E3F2FD"/>
                          </a:solidFill>
                        </a:rPr>
                        <a:t>Below-threshold error correction; surface code demos</a:t>
                      </a:r>
                    </a:p>
                  </a:txBody>
                  <a:tcPr>
                    <a:solidFill>
                      <a:srgbClr val="112233"/>
                    </a:solidFill>
                  </a:tcPr>
                </a:tc>
                <a:tc>
                  <a:txBody>
                    <a:bodyPr/>
                    <a:lstStyle/>
                    <a:p>
                      <a:r>
                        <a:rPr lang="en-US" sz="1200">
                          <a:solidFill>
                            <a:srgbClr val="E3F2FD"/>
                          </a:solidFill>
                        </a:rPr>
                        <a:t>10–100 logical</a:t>
                      </a:r>
                    </a:p>
                  </a:txBody>
                  <a:tcPr>
                    <a:solidFill>
                      <a:srgbClr val="112233"/>
                    </a:solidFill>
                  </a:tcPr>
                </a:tc>
              </a:tr>
              <a:tr h="720000">
                <a:tc>
                  <a:txBody>
                    <a:bodyPr/>
                    <a:lstStyle/>
                    <a:p>
                      <a:r>
                        <a:rPr lang="en-US" sz="1200" b="1">
                          <a:solidFill>
                            <a:srgbClr val="BBDEFB"/>
                          </a:solidFill>
                        </a:rPr>
                        <a:t>Utility Scale</a:t>
                      </a:r>
                    </a:p>
                  </a:txBody>
                  <a:tcPr>
                    <a:solidFill>
                      <a:srgbClr val="0D2137"/>
                    </a:solidFill>
                  </a:tcPr>
                </a:tc>
                <a:tc>
                  <a:txBody>
                    <a:bodyPr/>
                    <a:lstStyle/>
                    <a:p>
                      <a:r>
                        <a:rPr lang="en-US" sz="1200">
                          <a:solidFill>
                            <a:srgbClr val="E3F2FD"/>
                          </a:solidFill>
                        </a:rPr>
                        <a:t>2028–2030</a:t>
                      </a:r>
                    </a:p>
                  </a:txBody>
                  <a:tcPr>
                    <a:solidFill>
                      <a:srgbClr val="0D2137"/>
                    </a:solidFill>
                  </a:tcPr>
                </a:tc>
                <a:tc>
                  <a:txBody>
                    <a:bodyPr/>
                    <a:lstStyle/>
                    <a:p>
                      <a:r>
                        <a:rPr lang="en-US" sz="1200">
                          <a:solidFill>
                            <a:srgbClr val="E3F2FD"/>
                          </a:solidFill>
                        </a:rPr>
                        <a:t>Classically-intractable chemistry; drug discovery</a:t>
                      </a:r>
                    </a:p>
                  </a:txBody>
                  <a:tcPr>
                    <a:solidFill>
                      <a:srgbClr val="0D2137"/>
                    </a:solidFill>
                  </a:tcPr>
                </a:tc>
                <a:tc>
                  <a:txBody>
                    <a:bodyPr/>
                    <a:lstStyle/>
                    <a:p>
                      <a:r>
                        <a:rPr lang="en-US" sz="1200">
                          <a:solidFill>
                            <a:srgbClr val="E3F2FD"/>
                          </a:solidFill>
                        </a:rPr>
                        <a:t>1000–10000 logical</a:t>
                      </a:r>
                    </a:p>
                  </a:txBody>
                  <a:tcPr>
                    <a:solidFill>
                      <a:srgbClr val="0D2137"/>
                    </a:solidFill>
                  </a:tcPr>
                </a:tc>
              </a:tr>
              <a:tr h="720000">
                <a:tc>
                  <a:txBody>
                    <a:bodyPr/>
                    <a:lstStyle/>
                    <a:p>
                      <a:r>
                        <a:rPr lang="en-US" sz="1200" b="1">
                          <a:solidFill>
                            <a:srgbClr val="BBDEFB"/>
                          </a:solidFill>
                        </a:rPr>
                        <a:t>Fault-Tolerant</a:t>
                      </a:r>
                    </a:p>
                  </a:txBody>
                  <a:tcPr>
                    <a:solidFill>
                      <a:srgbClr val="112233"/>
                    </a:solidFill>
                  </a:tcPr>
                </a:tc>
                <a:tc>
                  <a:txBody>
                    <a:bodyPr/>
                    <a:lstStyle/>
                    <a:p>
                      <a:r>
                        <a:rPr lang="en-US" sz="1200">
                          <a:solidFill>
                            <a:srgbClr val="E3F2FD"/>
                          </a:solidFill>
                        </a:rPr>
                        <a:t>2030–2033+</a:t>
                      </a:r>
                    </a:p>
                  </a:txBody>
                  <a:tcPr>
                    <a:solidFill>
                      <a:srgbClr val="112233"/>
                    </a:solidFill>
                  </a:tcPr>
                </a:tc>
                <a:tc>
                  <a:txBody>
                    <a:bodyPr/>
                    <a:lstStyle/>
                    <a:p>
                      <a:r>
                        <a:rPr lang="en-US" sz="1200">
                          <a:solidFill>
                            <a:srgbClr val="E3F2FD"/>
                          </a:solidFill>
                        </a:rPr>
                        <a:t>Shor RSA-2048 factoring; quantum ML; FeMoco simulation</a:t>
                      </a:r>
                    </a:p>
                  </a:txBody>
                  <a:tcPr>
                    <a:solidFill>
                      <a:srgbClr val="112233"/>
                    </a:solidFill>
                  </a:tcPr>
                </a:tc>
                <a:tc>
                  <a:txBody>
                    <a:bodyPr/>
                    <a:lstStyle/>
                    <a:p>
                      <a:r>
                        <a:rPr lang="en-US" sz="1200">
                          <a:solidFill>
                            <a:srgbClr val="E3F2FD"/>
                          </a:solidFill>
                        </a:rPr>
                        <a:t>1M+ logical</a:t>
                      </a:r>
                    </a:p>
                  </a:txBody>
                  <a:tcPr>
                    <a:solidFill>
                      <a:srgbClr val="112233"/>
                    </a:solidFill>
                  </a:tcPr>
                </a:tc>
              </a:tr>
            </a:tbl>
          </a:graphicData>
        </a:graphic>
      </p:graphicFrame>
      <p:sp>
        <p:nvSpPr>
          <p:cNvPr id="100283" name="TextBox 4"/>
          <p:cNvSpPr txBox="1"/>
          <p:nvPr/>
        </p:nvSpPr>
        <p:spPr>
          <a:xfrm xmlns:a="http://schemas.openxmlformats.org/drawingml/2006/main">
            <a:off x="360000" y="4860000"/>
            <a:ext cx="11160000" cy="720000"/>
          </a:xfrm>
          <a:prstGeom xmlns:a="http://schemas.openxmlformats.org/drawingml/2006/main" prst="rect">
            <a:avLst/>
          </a:prstGeom>
          <a:solidFill xmlns:a="http://schemas.openxmlformats.org/drawingml/2006/main">
            <a:srgbClr val="112233"/>
          </a:solidFill>
        </p:spPr>
        <p:txBody>
          <a:bodyPr xmlns:a="http://schemas.openxmlformats.org/drawingml/2006/main"/>
          <a:lstStyle xmlns:a="http://schemas.openxmlformats.org/drawingml/2006/main"/>
          <a:p xmlns:a="http://schemas.openxmlformats.org/drawingml/2006/main">
            <a:pPr algn="l"/>
            <a:r>
              <a:rPr lang="en-US">
                <a:solidFill>
                  <a:srgbClr val="90CAF9"/>
                </a:solidFill>
              </a:rPr>
              <a:t>IBM Quantum 2033 Target: 100,000 physical qubits → 10,000 logical qubits</a:t>
            </a:r>
          </a:p>
          <a:p xmlns:a="http://schemas.openxmlformats.org/drawingml/2006/main">
            <a:pPr algn="l"/>
            <a:r>
              <a:rPr lang="en-US">
                <a:solidFill>
                  <a:srgbClr val="90CAF9"/>
                </a:solidFill>
              </a:rPr>
              <a:t>NIST PQC standards (FIPS 203/204/205) finalized 2024 — post-quantum cryptography now standardized</a:t>
            </a:r>
          </a:p>
        </p:txBody>
      </p:sp>
      <p:sp>
        <p:nvSpPr>
          <p:cNvPr id="100284"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48 / 65  |  ROADMAP</a:t>
            </a:r>
          </a:p>
        </p:txBody>
      </p:sp>
      <p:sp>
        <p:nvSpPr>
          <p:cNvPr id="100285"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44.xml><?xml version="1.0" encoding="utf-8"?>
<p:sld xmlns:p="http://schemas.openxmlformats.org/presentationml/2006/main">
  <p:cSld>
    <p:spTree>
      <p:nvGrpSpPr>
        <p:cNvPr id="1" name=""/>
        <p:cNvGrpSpPr/>
        <p:nvPr/>
      </p:nvGrpSpPr>
      <p:grpSpPr/>
      <p:sp>
        <p:nvSpPr>
          <p:cNvPr id="100286"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CLOSING</a:t>
            </a:r>
          </a:p>
        </p:txBody>
      </p:sp>
      <p:sp>
        <p:nvSpPr>
          <p:cNvPr id="100287"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The Four-Module Connection: How Everything Links</a:t>
            </a:r>
          </a:p>
        </p:txBody>
      </p:sp>
      <p:sp>
        <p:nvSpPr>
          <p:cNvPr id="100288"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graphicFrame>
        <p:nvGraphicFramePr>
          <p:cNvPr id="100289" name="Table 1"/>
          <p:cNvGraphicFramePr/>
          <p:nvPr/>
        </p:nvGraphicFramePr>
        <p:xfrm>
          <a:off xmlns:a="http://schemas.openxmlformats.org/drawingml/2006/main" x="360000" y="1152000"/>
          <a:ext xmlns:a="http://schemas.openxmlformats.org/drawingml/2006/main" cx="11160000" cy="3600000"/>
        </p:xfrm>
        <a:graphic xmlns:a="http://schemas.openxmlformats.org/drawingml/2006/main">
          <a:graphicData uri="http://schemas.openxmlformats.org/drawingml/2006/table">
            <a:tbl>
              <a:tblPr firstRow="1" bandRow="1"/>
              <a:tblGrid>
                <a:gridCol w="2790000"/>
                <a:gridCol w="2790000"/>
                <a:gridCol w="2790000"/>
                <a:gridCol w="2790000"/>
              </a:tblGrid>
              <a:tr h="720000">
                <a:tc>
                  <a:txBody>
                    <a:bodyPr/>
                    <a:lstStyle/>
                    <a:p>
                      <a:r>
                        <a:rPr lang="en-US" sz="1200" b="1">
                          <a:solidFill>
                            <a:srgbClr val="E0F7FA"/>
                          </a:solidFill>
                        </a:rPr>
                        <a:t>Module 1: Mathematics</a:t>
                      </a:r>
                    </a:p>
                  </a:txBody>
                  <a:tcPr>
                    <a:solidFill>
                      <a:srgbClr val="009688"/>
                    </a:solidFill>
                  </a:tcPr>
                </a:tc>
                <a:tc>
                  <a:txBody>
                    <a:bodyPr/>
                    <a:lstStyle/>
                    <a:p>
                      <a:r>
                        <a:rPr lang="en-US" sz="1200" b="1">
                          <a:solidFill>
                            <a:srgbClr val="E3F2FD"/>
                          </a:solidFill>
                        </a:rPr>
                        <a:t>Module 2: Physics</a:t>
                      </a:r>
                    </a:p>
                  </a:txBody>
                  <a:tcPr>
                    <a:solidFill>
                      <a:srgbClr val="1565C0"/>
                    </a:solidFill>
                  </a:tcPr>
                </a:tc>
                <a:tc>
                  <a:txBody>
                    <a:bodyPr/>
                    <a:lstStyle/>
                    <a:p>
                      <a:r>
                        <a:rPr lang="en-US" sz="1200" b="1">
                          <a:solidFill>
                            <a:srgbClr val="F3E5F5"/>
                          </a:solidFill>
                        </a:rPr>
                        <a:t>Module 3: Chemistry</a:t>
                      </a:r>
                    </a:p>
                  </a:txBody>
                  <a:tcPr>
                    <a:solidFill>
                      <a:srgbClr val="6A1B9A"/>
                    </a:solidFill>
                  </a:tcPr>
                </a:tc>
                <a:tc>
                  <a:txBody>
                    <a:bodyPr/>
                    <a:lstStyle/>
                    <a:p>
                      <a:r>
                        <a:rPr lang="en-US" sz="1200" b="1">
                          <a:solidFill>
                            <a:srgbClr val="FBE9E7"/>
                          </a:solidFill>
                        </a:rPr>
                        <a:t>Module 4: Qubit ↔ Atoms</a:t>
                      </a:r>
                    </a:p>
                  </a:txBody>
                  <a:tcPr>
                    <a:solidFill>
                      <a:srgbClr val="BF360C"/>
                    </a:solidFill>
                  </a:tcPr>
                </a:tc>
              </a:tr>
              <a:tr h="720000">
                <a:tc>
                  <a:txBody>
                    <a:bodyPr/>
                    <a:lstStyle/>
                    <a:p>
                      <a:r>
                        <a:rPr lang="en-US" sz="1200">
                          <a:solidFill>
                            <a:srgbClr val="E0F7FA"/>
                          </a:solidFill>
                        </a:rPr>
                        <a:t>Hilbert space: quantum state lives in C²</a:t>
                      </a:r>
                    </a:p>
                  </a:txBody>
                  <a:tcPr>
                    <a:solidFill>
                      <a:srgbClr val="0D2137"/>
                    </a:solidFill>
                  </a:tcPr>
                </a:tc>
                <a:tc>
                  <a:txBody>
                    <a:bodyPr/>
                    <a:lstStyle/>
                    <a:p>
                      <a:r>
                        <a:rPr lang="en-US" sz="1200">
                          <a:solidFill>
                            <a:srgbClr val="E3F2FD"/>
                          </a:solidFill>
                        </a:rPr>
                        <a:t>Schrödinger eq → |ψ(t)⟩ = U(t)|ψ(0)⟩</a:t>
                      </a:r>
                    </a:p>
                  </a:txBody>
                  <a:tcPr>
                    <a:solidFill>
                      <a:srgbClr val="0D2137"/>
                    </a:solidFill>
                  </a:tcPr>
                </a:tc>
                <a:tc>
                  <a:txBody>
                    <a:bodyPr/>
                    <a:lstStyle/>
                    <a:p>
                      <a:r>
                        <a:rPr lang="en-US" sz="1200">
                          <a:solidFill>
                            <a:srgbClr val="F3E5F5"/>
                          </a:solidFill>
                        </a:rPr>
                        <a:t>Ĥₑ second-quantized → qubit Pauli strings</a:t>
                      </a:r>
                    </a:p>
                  </a:txBody>
                  <a:tcPr>
                    <a:solidFill>
                      <a:srgbClr val="0D2137"/>
                    </a:solidFill>
                  </a:tcPr>
                </a:tc>
                <a:tc>
                  <a:txBody>
                    <a:bodyPr/>
                    <a:lstStyle/>
                    <a:p>
                      <a:r>
                        <a:rPr lang="en-US" sz="1200">
                          <a:solidFill>
                            <a:srgbClr val="FBE9E7"/>
                          </a:solidFill>
                        </a:rPr>
                        <a:t>Physical spin ↔ |0⟩/|1⟩; pulse ↔ gate</a:t>
                      </a:r>
                    </a:p>
                  </a:txBody>
                  <a:tcPr>
                    <a:solidFill>
                      <a:srgbClr val="0D2137"/>
                    </a:solidFill>
                  </a:tcPr>
                </a:tc>
              </a:tr>
              <a:tr h="720000">
                <a:tc>
                  <a:txBody>
                    <a:bodyPr/>
                    <a:lstStyle/>
                    <a:p>
                      <a:r>
                        <a:rPr lang="en-US" sz="1200">
                          <a:solidFill>
                            <a:srgbClr val="E0F7FA"/>
                          </a:solidFill>
                        </a:rPr>
                        <a:t>Eigenvalues = measurement outcomes</a:t>
                      </a:r>
                    </a:p>
                  </a:txBody>
                  <a:tcPr>
                    <a:solidFill>
                      <a:srgbClr val="112233"/>
                    </a:solidFill>
                  </a:tcPr>
                </a:tc>
                <a:tc>
                  <a:txBody>
                    <a:bodyPr/>
                    <a:lstStyle/>
                    <a:p>
                      <a:r>
                        <a:rPr lang="en-US" sz="1200">
                          <a:solidFill>
                            <a:srgbClr val="E3F2FD"/>
                          </a:solidFill>
                        </a:rPr>
                        <a:t>Spin-½ Pauli matrices → X,Y,Z gates</a:t>
                      </a:r>
                    </a:p>
                  </a:txBody>
                  <a:tcPr>
                    <a:solidFill>
                      <a:srgbClr val="112233"/>
                    </a:solidFill>
                  </a:tcPr>
                </a:tc>
                <a:tc>
                  <a:txBody>
                    <a:bodyPr/>
                    <a:lstStyle/>
                    <a:p>
                      <a:r>
                        <a:rPr lang="en-US" sz="1200">
                          <a:solidFill>
                            <a:srgbClr val="F3E5F5"/>
                          </a:solidFill>
                        </a:rPr>
                        <a:t>Jordan-Wigner: fermion → qubit operators</a:t>
                      </a:r>
                    </a:p>
                  </a:txBody>
                  <a:tcPr>
                    <a:solidFill>
                      <a:srgbClr val="112233"/>
                    </a:solidFill>
                  </a:tcPr>
                </a:tc>
                <a:tc>
                  <a:txBody>
                    <a:bodyPr/>
                    <a:lstStyle/>
                    <a:p>
                      <a:r>
                        <a:rPr lang="en-US" sz="1200">
                          <a:solidFill>
                            <a:srgbClr val="FBE9E7"/>
                          </a:solidFill>
                        </a:rPr>
                        <a:t>Energy levels → register; Rabi pulse → rotation</a:t>
                      </a:r>
                    </a:p>
                  </a:txBody>
                  <a:tcPr>
                    <a:solidFill>
                      <a:srgbClr val="112233"/>
                    </a:solidFill>
                  </a:tcPr>
                </a:tc>
              </a:tr>
              <a:tr h="720000">
                <a:tc>
                  <a:txBody>
                    <a:bodyPr/>
                    <a:lstStyle/>
                    <a:p>
                      <a:r>
                        <a:rPr lang="en-US" sz="1200">
                          <a:solidFill>
                            <a:srgbClr val="E0F7FA"/>
                          </a:solidFill>
                        </a:rPr>
                        <a:t>Tensor product ⊗ → multi-qubit Hilbert space</a:t>
                      </a:r>
                    </a:p>
                  </a:txBody>
                  <a:tcPr>
                    <a:solidFill>
                      <a:srgbClr val="0D2137"/>
                    </a:solidFill>
                  </a:tcPr>
                </a:tc>
                <a:tc>
                  <a:txBody>
                    <a:bodyPr/>
                    <a:lstStyle/>
                    <a:p>
                      <a:r>
                        <a:rPr lang="en-US" sz="1200">
                          <a:solidFill>
                            <a:srgbClr val="E3F2FD"/>
                          </a:solidFill>
                        </a:rPr>
                        <a:t>Many-body Schrödinger → 2ᴺ state space</a:t>
                      </a:r>
                    </a:p>
                  </a:txBody>
                  <a:tcPr>
                    <a:solidFill>
                      <a:srgbClr val="0D2137"/>
                    </a:solidFill>
                  </a:tcPr>
                </a:tc>
                <a:tc>
                  <a:txBody>
                    <a:bodyPr/>
                    <a:lstStyle/>
                    <a:p>
                      <a:r>
                        <a:rPr lang="en-US" sz="1200">
                          <a:solidFill>
                            <a:srgbClr val="F3E5F5"/>
                          </a:solidFill>
                        </a:rPr>
                        <a:t>VQE ansatz = parameterized unitary circuit</a:t>
                      </a:r>
                    </a:p>
                  </a:txBody>
                  <a:tcPr>
                    <a:solidFill>
                      <a:srgbClr val="0D2137"/>
                    </a:solidFill>
                  </a:tcPr>
                </a:tc>
                <a:tc>
                  <a:txBody>
                    <a:bodyPr/>
                    <a:lstStyle/>
                    <a:p>
                      <a:r>
                        <a:rPr lang="en-US" sz="1200">
                          <a:solidFill>
                            <a:srgbClr val="FBE9E7"/>
                          </a:solidFill>
                        </a:rPr>
                        <a:t>N spin-orbitals → N-qubit register (JW)</a:t>
                      </a:r>
                    </a:p>
                  </a:txBody>
                  <a:tcPr>
                    <a:solidFill>
                      <a:srgbClr val="0D2137"/>
                    </a:solidFill>
                  </a:tcPr>
                </a:tc>
              </a:tr>
              <a:tr h="720000">
                <a:tc>
                  <a:txBody>
                    <a:bodyPr/>
                    <a:lstStyle/>
                    <a:p>
                      <a:r>
                        <a:rPr lang="en-US" sz="1200">
                          <a:solidFill>
                            <a:srgbClr val="E0F7FA"/>
                          </a:solidFill>
                        </a:rPr>
                        <a:t>QFT + eigendecomposition → QPE</a:t>
                      </a:r>
                    </a:p>
                  </a:txBody>
                  <a:tcPr>
                    <a:solidFill>
                      <a:srgbClr val="112233"/>
                    </a:solidFill>
                  </a:tcPr>
                </a:tc>
                <a:tc>
                  <a:txBody>
                    <a:bodyPr/>
                    <a:lstStyle/>
                    <a:p>
                      <a:r>
                        <a:rPr lang="en-US" sz="1200">
                          <a:solidFill>
                            <a:srgbClr val="E3F2FD"/>
                          </a:solidFill>
                        </a:rPr>
                        <a:t>Born rule → measurement probability</a:t>
                      </a:r>
                    </a:p>
                  </a:txBody>
                  <a:tcPr>
                    <a:solidFill>
                      <a:srgbClr val="112233"/>
                    </a:solidFill>
                  </a:tcPr>
                </a:tc>
                <a:tc>
                  <a:txBody>
                    <a:bodyPr/>
                    <a:lstStyle/>
                    <a:p>
                      <a:r>
                        <a:rPr lang="en-US" sz="1200">
                          <a:solidFill>
                            <a:srgbClr val="F3E5F5"/>
                          </a:solidFill>
                        </a:rPr>
                        <a:t>Pauli string expectation values → energy</a:t>
                      </a:r>
                    </a:p>
                  </a:txBody>
                  <a:tcPr>
                    <a:solidFill>
                      <a:srgbClr val="112233"/>
                    </a:solidFill>
                  </a:tcPr>
                </a:tc>
                <a:tc>
                  <a:txBody>
                    <a:bodyPr/>
                    <a:lstStyle/>
                    <a:p>
                      <a:r>
                        <a:rPr lang="en-US" sz="1200">
                          <a:solidFill>
                            <a:srgbClr val="FBE9E7"/>
                          </a:solidFill>
                        </a:rPr>
                        <a:t>Mølmer-Sørensen gate ↔ entanglement</a:t>
                      </a:r>
                    </a:p>
                  </a:txBody>
                  <a:tcPr>
                    <a:solidFill>
                      <a:srgbClr val="112233"/>
                    </a:solidFill>
                  </a:tcPr>
                </a:tc>
              </a:tr>
            </a:tbl>
          </a:graphicData>
        </a:graphic>
      </p:graphicFrame>
      <p:sp>
        <p:nvSpPr>
          <p:cNvPr id="100290" name="TextBox 4"/>
          <p:cNvSpPr txBox="1"/>
          <p:nvPr/>
        </p:nvSpPr>
        <p:spPr>
          <a:xfrm xmlns:a="http://schemas.openxmlformats.org/drawingml/2006/main">
            <a:off x="360000" y="4860000"/>
            <a:ext cx="11160000" cy="900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ctr"/>
            <a:r>
              <a:rPr lang="en-US" b="1">
                <a:solidFill>
                  <a:srgbClr val="00E5FF"/>
                </a:solidFill>
              </a:rPr>
              <a:t>The Grand Unified Picture: Math provides language → Physics provides laws → Chemistry provides problems → Atomic hardware provides the processor.</a:t>
            </a:r>
          </a:p>
          <a:p xmlns:a="http://schemas.openxmlformats.org/drawingml/2006/main">
            <a:pPr algn="ctr"/>
            <a:r>
              <a:rPr lang="en-US" b="1">
                <a:solidFill>
                  <a:srgbClr val="00E5FF"/>
                </a:solidFill>
              </a:rPr>
              <a:t>Quantum computing is the convergence of all four.</a:t>
            </a:r>
          </a:p>
        </p:txBody>
      </p:sp>
      <p:sp>
        <p:nvSpPr>
          <p:cNvPr id="100291"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49 / 65  |  CROSS-MODULE CONNECTION</a:t>
            </a:r>
          </a:p>
        </p:txBody>
      </p:sp>
      <p:sp>
        <p:nvSpPr>
          <p:cNvPr id="100292"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45.xml><?xml version="1.0" encoding="utf-8"?>
<p:sld xmlns:p="http://schemas.openxmlformats.org/presentationml/2006/main">
  <p:cSld>
    <p:spTree>
      <p:nvGrpSpPr>
        <p:cNvPr id="1" name=""/>
        <p:cNvGrpSpPr/>
        <p:nvPr/>
      </p:nvGrpSpPr>
      <p:grpSpPr/>
      <p:sp>
        <p:nvSpPr>
          <p:cNvPr id="100293"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CLOSING</a:t>
            </a:r>
          </a:p>
        </p:txBody>
      </p:sp>
      <p:sp>
        <p:nvSpPr>
          <p:cNvPr id="100294"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Career Pathways in Quantum Computing</a:t>
            </a:r>
          </a:p>
        </p:txBody>
      </p:sp>
      <p:sp>
        <p:nvSpPr>
          <p:cNvPr id="100295"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graphicFrame>
        <p:nvGraphicFramePr>
          <p:cNvPr id="100296" name="Table 1"/>
          <p:cNvGraphicFramePr/>
          <p:nvPr/>
        </p:nvGraphicFramePr>
        <p:xfrm>
          <a:off xmlns:a="http://schemas.openxmlformats.org/drawingml/2006/main" x="360000" y="1152000"/>
          <a:ext xmlns:a="http://schemas.openxmlformats.org/drawingml/2006/main" cx="11160000" cy="3600000"/>
        </p:xfrm>
        <a:graphic xmlns:a="http://schemas.openxmlformats.org/drawingml/2006/main">
          <a:graphicData uri="http://schemas.openxmlformats.org/drawingml/2006/table">
            <a:tbl>
              <a:tblPr firstRow="1" bandRow="1"/>
              <a:tblGrid>
                <a:gridCol w="3720000"/>
                <a:gridCol w="3720000"/>
                <a:gridCol w="3720000"/>
              </a:tblGrid>
              <a:tr h="600000">
                <a:tc>
                  <a:txBody>
                    <a:bodyPr/>
                    <a:lstStyle/>
                    <a:p>
                      <a:r>
                        <a:rPr lang="en-US" sz="1200" b="1">
                          <a:solidFill>
                            <a:srgbClr val="E3F2FD"/>
                          </a:solidFill>
                        </a:rPr>
                        <a:t>Role</a:t>
                      </a:r>
                    </a:p>
                  </a:txBody>
                  <a:tcPr>
                    <a:solidFill>
                      <a:srgbClr val="1565C0"/>
                    </a:solidFill>
                  </a:tcPr>
                </a:tc>
                <a:tc>
                  <a:txBody>
                    <a:bodyPr/>
                    <a:lstStyle/>
                    <a:p>
                      <a:r>
                        <a:rPr lang="en-US" sz="1200" b="1">
                          <a:solidFill>
                            <a:srgbClr val="E3F2FD"/>
                          </a:solidFill>
                        </a:rPr>
                        <a:t>Background Required</a:t>
                      </a:r>
                    </a:p>
                  </a:txBody>
                  <a:tcPr>
                    <a:solidFill>
                      <a:srgbClr val="1565C0"/>
                    </a:solidFill>
                  </a:tcPr>
                </a:tc>
                <a:tc>
                  <a:txBody>
                    <a:bodyPr/>
                    <a:lstStyle/>
                    <a:p>
                      <a:r>
                        <a:rPr lang="en-US" sz="1200" b="1">
                          <a:solidFill>
                            <a:srgbClr val="E3F2FD"/>
                          </a:solidFill>
                        </a:rPr>
                        <a:t>Entry Pathway</a:t>
                      </a:r>
                    </a:p>
                  </a:txBody>
                  <a:tcPr>
                    <a:solidFill>
                      <a:srgbClr val="1565C0"/>
                    </a:solidFill>
                  </a:tcPr>
                </a:tc>
              </a:tr>
              <a:tr h="600000">
                <a:tc>
                  <a:txBody>
                    <a:bodyPr/>
                    <a:lstStyle/>
                    <a:p>
                      <a:r>
                        <a:rPr lang="en-US" sz="1200" b="1">
                          <a:solidFill>
                            <a:srgbClr val="BBDEFB"/>
                          </a:solidFill>
                        </a:rPr>
                        <a:t>Quantum Software Engineer</a:t>
                      </a:r>
                    </a:p>
                  </a:txBody>
                  <a:tcPr>
                    <a:solidFill>
                      <a:srgbClr val="0D2137"/>
                    </a:solidFill>
                  </a:tcPr>
                </a:tc>
                <a:tc>
                  <a:txBody>
                    <a:bodyPr/>
                    <a:lstStyle/>
                    <a:p>
                      <a:r>
                        <a:rPr lang="en-US" sz="1200">
                          <a:solidFill>
                            <a:srgbClr val="E3F2FD"/>
                          </a:solidFill>
                        </a:rPr>
                        <a:t>CS, Math, Physics; Python; linear algebra</a:t>
                      </a:r>
                    </a:p>
                  </a:txBody>
                  <a:tcPr>
                    <a:solidFill>
                      <a:srgbClr val="0D2137"/>
                    </a:solidFill>
                  </a:tcPr>
                </a:tc>
                <a:tc>
                  <a:txBody>
                    <a:bodyPr/>
                    <a:lstStyle/>
                    <a:p>
                      <a:r>
                        <a:rPr lang="en-US" sz="1200">
                          <a:solidFill>
                            <a:srgbClr val="E3F2FD"/>
                          </a:solidFill>
                        </a:rPr>
                        <a:t>Qiskit / PennyLane / Cirq projects; open source contribution</a:t>
                      </a:r>
                    </a:p>
                  </a:txBody>
                  <a:tcPr>
                    <a:solidFill>
                      <a:srgbClr val="0D2137"/>
                    </a:solidFill>
                  </a:tcPr>
                </a:tc>
              </a:tr>
              <a:tr h="600000">
                <a:tc>
                  <a:txBody>
                    <a:bodyPr/>
                    <a:lstStyle/>
                    <a:p>
                      <a:r>
                        <a:rPr lang="en-US" sz="1200" b="1">
                          <a:solidFill>
                            <a:srgbClr val="BBDEFB"/>
                          </a:solidFill>
                        </a:rPr>
                        <a:t>Quantum Hardware Engineer</a:t>
                      </a:r>
                    </a:p>
                  </a:txBody>
                  <a:tcPr>
                    <a:solidFill>
                      <a:srgbClr val="112233"/>
                    </a:solidFill>
                  </a:tcPr>
                </a:tc>
                <a:tc>
                  <a:txBody>
                    <a:bodyPr/>
                    <a:lstStyle/>
                    <a:p>
                      <a:r>
                        <a:rPr lang="en-US" sz="1200">
                          <a:solidFill>
                            <a:srgbClr val="E3F2FD"/>
                          </a:solidFill>
                        </a:rPr>
                        <a:t>Electrical Eng / Physics; cryogenics, microwave</a:t>
                      </a:r>
                    </a:p>
                  </a:txBody>
                  <a:tcPr>
                    <a:solidFill>
                      <a:srgbClr val="112233"/>
                    </a:solidFill>
                  </a:tcPr>
                </a:tc>
                <a:tc>
                  <a:txBody>
                    <a:bodyPr/>
                    <a:lstStyle/>
                    <a:p>
                      <a:r>
                        <a:rPr lang="en-US" sz="1200">
                          <a:solidFill>
                            <a:srgbClr val="E3F2FD"/>
                          </a:solidFill>
                        </a:rPr>
                        <a:t>PhD programs at MIT/Caltech/Delft; IBM Research internship</a:t>
                      </a:r>
                    </a:p>
                  </a:txBody>
                  <a:tcPr>
                    <a:solidFill>
                      <a:srgbClr val="112233"/>
                    </a:solidFill>
                  </a:tcPr>
                </a:tc>
              </a:tr>
              <a:tr h="600000">
                <a:tc>
                  <a:txBody>
                    <a:bodyPr/>
                    <a:lstStyle/>
                    <a:p>
                      <a:r>
                        <a:rPr lang="en-US" sz="1200" b="1">
                          <a:solidFill>
                            <a:srgbClr val="BBDEFB"/>
                          </a:solidFill>
                        </a:rPr>
                        <a:t>Quantum Algorithm Researcher</a:t>
                      </a:r>
                    </a:p>
                  </a:txBody>
                  <a:tcPr>
                    <a:solidFill>
                      <a:srgbClr val="0D2137"/>
                    </a:solidFill>
                  </a:tcPr>
                </a:tc>
                <a:tc>
                  <a:txBody>
                    <a:bodyPr/>
                    <a:lstStyle/>
                    <a:p>
                      <a:r>
                        <a:rPr lang="en-US" sz="1200">
                          <a:solidFill>
                            <a:srgbClr val="E3F2FD"/>
                          </a:solidFill>
                        </a:rPr>
                        <a:t>Math / Computer Science; complexity theory</a:t>
                      </a:r>
                    </a:p>
                  </a:txBody>
                  <a:tcPr>
                    <a:solidFill>
                      <a:srgbClr val="0D2137"/>
                    </a:solidFill>
                  </a:tcPr>
                </a:tc>
                <a:tc>
                  <a:txBody>
                    <a:bodyPr/>
                    <a:lstStyle/>
                    <a:p>
                      <a:r>
                        <a:rPr lang="en-US" sz="1200">
                          <a:solidFill>
                            <a:srgbClr val="E3F2FD"/>
                          </a:solidFill>
                        </a:rPr>
                        <a:t>MSc/PhD; arXiv publications; quantum ML courses</a:t>
                      </a:r>
                    </a:p>
                  </a:txBody>
                  <a:tcPr>
                    <a:solidFill>
                      <a:srgbClr val="0D2137"/>
                    </a:solidFill>
                  </a:tcPr>
                </a:tc>
              </a:tr>
              <a:tr h="600000">
                <a:tc>
                  <a:txBody>
                    <a:bodyPr/>
                    <a:lstStyle/>
                    <a:p>
                      <a:r>
                        <a:rPr lang="en-US" sz="1200" b="1">
                          <a:solidFill>
                            <a:srgbClr val="BBDEFB"/>
                          </a:solidFill>
                        </a:rPr>
                        <a:t>Quantum Chemist</a:t>
                      </a:r>
                    </a:p>
                  </a:txBody>
                  <a:tcPr>
                    <a:solidFill>
                      <a:srgbClr val="112233"/>
                    </a:solidFill>
                  </a:tcPr>
                </a:tc>
                <a:tc>
                  <a:txBody>
                    <a:bodyPr/>
                    <a:lstStyle/>
                    <a:p>
                      <a:r>
                        <a:rPr lang="en-US" sz="1200">
                          <a:solidFill>
                            <a:srgbClr val="E3F2FD"/>
                          </a:solidFill>
                        </a:rPr>
                        <a:t>Chemistry/Physics; Hamiltonians, DFT, VQE</a:t>
                      </a:r>
                    </a:p>
                  </a:txBody>
                  <a:tcPr>
                    <a:solidFill>
                      <a:srgbClr val="112233"/>
                    </a:solidFill>
                  </a:tcPr>
                </a:tc>
                <a:tc>
                  <a:txBody>
                    <a:bodyPr/>
                    <a:lstStyle/>
                    <a:p>
                      <a:r>
                        <a:rPr lang="en-US" sz="1200">
                          <a:solidFill>
                            <a:srgbClr val="E3F2FD"/>
                          </a:solidFill>
                        </a:rPr>
                        <a:t>PySCF, OpenFermion, Qiskit Nature tutorials</a:t>
                      </a:r>
                    </a:p>
                  </a:txBody>
                  <a:tcPr>
                    <a:solidFill>
                      <a:srgbClr val="112233"/>
                    </a:solidFill>
                  </a:tcPr>
                </a:tc>
              </a:tr>
              <a:tr h="600000">
                <a:tc>
                  <a:txBody>
                    <a:bodyPr/>
                    <a:lstStyle/>
                    <a:p>
                      <a:r>
                        <a:rPr lang="en-US" sz="1200" b="1">
                          <a:solidFill>
                            <a:srgbClr val="BBDEFB"/>
                          </a:solidFill>
                        </a:rPr>
                        <a:t>Quantum Security Analyst</a:t>
                      </a:r>
                    </a:p>
                  </a:txBody>
                  <a:tcPr>
                    <a:solidFill>
                      <a:srgbClr val="0D2137"/>
                    </a:solidFill>
                  </a:tcPr>
                </a:tc>
                <a:tc>
                  <a:txBody>
                    <a:bodyPr/>
                    <a:lstStyle/>
                    <a:p>
                      <a:r>
                        <a:rPr lang="en-US" sz="1200">
                          <a:solidFill>
                            <a:srgbClr val="E3F2FD"/>
                          </a:solidFill>
                        </a:rPr>
                        <a:t>Cybersecurity; cryptography; NIST standards</a:t>
                      </a:r>
                    </a:p>
                  </a:txBody>
                  <a:tcPr>
                    <a:solidFill>
                      <a:srgbClr val="0D2137"/>
                    </a:solidFill>
                  </a:tcPr>
                </a:tc>
                <a:tc>
                  <a:txBody>
                    <a:bodyPr/>
                    <a:lstStyle/>
                    <a:p>
                      <a:r>
                        <a:rPr lang="en-US" sz="1200">
                          <a:solidFill>
                            <a:srgbClr val="E3F2FD"/>
                          </a:solidFill>
                        </a:rPr>
                        <a:t>NIST PQC standards; CISA QC migration guidance</a:t>
                      </a:r>
                    </a:p>
                  </a:txBody>
                  <a:tcPr>
                    <a:solidFill>
                      <a:srgbClr val="0D2137"/>
                    </a:solidFill>
                  </a:tcPr>
                </a:tc>
              </a:tr>
            </a:tbl>
          </a:graphicData>
        </a:graphic>
      </p:graphicFrame>
      <p:sp>
        <p:nvSpPr>
          <p:cNvPr id="100297" name="TextBox 4"/>
          <p:cNvSpPr txBox="1"/>
          <p:nvPr/>
        </p:nvSpPr>
        <p:spPr>
          <a:xfrm xmlns:a="http://schemas.openxmlformats.org/drawingml/2006/main">
            <a:off x="360000" y="4860000"/>
            <a:ext cx="11160000" cy="720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ctr"/>
            <a:r>
              <a:rPr lang="en-US">
                <a:solidFill>
                  <a:srgbClr val="00E5FF"/>
                </a:solidFill>
              </a:rPr>
              <a:t>Start today: IBM Quantum Learning (learning.quantum.ibm.com) — free structured curriculum from beginner to advanced, certifications, and access to real quantum hardware.</a:t>
            </a:r>
          </a:p>
        </p:txBody>
      </p:sp>
      <p:sp>
        <p:nvSpPr>
          <p:cNvPr id="100298"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50 / 65  |  CAREER PATHWAYS</a:t>
            </a:r>
          </a:p>
        </p:txBody>
      </p:sp>
      <p:sp>
        <p:nvSpPr>
          <p:cNvPr id="100299"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46.xml><?xml version="1.0" encoding="utf-8"?>
<p:sld xmlns:p="http://schemas.openxmlformats.org/presentationml/2006/main">
  <p:cSld>
    <p:spTree>
      <p:nvGrpSpPr>
        <p:cNvPr id="1" name=""/>
        <p:cNvGrpSpPr/>
        <p:nvPr/>
      </p:nvGrpSpPr>
      <p:grpSpPr/>
      <p:sp>
        <p:nvSpPr>
          <p:cNvPr id="100300"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CLOSING</a:t>
            </a:r>
          </a:p>
        </p:txBody>
      </p:sp>
      <p:sp>
        <p:nvSpPr>
          <p:cNvPr id="100301"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Further Study: Textbooks, Courses &amp; Open-Source Tools</a:t>
            </a:r>
          </a:p>
        </p:txBody>
      </p:sp>
      <p:sp>
        <p:nvSpPr>
          <p:cNvPr id="100302"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graphicFrame>
        <p:nvGraphicFramePr>
          <p:cNvPr id="100303" name="Table 1"/>
          <p:cNvGraphicFramePr/>
          <p:nvPr/>
        </p:nvGraphicFramePr>
        <p:xfrm>
          <a:off xmlns:a="http://schemas.openxmlformats.org/drawingml/2006/main" x="360000" y="1152000"/>
          <a:ext xmlns:a="http://schemas.openxmlformats.org/drawingml/2006/main" cx="11160000" cy="2880000"/>
        </p:xfrm>
        <a:graphic xmlns:a="http://schemas.openxmlformats.org/drawingml/2006/main">
          <a:graphicData uri="http://schemas.openxmlformats.org/drawingml/2006/table">
            <a:tbl>
              <a:tblPr firstRow="1" bandRow="1"/>
              <a:tblGrid>
                <a:gridCol w="3720000"/>
                <a:gridCol w="3720000"/>
                <a:gridCol w="3720000"/>
              </a:tblGrid>
              <a:tr h="576000">
                <a:tc>
                  <a:txBody>
                    <a:bodyPr/>
                    <a:lstStyle/>
                    <a:p>
                      <a:r>
                        <a:rPr lang="en-US" sz="1200" b="1">
                          <a:solidFill>
                            <a:srgbClr val="E3F2FD"/>
                          </a:solidFill>
                        </a:rPr>
                        <a:t>Category</a:t>
                      </a:r>
                    </a:p>
                  </a:txBody>
                  <a:tcPr>
                    <a:solidFill>
                      <a:srgbClr val="1565C0"/>
                    </a:solidFill>
                  </a:tcPr>
                </a:tc>
                <a:tc>
                  <a:txBody>
                    <a:bodyPr/>
                    <a:lstStyle/>
                    <a:p>
                      <a:r>
                        <a:rPr lang="en-US" sz="1200" b="1">
                          <a:solidFill>
                            <a:srgbClr val="E3F2FD"/>
                          </a:solidFill>
                        </a:rPr>
                        <a:t>Resource</a:t>
                      </a:r>
                    </a:p>
                  </a:txBody>
                  <a:tcPr>
                    <a:solidFill>
                      <a:srgbClr val="1565C0"/>
                    </a:solidFill>
                  </a:tcPr>
                </a:tc>
                <a:tc>
                  <a:txBody>
                    <a:bodyPr/>
                    <a:lstStyle/>
                    <a:p>
                      <a:r>
                        <a:rPr lang="en-US" sz="1200" b="1">
                          <a:solidFill>
                            <a:srgbClr val="E3F2FD"/>
                          </a:solidFill>
                        </a:rPr>
                        <a:t>Level</a:t>
                      </a:r>
                    </a:p>
                  </a:txBody>
                  <a:tcPr>
                    <a:solidFill>
                      <a:srgbClr val="1565C0"/>
                    </a:solidFill>
                  </a:tcPr>
                </a:tc>
              </a:tr>
              <a:tr h="576000">
                <a:tc>
                  <a:txBody>
                    <a:bodyPr/>
                    <a:lstStyle/>
                    <a:p>
                      <a:r>
                        <a:rPr lang="en-US" sz="1200" b="1">
                          <a:solidFill>
                            <a:srgbClr val="BBDEFB"/>
                          </a:solidFill>
                        </a:rPr>
                        <a:t>Textbook — QC</a:t>
                      </a:r>
                    </a:p>
                  </a:txBody>
                  <a:tcPr>
                    <a:solidFill>
                      <a:srgbClr val="0D2137"/>
                    </a:solidFill>
                  </a:tcPr>
                </a:tc>
                <a:tc>
                  <a:txBody>
                    <a:bodyPr/>
                    <a:lstStyle/>
                    <a:p>
                      <a:r>
                        <a:rPr lang="en-US" sz="1200">
                          <a:solidFill>
                            <a:srgbClr val="E3F2FD"/>
                          </a:solidFill>
                        </a:rPr>
                        <a:t>Nielsen &amp; Chuang: Quantum Computation &amp; Quantum Information (Cambridge)</a:t>
                      </a:r>
                    </a:p>
                  </a:txBody>
                  <a:tcPr>
                    <a:solidFill>
                      <a:srgbClr val="0D2137"/>
                    </a:solidFill>
                  </a:tcPr>
                </a:tc>
                <a:tc>
                  <a:txBody>
                    <a:bodyPr/>
                    <a:lstStyle/>
                    <a:p>
                      <a:r>
                        <a:rPr lang="en-US" sz="1200">
                          <a:solidFill>
                            <a:srgbClr val="E3F2FD"/>
                          </a:solidFill>
                        </a:rPr>
                        <a:t>Intermediate–Advanced</a:t>
                      </a:r>
                    </a:p>
                  </a:txBody>
                  <a:tcPr>
                    <a:solidFill>
                      <a:srgbClr val="0D2137"/>
                    </a:solidFill>
                  </a:tcPr>
                </a:tc>
              </a:tr>
              <a:tr h="576000">
                <a:tc>
                  <a:txBody>
                    <a:bodyPr/>
                    <a:lstStyle/>
                    <a:p>
                      <a:r>
                        <a:rPr lang="en-US" sz="1200" b="1">
                          <a:solidFill>
                            <a:srgbClr val="BBDEFB"/>
                          </a:solidFill>
                        </a:rPr>
                        <a:t>Textbook — Physics</a:t>
                      </a:r>
                    </a:p>
                  </a:txBody>
                  <a:tcPr>
                    <a:solidFill>
                      <a:srgbClr val="112233"/>
                    </a:solidFill>
                  </a:tcPr>
                </a:tc>
                <a:tc>
                  <a:txBody>
                    <a:bodyPr/>
                    <a:lstStyle/>
                    <a:p>
                      <a:r>
                        <a:rPr lang="en-US" sz="1200">
                          <a:solidFill>
                            <a:srgbClr val="E3F2FD"/>
                          </a:solidFill>
                        </a:rPr>
                        <a:t>Griffiths: Introduction to Quantum Mechanics (3rd ed., Cambridge)</a:t>
                      </a:r>
                    </a:p>
                  </a:txBody>
                  <a:tcPr>
                    <a:solidFill>
                      <a:srgbClr val="112233"/>
                    </a:solidFill>
                  </a:tcPr>
                </a:tc>
                <a:tc>
                  <a:txBody>
                    <a:bodyPr/>
                    <a:lstStyle/>
                    <a:p>
                      <a:r>
                        <a:rPr lang="en-US" sz="1200">
                          <a:solidFill>
                            <a:srgbClr val="E3F2FD"/>
                          </a:solidFill>
                        </a:rPr>
                        <a:t>Undergraduate</a:t>
                      </a:r>
                    </a:p>
                  </a:txBody>
                  <a:tcPr>
                    <a:solidFill>
                      <a:srgbClr val="112233"/>
                    </a:solidFill>
                  </a:tcPr>
                </a:tc>
              </a:tr>
              <a:tr h="576000">
                <a:tc>
                  <a:txBody>
                    <a:bodyPr/>
                    <a:lstStyle/>
                    <a:p>
                      <a:r>
                        <a:rPr lang="en-US" sz="1200" b="1">
                          <a:solidFill>
                            <a:srgbClr val="BBDEFB"/>
                          </a:solidFill>
                        </a:rPr>
                        <a:t>Online Course</a:t>
                      </a:r>
                    </a:p>
                  </a:txBody>
                  <a:tcPr>
                    <a:solidFill>
                      <a:srgbClr val="0D2137"/>
                    </a:solidFill>
                  </a:tcPr>
                </a:tc>
                <a:tc>
                  <a:txBody>
                    <a:bodyPr/>
                    <a:lstStyle/>
                    <a:p>
                      <a:r>
                        <a:rPr lang="en-US" sz="1200">
                          <a:solidFill>
                            <a:srgbClr val="E3F2FD"/>
                          </a:solidFill>
                        </a:rPr>
                        <a:t>IBM Quantum Learning: learning.quantum.ibm.com — free, structured, hands-on</a:t>
                      </a:r>
                    </a:p>
                  </a:txBody>
                  <a:tcPr>
                    <a:solidFill>
                      <a:srgbClr val="0D2137"/>
                    </a:solidFill>
                  </a:tcPr>
                </a:tc>
                <a:tc>
                  <a:txBody>
                    <a:bodyPr/>
                    <a:lstStyle/>
                    <a:p>
                      <a:r>
                        <a:rPr lang="en-US" sz="1200">
                          <a:solidFill>
                            <a:srgbClr val="E3F2FD"/>
                          </a:solidFill>
                        </a:rPr>
                        <a:t>Beginner–Advanced</a:t>
                      </a:r>
                    </a:p>
                  </a:txBody>
                  <a:tcPr>
                    <a:solidFill>
                      <a:srgbClr val="0D2137"/>
                    </a:solidFill>
                  </a:tcPr>
                </a:tc>
              </a:tr>
              <a:tr h="576000">
                <a:tc>
                  <a:txBody>
                    <a:bodyPr/>
                    <a:lstStyle/>
                    <a:p>
                      <a:r>
                        <a:rPr lang="en-US" sz="1200" b="1">
                          <a:solidFill>
                            <a:srgbClr val="BBDEFB"/>
                          </a:solidFill>
                        </a:rPr>
                        <a:t>Software</a:t>
                      </a:r>
                    </a:p>
                  </a:txBody>
                  <a:tcPr>
                    <a:solidFill>
                      <a:srgbClr val="112233"/>
                    </a:solidFill>
                  </a:tcPr>
                </a:tc>
                <a:tc>
                  <a:txBody>
                    <a:bodyPr/>
                    <a:lstStyle/>
                    <a:p>
                      <a:r>
                        <a:rPr lang="en-US" sz="1200">
                          <a:solidFill>
                            <a:srgbClr val="E3F2FD"/>
                          </a:solidFill>
                        </a:rPr>
                        <a:t>Qiskit (IBM), PennyLane (Xanadu), Cirq (Google), Q# (Microsoft)</a:t>
                      </a:r>
                    </a:p>
                  </a:txBody>
                  <a:tcPr>
                    <a:solidFill>
                      <a:srgbClr val="112233"/>
                    </a:solidFill>
                  </a:tcPr>
                </a:tc>
                <a:tc>
                  <a:txBody>
                    <a:bodyPr/>
                    <a:lstStyle/>
                    <a:p>
                      <a:r>
                        <a:rPr lang="en-US" sz="1200">
                          <a:solidFill>
                            <a:srgbClr val="E3F2FD"/>
                          </a:solidFill>
                        </a:rPr>
                        <a:t>Open Source</a:t>
                      </a:r>
                    </a:p>
                  </a:txBody>
                  <a:tcPr>
                    <a:solidFill>
                      <a:srgbClr val="112233"/>
                    </a:solidFill>
                  </a:tcPr>
                </a:tc>
              </a:tr>
            </a:tbl>
          </a:graphicData>
        </a:graphic>
      </p:graphicFrame>
      <p:sp>
        <p:nvSpPr>
          <p:cNvPr id="100304" name="TextBox 4"/>
          <p:cNvSpPr txBox="1"/>
          <p:nvPr/>
        </p:nvSpPr>
        <p:spPr>
          <a:xfrm xmlns:a="http://schemas.openxmlformats.org/drawingml/2006/main">
            <a:off x="360000" y="4140000"/>
            <a:ext cx="11160000" cy="1800000"/>
          </a:xfrm>
          <a:prstGeom xmlns:a="http://schemas.openxmlformats.org/drawingml/2006/main" prst="rect">
            <a:avLst/>
          </a:prstGeom>
          <a:solidFill xmlns:a="http://schemas.openxmlformats.org/drawingml/2006/main">
            <a:srgbClr val="0D1F33"/>
          </a:solidFill>
        </p:spPr>
        <p:txBody>
          <a:bodyPr xmlns:a="http://schemas.openxmlformats.org/drawingml/2006/main"/>
          <a:lstStyle xmlns:a="http://schemas.openxmlformats.org/drawingml/2006/main"/>
          <a:p xmlns:a="http://schemas.openxmlformats.org/drawingml/2006/main">
            <a:pPr algn="l"/>
            <a:r>
              <a:rPr lang="en-US">
                <a:solidFill>
                  <a:srgbClr val="90CAF9"/>
                </a:solidFill>
              </a:rPr>
              <a:t>Chemistry Tools: PySCF, OpenFermion, Qiskit Nature, ORCA</a:t>
            </a:r>
          </a:p>
          <a:p xmlns:a="http://schemas.openxmlformats.org/drawingml/2006/main">
            <a:pPr algn="l"/>
            <a:r>
              <a:rPr lang="en-US">
                <a:solidFill>
                  <a:srgbClr val="90CAF9"/>
                </a:solidFill>
              </a:rPr>
              <a:t>Quantum Chemistry Textbook: Szabo &amp; Ostlund — Modern Quantum Chemistry (Dover)</a:t>
            </a:r>
          </a:p>
          <a:p xmlns:a="http://schemas.openxmlformats.org/drawingml/2006/main">
            <a:pPr algn="l"/>
            <a:r>
              <a:rPr lang="en-US">
                <a:solidFill>
                  <a:srgbClr val="90CAF9"/>
                </a:solidFill>
              </a:rPr>
              <a:t>Hardware Access: IBM Quantum Network, Amazon Braket, Azure Quantum, IonQ Cloud</a:t>
            </a:r>
          </a:p>
          <a:p xmlns:a="http://schemas.openxmlformats.org/drawingml/2006/main">
            <a:pPr algn="l"/>
            <a:r>
              <a:rPr lang="en-US">
                <a:solidFill>
                  <a:srgbClr val="90CAF9"/>
                </a:solidFill>
              </a:rPr>
              <a:t>Community: Unitary Fund (unitaryfund.org), QED-C, IEEE Quantum Week</a:t>
            </a:r>
          </a:p>
        </p:txBody>
      </p:sp>
      <p:sp>
        <p:nvSpPr>
          <p:cNvPr id="100305"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51 / 65  |  FURTHER STUDY</a:t>
            </a:r>
          </a:p>
        </p:txBody>
      </p:sp>
      <p:sp>
        <p:nvSpPr>
          <p:cNvPr id="100306"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47.xml><?xml version="1.0" encoding="utf-8"?>
<p:sld xmlns:p="http://schemas.openxmlformats.org/presentationml/2006/main">
  <p:cSld>
    <p:spTree>
      <p:nvGrpSpPr>
        <p:cNvPr id="1" name=""/>
        <p:cNvGrpSpPr/>
        <p:nvPr/>
      </p:nvGrpSpPr>
      <p:grpSpPr/>
      <p:sp>
        <p:nvSpPr>
          <p:cNvPr id="100307"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CLOSING</a:t>
            </a:r>
          </a:p>
        </p:txBody>
      </p:sp>
      <p:sp>
        <p:nvSpPr>
          <p:cNvPr id="100308"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Key Equations Summary</a:t>
            </a:r>
          </a:p>
        </p:txBody>
      </p:sp>
      <p:sp>
        <p:nvSpPr>
          <p:cNvPr id="100309"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310" name="TextBox 4"/>
          <p:cNvSpPr txBox="1"/>
          <p:nvPr/>
        </p:nvSpPr>
        <p:spPr>
          <a:xfrm xmlns:a="http://schemas.openxmlformats.org/drawingml/2006/main">
            <a:off x="360000" y="1152000"/>
            <a:ext cx="11160000" cy="5040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E3F2FD"/>
                </a:solidFill>
              </a:rPr>
              <a:t>MODULE 1 — MATHEMATICS</a:t>
            </a:r>
          </a:p>
          <a:p xmlns:a="http://schemas.openxmlformats.org/drawingml/2006/main">
            <a:pPr algn="l"/>
            <a:r>
              <a:rPr lang="en-US">
                <a:solidFill>
                  <a:srgbClr val="E3F2FD"/>
                </a:solidFill>
              </a:rPr>
              <a:t>  Qubit state:          |ψ⟩ = α|0⟩ + β|1⟩,  |α|²+|β|² = 1</a:t>
            </a:r>
          </a:p>
          <a:p xmlns:a="http://schemas.openxmlformats.org/drawingml/2006/main">
            <a:pPr algn="l"/>
            <a:r>
              <a:rPr lang="en-US">
                <a:solidFill>
                  <a:srgbClr val="E3F2FD"/>
                </a:solidFill>
              </a:rPr>
              <a:t>  Born rule:            P(0) = |α|²,  P(1) = |β|²</a:t>
            </a:r>
          </a:p>
          <a:p xmlns:a="http://schemas.openxmlformats.org/drawingml/2006/main">
            <a:pPr algn="l"/>
            <a:r>
              <a:rPr lang="en-US">
                <a:solidFill>
                  <a:srgbClr val="E3F2FD"/>
                </a:solidFill>
              </a:rPr>
              <a:t>  Expectation value:    ⟨Ô⟩ = ⟨ψ|Ô|ψ⟩</a:t>
            </a:r>
          </a:p>
          <a:p xmlns:a="http://schemas.openxmlformats.org/drawingml/2006/main">
            <a:pPr algn="l"/>
            <a:r>
              <a:rPr lang="en-US">
                <a:solidFill>
                  <a:srgbClr val="E3F2FD"/>
                </a:solidFill>
              </a:rPr>
              <a:t>  Multi-qubit:          |ψ_AB⟩ ∈ ℋ_A ⊗ ℋ_B,  dim = 2ᴺ</a:t>
            </a:r>
          </a:p>
          <a:p xmlns:a="http://schemas.openxmlformats.org/drawingml/2006/main">
            <a:pPr algn="l"/>
            <a:r>
              <a:rPr lang="en-US">
                <a:solidFill>
                  <a:srgbClr val="E3F2FD"/>
                </a:solidFill>
              </a:rPr>
              <a:t>  QFT:                  |j⟩ → (1/√N) Σ_k e^{2πijk/N}|k⟩</a:t>
            </a:r>
          </a:p>
          <a:p xmlns:a="http://schemas.openxmlformats.org/drawingml/2006/main">
            <a:pPr algn="l"/>
            <a:r>
              <a:rPr lang="en-US">
                <a:solidFill>
                  <a:srgbClr val="E3F2FD"/>
                </a:solidFill>
              </a:rPr>
              <a:t/>
            </a:r>
          </a:p>
          <a:p xmlns:a="http://schemas.openxmlformats.org/drawingml/2006/main">
            <a:pPr algn="l"/>
            <a:r>
              <a:rPr lang="en-US">
                <a:solidFill>
                  <a:srgbClr val="E3F2FD"/>
                </a:solidFill>
              </a:rPr>
              <a:t>MODULE 2 — QUANTUM PHYSICS</a:t>
            </a:r>
          </a:p>
          <a:p xmlns:a="http://schemas.openxmlformats.org/drawingml/2006/main">
            <a:pPr algn="l"/>
            <a:r>
              <a:rPr lang="en-US">
                <a:solidFill>
                  <a:srgbClr val="E3F2FD"/>
                </a:solidFill>
              </a:rPr>
              <a:t>  Schrödinger:          iℏ ∂|ψ⟩/∂t = Ĥ|ψ⟩  →  |ψ(t)⟩ = e^{-iĤt/ℏ}|ψ(0)⟩</a:t>
            </a:r>
          </a:p>
          <a:p xmlns:a="http://schemas.openxmlformats.org/drawingml/2006/main">
            <a:pPr algn="l"/>
            <a:r>
              <a:rPr lang="en-US">
                <a:solidFill>
                  <a:srgbClr val="E3F2FD"/>
                </a:solidFill>
              </a:rPr>
              <a:t>  Heisenberg:           ΔxΔp ≥ ℏ/2</a:t>
            </a:r>
          </a:p>
          <a:p xmlns:a="http://schemas.openxmlformats.org/drawingml/2006/main">
            <a:pPr algn="l"/>
            <a:r>
              <a:rPr lang="en-US">
                <a:solidFill>
                  <a:srgbClr val="E3F2FD"/>
                </a:solidFill>
              </a:rPr>
              <a:t>  Angular momentum:     [L̂ₓ, L̂ᵧ] = iℏL̂z</a:t>
            </a:r>
          </a:p>
          <a:p xmlns:a="http://schemas.openxmlformats.org/drawingml/2006/main">
            <a:pPr algn="l"/>
            <a:r>
              <a:rPr lang="en-US">
                <a:solidFill>
                  <a:srgbClr val="E3F2FD"/>
                </a:solidFill>
              </a:rPr>
              <a:t>  Decoherence:          dρ/dt = -i[H,ρ] + Σₖ (LₖρLₖ† - ½{Lₖ†Lₖ,ρ})</a:t>
            </a:r>
          </a:p>
          <a:p xmlns:a="http://schemas.openxmlformats.org/drawingml/2006/main">
            <a:pPr algn="l"/>
            <a:r>
              <a:rPr lang="en-US">
                <a:solidFill>
                  <a:srgbClr val="E3F2FD"/>
                </a:solidFill>
              </a:rPr>
              <a:t/>
            </a:r>
          </a:p>
          <a:p xmlns:a="http://schemas.openxmlformats.org/drawingml/2006/main">
            <a:pPr algn="l"/>
            <a:r>
              <a:rPr lang="en-US">
                <a:solidFill>
                  <a:srgbClr val="E3F2FD"/>
                </a:solidFill>
              </a:rPr>
              <a:t>MODULE 3 — QUANTUM CHEMISTRY</a:t>
            </a:r>
          </a:p>
          <a:p xmlns:a="http://schemas.openxmlformats.org/drawingml/2006/main">
            <a:pPr algn="l"/>
            <a:r>
              <a:rPr lang="en-US">
                <a:solidFill>
                  <a:srgbClr val="E3F2FD"/>
                </a:solidFill>
              </a:rPr>
              <a:t>  Variational:          E₀ ≤ ⟨ψ(θ)|Ĥ|ψ(θ)⟩  (VQE objective)</a:t>
            </a:r>
          </a:p>
          <a:p xmlns:a="http://schemas.openxmlformats.org/drawingml/2006/main">
            <a:pPr algn="l"/>
            <a:r>
              <a:rPr lang="en-US">
                <a:solidFill>
                  <a:srgbClr val="E3F2FD"/>
                </a:solidFill>
              </a:rPr>
              <a:t>  Hamiltonian:          Ĥ = Σₚq hₚq â†ₚâq + ½ Σₚqrs gₚqrs â†ₚâ†qâsâr</a:t>
            </a:r>
          </a:p>
          <a:p xmlns:a="http://schemas.openxmlformats.org/drawingml/2006/main">
            <a:pPr algn="l"/>
            <a:r>
              <a:rPr lang="en-US">
                <a:solidFill>
                  <a:srgbClr val="E3F2FD"/>
                </a:solidFill>
              </a:rPr>
              <a:t>  JW transform:         â†_p = (Z⊗...⊗Z)_{0..p-1} ⊗ (X-iY)_p / 2</a:t>
            </a:r>
          </a:p>
          <a:p xmlns:a="http://schemas.openxmlformats.org/drawingml/2006/main">
            <a:pPr algn="l"/>
            <a:r>
              <a:rPr lang="en-US">
                <a:solidFill>
                  <a:srgbClr val="E3F2FD"/>
                </a:solidFill>
              </a:rPr>
              <a:t/>
            </a:r>
          </a:p>
          <a:p xmlns:a="http://schemas.openxmlformats.org/drawingml/2006/main">
            <a:pPr algn="l"/>
            <a:r>
              <a:rPr lang="en-US">
                <a:solidFill>
                  <a:srgbClr val="E3F2FD"/>
                </a:solidFill>
              </a:rPr>
              <a:t>MODULE 4 — QUBIT ↔ ATOMS</a:t>
            </a:r>
          </a:p>
          <a:p xmlns:a="http://schemas.openxmlformats.org/drawingml/2006/main">
            <a:pPr algn="l"/>
            <a:r>
              <a:rPr lang="en-US">
                <a:solidFill>
                  <a:srgbClr val="E3F2FD"/>
                </a:solidFill>
              </a:rPr>
              <a:t>  Rabi rotation:        θ = Ωₑff · t  (pulse area = gate rotation)</a:t>
            </a:r>
          </a:p>
          <a:p xmlns:a="http://schemas.openxmlformats.org/drawingml/2006/main">
            <a:pPr algn="l"/>
            <a:r>
              <a:rPr lang="en-US">
                <a:solidFill>
                  <a:srgbClr val="E3F2FD"/>
                </a:solidFill>
              </a:rPr>
              <a:t>  Energy qubit gap:     ΔE = E₁ - E₀ = ℏω₀  (ω₀ = drive frequency)</a:t>
            </a:r>
          </a:p>
          <a:p xmlns:a="http://schemas.openxmlformats.org/drawingml/2006/main">
            <a:pPr algn="l"/>
            <a:r>
              <a:rPr lang="en-US">
                <a:solidFill>
                  <a:srgbClr val="E3F2FD"/>
                </a:solidFill>
              </a:rPr>
              <a:t>  H atom energy:        Eₙ = -13.6/n² eV</a:t>
            </a:r>
          </a:p>
        </p:txBody>
      </p:sp>
      <p:sp>
        <p:nvSpPr>
          <p:cNvPr id="100311"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52 / 65  |  KEY EQUATIONS</a:t>
            </a:r>
          </a:p>
        </p:txBody>
      </p:sp>
      <p:sp>
        <p:nvSpPr>
          <p:cNvPr id="100312"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48.xml><?xml version="1.0" encoding="utf-8"?>
<p:sld xmlns:p="http://schemas.openxmlformats.org/presentationml/2006/main">
  <p:cSld>
    <p:spTree>
      <p:nvGrpSpPr>
        <p:cNvPr id="1" name=""/>
        <p:cNvGrpSpPr/>
        <p:nvPr/>
      </p:nvGrpSpPr>
      <p:grpSpPr/>
      <p:sp>
        <p:nvSpPr>
          <p:cNvPr id="100313"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CLOSING</a:t>
            </a:r>
          </a:p>
        </p:txBody>
      </p:sp>
      <p:sp>
        <p:nvSpPr>
          <p:cNvPr id="100314"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Glossary of Essential Terms</a:t>
            </a:r>
          </a:p>
        </p:txBody>
      </p:sp>
      <p:sp>
        <p:nvSpPr>
          <p:cNvPr id="100315"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graphicFrame>
        <p:nvGraphicFramePr>
          <p:cNvPr id="100316" name="Table 1"/>
          <p:cNvGraphicFramePr/>
          <p:nvPr/>
        </p:nvGraphicFramePr>
        <p:xfrm>
          <a:off xmlns:a="http://schemas.openxmlformats.org/drawingml/2006/main" x="360000" y="1152000"/>
          <a:ext xmlns:a="http://schemas.openxmlformats.org/drawingml/2006/main" cx="11160000" cy="4860000"/>
        </p:xfrm>
        <a:graphic xmlns:a="http://schemas.openxmlformats.org/drawingml/2006/main">
          <a:graphicData uri="http://schemas.openxmlformats.org/drawingml/2006/table">
            <a:tbl>
              <a:tblPr firstRow="1" bandRow="1"/>
              <a:tblGrid>
                <a:gridCol w="5580000"/>
                <a:gridCol w="5580000"/>
              </a:tblGrid>
              <a:tr h="324000">
                <a:tc>
                  <a:txBody>
                    <a:bodyPr/>
                    <a:lstStyle/>
                    <a:p>
                      <a:r>
                        <a:rPr lang="en-US" sz="1100" b="1">
                          <a:solidFill>
                            <a:srgbClr val="E3F2FD"/>
                          </a:solidFill>
                        </a:rPr>
                        <a:t>Term</a:t>
                      </a:r>
                    </a:p>
                  </a:txBody>
                  <a:tcPr>
                    <a:solidFill>
                      <a:srgbClr val="1565C0"/>
                    </a:solidFill>
                  </a:tcPr>
                </a:tc>
                <a:tc>
                  <a:txBody>
                    <a:bodyPr/>
                    <a:lstStyle/>
                    <a:p>
                      <a:r>
                        <a:rPr lang="en-US" sz="1100" b="1">
                          <a:solidFill>
                            <a:srgbClr val="E3F2FD"/>
                          </a:solidFill>
                        </a:rPr>
                        <a:t>Definition</a:t>
                      </a:r>
                    </a:p>
                  </a:txBody>
                  <a:tcPr>
                    <a:solidFill>
                      <a:srgbClr val="1565C0"/>
                    </a:solidFill>
                  </a:tcPr>
                </a:tc>
              </a:tr>
              <a:tr h="324000">
                <a:tc>
                  <a:txBody>
                    <a:bodyPr/>
                    <a:lstStyle/>
                    <a:p>
                      <a:r>
                        <a:rPr lang="en-US" sz="1000" b="1">
                          <a:solidFill>
                            <a:srgbClr val="BBDEFB"/>
                          </a:solidFill>
                        </a:rPr>
                        <a:t>Qubit</a:t>
                      </a:r>
                    </a:p>
                  </a:txBody>
                  <a:tcPr>
                    <a:solidFill>
                      <a:srgbClr val="0D2137"/>
                    </a:solidFill>
                  </a:tcPr>
                </a:tc>
                <a:tc>
                  <a:txBody>
                    <a:bodyPr/>
                    <a:lstStyle/>
                    <a:p>
                      <a:r>
                        <a:rPr lang="en-US" sz="1000">
                          <a:solidFill>
                            <a:srgbClr val="E3F2FD"/>
                          </a:solidFill>
                        </a:rPr>
                        <a:t>Quantum bit — two-level quantum system; state α|0⟩+β|1⟩</a:t>
                      </a:r>
                    </a:p>
                  </a:txBody>
                  <a:tcPr>
                    <a:solidFill>
                      <a:srgbClr val="0D2137"/>
                    </a:solidFill>
                  </a:tcPr>
                </a:tc>
              </a:tr>
              <a:tr h="324000">
                <a:tc>
                  <a:txBody>
                    <a:bodyPr/>
                    <a:lstStyle/>
                    <a:p>
                      <a:r>
                        <a:rPr lang="en-US" sz="1000" b="1">
                          <a:solidFill>
                            <a:srgbClr val="BBDEFB"/>
                          </a:solidFill>
                        </a:rPr>
                        <a:t>Superposition</a:t>
                      </a:r>
                    </a:p>
                  </a:txBody>
                  <a:tcPr>
                    <a:solidFill>
                      <a:srgbClr val="112233"/>
                    </a:solidFill>
                  </a:tcPr>
                </a:tc>
                <a:tc>
                  <a:txBody>
                    <a:bodyPr/>
                    <a:lstStyle/>
                    <a:p>
                      <a:r>
                        <a:rPr lang="en-US" sz="1000">
                          <a:solidFill>
                            <a:srgbClr val="E3F2FD"/>
                          </a:solidFill>
                        </a:rPr>
                        <a:t>Linear combination of basis states simultaneously</a:t>
                      </a:r>
                    </a:p>
                  </a:txBody>
                  <a:tcPr>
                    <a:solidFill>
                      <a:srgbClr val="112233"/>
                    </a:solidFill>
                  </a:tcPr>
                </a:tc>
              </a:tr>
              <a:tr h="324000">
                <a:tc>
                  <a:txBody>
                    <a:bodyPr/>
                    <a:lstStyle/>
                    <a:p>
                      <a:r>
                        <a:rPr lang="en-US" sz="1000" b="1">
                          <a:solidFill>
                            <a:srgbClr val="BBDEFB"/>
                          </a:solidFill>
                        </a:rPr>
                        <a:t>Entanglement</a:t>
                      </a:r>
                    </a:p>
                  </a:txBody>
                  <a:tcPr>
                    <a:solidFill>
                      <a:srgbClr val="0D2137"/>
                    </a:solidFill>
                  </a:tcPr>
                </a:tc>
                <a:tc>
                  <a:txBody>
                    <a:bodyPr/>
                    <a:lstStyle/>
                    <a:p>
                      <a:r>
                        <a:rPr lang="en-US" sz="1000">
                          <a:solidFill>
                            <a:srgbClr val="E3F2FD"/>
                          </a:solidFill>
                        </a:rPr>
                        <a:t>Non-separable multi-qubit state; measurement of one determines others</a:t>
                      </a:r>
                    </a:p>
                  </a:txBody>
                  <a:tcPr>
                    <a:solidFill>
                      <a:srgbClr val="0D2137"/>
                    </a:solidFill>
                  </a:tcPr>
                </a:tc>
              </a:tr>
              <a:tr h="324000">
                <a:tc>
                  <a:txBody>
                    <a:bodyPr/>
                    <a:lstStyle/>
                    <a:p>
                      <a:r>
                        <a:rPr lang="en-US" sz="1000" b="1">
                          <a:solidFill>
                            <a:srgbClr val="BBDEFB"/>
                          </a:solidFill>
                        </a:rPr>
                        <a:t>Unitary</a:t>
                      </a:r>
                    </a:p>
                  </a:txBody>
                  <a:tcPr>
                    <a:solidFill>
                      <a:srgbClr val="112233"/>
                    </a:solidFill>
                  </a:tcPr>
                </a:tc>
                <a:tc>
                  <a:txBody>
                    <a:bodyPr/>
                    <a:lstStyle/>
                    <a:p>
                      <a:r>
                        <a:rPr lang="en-US" sz="1000">
                          <a:solidFill>
                            <a:srgbClr val="E3F2FD"/>
                          </a:solidFill>
                        </a:rPr>
                        <a:t>Matrix U where UU† = I; preserves norm — all quantum gates</a:t>
                      </a:r>
                    </a:p>
                  </a:txBody>
                  <a:tcPr>
                    <a:solidFill>
                      <a:srgbClr val="112233"/>
                    </a:solidFill>
                  </a:tcPr>
                </a:tc>
              </a:tr>
              <a:tr h="324000">
                <a:tc>
                  <a:txBody>
                    <a:bodyPr/>
                    <a:lstStyle/>
                    <a:p>
                      <a:r>
                        <a:rPr lang="en-US" sz="1000" b="1">
                          <a:solidFill>
                            <a:srgbClr val="BBDEFB"/>
                          </a:solidFill>
                        </a:rPr>
                        <a:t>Hamiltonian</a:t>
                      </a:r>
                    </a:p>
                  </a:txBody>
                  <a:tcPr>
                    <a:solidFill>
                      <a:srgbClr val="0D2137"/>
                    </a:solidFill>
                  </a:tcPr>
                </a:tc>
                <a:tc>
                  <a:txBody>
                    <a:bodyPr/>
                    <a:lstStyle/>
                    <a:p>
                      <a:r>
                        <a:rPr lang="en-US" sz="1000">
                          <a:solidFill>
                            <a:srgbClr val="E3F2FD"/>
                          </a:solidFill>
                        </a:rPr>
                        <a:t>Hermitian operator representing total energy of a system</a:t>
                      </a:r>
                    </a:p>
                  </a:txBody>
                  <a:tcPr>
                    <a:solidFill>
                      <a:srgbClr val="0D2137"/>
                    </a:solidFill>
                  </a:tcPr>
                </a:tc>
              </a:tr>
              <a:tr h="324000">
                <a:tc>
                  <a:txBody>
                    <a:bodyPr/>
                    <a:lstStyle/>
                    <a:p>
                      <a:r>
                        <a:rPr lang="en-US" sz="1000" b="1">
                          <a:solidFill>
                            <a:srgbClr val="BBDEFB"/>
                          </a:solidFill>
                        </a:rPr>
                        <a:t>Hilbert Space</a:t>
                      </a:r>
                    </a:p>
                  </a:txBody>
                  <a:tcPr>
                    <a:solidFill>
                      <a:srgbClr val="112233"/>
                    </a:solidFill>
                  </a:tcPr>
                </a:tc>
                <a:tc>
                  <a:txBody>
                    <a:bodyPr/>
                    <a:lstStyle/>
                    <a:p>
                      <a:r>
                        <a:rPr lang="en-US" sz="1000">
                          <a:solidFill>
                            <a:srgbClr val="E3F2FD"/>
                          </a:solidFill>
                        </a:rPr>
                        <a:t>Complete inner-product vector space; home of quantum states</a:t>
                      </a:r>
                    </a:p>
                  </a:txBody>
                  <a:tcPr>
                    <a:solidFill>
                      <a:srgbClr val="112233"/>
                    </a:solidFill>
                  </a:tcPr>
                </a:tc>
              </a:tr>
              <a:tr h="324000">
                <a:tc>
                  <a:txBody>
                    <a:bodyPr/>
                    <a:lstStyle/>
                    <a:p>
                      <a:r>
                        <a:rPr lang="en-US" sz="1000" b="1">
                          <a:solidFill>
                            <a:srgbClr val="BBDEFB"/>
                          </a:solidFill>
                        </a:rPr>
                        <a:t>Born Rule</a:t>
                      </a:r>
                    </a:p>
                  </a:txBody>
                  <a:tcPr>
                    <a:solidFill>
                      <a:srgbClr val="0D2137"/>
                    </a:solidFill>
                  </a:tcPr>
                </a:tc>
                <a:tc>
                  <a:txBody>
                    <a:bodyPr/>
                    <a:lstStyle/>
                    <a:p>
                      <a:r>
                        <a:rPr lang="en-US" sz="1000">
                          <a:solidFill>
                            <a:srgbClr val="E3F2FD"/>
                          </a:solidFill>
                        </a:rPr>
                        <a:t>P(outcome) = |amplitude|²; connects wavefunction to probability</a:t>
                      </a:r>
                    </a:p>
                  </a:txBody>
                  <a:tcPr>
                    <a:solidFill>
                      <a:srgbClr val="0D2137"/>
                    </a:solidFill>
                  </a:tcPr>
                </a:tc>
              </a:tr>
              <a:tr h="324000">
                <a:tc>
                  <a:txBody>
                    <a:bodyPr/>
                    <a:lstStyle/>
                    <a:p>
                      <a:r>
                        <a:rPr lang="en-US" sz="1000" b="1">
                          <a:solidFill>
                            <a:srgbClr val="BBDEFB"/>
                          </a:solidFill>
                        </a:rPr>
                        <a:t>Decoherence</a:t>
                      </a:r>
                    </a:p>
                  </a:txBody>
                  <a:tcPr>
                    <a:solidFill>
                      <a:srgbClr val="112233"/>
                    </a:solidFill>
                  </a:tcPr>
                </a:tc>
                <a:tc>
                  <a:txBody>
                    <a:bodyPr/>
                    <a:lstStyle/>
                    <a:p>
                      <a:r>
                        <a:rPr lang="en-US" sz="1000">
                          <a:solidFill>
                            <a:srgbClr val="E3F2FD"/>
                          </a:solidFill>
                        </a:rPr>
                        <a:t>Loss of quantum coherence due to environment interaction</a:t>
                      </a:r>
                    </a:p>
                  </a:txBody>
                  <a:tcPr>
                    <a:solidFill>
                      <a:srgbClr val="112233"/>
                    </a:solidFill>
                  </a:tcPr>
                </a:tc>
              </a:tr>
              <a:tr h="324000">
                <a:tc>
                  <a:txBody>
                    <a:bodyPr/>
                    <a:lstStyle/>
                    <a:p>
                      <a:r>
                        <a:rPr lang="en-US" sz="1000" b="1">
                          <a:solidFill>
                            <a:srgbClr val="BBDEFB"/>
                          </a:solidFill>
                        </a:rPr>
                        <a:t>VQE</a:t>
                      </a:r>
                    </a:p>
                  </a:txBody>
                  <a:tcPr>
                    <a:solidFill>
                      <a:srgbClr val="0D2137"/>
                    </a:solidFill>
                  </a:tcPr>
                </a:tc>
                <a:tc>
                  <a:txBody>
                    <a:bodyPr/>
                    <a:lstStyle/>
                    <a:p>
                      <a:r>
                        <a:rPr lang="en-US" sz="1000">
                          <a:solidFill>
                            <a:srgbClr val="E3F2FD"/>
                          </a:solidFill>
                        </a:rPr>
                        <a:t>Variational Quantum Eigensolver — hybrid algorithm for ground state energy</a:t>
                      </a:r>
                    </a:p>
                  </a:txBody>
                  <a:tcPr>
                    <a:solidFill>
                      <a:srgbClr val="0D2137"/>
                    </a:solidFill>
                  </a:tcPr>
                </a:tc>
              </a:tr>
              <a:tr h="324000">
                <a:tc>
                  <a:txBody>
                    <a:bodyPr/>
                    <a:lstStyle/>
                    <a:p>
                      <a:r>
                        <a:rPr lang="en-US" sz="1000" b="1">
                          <a:solidFill>
                            <a:srgbClr val="BBDEFB"/>
                          </a:solidFill>
                        </a:rPr>
                        <a:t>Jordan-Wigner</a:t>
                      </a:r>
                    </a:p>
                  </a:txBody>
                  <a:tcPr>
                    <a:solidFill>
                      <a:srgbClr val="112233"/>
                    </a:solidFill>
                  </a:tcPr>
                </a:tc>
                <a:tc>
                  <a:txBody>
                    <a:bodyPr/>
                    <a:lstStyle/>
                    <a:p>
                      <a:r>
                        <a:rPr lang="en-US" sz="1000">
                          <a:solidFill>
                            <a:srgbClr val="E3F2FD"/>
                          </a:solidFill>
                        </a:rPr>
                        <a:t>Mapping of fermionic operators to qubit Pauli operators</a:t>
                      </a:r>
                    </a:p>
                  </a:txBody>
                  <a:tcPr>
                    <a:solidFill>
                      <a:srgbClr val="112233"/>
                    </a:solidFill>
                  </a:tcPr>
                </a:tc>
              </a:tr>
              <a:tr h="324000">
                <a:tc>
                  <a:txBody>
                    <a:bodyPr/>
                    <a:lstStyle/>
                    <a:p>
                      <a:r>
                        <a:rPr lang="en-US" sz="1000" b="1">
                          <a:solidFill>
                            <a:srgbClr val="BBDEFB"/>
                          </a:solidFill>
                        </a:rPr>
                        <a:t>NISQ</a:t>
                      </a:r>
                    </a:p>
                  </a:txBody>
                  <a:tcPr>
                    <a:solidFill>
                      <a:srgbClr val="0D2137"/>
                    </a:solidFill>
                  </a:tcPr>
                </a:tc>
                <a:tc>
                  <a:txBody>
                    <a:bodyPr/>
                    <a:lstStyle/>
                    <a:p>
                      <a:r>
                        <a:rPr lang="en-US" sz="1000">
                          <a:solidFill>
                            <a:srgbClr val="E3F2FD"/>
                          </a:solidFill>
                        </a:rPr>
                        <a:t>Noisy Intermediate-Scale Quantum — 50–1000 noisy qubits, no full QEC</a:t>
                      </a:r>
                    </a:p>
                  </a:txBody>
                  <a:tcPr>
                    <a:solidFill>
                      <a:srgbClr val="0D2137"/>
                    </a:solidFill>
                  </a:tcPr>
                </a:tc>
              </a:tr>
              <a:tr h="324000">
                <a:tc>
                  <a:txBody>
                    <a:bodyPr/>
                    <a:lstStyle/>
                    <a:p>
                      <a:r>
                        <a:rPr lang="en-US" sz="1000" b="1">
                          <a:solidFill>
                            <a:srgbClr val="BBDEFB"/>
                          </a:solidFill>
                        </a:rPr>
                        <a:t>Surface Code</a:t>
                      </a:r>
                    </a:p>
                  </a:txBody>
                  <a:tcPr>
                    <a:solidFill>
                      <a:srgbClr val="112233"/>
                    </a:solidFill>
                  </a:tcPr>
                </a:tc>
                <a:tc>
                  <a:txBody>
                    <a:bodyPr/>
                    <a:lstStyle/>
                    <a:p>
                      <a:r>
                        <a:rPr lang="en-US" sz="1000">
                          <a:solidFill>
                            <a:srgbClr val="E3F2FD"/>
                          </a:solidFill>
                        </a:rPr>
                        <a:t>2D topological error-correcting code; ~1000 physical qubits per logical</a:t>
                      </a:r>
                    </a:p>
                  </a:txBody>
                  <a:tcPr>
                    <a:solidFill>
                      <a:srgbClr val="112233"/>
                    </a:solidFill>
                  </a:tcPr>
                </a:tc>
              </a:tr>
              <a:tr h="324000">
                <a:tc>
                  <a:txBody>
                    <a:bodyPr/>
                    <a:lstStyle/>
                    <a:p>
                      <a:r>
                        <a:rPr lang="en-US" sz="1000" b="1">
                          <a:solidFill>
                            <a:srgbClr val="BBDEFB"/>
                          </a:solidFill>
                        </a:rPr>
                        <a:t>Bell State</a:t>
                      </a:r>
                    </a:p>
                  </a:txBody>
                  <a:tcPr>
                    <a:solidFill>
                      <a:srgbClr val="0D2137"/>
                    </a:solidFill>
                  </a:tcPr>
                </a:tc>
                <a:tc>
                  <a:txBody>
                    <a:bodyPr/>
                    <a:lstStyle/>
                    <a:p>
                      <a:r>
                        <a:rPr lang="en-US" sz="1000">
                          <a:solidFill>
                            <a:srgbClr val="E3F2FD"/>
                          </a:solidFill>
                        </a:rPr>
                        <a:t>Maximally entangled 2-qubit state, e.g. (|00⟩+|11⟩)/√2</a:t>
                      </a:r>
                    </a:p>
                  </a:txBody>
                  <a:tcPr>
                    <a:solidFill>
                      <a:srgbClr val="0D2137"/>
                    </a:solidFill>
                  </a:tcPr>
                </a:tc>
              </a:tr>
              <a:tr h="324000">
                <a:tc>
                  <a:txBody>
                    <a:bodyPr/>
                    <a:lstStyle/>
                    <a:p>
                      <a:r>
                        <a:rPr lang="en-US" sz="1000" b="1">
                          <a:solidFill>
                            <a:srgbClr val="BBDEFB"/>
                          </a:solidFill>
                        </a:rPr>
                        <a:t>Bloch Sphere</a:t>
                      </a:r>
                    </a:p>
                  </a:txBody>
                  <a:tcPr>
                    <a:solidFill>
                      <a:srgbClr val="112233"/>
                    </a:solidFill>
                  </a:tcPr>
                </a:tc>
                <a:tc>
                  <a:txBody>
                    <a:bodyPr/>
                    <a:lstStyle/>
                    <a:p>
                      <a:r>
                        <a:rPr lang="en-US" sz="1000">
                          <a:solidFill>
                            <a:srgbClr val="E3F2FD"/>
                          </a:solidFill>
                        </a:rPr>
                        <a:t>Geometric representation of single qubit state space</a:t>
                      </a:r>
                    </a:p>
                  </a:txBody>
                  <a:tcPr>
                    <a:solidFill>
                      <a:srgbClr val="112233"/>
                    </a:solidFill>
                  </a:tcPr>
                </a:tc>
              </a:tr>
            </a:tbl>
          </a:graphicData>
        </a:graphic>
      </p:graphicFrame>
      <p:sp>
        <p:nvSpPr>
          <p:cNvPr id="100317" name="TextBox 4"/>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53 / 65  |  GLOSSARY</a:t>
            </a:r>
          </a:p>
        </p:txBody>
      </p:sp>
      <p:sp>
        <p:nvSpPr>
          <p:cNvPr id="100318" name="TextBox 5"/>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49.xml><?xml version="1.0" encoding="utf-8"?>
<p:sld xmlns:p="http://schemas.openxmlformats.org/presentationml/2006/main">
  <p:cSld>
    <p:spTree>
      <p:nvGrpSpPr>
        <p:cNvPr id="1" name=""/>
        <p:cNvGrpSpPr/>
        <p:nvPr/>
      </p:nvGrpSpPr>
      <p:grpSpPr/>
      <p:sp>
        <p:nvSpPr>
          <p:cNvPr id="100319" name="TextBox 1"/>
          <p:cNvSpPr txBox="1"/>
          <p:nvPr/>
        </p:nvSpPr>
        <p:spPr>
          <a:xfrm xmlns:a="http://schemas.openxmlformats.org/drawingml/2006/main">
            <a:off x="180000" y="198000"/>
            <a:ext cx="1620000" cy="198000"/>
          </a:xfrm>
          <a:prstGeom xmlns:a="http://schemas.openxmlformats.org/drawingml/2006/main" prst="rect">
            <a:avLst/>
          </a:prstGeom>
          <a:solidFill xmlns:a="http://schemas.openxmlformats.org/drawingml/2006/main">
            <a:srgbClr val="21212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REFERENCES</a:t>
            </a:r>
          </a:p>
        </p:txBody>
      </p:sp>
      <p:sp>
        <p:nvSpPr>
          <p:cNvPr id="100320"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References (1–10)</a:t>
            </a:r>
          </a:p>
        </p:txBody>
      </p:sp>
      <p:sp>
        <p:nvSpPr>
          <p:cNvPr id="100321"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42A5F5"/>
          </a:solidFill>
        </p:spPr>
        <p:txBody>
          <a:bodyPr xmlns:a="http://schemas.openxmlformats.org/drawingml/2006/main"/>
          <a:lstStyle xmlns:a="http://schemas.openxmlformats.org/drawingml/2006/main"/>
          <a:p xmlns:a="http://schemas.openxmlformats.org/drawingml/2006/main">
            <a:endParaRPr lang="en-US">
              <a:solidFill>
                <a:srgbClr val="42A5F5"/>
              </a:solidFill>
            </a:endParaRPr>
          </a:p>
        </p:txBody>
      </p:sp>
      <p:sp>
        <p:nvSpPr>
          <p:cNvPr id="100322"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CFD8DC"/>
                </a:solidFill>
              </a:rPr>
              <a:t>[1] Nielsen, M.A. &amp; Chuang, I.L. (2000). Quantum Computation and Quantum Information. Cambridge University Press. ISBN: 978-1107002173</a:t>
            </a:r>
          </a:p>
          <a:p xmlns:a="http://schemas.openxmlformats.org/drawingml/2006/main">
            <a:pPr algn="l"/>
            <a:r>
              <a:rPr lang="en-US">
                <a:solidFill>
                  <a:srgbClr val="CFD8DC"/>
                </a:solidFill>
              </a:rPr>
              <a:t/>
            </a:r>
          </a:p>
          <a:p xmlns:a="http://schemas.openxmlformats.org/drawingml/2006/main">
            <a:pPr algn="l"/>
            <a:r>
              <a:rPr lang="en-US">
                <a:solidFill>
                  <a:srgbClr val="CFD8DC"/>
                </a:solidFill>
              </a:rPr>
              <a:t>[2] Dirac, P.A.M. (1930). The Principles of Quantum Mechanics. Oxford: Clarendon Press. (Bra-ket notation)</a:t>
            </a:r>
          </a:p>
          <a:p xmlns:a="http://schemas.openxmlformats.org/drawingml/2006/main">
            <a:pPr algn="l"/>
            <a:r>
              <a:rPr lang="en-US">
                <a:solidFill>
                  <a:srgbClr val="CFD8DC"/>
                </a:solidFill>
              </a:rPr>
              <a:t/>
            </a:r>
          </a:p>
          <a:p xmlns:a="http://schemas.openxmlformats.org/drawingml/2006/main">
            <a:pPr algn="l"/>
            <a:r>
              <a:rPr lang="en-US">
                <a:solidFill>
                  <a:srgbClr val="CFD8DC"/>
                </a:solidFill>
              </a:rPr>
              <a:t>[3] Preskill, J. (1998). Lecture Notes on Quantum Computation. Caltech. http://www.theory.caltech.edu/~preskill/ph229/</a:t>
            </a:r>
          </a:p>
          <a:p xmlns:a="http://schemas.openxmlformats.org/drawingml/2006/main">
            <a:pPr algn="l"/>
            <a:r>
              <a:rPr lang="en-US">
                <a:solidFill>
                  <a:srgbClr val="CFD8DC"/>
                </a:solidFill>
              </a:rPr>
              <a:t/>
            </a:r>
          </a:p>
          <a:p xmlns:a="http://schemas.openxmlformats.org/drawingml/2006/main">
            <a:pPr algn="l"/>
            <a:r>
              <a:rPr lang="en-US">
                <a:solidFill>
                  <a:srgbClr val="CFD8DC"/>
                </a:solidFill>
              </a:rPr>
              <a:t>[4] Griffiths, D.J. &amp; Schroeter, D.F. (2018). Introduction to Quantum Mechanics (3rd ed.). Cambridge University Press. ISBN: 978-1107189638</a:t>
            </a:r>
          </a:p>
          <a:p xmlns:a="http://schemas.openxmlformats.org/drawingml/2006/main">
            <a:pPr algn="l"/>
            <a:r>
              <a:rPr lang="en-US">
                <a:solidFill>
                  <a:srgbClr val="CFD8DC"/>
                </a:solidFill>
              </a:rPr>
              <a:t/>
            </a:r>
          </a:p>
          <a:p xmlns:a="http://schemas.openxmlformats.org/drawingml/2006/main">
            <a:pPr algn="l"/>
            <a:r>
              <a:rPr lang="en-US">
                <a:solidFill>
                  <a:srgbClr val="CFD8DC"/>
                </a:solidFill>
              </a:rPr>
              <a:t>[5] Shor, P.W. (1994). Algorithms for Quantum Computation: Discrete Logarithms and Factoring. FOCS 1994, pp. 124–134. doi:10.1109/SFCS.1994.365700</a:t>
            </a:r>
          </a:p>
          <a:p xmlns:a="http://schemas.openxmlformats.org/drawingml/2006/main">
            <a:pPr algn="l"/>
            <a:r>
              <a:rPr lang="en-US">
                <a:solidFill>
                  <a:srgbClr val="CFD8DC"/>
                </a:solidFill>
              </a:rPr>
              <a:t/>
            </a:r>
          </a:p>
          <a:p xmlns:a="http://schemas.openxmlformats.org/drawingml/2006/main">
            <a:pPr algn="l"/>
            <a:r>
              <a:rPr lang="en-US">
                <a:solidFill>
                  <a:srgbClr val="CFD8DC"/>
                </a:solidFill>
              </a:rPr>
              <a:t>[6] Grover, L.K. (1996). A Fast Quantum Mechanical Algorithm for Database Search. STOC 1996, pp. 212–219. doi:10.1145/237814.237866</a:t>
            </a:r>
          </a:p>
          <a:p xmlns:a="http://schemas.openxmlformats.org/drawingml/2006/main">
            <a:pPr algn="l"/>
            <a:r>
              <a:rPr lang="en-US">
                <a:solidFill>
                  <a:srgbClr val="CFD8DC"/>
                </a:solidFill>
              </a:rPr>
              <a:t/>
            </a:r>
          </a:p>
          <a:p xmlns:a="http://schemas.openxmlformats.org/drawingml/2006/main">
            <a:pPr algn="l"/>
            <a:r>
              <a:rPr lang="en-US">
                <a:solidFill>
                  <a:srgbClr val="CFD8DC"/>
                </a:solidFill>
              </a:rPr>
              <a:t>[7] Peruzzo, A. et al. (2014). A variational eigenvalue solver on a photonic quantum processor. Nature Communications 5, 4213. doi:10.1038/ncomms5213</a:t>
            </a:r>
          </a:p>
          <a:p xmlns:a="http://schemas.openxmlformats.org/drawingml/2006/main">
            <a:pPr algn="l"/>
            <a:r>
              <a:rPr lang="en-US">
                <a:solidFill>
                  <a:srgbClr val="CFD8DC"/>
                </a:solidFill>
              </a:rPr>
              <a:t/>
            </a:r>
          </a:p>
          <a:p xmlns:a="http://schemas.openxmlformats.org/drawingml/2006/main">
            <a:pPr algn="l"/>
            <a:r>
              <a:rPr lang="en-US">
                <a:solidFill>
                  <a:srgbClr val="CFD8DC"/>
                </a:solidFill>
              </a:rPr>
              <a:t>[8] Feynman, R.P. (1982). Simulating Physics with Computers. International Journal of Theoretical Physics 21(6): 467–488. doi:10.1007/BF02650179</a:t>
            </a:r>
          </a:p>
          <a:p xmlns:a="http://schemas.openxmlformats.org/drawingml/2006/main">
            <a:pPr algn="l"/>
            <a:r>
              <a:rPr lang="en-US">
                <a:solidFill>
                  <a:srgbClr val="CFD8DC"/>
                </a:solidFill>
              </a:rPr>
              <a:t/>
            </a:r>
          </a:p>
          <a:p xmlns:a="http://schemas.openxmlformats.org/drawingml/2006/main">
            <a:pPr algn="l"/>
            <a:r>
              <a:rPr lang="en-US">
                <a:solidFill>
                  <a:srgbClr val="CFD8DC"/>
                </a:solidFill>
              </a:rPr>
              <a:t>[9] Deutsch, D. (1985). Quantum theory, the Church-Turing principle and the universal quantum computer. Proc. Royal Society London A, 400(1818): 97–117. doi:10.1098/rspa.1985.0070</a:t>
            </a:r>
          </a:p>
          <a:p xmlns:a="http://schemas.openxmlformats.org/drawingml/2006/main">
            <a:pPr algn="l"/>
            <a:r>
              <a:rPr lang="en-US">
                <a:solidFill>
                  <a:srgbClr val="CFD8DC"/>
                </a:solidFill>
              </a:rPr>
              <a:t/>
            </a:r>
          </a:p>
          <a:p xmlns:a="http://schemas.openxmlformats.org/drawingml/2006/main">
            <a:pPr algn="l"/>
            <a:r>
              <a:rPr lang="en-US">
                <a:solidFill>
                  <a:srgbClr val="CFD8DC"/>
                </a:solidFill>
              </a:rPr>
              <a:t>[10] Aspuru-Guzik, A., Dutoi, A.D., Love, P.J. &amp; Head-Gordon, M. (2005). Simulated Quantum Computation of Molecular Energies. Science 309(5741): 1704–1707. doi:10.1126/science.1113479</a:t>
            </a:r>
          </a:p>
        </p:txBody>
      </p:sp>
      <p:sp>
        <p:nvSpPr>
          <p:cNvPr id="100323"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54 / 65  |  REFERENCES</a:t>
            </a:r>
          </a:p>
        </p:txBody>
      </p:sp>
      <p:sp>
        <p:nvSpPr>
          <p:cNvPr id="100324"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50.xml><?xml version="1.0" encoding="utf-8"?>
<p:sld xmlns:p="http://schemas.openxmlformats.org/presentationml/2006/main">
  <p:cSld>
    <p:spTree>
      <p:nvGrpSpPr>
        <p:cNvPr id="1" name=""/>
        <p:cNvGrpSpPr/>
        <p:nvPr/>
      </p:nvGrpSpPr>
      <p:grpSpPr/>
      <p:sp>
        <p:nvSpPr>
          <p:cNvPr id="100325" name="TextBox 1"/>
          <p:cNvSpPr txBox="1"/>
          <p:nvPr/>
        </p:nvSpPr>
        <p:spPr>
          <a:xfrm xmlns:a="http://schemas.openxmlformats.org/drawingml/2006/main">
            <a:off x="180000" y="198000"/>
            <a:ext cx="1620000" cy="198000"/>
          </a:xfrm>
          <a:prstGeom xmlns:a="http://schemas.openxmlformats.org/drawingml/2006/main" prst="rect">
            <a:avLst/>
          </a:prstGeom>
          <a:solidFill xmlns:a="http://schemas.openxmlformats.org/drawingml/2006/main">
            <a:srgbClr val="21212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REFERENCES</a:t>
            </a:r>
          </a:p>
        </p:txBody>
      </p:sp>
      <p:sp>
        <p:nvSpPr>
          <p:cNvPr id="100326"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References (11–20)</a:t>
            </a:r>
          </a:p>
        </p:txBody>
      </p:sp>
      <p:sp>
        <p:nvSpPr>
          <p:cNvPr id="100327"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42A5F5"/>
          </a:solidFill>
        </p:spPr>
        <p:txBody>
          <a:bodyPr xmlns:a="http://schemas.openxmlformats.org/drawingml/2006/main"/>
          <a:lstStyle xmlns:a="http://schemas.openxmlformats.org/drawingml/2006/main"/>
          <a:p xmlns:a="http://schemas.openxmlformats.org/drawingml/2006/main">
            <a:endParaRPr lang="en-US">
              <a:solidFill>
                <a:srgbClr val="42A5F5"/>
              </a:solidFill>
            </a:endParaRPr>
          </a:p>
        </p:txBody>
      </p:sp>
      <p:sp>
        <p:nvSpPr>
          <p:cNvPr id="100328"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CFD8DC"/>
                </a:solidFill>
              </a:rPr>
              <a:t>[11] DiVincenzo, D.P. (2000). The Physical Implementation of Quantum Computation. Fortschritte der Physik 48(9-11): 771–783. doi:10.1002/1521-3978(200009)48</a:t>
            </a:r>
          </a:p>
          <a:p xmlns:a="http://schemas.openxmlformats.org/drawingml/2006/main">
            <a:pPr algn="l"/>
            <a:r>
              <a:rPr lang="en-US">
                <a:solidFill>
                  <a:srgbClr val="CFD8DC"/>
                </a:solidFill>
              </a:rPr>
              <a:t/>
            </a:r>
          </a:p>
          <a:p xmlns:a="http://schemas.openxmlformats.org/drawingml/2006/main">
            <a:pPr algn="l"/>
            <a:r>
              <a:rPr lang="en-US">
                <a:solidFill>
                  <a:srgbClr val="CFD8DC"/>
                </a:solidFill>
              </a:rPr>
              <a:t>[12] Reiher, M., Wiebe, N., Svore, K.M., Wecker, D. &amp; Troyer, M. (2017). Elucidating reaction mechanisms on quantum computers. PNAS 114(29): 7555–7560. doi:10.1073/pnas.1619152114</a:t>
            </a:r>
          </a:p>
          <a:p xmlns:a="http://schemas.openxmlformats.org/drawingml/2006/main">
            <a:pPr algn="l"/>
            <a:r>
              <a:rPr lang="en-US">
                <a:solidFill>
                  <a:srgbClr val="CFD8DC"/>
                </a:solidFill>
              </a:rPr>
              <a:t/>
            </a:r>
          </a:p>
          <a:p xmlns:a="http://schemas.openxmlformats.org/drawingml/2006/main">
            <a:pPr algn="l"/>
            <a:r>
              <a:rPr lang="en-US">
                <a:solidFill>
                  <a:srgbClr val="CFD8DC"/>
                </a:solidFill>
              </a:rPr>
              <a:t>[13] Preskill, J. (2018). Quantum Computing in the NISQ Era and Beyond. Quantum 2: 79. doi:10.22331/q-2018-08-06-79</a:t>
            </a:r>
          </a:p>
          <a:p xmlns:a="http://schemas.openxmlformats.org/drawingml/2006/main">
            <a:pPr algn="l"/>
            <a:r>
              <a:rPr lang="en-US">
                <a:solidFill>
                  <a:srgbClr val="CFD8DC"/>
                </a:solidFill>
              </a:rPr>
              <a:t/>
            </a:r>
          </a:p>
          <a:p xmlns:a="http://schemas.openxmlformats.org/drawingml/2006/main">
            <a:pPr algn="l"/>
            <a:r>
              <a:rPr lang="en-US">
                <a:solidFill>
                  <a:srgbClr val="CFD8DC"/>
                </a:solidFill>
              </a:rPr>
              <a:t>[14] Arute, F. et al. (Google, 2019). Quantum supremacy using a programmable superconducting processor. Nature 574: 505–510. doi:10.1038/s41586-019-1666-5</a:t>
            </a:r>
          </a:p>
          <a:p xmlns:a="http://schemas.openxmlformats.org/drawingml/2006/main">
            <a:pPr algn="l"/>
            <a:r>
              <a:rPr lang="en-US">
                <a:solidFill>
                  <a:srgbClr val="CFD8DC"/>
                </a:solidFill>
              </a:rPr>
              <a:t/>
            </a:r>
          </a:p>
          <a:p xmlns:a="http://schemas.openxmlformats.org/drawingml/2006/main">
            <a:pPr algn="l"/>
            <a:r>
              <a:rPr lang="en-US">
                <a:solidFill>
                  <a:srgbClr val="CFD8DC"/>
                </a:solidFill>
              </a:rPr>
              <a:t>[15] Kitaev, A.Y. (2003). Fault-tolerant quantum computation by anyons. Annals of Physics 303(1): 2–30. doi:10.1016/S0003-4916(02)00018-0</a:t>
            </a:r>
          </a:p>
          <a:p xmlns:a="http://schemas.openxmlformats.org/drawingml/2006/main">
            <a:pPr algn="l"/>
            <a:r>
              <a:rPr lang="en-US">
                <a:solidFill>
                  <a:srgbClr val="CFD8DC"/>
                </a:solidFill>
              </a:rPr>
              <a:t/>
            </a:r>
          </a:p>
          <a:p xmlns:a="http://schemas.openxmlformats.org/drawingml/2006/main">
            <a:pPr algn="l"/>
            <a:r>
              <a:rPr lang="en-US">
                <a:solidFill>
                  <a:srgbClr val="CFD8DC"/>
                </a:solidFill>
              </a:rPr>
              <a:t>[16] Jordan, P. &amp; Wigner, E. (1928). Über das Paulische Äquivalenzverbot. Z. Physik 47: 631–651. doi:10.1007/BF01331938</a:t>
            </a:r>
          </a:p>
          <a:p xmlns:a="http://schemas.openxmlformats.org/drawingml/2006/main">
            <a:pPr algn="l"/>
            <a:r>
              <a:rPr lang="en-US">
                <a:solidFill>
                  <a:srgbClr val="CFD8DC"/>
                </a:solidFill>
              </a:rPr>
              <a:t/>
            </a:r>
          </a:p>
          <a:p xmlns:a="http://schemas.openxmlformats.org/drawingml/2006/main">
            <a:pPr algn="l"/>
            <a:r>
              <a:rPr lang="en-US">
                <a:solidFill>
                  <a:srgbClr val="CFD8DC"/>
                </a:solidFill>
              </a:rPr>
              <a:t>[17] Bravyi, S.B. &amp; Kitaev, A.Y. (2002). Fermionic quantum computation. Annals of Physics 298(1): 210–226. doi:10.1006/aphy.2002.6254</a:t>
            </a:r>
          </a:p>
          <a:p xmlns:a="http://schemas.openxmlformats.org/drawingml/2006/main">
            <a:pPr algn="l"/>
            <a:r>
              <a:rPr lang="en-US">
                <a:solidFill>
                  <a:srgbClr val="CFD8DC"/>
                </a:solidFill>
              </a:rPr>
              <a:t/>
            </a:r>
          </a:p>
          <a:p xmlns:a="http://schemas.openxmlformats.org/drawingml/2006/main">
            <a:pPr algn="l"/>
            <a:r>
              <a:rPr lang="en-US">
                <a:solidFill>
                  <a:srgbClr val="CFD8DC"/>
                </a:solidFill>
              </a:rPr>
              <a:t>[18] Harrow, A.W., Hassidim, A. &amp; Lloyd, S. (2009). Quantum Algorithm for Linear Systems of Equations. PRL 103: 150502. doi:10.1103/PhysRevLett.103.150502</a:t>
            </a:r>
          </a:p>
          <a:p xmlns:a="http://schemas.openxmlformats.org/drawingml/2006/main">
            <a:pPr algn="l"/>
            <a:r>
              <a:rPr lang="en-US">
                <a:solidFill>
                  <a:srgbClr val="CFD8DC"/>
                </a:solidFill>
              </a:rPr>
              <a:t/>
            </a:r>
          </a:p>
          <a:p xmlns:a="http://schemas.openxmlformats.org/drawingml/2006/main">
            <a:pPr algn="l"/>
            <a:r>
              <a:rPr lang="en-US">
                <a:solidFill>
                  <a:srgbClr val="CFD8DC"/>
                </a:solidFill>
              </a:rPr>
              <a:t>[19] Kandala, A. et al. (IBM, 2017). Hardware-efficient variational quantum eigensolver for small molecules. Nature 549: 242–246. doi:10.1038/nature23879</a:t>
            </a:r>
          </a:p>
          <a:p xmlns:a="http://schemas.openxmlformats.org/drawingml/2006/main">
            <a:pPr algn="l"/>
            <a:r>
              <a:rPr lang="en-US">
                <a:solidFill>
                  <a:srgbClr val="CFD8DC"/>
                </a:solidFill>
              </a:rPr>
              <a:t/>
            </a:r>
          </a:p>
          <a:p xmlns:a="http://schemas.openxmlformats.org/drawingml/2006/main">
            <a:pPr algn="l"/>
            <a:r>
              <a:rPr lang="en-US">
                <a:solidFill>
                  <a:srgbClr val="CFD8DC"/>
                </a:solidFill>
              </a:rPr>
              <a:t>[20] Mølmer, K. &amp; Sørensen, A. (1999). Multiparticle Entanglement of Hot Trapped Ions. PRL 82: 1835. doi:10.1103/PhysRevLett.82.1835</a:t>
            </a:r>
          </a:p>
        </p:txBody>
      </p:sp>
      <p:sp>
        <p:nvSpPr>
          <p:cNvPr id="100329"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55 / 65  |  REFERENCES</a:t>
            </a:r>
          </a:p>
        </p:txBody>
      </p:sp>
      <p:sp>
        <p:nvSpPr>
          <p:cNvPr id="100330"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51.xml><?xml version="1.0" encoding="utf-8"?>
<p:sld xmlns:p="http://schemas.openxmlformats.org/presentationml/2006/main">
  <p:cSld>
    <p:spTree>
      <p:nvGrpSpPr>
        <p:cNvPr id="1" name=""/>
        <p:cNvGrpSpPr/>
        <p:nvPr/>
      </p:nvGrpSpPr>
      <p:grpSpPr/>
      <p:sp>
        <p:nvSpPr>
          <p:cNvPr id="100331" name="TextBox 1"/>
          <p:cNvSpPr txBox="1"/>
          <p:nvPr/>
        </p:nvSpPr>
        <p:spPr>
          <a:xfrm xmlns:a="http://schemas.openxmlformats.org/drawingml/2006/main">
            <a:off x="180000" y="198000"/>
            <a:ext cx="1620000" cy="198000"/>
          </a:xfrm>
          <a:prstGeom xmlns:a="http://schemas.openxmlformats.org/drawingml/2006/main" prst="rect">
            <a:avLst/>
          </a:prstGeom>
          <a:solidFill xmlns:a="http://schemas.openxmlformats.org/drawingml/2006/main">
            <a:srgbClr val="21212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REFERENCES</a:t>
            </a:r>
          </a:p>
        </p:txBody>
      </p:sp>
      <p:sp>
        <p:nvSpPr>
          <p:cNvPr id="100332"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References (21–30)</a:t>
            </a:r>
          </a:p>
        </p:txBody>
      </p:sp>
      <p:sp>
        <p:nvSpPr>
          <p:cNvPr id="100333"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42A5F5"/>
          </a:solidFill>
        </p:spPr>
        <p:txBody>
          <a:bodyPr xmlns:a="http://schemas.openxmlformats.org/drawingml/2006/main"/>
          <a:lstStyle xmlns:a="http://schemas.openxmlformats.org/drawingml/2006/main"/>
          <a:p xmlns:a="http://schemas.openxmlformats.org/drawingml/2006/main">
            <a:endParaRPr lang="en-US">
              <a:solidFill>
                <a:srgbClr val="42A5F5"/>
              </a:solidFill>
            </a:endParaRPr>
          </a:p>
        </p:txBody>
      </p:sp>
      <p:sp>
        <p:nvSpPr>
          <p:cNvPr id="100334"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CFD8DC"/>
                </a:solidFill>
              </a:rPr>
              <a:t>[21] Bruzewicz, C.D., Chiaverini, J., McConnell, R. &amp; Sage, J.M. (2019). Trapped-ion quantum computing: Progress and challenges. Applied Physics Reviews 6: 021314. doi:10.1063/1.5088164</a:t>
            </a:r>
          </a:p>
          <a:p xmlns:a="http://schemas.openxmlformats.org/drawingml/2006/main">
            <a:pPr algn="l"/>
            <a:r>
              <a:rPr lang="en-US">
                <a:solidFill>
                  <a:srgbClr val="CFD8DC"/>
                </a:solidFill>
              </a:rPr>
              <a:t/>
            </a:r>
          </a:p>
          <a:p xmlns:a="http://schemas.openxmlformats.org/drawingml/2006/main">
            <a:pPr algn="l"/>
            <a:r>
              <a:rPr lang="en-US">
                <a:solidFill>
                  <a:srgbClr val="CFD8DC"/>
                </a:solidFill>
              </a:rPr>
              <a:t>[22] Gottesman, D. (1997). Stabilizer Codes and Quantum Error Correction. Caltech PhD thesis. arXiv:quant-ph/9705052</a:t>
            </a:r>
          </a:p>
          <a:p xmlns:a="http://schemas.openxmlformats.org/drawingml/2006/main">
            <a:pPr algn="l"/>
            <a:r>
              <a:rPr lang="en-US">
                <a:solidFill>
                  <a:srgbClr val="CFD8DC"/>
                </a:solidFill>
              </a:rPr>
              <a:t/>
            </a:r>
          </a:p>
          <a:p xmlns:a="http://schemas.openxmlformats.org/drawingml/2006/main">
            <a:pPr algn="l"/>
            <a:r>
              <a:rPr lang="en-US">
                <a:solidFill>
                  <a:srgbClr val="CFD8DC"/>
                </a:solidFill>
              </a:rPr>
              <a:t>[23] Szabo, A. &amp; Ostlund, N.S. (1996). Modern Quantum Chemistry: Introduction to Advanced Electronic Structure Theory. Dover. ISBN: 978-0486691862</a:t>
            </a:r>
          </a:p>
          <a:p xmlns:a="http://schemas.openxmlformats.org/drawingml/2006/main">
            <a:pPr algn="l"/>
            <a:r>
              <a:rPr lang="en-US">
                <a:solidFill>
                  <a:srgbClr val="CFD8DC"/>
                </a:solidFill>
              </a:rPr>
              <a:t/>
            </a:r>
          </a:p>
          <a:p xmlns:a="http://schemas.openxmlformats.org/drawingml/2006/main">
            <a:pPr algn="l"/>
            <a:r>
              <a:rPr lang="en-US">
                <a:solidFill>
                  <a:srgbClr val="CFD8DC"/>
                </a:solidFill>
              </a:rPr>
              <a:t>[24] McArdle, S., Endo, S., Aspuru-Guzik, A., Benjamin, S.C. &amp; Yuan, X. (2020). Quantum computational chemistry. Reviews of Modern Physics 92: 015003. doi:10.1103/RevModPhys.92.015003</a:t>
            </a:r>
          </a:p>
          <a:p xmlns:a="http://schemas.openxmlformats.org/drawingml/2006/main">
            <a:pPr algn="l"/>
            <a:r>
              <a:rPr lang="en-US">
                <a:solidFill>
                  <a:srgbClr val="CFD8DC"/>
                </a:solidFill>
              </a:rPr>
              <a:t/>
            </a:r>
          </a:p>
          <a:p xmlns:a="http://schemas.openxmlformats.org/drawingml/2006/main">
            <a:pPr algn="l"/>
            <a:r>
              <a:rPr lang="en-US">
                <a:solidFill>
                  <a:srgbClr val="CFD8DC"/>
                </a:solidFill>
              </a:rPr>
              <a:t>[25] Bernien, H. et al. (2017). Probing many-body dynamics on a 51-atom quantum simulator. Nature 551: 579–584. doi:10.1038/nature24622</a:t>
            </a:r>
          </a:p>
          <a:p xmlns:a="http://schemas.openxmlformats.org/drawingml/2006/main">
            <a:pPr algn="l"/>
            <a:r>
              <a:rPr lang="en-US">
                <a:solidFill>
                  <a:srgbClr val="CFD8DC"/>
                </a:solidFill>
              </a:rPr>
              <a:t/>
            </a:r>
          </a:p>
          <a:p xmlns:a="http://schemas.openxmlformats.org/drawingml/2006/main">
            <a:pPr algn="l"/>
            <a:r>
              <a:rPr lang="en-US">
                <a:solidFill>
                  <a:srgbClr val="CFD8DC"/>
                </a:solidFill>
              </a:rPr>
              <a:t>[26] Saffman, M. (2016). Quantum computing with atomic qubits and Rydberg interactions. J. Phys. B: At. Mol. Opt. Phys. 49: 202001. doi:10.1088/0953-4075/49/20/202001</a:t>
            </a:r>
          </a:p>
          <a:p xmlns:a="http://schemas.openxmlformats.org/drawingml/2006/main">
            <a:pPr algn="l"/>
            <a:r>
              <a:rPr lang="en-US">
                <a:solidFill>
                  <a:srgbClr val="CFD8DC"/>
                </a:solidFill>
              </a:rPr>
              <a:t/>
            </a:r>
          </a:p>
          <a:p xmlns:a="http://schemas.openxmlformats.org/drawingml/2006/main">
            <a:pPr algn="l"/>
            <a:r>
              <a:rPr lang="en-US">
                <a:solidFill>
                  <a:srgbClr val="CFD8DC"/>
                </a:solidFill>
              </a:rPr>
              <a:t>[27] Doherty, M.W. et al. (2013). The nitrogen-vacancy colour centre in diamond. Physics Reports 528(1): 1–45. doi:10.1016/j.physrep.2013.02.001</a:t>
            </a:r>
          </a:p>
          <a:p xmlns:a="http://schemas.openxmlformats.org/drawingml/2006/main">
            <a:pPr algn="l"/>
            <a:r>
              <a:rPr lang="en-US">
                <a:solidFill>
                  <a:srgbClr val="CFD8DC"/>
                </a:solidFill>
              </a:rPr>
              <a:t/>
            </a:r>
          </a:p>
          <a:p xmlns:a="http://schemas.openxmlformats.org/drawingml/2006/main">
            <a:pPr algn="l"/>
            <a:r>
              <a:rPr lang="en-US">
                <a:solidFill>
                  <a:srgbClr val="CFD8DC"/>
                </a:solidFill>
              </a:rPr>
              <a:t>[28] IBM Quantum Team (2023). IBM Quantum Computing Roadmap. https://www.ibm.com/quantum/roadmap</a:t>
            </a:r>
          </a:p>
          <a:p xmlns:a="http://schemas.openxmlformats.org/drawingml/2006/main">
            <a:pPr algn="l"/>
            <a:r>
              <a:rPr lang="en-US">
                <a:solidFill>
                  <a:srgbClr val="CFD8DC"/>
                </a:solidFill>
              </a:rPr>
              <a:t/>
            </a:r>
          </a:p>
          <a:p xmlns:a="http://schemas.openxmlformats.org/drawingml/2006/main">
            <a:pPr algn="l"/>
            <a:r>
              <a:rPr lang="en-US">
                <a:solidFill>
                  <a:srgbClr val="CFD8DC"/>
                </a:solidFill>
              </a:rPr>
              <a:t>[29] NIST (2024). Post-Quantum Cryptography Standards: FIPS 203, 204, 205. National Institute of Standards and Technology. doi:10.6028/NIST.FIPS.203</a:t>
            </a:r>
          </a:p>
          <a:p xmlns:a="http://schemas.openxmlformats.org/drawingml/2006/main">
            <a:pPr algn="l"/>
            <a:r>
              <a:rPr lang="en-US">
                <a:solidFill>
                  <a:srgbClr val="CFD8DC"/>
                </a:solidFill>
              </a:rPr>
              <a:t/>
            </a:r>
          </a:p>
          <a:p xmlns:a="http://schemas.openxmlformats.org/drawingml/2006/main">
            <a:pPr algn="l"/>
            <a:r>
              <a:rPr lang="en-US">
                <a:solidFill>
                  <a:srgbClr val="CFD8DC"/>
                </a:solidFill>
              </a:rPr>
              <a:t>[30] Abrams, D.S. &amp; Lloyd, S. (1997). Simulation of Many-Body Fermi Systems on a Universal Quantum Computer. PRL 79: 2586. doi:10.1103/PhysRevLett.79.2586</a:t>
            </a:r>
          </a:p>
        </p:txBody>
      </p:sp>
      <p:sp>
        <p:nvSpPr>
          <p:cNvPr id="100335"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56 / 65  |  REFERENCES</a:t>
            </a:r>
          </a:p>
        </p:txBody>
      </p:sp>
      <p:sp>
        <p:nvSpPr>
          <p:cNvPr id="100336"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52.xml><?xml version="1.0" encoding="utf-8"?>
<p:sld xmlns:p="http://schemas.openxmlformats.org/presentationml/2006/main">
  <p:cSld>
    <p:spTree>
      <p:nvGrpSpPr>
        <p:cNvPr id="1" name=""/>
        <p:cNvGrpSpPr/>
        <p:nvPr/>
      </p:nvGrpSpPr>
      <p:grpSpPr/>
      <p:sp>
        <p:nvSpPr>
          <p:cNvPr id="100337"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CLOSING</a:t>
            </a:r>
          </a:p>
        </p:txBody>
      </p:sp>
      <p:sp>
        <p:nvSpPr>
          <p:cNvPr id="100338"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Quantum Error Correction: Protecting Quantum Information</a:t>
            </a:r>
          </a:p>
        </p:txBody>
      </p:sp>
      <p:sp>
        <p:nvSpPr>
          <p:cNvPr id="100339"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graphicFrame>
        <p:nvGraphicFramePr>
          <p:cNvPr id="100340" name="Table 1"/>
          <p:cNvGraphicFramePr/>
          <p:nvPr/>
        </p:nvGraphicFramePr>
        <p:xfrm>
          <a:off xmlns:a="http://schemas.openxmlformats.org/drawingml/2006/main" x="360000" y="1152000"/>
          <a:ext xmlns:a="http://schemas.openxmlformats.org/drawingml/2006/main" cx="11160000" cy="3240000"/>
        </p:xfrm>
        <a:graphic xmlns:a="http://schemas.openxmlformats.org/drawingml/2006/main">
          <a:graphicData uri="http://schemas.openxmlformats.org/drawingml/2006/table">
            <a:tbl>
              <a:tblPr firstRow="1" bandRow="1"/>
              <a:tblGrid>
                <a:gridCol w="3720000"/>
                <a:gridCol w="3720000"/>
                <a:gridCol w="3720000"/>
              </a:tblGrid>
              <a:tr h="648000">
                <a:tc>
                  <a:txBody>
                    <a:bodyPr/>
                    <a:lstStyle/>
                    <a:p>
                      <a:r>
                        <a:rPr lang="en-US" sz="1200" b="1">
                          <a:solidFill>
                            <a:srgbClr val="E3F2FD"/>
                          </a:solidFill>
                        </a:rPr>
                        <a:t>Code</a:t>
                      </a:r>
                    </a:p>
                  </a:txBody>
                  <a:tcPr>
                    <a:solidFill>
                      <a:srgbClr val="1565C0"/>
                    </a:solidFill>
                  </a:tcPr>
                </a:tc>
                <a:tc>
                  <a:txBody>
                    <a:bodyPr/>
                    <a:lstStyle/>
                    <a:p>
                      <a:r>
                        <a:rPr lang="en-US" sz="1200" b="1">
                          <a:solidFill>
                            <a:srgbClr val="E3F2FD"/>
                          </a:solidFill>
                        </a:rPr>
                        <a:t>Encoding</a:t>
                      </a:r>
                    </a:p>
                  </a:txBody>
                  <a:tcPr>
                    <a:solidFill>
                      <a:srgbClr val="1565C0"/>
                    </a:solidFill>
                  </a:tcPr>
                </a:tc>
                <a:tc>
                  <a:txBody>
                    <a:bodyPr/>
                    <a:lstStyle/>
                    <a:p>
                      <a:r>
                        <a:rPr lang="en-US" sz="1200" b="1">
                          <a:solidFill>
                            <a:srgbClr val="E3F2FD"/>
                          </a:solidFill>
                        </a:rPr>
                        <a:t>What it corrects</a:t>
                      </a:r>
                    </a:p>
                  </a:txBody>
                  <a:tcPr>
                    <a:solidFill>
                      <a:srgbClr val="1565C0"/>
                    </a:solidFill>
                  </a:tcPr>
                </a:tc>
              </a:tr>
              <a:tr h="648000">
                <a:tc>
                  <a:txBody>
                    <a:bodyPr/>
                    <a:lstStyle/>
                    <a:p>
                      <a:r>
                        <a:rPr lang="en-US" sz="1200" b="1">
                          <a:solidFill>
                            <a:srgbClr val="BBDEFB"/>
                          </a:solidFill>
                        </a:rPr>
                        <a:t>3-qubit repetition</a:t>
                      </a:r>
                    </a:p>
                  </a:txBody>
                  <a:tcPr>
                    <a:solidFill>
                      <a:srgbClr val="0D2137"/>
                    </a:solidFill>
                  </a:tcPr>
                </a:tc>
                <a:tc>
                  <a:txBody>
                    <a:bodyPr/>
                    <a:lstStyle/>
                    <a:p>
                      <a:r>
                        <a:rPr lang="en-US" sz="1200">
                          <a:solidFill>
                            <a:srgbClr val="E3F2FD"/>
                          </a:solidFill>
                        </a:rPr>
                        <a:t>|0⟩→|000⟩, |1⟩→|111⟩</a:t>
                      </a:r>
                    </a:p>
                  </a:txBody>
                  <a:tcPr>
                    <a:solidFill>
                      <a:srgbClr val="0D2137"/>
                    </a:solidFill>
                  </a:tcPr>
                </a:tc>
                <a:tc>
                  <a:txBody>
                    <a:bodyPr/>
                    <a:lstStyle/>
                    <a:p>
                      <a:r>
                        <a:rPr lang="en-US" sz="1200">
                          <a:solidFill>
                            <a:srgbClr val="E3F2FD"/>
                          </a:solidFill>
                        </a:rPr>
                        <a:t>Single bit-flip errors</a:t>
                      </a:r>
                    </a:p>
                  </a:txBody>
                  <a:tcPr>
                    <a:solidFill>
                      <a:srgbClr val="0D2137"/>
                    </a:solidFill>
                  </a:tcPr>
                </a:tc>
              </a:tr>
              <a:tr h="648000">
                <a:tc>
                  <a:txBody>
                    <a:bodyPr/>
                    <a:lstStyle/>
                    <a:p>
                      <a:r>
                        <a:rPr lang="en-US" sz="1200" b="1">
                          <a:solidFill>
                            <a:srgbClr val="BBDEFB"/>
                          </a:solidFill>
                        </a:rPr>
                        <a:t>Shor [[9,1,3]] code</a:t>
                      </a:r>
                    </a:p>
                  </a:txBody>
                  <a:tcPr>
                    <a:solidFill>
                      <a:srgbClr val="112233"/>
                    </a:solidFill>
                  </a:tcPr>
                </a:tc>
                <a:tc>
                  <a:txBody>
                    <a:bodyPr/>
                    <a:lstStyle/>
                    <a:p>
                      <a:r>
                        <a:rPr lang="en-US" sz="1200">
                          <a:solidFill>
                            <a:srgbClr val="E3F2FD"/>
                          </a:solidFill>
                        </a:rPr>
                        <a:t>1 logical qubit → 9 physical</a:t>
                      </a:r>
                    </a:p>
                  </a:txBody>
                  <a:tcPr>
                    <a:solidFill>
                      <a:srgbClr val="112233"/>
                    </a:solidFill>
                  </a:tcPr>
                </a:tc>
                <a:tc>
                  <a:txBody>
                    <a:bodyPr/>
                    <a:lstStyle/>
                    <a:p>
                      <a:r>
                        <a:rPr lang="en-US" sz="1200">
                          <a:solidFill>
                            <a:srgbClr val="E3F2FD"/>
                          </a:solidFill>
                        </a:rPr>
                        <a:t>Any single-qubit error (X,Y,Z,combined)</a:t>
                      </a:r>
                    </a:p>
                  </a:txBody>
                  <a:tcPr>
                    <a:solidFill>
                      <a:srgbClr val="112233"/>
                    </a:solidFill>
                  </a:tcPr>
                </a:tc>
              </a:tr>
              <a:tr h="648000">
                <a:tc>
                  <a:txBody>
                    <a:bodyPr/>
                    <a:lstStyle/>
                    <a:p>
                      <a:r>
                        <a:rPr lang="en-US" sz="1200" b="1">
                          <a:solidFill>
                            <a:srgbClr val="BBDEFB"/>
                          </a:solidFill>
                        </a:rPr>
                        <a:t>Steane [[7,1,3]] code</a:t>
                      </a:r>
                    </a:p>
                  </a:txBody>
                  <a:tcPr>
                    <a:solidFill>
                      <a:srgbClr val="0D2137"/>
                    </a:solidFill>
                  </a:tcPr>
                </a:tc>
                <a:tc>
                  <a:txBody>
                    <a:bodyPr/>
                    <a:lstStyle/>
                    <a:p>
                      <a:r>
                        <a:rPr lang="en-US" sz="1200">
                          <a:solidFill>
                            <a:srgbClr val="E3F2FD"/>
                          </a:solidFill>
                        </a:rPr>
                        <a:t>CSS code; 1 logical → 7 physical</a:t>
                      </a:r>
                    </a:p>
                  </a:txBody>
                  <a:tcPr>
                    <a:solidFill>
                      <a:srgbClr val="0D2137"/>
                    </a:solidFill>
                  </a:tcPr>
                </a:tc>
                <a:tc>
                  <a:txBody>
                    <a:bodyPr/>
                    <a:lstStyle/>
                    <a:p>
                      <a:r>
                        <a:rPr lang="en-US" sz="1200">
                          <a:solidFill>
                            <a:srgbClr val="E3F2FD"/>
                          </a:solidFill>
                        </a:rPr>
                        <a:t>Any single qubit error; transversal gates</a:t>
                      </a:r>
                    </a:p>
                  </a:txBody>
                  <a:tcPr>
                    <a:solidFill>
                      <a:srgbClr val="0D2137"/>
                    </a:solidFill>
                  </a:tcPr>
                </a:tc>
              </a:tr>
              <a:tr h="648000">
                <a:tc>
                  <a:txBody>
                    <a:bodyPr/>
                    <a:lstStyle/>
                    <a:p>
                      <a:r>
                        <a:rPr lang="en-US" sz="1200" b="1">
                          <a:solidFill>
                            <a:srgbClr val="BBDEFB"/>
                          </a:solidFill>
                        </a:rPr>
                        <a:t>Surface code</a:t>
                      </a:r>
                    </a:p>
                  </a:txBody>
                  <a:tcPr>
                    <a:solidFill>
                      <a:srgbClr val="112233"/>
                    </a:solidFill>
                  </a:tcPr>
                </a:tc>
                <a:tc>
                  <a:txBody>
                    <a:bodyPr/>
                    <a:lstStyle/>
                    <a:p>
                      <a:r>
                        <a:rPr lang="en-US" sz="1200">
                          <a:solidFill>
                            <a:srgbClr val="E3F2FD"/>
                          </a:solidFill>
                        </a:rPr>
                        <a:t>2D lattice; d² physical per logical (d=distance)</a:t>
                      </a:r>
                    </a:p>
                  </a:txBody>
                  <a:tcPr>
                    <a:solidFill>
                      <a:srgbClr val="112233"/>
                    </a:solidFill>
                  </a:tcPr>
                </a:tc>
                <a:tc>
                  <a:txBody>
                    <a:bodyPr/>
                    <a:lstStyle/>
                    <a:p>
                      <a:r>
                        <a:rPr lang="en-US" sz="1200">
                          <a:solidFill>
                            <a:srgbClr val="E3F2FD"/>
                          </a:solidFill>
                        </a:rPr>
                        <a:t>Any error below threshold (~1%); leading FT candidate</a:t>
                      </a:r>
                    </a:p>
                  </a:txBody>
                  <a:tcPr>
                    <a:solidFill>
                      <a:srgbClr val="112233"/>
                    </a:solidFill>
                  </a:tcPr>
                </a:tc>
              </a:tr>
            </a:tbl>
          </a:graphicData>
        </a:graphic>
      </p:graphicFrame>
      <p:sp>
        <p:nvSpPr>
          <p:cNvPr id="100341" name="TextBox 4"/>
          <p:cNvSpPr txBox="1"/>
          <p:nvPr/>
        </p:nvSpPr>
        <p:spPr>
          <a:xfrm xmlns:a="http://schemas.openxmlformats.org/drawingml/2006/main">
            <a:off x="360000" y="4500000"/>
            <a:ext cx="11160000" cy="1440000"/>
          </a:xfrm>
          <a:prstGeom xmlns:a="http://schemas.openxmlformats.org/drawingml/2006/main" prst="rect">
            <a:avLst/>
          </a:prstGeom>
          <a:solidFill xmlns:a="http://schemas.openxmlformats.org/drawingml/2006/main">
            <a:srgbClr val="0D1F33"/>
          </a:solidFill>
        </p:spPr>
        <p:txBody>
          <a:bodyPr xmlns:a="http://schemas.openxmlformats.org/drawingml/2006/main"/>
          <a:lstStyle xmlns:a="http://schemas.openxmlformats.org/drawingml/2006/main"/>
          <a:p xmlns:a="http://schemas.openxmlformats.org/drawingml/2006/main">
            <a:pPr algn="l"/>
            <a:r>
              <a:rPr lang="en-US">
                <a:solidFill>
                  <a:srgbClr val="90CAF9"/>
                </a:solidFill>
              </a:rPr>
              <a:t>Threshold Theorem: If physical error rate p &lt; p_th, then logical error rate can be made arbitrarily small by increasing code distance d. Surface code: p_th ≈ 0.3–1%. Google Willow (2024): first QEC device operating below threshold. Required physical qubits for fault-tolerant Shor on RSA-2048: ~4 million (Gidney &amp; Ekera, 2021).</a:t>
            </a:r>
          </a:p>
        </p:txBody>
      </p:sp>
      <p:sp>
        <p:nvSpPr>
          <p:cNvPr id="100342"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57 / 65  |  QEC</a:t>
            </a:r>
          </a:p>
        </p:txBody>
      </p:sp>
      <p:sp>
        <p:nvSpPr>
          <p:cNvPr id="100343"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53.xml><?xml version="1.0" encoding="utf-8"?>
<p:sld xmlns:p="http://schemas.openxmlformats.org/presentationml/2006/main">
  <p:cSld>
    <p:spTree>
      <p:nvGrpSpPr>
        <p:cNvPr id="1" name=""/>
        <p:cNvGrpSpPr/>
        <p:nvPr/>
      </p:nvGrpSpPr>
      <p:grpSpPr/>
      <p:sp>
        <p:nvSpPr>
          <p:cNvPr id="100344"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CLOSING</a:t>
            </a:r>
          </a:p>
        </p:txBody>
      </p:sp>
      <p:sp>
        <p:nvSpPr>
          <p:cNvPr id="100345"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Quantum Advantage: When Will QC Beat Classical?</a:t>
            </a:r>
          </a:p>
        </p:txBody>
      </p:sp>
      <p:sp>
        <p:nvSpPr>
          <p:cNvPr id="100346"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graphicFrame>
        <p:nvGraphicFramePr>
          <p:cNvPr id="100347" name="Table 1"/>
          <p:cNvGraphicFramePr/>
          <p:nvPr/>
        </p:nvGraphicFramePr>
        <p:xfrm>
          <a:off xmlns:a="http://schemas.openxmlformats.org/drawingml/2006/main" x="360000" y="1152000"/>
          <a:ext xmlns:a="http://schemas.openxmlformats.org/drawingml/2006/main" cx="11160000" cy="3420000"/>
        </p:xfrm>
        <a:graphic xmlns:a="http://schemas.openxmlformats.org/drawingml/2006/main">
          <a:graphicData uri="http://schemas.openxmlformats.org/drawingml/2006/table">
            <a:tbl>
              <a:tblPr firstRow="1" bandRow="1"/>
              <a:tblGrid>
                <a:gridCol w="2790000"/>
                <a:gridCol w="2790000"/>
                <a:gridCol w="2790000"/>
                <a:gridCol w="2790000"/>
              </a:tblGrid>
              <a:tr h="570000">
                <a:tc>
                  <a:txBody>
                    <a:bodyPr/>
                    <a:lstStyle/>
                    <a:p>
                      <a:r>
                        <a:rPr lang="en-US" sz="1200" b="1">
                          <a:solidFill>
                            <a:srgbClr val="E3F2FD"/>
                          </a:solidFill>
                        </a:rPr>
                        <a:t>Application</a:t>
                      </a:r>
                    </a:p>
                  </a:txBody>
                  <a:tcPr>
                    <a:solidFill>
                      <a:srgbClr val="1565C0"/>
                    </a:solidFill>
                  </a:tcPr>
                </a:tc>
                <a:tc>
                  <a:txBody>
                    <a:bodyPr/>
                    <a:lstStyle/>
                    <a:p>
                      <a:r>
                        <a:rPr lang="en-US" sz="1200" b="1">
                          <a:solidFill>
                            <a:srgbClr val="E3F2FD"/>
                          </a:solidFill>
                        </a:rPr>
                        <a:t>Classical Complexity</a:t>
                      </a:r>
                    </a:p>
                  </a:txBody>
                  <a:tcPr>
                    <a:solidFill>
                      <a:srgbClr val="1565C0"/>
                    </a:solidFill>
                  </a:tcPr>
                </a:tc>
                <a:tc>
                  <a:txBody>
                    <a:bodyPr/>
                    <a:lstStyle/>
                    <a:p>
                      <a:r>
                        <a:rPr lang="en-US" sz="1200" b="1">
                          <a:solidFill>
                            <a:srgbClr val="E3F2FD"/>
                          </a:solidFill>
                        </a:rPr>
                        <a:t>Quantum Speedup</a:t>
                      </a:r>
                    </a:p>
                  </a:txBody>
                  <a:tcPr>
                    <a:solidFill>
                      <a:srgbClr val="1565C0"/>
                    </a:solidFill>
                  </a:tcPr>
                </a:tc>
                <a:tc>
                  <a:txBody>
                    <a:bodyPr/>
                    <a:lstStyle/>
                    <a:p>
                      <a:r>
                        <a:rPr lang="en-US" sz="1200" b="1">
                          <a:solidFill>
                            <a:srgbClr val="E3F2FD"/>
                          </a:solidFill>
                        </a:rPr>
                        <a:t>Advantage Timeline</a:t>
                      </a:r>
                    </a:p>
                  </a:txBody>
                  <a:tcPr>
                    <a:solidFill>
                      <a:srgbClr val="1565C0"/>
                    </a:solidFill>
                  </a:tcPr>
                </a:tc>
              </a:tr>
              <a:tr h="570000">
                <a:tc>
                  <a:txBody>
                    <a:bodyPr/>
                    <a:lstStyle/>
                    <a:p>
                      <a:r>
                        <a:rPr lang="en-US" sz="1200" b="1">
                          <a:solidFill>
                            <a:srgbClr val="BBDEFB"/>
                          </a:solidFill>
                        </a:rPr>
                        <a:t>Integer factoring</a:t>
                      </a:r>
                    </a:p>
                  </a:txBody>
                  <a:tcPr>
                    <a:solidFill>
                      <a:srgbClr val="0D2137"/>
                    </a:solidFill>
                  </a:tcPr>
                </a:tc>
                <a:tc>
                  <a:txBody>
                    <a:bodyPr/>
                    <a:lstStyle/>
                    <a:p>
                      <a:r>
                        <a:rPr lang="en-US" sz="1200">
                          <a:solidFill>
                            <a:srgbClr val="E3F2FD"/>
                          </a:solidFill>
                        </a:rPr>
                        <a:t>Sub-exp (GNFS)</a:t>
                      </a:r>
                    </a:p>
                  </a:txBody>
                  <a:tcPr>
                    <a:solidFill>
                      <a:srgbClr val="0D2137"/>
                    </a:solidFill>
                  </a:tcPr>
                </a:tc>
                <a:tc>
                  <a:txBody>
                    <a:bodyPr/>
                    <a:lstStyle/>
                    <a:p>
                      <a:r>
                        <a:rPr lang="en-US" sz="1200">
                          <a:solidFill>
                            <a:srgbClr val="E3F2FD"/>
                          </a:solidFill>
                        </a:rPr>
                        <a:t>Poly (Shor) — exponential</a:t>
                      </a:r>
                    </a:p>
                  </a:txBody>
                  <a:tcPr>
                    <a:solidFill>
                      <a:srgbClr val="0D2137"/>
                    </a:solidFill>
                  </a:tcPr>
                </a:tc>
                <a:tc>
                  <a:txBody>
                    <a:bodyPr/>
                    <a:lstStyle/>
                    <a:p>
                      <a:r>
                        <a:rPr lang="en-US" sz="1200">
                          <a:solidFill>
                            <a:srgbClr val="E3F2FD"/>
                          </a:solidFill>
                        </a:rPr>
                        <a:t>~2030+ (fault-tolerant required)</a:t>
                      </a:r>
                    </a:p>
                  </a:txBody>
                  <a:tcPr>
                    <a:solidFill>
                      <a:srgbClr val="0D2137"/>
                    </a:solidFill>
                  </a:tcPr>
                </a:tc>
              </a:tr>
              <a:tr h="570000">
                <a:tc>
                  <a:txBody>
                    <a:bodyPr/>
                    <a:lstStyle/>
                    <a:p>
                      <a:r>
                        <a:rPr lang="en-US" sz="1200" b="1">
                          <a:solidFill>
                            <a:srgbClr val="BBDEFB"/>
                          </a:solidFill>
                        </a:rPr>
                        <a:t>Database search</a:t>
                      </a:r>
                    </a:p>
                  </a:txBody>
                  <a:tcPr>
                    <a:solidFill>
                      <a:srgbClr val="112233"/>
                    </a:solidFill>
                  </a:tcPr>
                </a:tc>
                <a:tc>
                  <a:txBody>
                    <a:bodyPr/>
                    <a:lstStyle/>
                    <a:p>
                      <a:r>
                        <a:rPr lang="en-US" sz="1200">
                          <a:solidFill>
                            <a:srgbClr val="E3F2FD"/>
                          </a:solidFill>
                        </a:rPr>
                        <a:t>O(N) classical</a:t>
                      </a:r>
                    </a:p>
                  </a:txBody>
                  <a:tcPr>
                    <a:solidFill>
                      <a:srgbClr val="112233"/>
                    </a:solidFill>
                  </a:tcPr>
                </a:tc>
                <a:tc>
                  <a:txBody>
                    <a:bodyPr/>
                    <a:lstStyle/>
                    <a:p>
                      <a:r>
                        <a:rPr lang="en-US" sz="1200">
                          <a:solidFill>
                            <a:srgbClr val="E3F2FD"/>
                          </a:solidFill>
                        </a:rPr>
                        <a:t>O(√N) (Grover) — quadratic</a:t>
                      </a:r>
                    </a:p>
                  </a:txBody>
                  <a:tcPr>
                    <a:solidFill>
                      <a:srgbClr val="112233"/>
                    </a:solidFill>
                  </a:tcPr>
                </a:tc>
                <a:tc>
                  <a:txBody>
                    <a:bodyPr/>
                    <a:lstStyle/>
                    <a:p>
                      <a:r>
                        <a:rPr lang="en-US" sz="1200">
                          <a:solidFill>
                            <a:srgbClr val="E3F2FD"/>
                          </a:solidFill>
                        </a:rPr>
                        <a:t>NISQ near-term possible</a:t>
                      </a:r>
                    </a:p>
                  </a:txBody>
                  <a:tcPr>
                    <a:solidFill>
                      <a:srgbClr val="112233"/>
                    </a:solidFill>
                  </a:tcPr>
                </a:tc>
              </a:tr>
              <a:tr h="570000">
                <a:tc>
                  <a:txBody>
                    <a:bodyPr/>
                    <a:lstStyle/>
                    <a:p>
                      <a:r>
                        <a:rPr lang="en-US" sz="1200" b="1">
                          <a:solidFill>
                            <a:srgbClr val="BBDEFB"/>
                          </a:solidFill>
                        </a:rPr>
                        <a:t>Molecular simulation</a:t>
                      </a:r>
                    </a:p>
                  </a:txBody>
                  <a:tcPr>
                    <a:solidFill>
                      <a:srgbClr val="0D2137"/>
                    </a:solidFill>
                  </a:tcPr>
                </a:tc>
                <a:tc>
                  <a:txBody>
                    <a:bodyPr/>
                    <a:lstStyle/>
                    <a:p>
                      <a:r>
                        <a:rPr lang="en-US" sz="1200">
                          <a:solidFill>
                            <a:srgbClr val="E3F2FD"/>
                          </a:solidFill>
                        </a:rPr>
                        <a:t>O(exp N) FCI</a:t>
                      </a:r>
                    </a:p>
                  </a:txBody>
                  <a:tcPr>
                    <a:solidFill>
                      <a:srgbClr val="0D2137"/>
                    </a:solidFill>
                  </a:tcPr>
                </a:tc>
                <a:tc>
                  <a:txBody>
                    <a:bodyPr/>
                    <a:lstStyle/>
                    <a:p>
                      <a:r>
                        <a:rPr lang="en-US" sz="1200">
                          <a:solidFill>
                            <a:srgbClr val="E3F2FD"/>
                          </a:solidFill>
                        </a:rPr>
                        <a:t>O(poly N) QPE/VQE</a:t>
                      </a:r>
                    </a:p>
                  </a:txBody>
                  <a:tcPr>
                    <a:solidFill>
                      <a:srgbClr val="0D2137"/>
                    </a:solidFill>
                  </a:tcPr>
                </a:tc>
                <a:tc>
                  <a:txBody>
                    <a:bodyPr/>
                    <a:lstStyle/>
                    <a:p>
                      <a:r>
                        <a:rPr lang="en-US" sz="1200">
                          <a:solidFill>
                            <a:srgbClr val="E3F2FD"/>
                          </a:solidFill>
                        </a:rPr>
                        <a:t>~2028 for drug-relevant molecules</a:t>
                      </a:r>
                    </a:p>
                  </a:txBody>
                  <a:tcPr>
                    <a:solidFill>
                      <a:srgbClr val="0D2137"/>
                    </a:solidFill>
                  </a:tcPr>
                </a:tc>
              </a:tr>
              <a:tr h="570000">
                <a:tc>
                  <a:txBody>
                    <a:bodyPr/>
                    <a:lstStyle/>
                    <a:p>
                      <a:r>
                        <a:rPr lang="en-US" sz="1200" b="1">
                          <a:solidFill>
                            <a:srgbClr val="BBDEFB"/>
                          </a:solidFill>
                        </a:rPr>
                        <a:t>Linear systems (HHL)</a:t>
                      </a:r>
                    </a:p>
                  </a:txBody>
                  <a:tcPr>
                    <a:solidFill>
                      <a:srgbClr val="112233"/>
                    </a:solidFill>
                  </a:tcPr>
                </a:tc>
                <a:tc>
                  <a:txBody>
                    <a:bodyPr/>
                    <a:lstStyle/>
                    <a:p>
                      <a:r>
                        <a:rPr lang="en-US" sz="1200">
                          <a:solidFill>
                            <a:srgbClr val="E3F2FD"/>
                          </a:solidFill>
                        </a:rPr>
                        <a:t>O(N³) Gaussian elim</a:t>
                      </a:r>
                    </a:p>
                  </a:txBody>
                  <a:tcPr>
                    <a:solidFill>
                      <a:srgbClr val="112233"/>
                    </a:solidFill>
                  </a:tcPr>
                </a:tc>
                <a:tc>
                  <a:txBody>
                    <a:bodyPr/>
                    <a:lstStyle/>
                    <a:p>
                      <a:r>
                        <a:rPr lang="en-US" sz="1200">
                          <a:solidFill>
                            <a:srgbClr val="E3F2FD"/>
                          </a:solidFill>
                        </a:rPr>
                        <a:t>O(log N) — exp speedup</a:t>
                      </a:r>
                    </a:p>
                  </a:txBody>
                  <a:tcPr>
                    <a:solidFill>
                      <a:srgbClr val="112233"/>
                    </a:solidFill>
                  </a:tcPr>
                </a:tc>
                <a:tc>
                  <a:txBody>
                    <a:bodyPr/>
                    <a:lstStyle/>
                    <a:p>
                      <a:r>
                        <a:rPr lang="en-US" sz="1200">
                          <a:solidFill>
                            <a:srgbClr val="E3F2FD"/>
                          </a:solidFill>
                        </a:rPr>
                        <a:t>With sparse, well-conditioned A (caveats apply)</a:t>
                      </a:r>
                    </a:p>
                  </a:txBody>
                  <a:tcPr>
                    <a:solidFill>
                      <a:srgbClr val="112233"/>
                    </a:solidFill>
                  </a:tcPr>
                </a:tc>
              </a:tr>
              <a:tr h="570000">
                <a:tc>
                  <a:txBody>
                    <a:bodyPr/>
                    <a:lstStyle/>
                    <a:p>
                      <a:r>
                        <a:rPr lang="en-US" sz="1200" b="1">
                          <a:solidFill>
                            <a:srgbClr val="BBDEFB"/>
                          </a:solidFill>
                        </a:rPr>
                        <a:t>Optimization (QAOA)</a:t>
                      </a:r>
                    </a:p>
                  </a:txBody>
                  <a:tcPr>
                    <a:solidFill>
                      <a:srgbClr val="0D2137"/>
                    </a:solidFill>
                  </a:tcPr>
                </a:tc>
                <a:tc>
                  <a:txBody>
                    <a:bodyPr/>
                    <a:lstStyle/>
                    <a:p>
                      <a:r>
                        <a:rPr lang="en-US" sz="1200">
                          <a:solidFill>
                            <a:srgbClr val="E3F2FD"/>
                          </a:solidFill>
                        </a:rPr>
                        <a:t>NP-hard in general</a:t>
                      </a:r>
                    </a:p>
                  </a:txBody>
                  <a:tcPr>
                    <a:solidFill>
                      <a:srgbClr val="0D2137"/>
                    </a:solidFill>
                  </a:tcPr>
                </a:tc>
                <a:tc>
                  <a:txBody>
                    <a:bodyPr/>
                    <a:lstStyle/>
                    <a:p>
                      <a:r>
                        <a:rPr lang="en-US" sz="1200">
                          <a:solidFill>
                            <a:srgbClr val="E3F2FD"/>
                          </a:solidFill>
                        </a:rPr>
                        <a:t>Unclear — active research area</a:t>
                      </a:r>
                    </a:p>
                  </a:txBody>
                  <a:tcPr>
                    <a:solidFill>
                      <a:srgbClr val="0D2137"/>
                    </a:solidFill>
                  </a:tcPr>
                </a:tc>
                <a:tc>
                  <a:txBody>
                    <a:bodyPr/>
                    <a:lstStyle/>
                    <a:p>
                      <a:r>
                        <a:rPr lang="en-US" sz="1200">
                          <a:solidFill>
                            <a:srgbClr val="E3F2FD"/>
                          </a:solidFill>
                        </a:rPr>
                        <a:t>Heuristic near-term benefit possible</a:t>
                      </a:r>
                    </a:p>
                  </a:txBody>
                  <a:tcPr>
                    <a:solidFill>
                      <a:srgbClr val="0D2137"/>
                    </a:solidFill>
                  </a:tcPr>
                </a:tc>
              </a:tr>
            </a:tbl>
          </a:graphicData>
        </a:graphic>
      </p:graphicFrame>
      <p:sp>
        <p:nvSpPr>
          <p:cNvPr id="100348" name="TextBox 4"/>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58 / 65  |  QUANTUM ADVANTAGE</a:t>
            </a:r>
          </a:p>
        </p:txBody>
      </p:sp>
      <p:sp>
        <p:nvSpPr>
          <p:cNvPr id="100349" name="TextBox 5"/>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54.xml><?xml version="1.0" encoding="utf-8"?>
<p:sld xmlns:p="http://schemas.openxmlformats.org/presentationml/2006/main">
  <p:cSld>
    <p:spTree>
      <p:nvGrpSpPr>
        <p:cNvPr id="1" name=""/>
        <p:cNvGrpSpPr/>
        <p:nvPr/>
      </p:nvGrpSpPr>
      <p:grpSpPr/>
      <p:sp>
        <p:nvSpPr>
          <p:cNvPr id="100350"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CLOSING</a:t>
            </a:r>
          </a:p>
        </p:txBody>
      </p:sp>
      <p:sp>
        <p:nvSpPr>
          <p:cNvPr id="100351"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Quantum Industry Ecosystem 2024</a:t>
            </a:r>
          </a:p>
        </p:txBody>
      </p:sp>
      <p:sp>
        <p:nvSpPr>
          <p:cNvPr id="100352"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graphicFrame>
        <p:nvGraphicFramePr>
          <p:cNvPr id="100353" name="Table 1"/>
          <p:cNvGraphicFramePr/>
          <p:nvPr/>
        </p:nvGraphicFramePr>
        <p:xfrm>
          <a:off xmlns:a="http://schemas.openxmlformats.org/drawingml/2006/main" x="360000" y="1152000"/>
          <a:ext xmlns:a="http://schemas.openxmlformats.org/drawingml/2006/main" cx="11160000" cy="3420000"/>
        </p:xfrm>
        <a:graphic xmlns:a="http://schemas.openxmlformats.org/drawingml/2006/main">
          <a:graphicData uri="http://schemas.openxmlformats.org/drawingml/2006/table">
            <a:tbl>
              <a:tblPr firstRow="1" bandRow="1"/>
              <a:tblGrid>
                <a:gridCol w="3720000"/>
                <a:gridCol w="3720000"/>
                <a:gridCol w="3720000"/>
              </a:tblGrid>
              <a:tr h="488571">
                <a:tc>
                  <a:txBody>
                    <a:bodyPr/>
                    <a:lstStyle/>
                    <a:p>
                      <a:r>
                        <a:rPr lang="en-US" sz="1200" b="1">
                          <a:solidFill>
                            <a:srgbClr val="E3F2FD"/>
                          </a:solidFill>
                        </a:rPr>
                        <a:t>Sector</a:t>
                      </a:r>
                    </a:p>
                  </a:txBody>
                  <a:tcPr>
                    <a:solidFill>
                      <a:srgbClr val="1565C0"/>
                    </a:solidFill>
                  </a:tcPr>
                </a:tc>
                <a:tc>
                  <a:txBody>
                    <a:bodyPr/>
                    <a:lstStyle/>
                    <a:p>
                      <a:r>
                        <a:rPr lang="en-US" sz="1200" b="1">
                          <a:solidFill>
                            <a:srgbClr val="E3F2FD"/>
                          </a:solidFill>
                        </a:rPr>
                        <a:t>Key Players</a:t>
                      </a:r>
                    </a:p>
                  </a:txBody>
                  <a:tcPr>
                    <a:solidFill>
                      <a:srgbClr val="1565C0"/>
                    </a:solidFill>
                  </a:tcPr>
                </a:tc>
                <a:tc>
                  <a:txBody>
                    <a:bodyPr/>
                    <a:lstStyle/>
                    <a:p>
                      <a:r>
                        <a:rPr lang="en-US" sz="1200" b="1">
                          <a:solidFill>
                            <a:srgbClr val="E3F2FD"/>
                          </a:solidFill>
                        </a:rPr>
                        <a:t>Focus Area</a:t>
                      </a:r>
                    </a:p>
                  </a:txBody>
                  <a:tcPr>
                    <a:solidFill>
                      <a:srgbClr val="1565C0"/>
                    </a:solidFill>
                  </a:tcPr>
                </a:tc>
              </a:tr>
              <a:tr h="488571">
                <a:tc>
                  <a:txBody>
                    <a:bodyPr/>
                    <a:lstStyle/>
                    <a:p>
                      <a:r>
                        <a:rPr lang="en-US" sz="1200" b="1">
                          <a:solidFill>
                            <a:srgbClr val="BBDEFB"/>
                          </a:solidFill>
                        </a:rPr>
                        <a:t>Superconducting</a:t>
                      </a:r>
                    </a:p>
                  </a:txBody>
                  <a:tcPr>
                    <a:solidFill>
                      <a:srgbClr val="0D2137"/>
                    </a:solidFill>
                  </a:tcPr>
                </a:tc>
                <a:tc>
                  <a:txBody>
                    <a:bodyPr/>
                    <a:lstStyle/>
                    <a:p>
                      <a:r>
                        <a:rPr lang="en-US" sz="1200">
                          <a:solidFill>
                            <a:srgbClr val="E3F2FD"/>
                          </a:solidFill>
                        </a:rPr>
                        <a:t>IBM, Google, Rigetti, IQM</a:t>
                      </a:r>
                    </a:p>
                  </a:txBody>
                  <a:tcPr>
                    <a:solidFill>
                      <a:srgbClr val="0D2137"/>
                    </a:solidFill>
                  </a:tcPr>
                </a:tc>
                <a:tc>
                  <a:txBody>
                    <a:bodyPr/>
                    <a:lstStyle/>
                    <a:p>
                      <a:r>
                        <a:rPr lang="en-US" sz="1200">
                          <a:solidFill>
                            <a:srgbClr val="E3F2FD"/>
                          </a:solidFill>
                        </a:rPr>
                        <a:t>Scale; cloud access; 1000+ qubit roadmaps</a:t>
                      </a:r>
                    </a:p>
                  </a:txBody>
                  <a:tcPr>
                    <a:solidFill>
                      <a:srgbClr val="0D2137"/>
                    </a:solidFill>
                  </a:tcPr>
                </a:tc>
              </a:tr>
              <a:tr h="488571">
                <a:tc>
                  <a:txBody>
                    <a:bodyPr/>
                    <a:lstStyle/>
                    <a:p>
                      <a:r>
                        <a:rPr lang="en-US" sz="1200" b="1">
                          <a:solidFill>
                            <a:srgbClr val="BBDEFB"/>
                          </a:solidFill>
                        </a:rPr>
                        <a:t>Trapped Ion</a:t>
                      </a:r>
                    </a:p>
                  </a:txBody>
                  <a:tcPr>
                    <a:solidFill>
                      <a:srgbClr val="112233"/>
                    </a:solidFill>
                  </a:tcPr>
                </a:tc>
                <a:tc>
                  <a:txBody>
                    <a:bodyPr/>
                    <a:lstStyle/>
                    <a:p>
                      <a:r>
                        <a:rPr lang="en-US" sz="1200">
                          <a:solidFill>
                            <a:srgbClr val="E3F2FD"/>
                          </a:solidFill>
                        </a:rPr>
                        <a:t>IonQ, Quantinuum, AQT</a:t>
                      </a:r>
                    </a:p>
                  </a:txBody>
                  <a:tcPr>
                    <a:solidFill>
                      <a:srgbClr val="112233"/>
                    </a:solidFill>
                  </a:tcPr>
                </a:tc>
                <a:tc>
                  <a:txBody>
                    <a:bodyPr/>
                    <a:lstStyle/>
                    <a:p>
                      <a:r>
                        <a:rPr lang="en-US" sz="1200">
                          <a:solidFill>
                            <a:srgbClr val="E3F2FD"/>
                          </a:solidFill>
                        </a:rPr>
                        <a:t>Fidelity; all-to-all connectivity</a:t>
                      </a:r>
                    </a:p>
                  </a:txBody>
                  <a:tcPr>
                    <a:solidFill>
                      <a:srgbClr val="112233"/>
                    </a:solidFill>
                  </a:tcPr>
                </a:tc>
              </a:tr>
              <a:tr h="488571">
                <a:tc>
                  <a:txBody>
                    <a:bodyPr/>
                    <a:lstStyle/>
                    <a:p>
                      <a:r>
                        <a:rPr lang="en-US" sz="1200" b="1">
                          <a:solidFill>
                            <a:srgbClr val="BBDEFB"/>
                          </a:solidFill>
                        </a:rPr>
                        <a:t>Photonics</a:t>
                      </a:r>
                    </a:p>
                  </a:txBody>
                  <a:tcPr>
                    <a:solidFill>
                      <a:srgbClr val="0D2137"/>
                    </a:solidFill>
                  </a:tcPr>
                </a:tc>
                <a:tc>
                  <a:txBody>
                    <a:bodyPr/>
                    <a:lstStyle/>
                    <a:p>
                      <a:r>
                        <a:rPr lang="en-US" sz="1200">
                          <a:solidFill>
                            <a:srgbClr val="E3F2FD"/>
                          </a:solidFill>
                        </a:rPr>
                        <a:t>PsiQuantum, Xanadu, QuiX</a:t>
                      </a:r>
                    </a:p>
                  </a:txBody>
                  <a:tcPr>
                    <a:solidFill>
                      <a:srgbClr val="0D2137"/>
                    </a:solidFill>
                  </a:tcPr>
                </a:tc>
                <a:tc>
                  <a:txBody>
                    <a:bodyPr/>
                    <a:lstStyle/>
                    <a:p>
                      <a:r>
                        <a:rPr lang="en-US" sz="1200">
                          <a:solidFill>
                            <a:srgbClr val="E3F2FD"/>
                          </a:solidFill>
                        </a:rPr>
                        <a:t>Room temp; networking; MBQC</a:t>
                      </a:r>
                    </a:p>
                  </a:txBody>
                  <a:tcPr>
                    <a:solidFill>
                      <a:srgbClr val="0D2137"/>
                    </a:solidFill>
                  </a:tcPr>
                </a:tc>
              </a:tr>
              <a:tr h="488571">
                <a:tc>
                  <a:txBody>
                    <a:bodyPr/>
                    <a:lstStyle/>
                    <a:p>
                      <a:r>
                        <a:rPr lang="en-US" sz="1200" b="1">
                          <a:solidFill>
                            <a:srgbClr val="BBDEFB"/>
                          </a:solidFill>
                        </a:rPr>
                        <a:t>Neutral Atom</a:t>
                      </a:r>
                    </a:p>
                  </a:txBody>
                  <a:tcPr>
                    <a:solidFill>
                      <a:srgbClr val="112233"/>
                    </a:solidFill>
                  </a:tcPr>
                </a:tc>
                <a:tc>
                  <a:txBody>
                    <a:bodyPr/>
                    <a:lstStyle/>
                    <a:p>
                      <a:r>
                        <a:rPr lang="en-US" sz="1200">
                          <a:solidFill>
                            <a:srgbClr val="E3F2FD"/>
                          </a:solidFill>
                        </a:rPr>
                        <a:t>QuEra, Pasqal, Atom Computing</a:t>
                      </a:r>
                    </a:p>
                  </a:txBody>
                  <a:tcPr>
                    <a:solidFill>
                      <a:srgbClr val="112233"/>
                    </a:solidFill>
                  </a:tcPr>
                </a:tc>
                <a:tc>
                  <a:txBody>
                    <a:bodyPr/>
                    <a:lstStyle/>
                    <a:p>
                      <a:r>
                        <a:rPr lang="en-US" sz="1200">
                          <a:solidFill>
                            <a:srgbClr val="E3F2FD"/>
                          </a:solidFill>
                        </a:rPr>
                        <a:t>Large arrays; analog + digital modes</a:t>
                      </a:r>
                    </a:p>
                  </a:txBody>
                  <a:tcPr>
                    <a:solidFill>
                      <a:srgbClr val="112233"/>
                    </a:solidFill>
                  </a:tcPr>
                </a:tc>
              </a:tr>
              <a:tr h="488571">
                <a:tc>
                  <a:txBody>
                    <a:bodyPr/>
                    <a:lstStyle/>
                    <a:p>
                      <a:r>
                        <a:rPr lang="en-US" sz="1200" b="1">
                          <a:solidFill>
                            <a:srgbClr val="BBDEFB"/>
                          </a:solidFill>
                        </a:rPr>
                        <a:t>Software / Cloud</a:t>
                      </a:r>
                    </a:p>
                  </a:txBody>
                  <a:tcPr>
                    <a:solidFill>
                      <a:srgbClr val="0D2137"/>
                    </a:solidFill>
                  </a:tcPr>
                </a:tc>
                <a:tc>
                  <a:txBody>
                    <a:bodyPr/>
                    <a:lstStyle/>
                    <a:p>
                      <a:r>
                        <a:rPr lang="en-US" sz="1200">
                          <a:solidFill>
                            <a:srgbClr val="E3F2FD"/>
                          </a:solidFill>
                        </a:rPr>
                        <a:t>AWS Braket, Azure Quantum, Classiq, Zapata</a:t>
                      </a:r>
                    </a:p>
                  </a:txBody>
                  <a:tcPr>
                    <a:solidFill>
                      <a:srgbClr val="0D2137"/>
                    </a:solidFill>
                  </a:tcPr>
                </a:tc>
                <a:tc>
                  <a:txBody>
                    <a:bodyPr/>
                    <a:lstStyle/>
                    <a:p>
                      <a:r>
                        <a:rPr lang="en-US" sz="1200">
                          <a:solidFill>
                            <a:srgbClr val="E3F2FD"/>
                          </a:solidFill>
                        </a:rPr>
                        <a:t>Access; compiler optimization; applications</a:t>
                      </a:r>
                    </a:p>
                  </a:txBody>
                  <a:tcPr>
                    <a:solidFill>
                      <a:srgbClr val="0D2137"/>
                    </a:solidFill>
                  </a:tcPr>
                </a:tc>
              </a:tr>
              <a:tr h="488571">
                <a:tc>
                  <a:txBody>
                    <a:bodyPr/>
                    <a:lstStyle/>
                    <a:p>
                      <a:r>
                        <a:rPr lang="en-US" sz="1200" b="1">
                          <a:solidFill>
                            <a:srgbClr val="BBDEFB"/>
                          </a:solidFill>
                        </a:rPr>
                        <a:t>Government / National Labs</a:t>
                      </a:r>
                    </a:p>
                  </a:txBody>
                  <a:tcPr>
                    <a:solidFill>
                      <a:srgbClr val="112233"/>
                    </a:solidFill>
                  </a:tcPr>
                </a:tc>
                <a:tc>
                  <a:txBody>
                    <a:bodyPr/>
                    <a:lstStyle/>
                    <a:p>
                      <a:r>
                        <a:rPr lang="en-US" sz="1200">
                          <a:solidFill>
                            <a:srgbClr val="E3F2FD"/>
                          </a:solidFill>
                        </a:rPr>
                        <a:t>DOE NQI, DARPA, DLR, Fraunhofer, CEA</a:t>
                      </a:r>
                    </a:p>
                  </a:txBody>
                  <a:tcPr>
                    <a:solidFill>
                      <a:srgbClr val="112233"/>
                    </a:solidFill>
                  </a:tcPr>
                </a:tc>
                <a:tc>
                  <a:txBody>
                    <a:bodyPr/>
                    <a:lstStyle/>
                    <a:p>
                      <a:r>
                        <a:rPr lang="en-US" sz="1200">
                          <a:solidFill>
                            <a:srgbClr val="E3F2FD"/>
                          </a:solidFill>
                        </a:rPr>
                        <a:t>R&amp;D; standards; workforce development</a:t>
                      </a:r>
                    </a:p>
                  </a:txBody>
                  <a:tcPr>
                    <a:solidFill>
                      <a:srgbClr val="112233"/>
                    </a:solidFill>
                  </a:tcPr>
                </a:tc>
              </a:tr>
            </a:tbl>
          </a:graphicData>
        </a:graphic>
      </p:graphicFrame>
      <p:sp>
        <p:nvSpPr>
          <p:cNvPr id="100354" name="TextBox 4"/>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59 / 65  |  INDUSTRY</a:t>
            </a:r>
          </a:p>
        </p:txBody>
      </p:sp>
      <p:sp>
        <p:nvSpPr>
          <p:cNvPr id="100355" name="TextBox 5"/>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55.xml><?xml version="1.0" encoding="utf-8"?>
<p:sld xmlns:p="http://schemas.openxmlformats.org/presentationml/2006/main">
  <p:cSld>
    <p:spTree>
      <p:nvGrpSpPr>
        <p:cNvPr id="1" name=""/>
        <p:cNvGrpSpPr/>
        <p:nvPr/>
      </p:nvGrpSpPr>
      <p:grpSpPr/>
      <p:sp>
        <p:nvSpPr>
          <p:cNvPr id="100356" name="TextBox 1"/>
          <p:cNvSpPr txBox="1"/>
          <p:nvPr/>
        </p:nvSpPr>
        <p:spPr>
          <a:xfrm xmlns:a="http://schemas.openxmlformats.org/drawingml/2006/main">
            <a:off x="180000" y="198000"/>
            <a:ext cx="1800000" cy="198000"/>
          </a:xfrm>
          <a:prstGeom xmlns:a="http://schemas.openxmlformats.org/drawingml/2006/main" prst="rect">
            <a:avLst/>
          </a:prstGeom>
          <a:solidFill xmlns:a="http://schemas.openxmlformats.org/drawingml/2006/main">
            <a:srgbClr val="00695C"/>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HANDS-ON LABS</a:t>
            </a:r>
          </a:p>
        </p:txBody>
      </p:sp>
      <p:sp>
        <p:nvSpPr>
          <p:cNvPr id="100357"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0F2F1"/>
                </a:solidFill>
              </a:rPr>
              <a:t>Lab Exercise 1: First Quantum Circuit in Qiskit</a:t>
            </a:r>
          </a:p>
        </p:txBody>
      </p:sp>
      <p:sp>
        <p:nvSpPr>
          <p:cNvPr id="100358"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26A69A"/>
          </a:solidFill>
        </p:spPr>
        <p:txBody>
          <a:bodyPr xmlns:a="http://schemas.openxmlformats.org/drawingml/2006/main"/>
          <a:lstStyle xmlns:a="http://schemas.openxmlformats.org/drawingml/2006/main"/>
          <a:p xmlns:a="http://schemas.openxmlformats.org/drawingml/2006/main">
            <a:endParaRPr lang="en-US">
              <a:solidFill>
                <a:srgbClr val="26A69A"/>
              </a:solidFill>
            </a:endParaRPr>
          </a:p>
        </p:txBody>
      </p:sp>
      <p:sp>
        <p:nvSpPr>
          <p:cNvPr id="100359"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E0F2F1"/>
                </a:solidFill>
              </a:rPr>
              <a:t>Task: Create a Bell state |Φ⁺⟩ = (|00⟩+|11⟩)/√2 and measure it</a:t>
            </a:r>
          </a:p>
          <a:p xmlns:a="http://schemas.openxmlformats.org/drawingml/2006/main">
            <a:pPr algn="l"/>
            <a:r>
              <a:rPr lang="en-US">
                <a:solidFill>
                  <a:srgbClr val="E0F2F1"/>
                </a:solidFill>
              </a:rPr>
              <a:t/>
            </a:r>
          </a:p>
          <a:p xmlns:a="http://schemas.openxmlformats.org/drawingml/2006/main">
            <a:pPr algn="l"/>
            <a:r>
              <a:rPr lang="en-US">
                <a:solidFill>
                  <a:srgbClr val="E0F2F1"/>
                </a:solidFill>
              </a:rPr>
              <a:t>Step-by-Step:</a:t>
            </a:r>
          </a:p>
          <a:p xmlns:a="http://schemas.openxmlformats.org/drawingml/2006/main">
            <a:pPr algn="l"/>
            <a:r>
              <a:rPr lang="en-US">
                <a:solidFill>
                  <a:srgbClr val="E0F2F1"/>
                </a:solidFill>
              </a:rPr>
              <a:t/>
            </a:r>
          </a:p>
          <a:p xmlns:a="http://schemas.openxmlformats.org/drawingml/2006/main">
            <a:pPr algn="l"/>
            <a:r>
              <a:rPr lang="en-US">
                <a:solidFill>
                  <a:srgbClr val="E0F2F1"/>
                </a:solidFill>
              </a:rPr>
              <a:t>  from qiskit import QuantumCircuit, transpile</a:t>
            </a:r>
          </a:p>
          <a:p xmlns:a="http://schemas.openxmlformats.org/drawingml/2006/main">
            <a:pPr algn="l"/>
            <a:r>
              <a:rPr lang="en-US">
                <a:solidFill>
                  <a:srgbClr val="E0F2F1"/>
                </a:solidFill>
              </a:rPr>
              <a:t>  from qiskit_aer import AerSimulator</a:t>
            </a:r>
          </a:p>
          <a:p xmlns:a="http://schemas.openxmlformats.org/drawingml/2006/main">
            <a:pPr algn="l"/>
            <a:r>
              <a:rPr lang="en-US">
                <a:solidFill>
                  <a:srgbClr val="E0F2F1"/>
                </a:solidFill>
              </a:rPr>
              <a:t/>
            </a:r>
          </a:p>
          <a:p xmlns:a="http://schemas.openxmlformats.org/drawingml/2006/main">
            <a:pPr algn="l"/>
            <a:r>
              <a:rPr lang="en-US">
                <a:solidFill>
                  <a:srgbClr val="E0F2F1"/>
                </a:solidFill>
              </a:rPr>
              <a:t>  qc = QuantumCircuit(2, 2)       # 2 qubits, 2 classical bits</a:t>
            </a:r>
          </a:p>
          <a:p xmlns:a="http://schemas.openxmlformats.org/drawingml/2006/main">
            <a:pPr algn="l"/>
            <a:r>
              <a:rPr lang="en-US">
                <a:solidFill>
                  <a:srgbClr val="E0F2F1"/>
                </a:solidFill>
              </a:rPr>
              <a:t>  qc.h(0)                          # Apply Hadamard to qubit 0</a:t>
            </a:r>
          </a:p>
          <a:p xmlns:a="http://schemas.openxmlformats.org/drawingml/2006/main">
            <a:pPr algn="l"/>
            <a:r>
              <a:rPr lang="en-US">
                <a:solidFill>
                  <a:srgbClr val="E0F2F1"/>
                </a:solidFill>
              </a:rPr>
              <a:t>  qc.cx(0, 1)                      # CNOT with control=0, target=1</a:t>
            </a:r>
          </a:p>
          <a:p xmlns:a="http://schemas.openxmlformats.org/drawingml/2006/main">
            <a:pPr algn="l"/>
            <a:r>
              <a:rPr lang="en-US">
                <a:solidFill>
                  <a:srgbClr val="E0F2F1"/>
                </a:solidFill>
              </a:rPr>
              <a:t>  qc.measure([0,1], [0,1])         # Measure both qubits</a:t>
            </a:r>
          </a:p>
          <a:p xmlns:a="http://schemas.openxmlformats.org/drawingml/2006/main">
            <a:pPr algn="l"/>
            <a:r>
              <a:rPr lang="en-US">
                <a:solidFill>
                  <a:srgbClr val="E0F2F1"/>
                </a:solidFill>
              </a:rPr>
              <a:t/>
            </a:r>
          </a:p>
          <a:p xmlns:a="http://schemas.openxmlformats.org/drawingml/2006/main">
            <a:pPr algn="l"/>
            <a:r>
              <a:rPr lang="en-US">
                <a:solidFill>
                  <a:srgbClr val="E0F2F1"/>
                </a:solidFill>
              </a:rPr>
              <a:t>  sim = AerSimulator()</a:t>
            </a:r>
          </a:p>
          <a:p xmlns:a="http://schemas.openxmlformats.org/drawingml/2006/main">
            <a:pPr algn="l"/>
            <a:r>
              <a:rPr lang="en-US">
                <a:solidFill>
                  <a:srgbClr val="E0F2F1"/>
                </a:solidFill>
              </a:rPr>
              <a:t>  result = sim.run(qc, shots=1000).result()</a:t>
            </a:r>
          </a:p>
          <a:p xmlns:a="http://schemas.openxmlformats.org/drawingml/2006/main">
            <a:pPr algn="l"/>
            <a:r>
              <a:rPr lang="en-US">
                <a:solidFill>
                  <a:srgbClr val="E0F2F1"/>
                </a:solidFill>
              </a:rPr>
              <a:t>  counts = result.get_counts()</a:t>
            </a:r>
          </a:p>
          <a:p xmlns:a="http://schemas.openxmlformats.org/drawingml/2006/main">
            <a:pPr algn="l"/>
            <a:r>
              <a:rPr lang="en-US">
                <a:solidFill>
                  <a:srgbClr val="E0F2F1"/>
                </a:solidFill>
              </a:rPr>
              <a:t>  print(counts)                    # Expected: {'00': ~500, '11': ~500}</a:t>
            </a:r>
          </a:p>
          <a:p xmlns:a="http://schemas.openxmlformats.org/drawingml/2006/main">
            <a:pPr algn="l"/>
            <a:r>
              <a:rPr lang="en-US">
                <a:solidFill>
                  <a:srgbClr val="E0F2F1"/>
                </a:solidFill>
              </a:rPr>
              <a:t/>
            </a:r>
          </a:p>
          <a:p xmlns:a="http://schemas.openxmlformats.org/drawingml/2006/main">
            <a:pPr algn="l"/>
            <a:r>
              <a:rPr lang="en-US">
                <a:solidFill>
                  <a:srgbClr val="E0F2F1"/>
                </a:solidFill>
              </a:rPr>
              <a:t>What to observe:</a:t>
            </a:r>
          </a:p>
          <a:p xmlns:a="http://schemas.openxmlformats.org/drawingml/2006/main">
            <a:pPr algn="l"/>
            <a:r>
              <a:rPr lang="en-US">
                <a:solidFill>
                  <a:srgbClr val="E0F2F1"/>
                </a:solidFill>
              </a:rPr>
              <a:t>  • Only '00' and '11' appear — never '01' or '10' → entanglement!</a:t>
            </a:r>
          </a:p>
          <a:p xmlns:a="http://schemas.openxmlformats.org/drawingml/2006/main">
            <a:pPr algn="l"/>
            <a:r>
              <a:rPr lang="en-US">
                <a:solidFill>
                  <a:srgbClr val="E0F2F1"/>
                </a:solidFill>
              </a:rPr>
              <a:t>  • Roughly equal counts → superposition before measurement</a:t>
            </a:r>
          </a:p>
          <a:p xmlns:a="http://schemas.openxmlformats.org/drawingml/2006/main">
            <a:pPr algn="l"/>
            <a:r>
              <a:rPr lang="en-US">
                <a:solidFill>
                  <a:srgbClr val="E0F2F1"/>
                </a:solidFill>
              </a:rPr>
              <a:t>  • Run on real IBM hardware: qc.draw() to visualize</a:t>
            </a:r>
          </a:p>
          <a:p xmlns:a="http://schemas.openxmlformats.org/drawingml/2006/main">
            <a:pPr algn="l"/>
            <a:r>
              <a:rPr lang="en-US">
                <a:solidFill>
                  <a:srgbClr val="E0F2F1"/>
                </a:solidFill>
              </a:rPr>
              <a:t/>
            </a:r>
          </a:p>
          <a:p xmlns:a="http://schemas.openxmlformats.org/drawingml/2006/main">
            <a:pPr algn="l"/>
            <a:r>
              <a:rPr lang="en-US">
                <a:solidFill>
                  <a:srgbClr val="E0F2F1"/>
                </a:solidFill>
              </a:rPr>
              <a:t>Next level: Replace Hadamard with Ry(π/3) — what happens to the counts?</a:t>
            </a:r>
          </a:p>
          <a:p xmlns:a="http://schemas.openxmlformats.org/drawingml/2006/main">
            <a:pPr algn="l"/>
            <a:r>
              <a:rPr lang="en-US">
                <a:solidFill>
                  <a:srgbClr val="E0F2F1"/>
                </a:solidFill>
              </a:rPr>
              <a:t>Challenge: Prepare the |Ψ⁺⟩ state instead. Which gates do you need?</a:t>
            </a:r>
          </a:p>
        </p:txBody>
      </p:sp>
      <p:sp>
        <p:nvSpPr>
          <p:cNvPr id="100360"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80CBC4"/>
                </a:solidFill>
              </a:rPr>
              <a:t>60 / 65  |  LAB 1</a:t>
            </a:r>
          </a:p>
        </p:txBody>
      </p:sp>
      <p:sp>
        <p:nvSpPr>
          <p:cNvPr id="100361"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4DB6AC"/>
                </a:solidFill>
              </a:rPr>
              <a:t>QFF26 Lecture Series — Quantum Computing Basics  |  qff26.org</a:t>
            </a:r>
          </a:p>
        </p:txBody>
      </p:sp>
    </p:spTree>
  </p:cSld>
</p:sld>
</file>

<file path=ppt/slides/slide56.xml><?xml version="1.0" encoding="utf-8"?>
<p:sld xmlns:p="http://schemas.openxmlformats.org/presentationml/2006/main">
  <p:cSld>
    <p:spTree>
      <p:nvGrpSpPr>
        <p:cNvPr id="1" name=""/>
        <p:cNvGrpSpPr/>
        <p:nvPr/>
      </p:nvGrpSpPr>
      <p:grpSpPr/>
      <p:sp>
        <p:nvSpPr>
          <p:cNvPr id="100362" name="TextBox 1"/>
          <p:cNvSpPr txBox="1"/>
          <p:nvPr/>
        </p:nvSpPr>
        <p:spPr>
          <a:xfrm xmlns:a="http://schemas.openxmlformats.org/drawingml/2006/main">
            <a:off x="180000" y="198000"/>
            <a:ext cx="1800000" cy="198000"/>
          </a:xfrm>
          <a:prstGeom xmlns:a="http://schemas.openxmlformats.org/drawingml/2006/main" prst="rect">
            <a:avLst/>
          </a:prstGeom>
          <a:solidFill xmlns:a="http://schemas.openxmlformats.org/drawingml/2006/main">
            <a:srgbClr val="00695C"/>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HANDS-ON LABS</a:t>
            </a:r>
          </a:p>
        </p:txBody>
      </p:sp>
      <p:sp>
        <p:nvSpPr>
          <p:cNvPr id="100363"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0F2F1"/>
                </a:solidFill>
              </a:rPr>
              <a:t>Lab Exercise 2: VQE on H₂ Molecule</a:t>
            </a:r>
          </a:p>
        </p:txBody>
      </p:sp>
      <p:sp>
        <p:nvSpPr>
          <p:cNvPr id="100364"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26A69A"/>
          </a:solidFill>
        </p:spPr>
        <p:txBody>
          <a:bodyPr xmlns:a="http://schemas.openxmlformats.org/drawingml/2006/main"/>
          <a:lstStyle xmlns:a="http://schemas.openxmlformats.org/drawingml/2006/main"/>
          <a:p xmlns:a="http://schemas.openxmlformats.org/drawingml/2006/main">
            <a:endParaRPr lang="en-US">
              <a:solidFill>
                <a:srgbClr val="26A69A"/>
              </a:solidFill>
            </a:endParaRPr>
          </a:p>
        </p:txBody>
      </p:sp>
      <p:sp>
        <p:nvSpPr>
          <p:cNvPr id="100365"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E0F2F1"/>
                </a:solidFill>
              </a:rPr>
              <a:t>Task: Use Qiskit Nature to compute H₂ ground state energy with VQE</a:t>
            </a:r>
          </a:p>
          <a:p xmlns:a="http://schemas.openxmlformats.org/drawingml/2006/main">
            <a:pPr algn="l"/>
            <a:r>
              <a:rPr lang="en-US">
                <a:solidFill>
                  <a:srgbClr val="E0F2F1"/>
                </a:solidFill>
              </a:rPr>
              <a:t/>
            </a:r>
          </a:p>
          <a:p xmlns:a="http://schemas.openxmlformats.org/drawingml/2006/main">
            <a:pPr algn="l"/>
            <a:r>
              <a:rPr lang="en-US">
                <a:solidFill>
                  <a:srgbClr val="E0F2F1"/>
                </a:solidFill>
              </a:rPr>
              <a:t>  from qiskit_nature.units import DistanceUnit</a:t>
            </a:r>
          </a:p>
          <a:p xmlns:a="http://schemas.openxmlformats.org/drawingml/2006/main">
            <a:pPr algn="l"/>
            <a:r>
              <a:rPr lang="en-US">
                <a:solidFill>
                  <a:srgbClr val="E0F2F1"/>
                </a:solidFill>
              </a:rPr>
              <a:t>  from qiskit_nature.second_q.drivers import PySCFDriver</a:t>
            </a:r>
          </a:p>
          <a:p xmlns:a="http://schemas.openxmlformats.org/drawingml/2006/main">
            <a:pPr algn="l"/>
            <a:r>
              <a:rPr lang="en-US">
                <a:solidFill>
                  <a:srgbClr val="E0F2F1"/>
                </a:solidFill>
              </a:rPr>
              <a:t>  from qiskit_nature.second_q.mappers import JordanWignerMapper</a:t>
            </a:r>
          </a:p>
          <a:p xmlns:a="http://schemas.openxmlformats.org/drawingml/2006/main">
            <a:pPr algn="l"/>
            <a:r>
              <a:rPr lang="en-US">
                <a:solidFill>
                  <a:srgbClr val="E0F2F1"/>
                </a:solidFill>
              </a:rPr>
              <a:t>  from qiskit_algorithms import VQE</a:t>
            </a:r>
          </a:p>
          <a:p xmlns:a="http://schemas.openxmlformats.org/drawingml/2006/main">
            <a:pPr algn="l"/>
            <a:r>
              <a:rPr lang="en-US">
                <a:solidFill>
                  <a:srgbClr val="E0F2F1"/>
                </a:solidFill>
              </a:rPr>
              <a:t>  from qiskit_algorithms.optimizers import COBYLA</a:t>
            </a:r>
          </a:p>
          <a:p xmlns:a="http://schemas.openxmlformats.org/drawingml/2006/main">
            <a:pPr algn="l"/>
            <a:r>
              <a:rPr lang="en-US">
                <a:solidFill>
                  <a:srgbClr val="E0F2F1"/>
                </a:solidFill>
              </a:rPr>
              <a:t>  from qiskit.circuit.library import EfficientSU2</a:t>
            </a:r>
          </a:p>
          <a:p xmlns:a="http://schemas.openxmlformats.org/drawingml/2006/main">
            <a:pPr algn="l"/>
            <a:r>
              <a:rPr lang="en-US">
                <a:solidFill>
                  <a:srgbClr val="E0F2F1"/>
                </a:solidFill>
              </a:rPr>
              <a:t/>
            </a:r>
          </a:p>
          <a:p xmlns:a="http://schemas.openxmlformats.org/drawingml/2006/main">
            <a:pPr algn="l"/>
            <a:r>
              <a:rPr lang="en-US">
                <a:solidFill>
                  <a:srgbClr val="E0F2F1"/>
                </a:solidFill>
              </a:rPr>
              <a:t>  # Step 1: Define molecule</a:t>
            </a:r>
          </a:p>
          <a:p xmlns:a="http://schemas.openxmlformats.org/drawingml/2006/main">
            <a:pPr algn="l"/>
            <a:r>
              <a:rPr lang="en-US">
                <a:solidFill>
                  <a:srgbClr val="E0F2F1"/>
                </a:solidFill>
              </a:rPr>
              <a:t>  driver = PySCFDriver(atom='H .0 .0 .0; H .0 .0 0.735', basis='sto3g')</a:t>
            </a:r>
          </a:p>
          <a:p xmlns:a="http://schemas.openxmlformats.org/drawingml/2006/main">
            <a:pPr algn="l"/>
            <a:r>
              <a:rPr lang="en-US">
                <a:solidFill>
                  <a:srgbClr val="E0F2F1"/>
                </a:solidFill>
              </a:rPr>
              <a:t>  problem = driver.run()</a:t>
            </a:r>
          </a:p>
          <a:p xmlns:a="http://schemas.openxmlformats.org/drawingml/2006/main">
            <a:pPr algn="l"/>
            <a:r>
              <a:rPr lang="en-US">
                <a:solidFill>
                  <a:srgbClr val="E0F2F1"/>
                </a:solidFill>
              </a:rPr>
              <a:t/>
            </a:r>
          </a:p>
          <a:p xmlns:a="http://schemas.openxmlformats.org/drawingml/2006/main">
            <a:pPr algn="l"/>
            <a:r>
              <a:rPr lang="en-US">
                <a:solidFill>
                  <a:srgbClr val="E0F2F1"/>
                </a:solidFill>
              </a:rPr>
              <a:t>  # Step 2: Map to qubits (JW)</a:t>
            </a:r>
          </a:p>
          <a:p xmlns:a="http://schemas.openxmlformats.org/drawingml/2006/main">
            <a:pPr algn="l"/>
            <a:r>
              <a:rPr lang="en-US">
                <a:solidFill>
                  <a:srgbClr val="E0F2F1"/>
                </a:solidFill>
              </a:rPr>
              <a:t>  mapper = JordanWignerMapper()</a:t>
            </a:r>
          </a:p>
          <a:p xmlns:a="http://schemas.openxmlformats.org/drawingml/2006/main">
            <a:pPr algn="l"/>
            <a:r>
              <a:rPr lang="en-US">
                <a:solidFill>
                  <a:srgbClr val="E0F2F1"/>
                </a:solidFill>
              </a:rPr>
              <a:t>  qubit_op = mapper.map(problem.second_q_ops()[0])</a:t>
            </a:r>
          </a:p>
          <a:p xmlns:a="http://schemas.openxmlformats.org/drawingml/2006/main">
            <a:pPr algn="l"/>
            <a:r>
              <a:rPr lang="en-US">
                <a:solidFill>
                  <a:srgbClr val="E0F2F1"/>
                </a:solidFill>
              </a:rPr>
              <a:t>  print(f'Hamiltonian Pauli terms: {len(qubit_op)}')</a:t>
            </a:r>
          </a:p>
          <a:p xmlns:a="http://schemas.openxmlformats.org/drawingml/2006/main">
            <a:pPr algn="l"/>
            <a:r>
              <a:rPr lang="en-US">
                <a:solidFill>
                  <a:srgbClr val="E0F2F1"/>
                </a:solidFill>
              </a:rPr>
              <a:t/>
            </a:r>
          </a:p>
          <a:p xmlns:a="http://schemas.openxmlformats.org/drawingml/2006/main">
            <a:pPr algn="l"/>
            <a:r>
              <a:rPr lang="en-US">
                <a:solidFill>
                  <a:srgbClr val="E0F2F1"/>
                </a:solidFill>
              </a:rPr>
              <a:t>  # Step 3: VQE with parameterized circuit</a:t>
            </a:r>
          </a:p>
          <a:p xmlns:a="http://schemas.openxmlformats.org/drawingml/2006/main">
            <a:pPr algn="l"/>
            <a:r>
              <a:rPr lang="en-US">
                <a:solidFill>
                  <a:srgbClr val="E0F2F1"/>
                </a:solidFill>
              </a:rPr>
              <a:t>  ansatz = EfficientSU2(qubit_op.num_qubits, reps=1)</a:t>
            </a:r>
          </a:p>
          <a:p xmlns:a="http://schemas.openxmlformats.org/drawingml/2006/main">
            <a:pPr algn="l"/>
            <a:r>
              <a:rPr lang="en-US">
                <a:solidFill>
                  <a:srgbClr val="E0F2F1"/>
                </a:solidFill>
              </a:rPr>
              <a:t>  optimizer = COBYLA(maxiter=200)</a:t>
            </a:r>
          </a:p>
          <a:p xmlns:a="http://schemas.openxmlformats.org/drawingml/2006/main">
            <a:pPr algn="l"/>
            <a:r>
              <a:rPr lang="en-US">
                <a:solidFill>
                  <a:srgbClr val="E0F2F1"/>
                </a:solidFill>
              </a:rPr>
              <a:t>  vqe = VQE(ansatz=ansatz, optimizer=optimizer)</a:t>
            </a:r>
          </a:p>
          <a:p xmlns:a="http://schemas.openxmlformats.org/drawingml/2006/main">
            <a:pPr algn="l"/>
            <a:r>
              <a:rPr lang="en-US">
                <a:solidFill>
                  <a:srgbClr val="E0F2F1"/>
                </a:solidFill>
              </a:rPr>
              <a:t/>
            </a:r>
          </a:p>
          <a:p xmlns:a="http://schemas.openxmlformats.org/drawingml/2006/main">
            <a:pPr algn="l"/>
            <a:r>
              <a:rPr lang="en-US">
                <a:solidFill>
                  <a:srgbClr val="E0F2F1"/>
                </a:solidFill>
              </a:rPr>
              <a:t>  # Step 4: Run and compare to FCI</a:t>
            </a:r>
          </a:p>
          <a:p xmlns:a="http://schemas.openxmlformats.org/drawingml/2006/main">
            <a:pPr algn="l"/>
            <a:r>
              <a:rPr lang="en-US">
                <a:solidFill>
                  <a:srgbClr val="E0F2F1"/>
                </a:solidFill>
              </a:rPr>
              <a:t>  result = vqe.compute_minimum_eigenvalue(qubit_op)</a:t>
            </a:r>
          </a:p>
          <a:p xmlns:a="http://schemas.openxmlformats.org/drawingml/2006/main">
            <a:pPr algn="l"/>
            <a:r>
              <a:rPr lang="en-US">
                <a:solidFill>
                  <a:srgbClr val="E0F2F1"/>
                </a:solidFill>
              </a:rPr>
              <a:t>  print(f'VQE energy: {result.eigenvalue:.6f} Ha')</a:t>
            </a:r>
          </a:p>
          <a:p xmlns:a="http://schemas.openxmlformats.org/drawingml/2006/main">
            <a:pPr algn="l"/>
            <a:r>
              <a:rPr lang="en-US">
                <a:solidFill>
                  <a:srgbClr val="E0F2F1"/>
                </a:solidFill>
              </a:rPr>
              <a:t>  print('FCI reference: -1.137275 Ha')</a:t>
            </a:r>
          </a:p>
          <a:p xmlns:a="http://schemas.openxmlformats.org/drawingml/2006/main">
            <a:pPr algn="l"/>
            <a:r>
              <a:rPr lang="en-US">
                <a:solidFill>
                  <a:srgbClr val="E0F2F1"/>
                </a:solidFill>
              </a:rPr>
              <a:t/>
            </a:r>
          </a:p>
          <a:p xmlns:a="http://schemas.openxmlformats.org/drawingml/2006/main">
            <a:pPr algn="l"/>
            <a:r>
              <a:rPr lang="en-US">
                <a:solidFill>
                  <a:srgbClr val="E0F2F1"/>
                </a:solidFill>
              </a:rPr>
              <a:t>Expected: VQE ≈ -1.136 to -1.137 Ha; error &lt; 1 mHa = chemical accuracy</a:t>
            </a:r>
          </a:p>
        </p:txBody>
      </p:sp>
      <p:sp>
        <p:nvSpPr>
          <p:cNvPr id="100366"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80CBC4"/>
                </a:solidFill>
              </a:rPr>
              <a:t>61 / 65  |  LAB 2</a:t>
            </a:r>
          </a:p>
        </p:txBody>
      </p:sp>
      <p:sp>
        <p:nvSpPr>
          <p:cNvPr id="100367"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4DB6AC"/>
                </a:solidFill>
              </a:rPr>
              <a:t>QFF26 Lecture Series — Quantum Computing Basics  |  qff26.org</a:t>
            </a:r>
          </a:p>
        </p:txBody>
      </p:sp>
    </p:spTree>
  </p:cSld>
</p:sld>
</file>

<file path=ppt/slides/slide57.xml><?xml version="1.0" encoding="utf-8"?>
<p:sld xmlns:p="http://schemas.openxmlformats.org/presentationml/2006/main">
  <p:cSld>
    <p:spTree>
      <p:nvGrpSpPr>
        <p:cNvPr id="1" name=""/>
        <p:cNvGrpSpPr/>
        <p:nvPr/>
      </p:nvGrpSpPr>
      <p:grpSpPr/>
      <p:sp>
        <p:nvSpPr>
          <p:cNvPr id="100368"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CLOSING</a:t>
            </a:r>
          </a:p>
        </p:txBody>
      </p:sp>
      <p:sp>
        <p:nvSpPr>
          <p:cNvPr id="100369"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Quantum Machine Learning: A Brief Introduction</a:t>
            </a:r>
          </a:p>
        </p:txBody>
      </p:sp>
      <p:sp>
        <p:nvSpPr>
          <p:cNvPr id="100370"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371"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E3F2FD"/>
                </a:solidFill>
              </a:rPr>
              <a:t>Quantum Machine Learning (QML) sits at the intersection of quantum computing and ML.</a:t>
            </a:r>
          </a:p>
          <a:p xmlns:a="http://schemas.openxmlformats.org/drawingml/2006/main">
            <a:pPr algn="l"/>
            <a:r>
              <a:rPr lang="en-US">
                <a:solidFill>
                  <a:srgbClr val="E3F2FD"/>
                </a:solidFill>
              </a:rPr>
              <a:t/>
            </a:r>
          </a:p>
          <a:p xmlns:a="http://schemas.openxmlformats.org/drawingml/2006/main">
            <a:pPr algn="l"/>
            <a:r>
              <a:rPr lang="en-US">
                <a:solidFill>
                  <a:srgbClr val="E3F2FD"/>
                </a:solidFill>
              </a:rPr>
              <a:t>Key QML Approaches:</a:t>
            </a:r>
          </a:p>
          <a:p xmlns:a="http://schemas.openxmlformats.org/drawingml/2006/main">
            <a:pPr algn="l"/>
            <a:r>
              <a:rPr lang="en-US">
                <a:solidFill>
                  <a:srgbClr val="E3F2FD"/>
                </a:solidFill>
              </a:rPr>
              <a:t/>
            </a:r>
          </a:p>
          <a:p xmlns:a="http://schemas.openxmlformats.org/drawingml/2006/main">
            <a:pPr algn="l"/>
            <a:r>
              <a:rPr lang="en-US">
                <a:solidFill>
                  <a:srgbClr val="E3F2FD"/>
                </a:solidFill>
              </a:rPr>
              <a:t>1. Quantum Kernel Methods</a:t>
            </a:r>
          </a:p>
          <a:p xmlns:a="http://schemas.openxmlformats.org/drawingml/2006/main">
            <a:pPr algn="l"/>
            <a:r>
              <a:rPr lang="en-US">
                <a:solidFill>
                  <a:srgbClr val="E3F2FD"/>
                </a:solidFill>
              </a:rPr>
              <a:t>   • Classical SVM with quantum kernel k(x,z) = |⟨φ(x)|φ(z)⟩|²</a:t>
            </a:r>
          </a:p>
          <a:p xmlns:a="http://schemas.openxmlformats.org/drawingml/2006/main">
            <a:pPr algn="l"/>
            <a:r>
              <a:rPr lang="en-US">
                <a:solidFill>
                  <a:srgbClr val="E3F2FD"/>
                </a:solidFill>
              </a:rPr>
              <a:t>   • Feature map U_φ(x) maps classical data to quantum Hilbert space</a:t>
            </a:r>
          </a:p>
          <a:p xmlns:a="http://schemas.openxmlformats.org/drawingml/2006/main">
            <a:pPr algn="l"/>
            <a:r>
              <a:rPr lang="en-US">
                <a:solidFill>
                  <a:srgbClr val="E3F2FD"/>
                </a:solidFill>
              </a:rPr>
              <a:t>   • Provable quantum advantage for specific data distributions (Havlíček et al., 2019)</a:t>
            </a:r>
          </a:p>
          <a:p xmlns:a="http://schemas.openxmlformats.org/drawingml/2006/main">
            <a:pPr algn="l"/>
            <a:r>
              <a:rPr lang="en-US">
                <a:solidFill>
                  <a:srgbClr val="E3F2FD"/>
                </a:solidFill>
              </a:rPr>
              <a:t/>
            </a:r>
          </a:p>
          <a:p xmlns:a="http://schemas.openxmlformats.org/drawingml/2006/main">
            <a:pPr algn="l"/>
            <a:r>
              <a:rPr lang="en-US">
                <a:solidFill>
                  <a:srgbClr val="E3F2FD"/>
                </a:solidFill>
              </a:rPr>
              <a:t>2. Variational Quantum Classifiers (VQC)</a:t>
            </a:r>
          </a:p>
          <a:p xmlns:a="http://schemas.openxmlformats.org/drawingml/2006/main">
            <a:pPr algn="l"/>
            <a:r>
              <a:rPr lang="en-US">
                <a:solidFill>
                  <a:srgbClr val="E3F2FD"/>
                </a:solidFill>
              </a:rPr>
              <a:t>   • PQC(θ)|0⟩ encodes data and optimizes parameters</a:t>
            </a:r>
          </a:p>
          <a:p xmlns:a="http://schemas.openxmlformats.org/drawingml/2006/main">
            <a:pPr algn="l"/>
            <a:r>
              <a:rPr lang="en-US">
                <a:solidFill>
                  <a:srgbClr val="E3F2FD"/>
                </a:solidFill>
              </a:rPr>
              <a:t>   • Binary classification: measure expectation value ⟨Z⟩ → sign = class label</a:t>
            </a:r>
          </a:p>
          <a:p xmlns:a="http://schemas.openxmlformats.org/drawingml/2006/main">
            <a:pPr algn="l"/>
            <a:r>
              <a:rPr lang="en-US">
                <a:solidFill>
                  <a:srgbClr val="E3F2FD"/>
                </a:solidFill>
              </a:rPr>
              <a:t>   • Suffers from barren plateaus: gradient ∝ exp(-N/2) for random circuits</a:t>
            </a:r>
          </a:p>
          <a:p xmlns:a="http://schemas.openxmlformats.org/drawingml/2006/main">
            <a:pPr algn="l"/>
            <a:r>
              <a:rPr lang="en-US">
                <a:solidFill>
                  <a:srgbClr val="E3F2FD"/>
                </a:solidFill>
              </a:rPr>
              <a:t/>
            </a:r>
          </a:p>
          <a:p xmlns:a="http://schemas.openxmlformats.org/drawingml/2006/main">
            <a:pPr algn="l"/>
            <a:r>
              <a:rPr lang="en-US">
                <a:solidFill>
                  <a:srgbClr val="E3F2FD"/>
                </a:solidFill>
              </a:rPr>
              <a:t>3. Quantum Neural Networks (QNNs)</a:t>
            </a:r>
          </a:p>
          <a:p xmlns:a="http://schemas.openxmlformats.org/drawingml/2006/main">
            <a:pPr algn="l"/>
            <a:r>
              <a:rPr lang="en-US">
                <a:solidFill>
                  <a:srgbClr val="E3F2FD"/>
                </a:solidFill>
              </a:rPr>
              <a:t>   • Parameterized circuits as quantum layers</a:t>
            </a:r>
          </a:p>
          <a:p xmlns:a="http://schemas.openxmlformats.org/drawingml/2006/main">
            <a:pPr algn="l"/>
            <a:r>
              <a:rPr lang="en-US">
                <a:solidFill>
                  <a:srgbClr val="E3F2FD"/>
                </a:solidFill>
              </a:rPr>
              <a:t>   • Equivariant QNNs respect problem symmetries</a:t>
            </a:r>
          </a:p>
          <a:p xmlns:a="http://schemas.openxmlformats.org/drawingml/2006/main">
            <a:pPr algn="l"/>
            <a:r>
              <a:rPr lang="en-US">
                <a:solidFill>
                  <a:srgbClr val="E3F2FD"/>
                </a:solidFill>
              </a:rPr>
              <a:t/>
            </a:r>
          </a:p>
          <a:p xmlns:a="http://schemas.openxmlformats.org/drawingml/2006/main">
            <a:pPr algn="l"/>
            <a:r>
              <a:rPr lang="en-US">
                <a:solidFill>
                  <a:srgbClr val="E3F2FD"/>
                </a:solidFill>
              </a:rPr>
              <a:t>4. Quantum Generative Models</a:t>
            </a:r>
          </a:p>
          <a:p xmlns:a="http://schemas.openxmlformats.org/drawingml/2006/main">
            <a:pPr algn="l"/>
            <a:r>
              <a:rPr lang="en-US">
                <a:solidFill>
                  <a:srgbClr val="E3F2FD"/>
                </a:solidFill>
              </a:rPr>
              <a:t>   • Quantum Born Machine: |ψ(θ)⟩ generates probability distribution p(x) = |⟨x|ψ⟩|²</a:t>
            </a:r>
          </a:p>
          <a:p xmlns:a="http://schemas.openxmlformats.org/drawingml/2006/main">
            <a:pPr algn="l"/>
            <a:r>
              <a:rPr lang="en-US">
                <a:solidFill>
                  <a:srgbClr val="E3F2FD"/>
                </a:solidFill>
              </a:rPr>
              <a:t>   • Quantum GAN (QuGAN): generator = quantum circuit</a:t>
            </a:r>
          </a:p>
          <a:p xmlns:a="http://schemas.openxmlformats.org/drawingml/2006/main">
            <a:pPr algn="l"/>
            <a:r>
              <a:rPr lang="en-US">
                <a:solidFill>
                  <a:srgbClr val="E3F2FD"/>
                </a:solidFill>
              </a:rPr>
              <a:t/>
            </a:r>
          </a:p>
          <a:p xmlns:a="http://schemas.openxmlformats.org/drawingml/2006/main">
            <a:pPr algn="l"/>
            <a:r>
              <a:rPr lang="en-US">
                <a:solidFill>
                  <a:srgbClr val="E3F2FD"/>
                </a:solidFill>
              </a:rPr>
              <a:t>Status: Dequantization results (Tang 2019) showed classical SVD matches HHL in ML tasks.</a:t>
            </a:r>
          </a:p>
          <a:p xmlns:a="http://schemas.openxmlformats.org/drawingml/2006/main">
            <a:pPr algn="l"/>
            <a:r>
              <a:rPr lang="en-US">
                <a:solidFill>
                  <a:srgbClr val="E3F2FD"/>
                </a:solidFill>
              </a:rPr>
              <a:t>Quantum advantage in ML requires careful problem selection and fault-tolerant hardware.</a:t>
            </a:r>
          </a:p>
        </p:txBody>
      </p:sp>
      <p:sp>
        <p:nvSpPr>
          <p:cNvPr id="100372"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62 / 65  |  QUANTUM ML</a:t>
            </a:r>
          </a:p>
        </p:txBody>
      </p:sp>
      <p:sp>
        <p:nvSpPr>
          <p:cNvPr id="100373"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58.xml><?xml version="1.0" encoding="utf-8"?>
<p:sld xmlns:p="http://schemas.openxmlformats.org/presentationml/2006/main">
  <p:cSld>
    <p:spTree>
      <p:nvGrpSpPr>
        <p:cNvPr id="1" name=""/>
        <p:cNvGrpSpPr/>
        <p:nvPr/>
      </p:nvGrpSpPr>
      <p:grpSpPr/>
      <p:sp>
        <p:nvSpPr>
          <p:cNvPr id="100374"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CLOSING</a:t>
            </a:r>
          </a:p>
        </p:txBody>
      </p:sp>
      <p:sp>
        <p:nvSpPr>
          <p:cNvPr id="100375"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Quantum Communication &amp; Quantum Networks</a:t>
            </a:r>
          </a:p>
        </p:txBody>
      </p:sp>
      <p:sp>
        <p:nvSpPr>
          <p:cNvPr id="100376"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graphicFrame>
        <p:nvGraphicFramePr>
          <p:cNvPr id="100377" name="Table 1"/>
          <p:cNvGraphicFramePr/>
          <p:nvPr/>
        </p:nvGraphicFramePr>
        <p:xfrm>
          <a:off xmlns:a="http://schemas.openxmlformats.org/drawingml/2006/main" x="360000" y="1152000"/>
          <a:ext xmlns:a="http://schemas.openxmlformats.org/drawingml/2006/main" cx="11160000" cy="3240000"/>
        </p:xfrm>
        <a:graphic xmlns:a="http://schemas.openxmlformats.org/drawingml/2006/main">
          <a:graphicData uri="http://schemas.openxmlformats.org/drawingml/2006/table">
            <a:tbl>
              <a:tblPr firstRow="1" bandRow="1"/>
              <a:tblGrid>
                <a:gridCol w="3720000"/>
                <a:gridCol w="3720000"/>
                <a:gridCol w="3720000"/>
              </a:tblGrid>
              <a:tr h="648000">
                <a:tc>
                  <a:txBody>
                    <a:bodyPr/>
                    <a:lstStyle/>
                    <a:p>
                      <a:r>
                        <a:rPr lang="en-US" sz="1200" b="1">
                          <a:solidFill>
                            <a:srgbClr val="E3F2FD"/>
                          </a:solidFill>
                        </a:rPr>
                        <a:t>Technology</a:t>
                      </a:r>
                    </a:p>
                  </a:txBody>
                  <a:tcPr>
                    <a:solidFill>
                      <a:srgbClr val="1565C0"/>
                    </a:solidFill>
                  </a:tcPr>
                </a:tc>
                <a:tc>
                  <a:txBody>
                    <a:bodyPr/>
                    <a:lstStyle/>
                    <a:p>
                      <a:r>
                        <a:rPr lang="en-US" sz="1200" b="1">
                          <a:solidFill>
                            <a:srgbClr val="E3F2FD"/>
                          </a:solidFill>
                        </a:rPr>
                        <a:t>Protocol / Mechanism</a:t>
                      </a:r>
                    </a:p>
                  </a:txBody>
                  <a:tcPr>
                    <a:solidFill>
                      <a:srgbClr val="1565C0"/>
                    </a:solidFill>
                  </a:tcPr>
                </a:tc>
                <a:tc>
                  <a:txBody>
                    <a:bodyPr/>
                    <a:lstStyle/>
                    <a:p>
                      <a:r>
                        <a:rPr lang="en-US" sz="1200" b="1">
                          <a:solidFill>
                            <a:srgbClr val="E3F2FD"/>
                          </a:solidFill>
                        </a:rPr>
                        <a:t>Security Guarantee</a:t>
                      </a:r>
                    </a:p>
                  </a:txBody>
                  <a:tcPr>
                    <a:solidFill>
                      <a:srgbClr val="1565C0"/>
                    </a:solidFill>
                  </a:tcPr>
                </a:tc>
              </a:tr>
              <a:tr h="648000">
                <a:tc>
                  <a:txBody>
                    <a:bodyPr/>
                    <a:lstStyle/>
                    <a:p>
                      <a:r>
                        <a:rPr lang="en-US" sz="1200" b="1">
                          <a:solidFill>
                            <a:srgbClr val="BBDEFB"/>
                          </a:solidFill>
                        </a:rPr>
                        <a:t>BB84 QKD</a:t>
                      </a:r>
                    </a:p>
                  </a:txBody>
                  <a:tcPr>
                    <a:solidFill>
                      <a:srgbClr val="0D2137"/>
                    </a:solidFill>
                  </a:tcPr>
                </a:tc>
                <a:tc>
                  <a:txBody>
                    <a:bodyPr/>
                    <a:lstStyle/>
                    <a:p>
                      <a:r>
                        <a:rPr lang="en-US" sz="1200">
                          <a:solidFill>
                            <a:srgbClr val="E3F2FD"/>
                          </a:solidFill>
                        </a:rPr>
                        <a:t>Polarized photons; 4 states in 2 bases; sifting</a:t>
                      </a:r>
                    </a:p>
                  </a:txBody>
                  <a:tcPr>
                    <a:solidFill>
                      <a:srgbClr val="0D2137"/>
                    </a:solidFill>
                  </a:tcPr>
                </a:tc>
                <a:tc>
                  <a:txBody>
                    <a:bodyPr/>
                    <a:lstStyle/>
                    <a:p>
                      <a:r>
                        <a:rPr lang="en-US" sz="1200">
                          <a:solidFill>
                            <a:srgbClr val="E3F2FD"/>
                          </a:solidFill>
                        </a:rPr>
                        <a:t>Information-theoretic: any eavesdrop introduces detectable error</a:t>
                      </a:r>
                    </a:p>
                  </a:txBody>
                  <a:tcPr>
                    <a:solidFill>
                      <a:srgbClr val="0D2137"/>
                    </a:solidFill>
                  </a:tcPr>
                </a:tc>
              </a:tr>
              <a:tr h="648000">
                <a:tc>
                  <a:txBody>
                    <a:bodyPr/>
                    <a:lstStyle/>
                    <a:p>
                      <a:r>
                        <a:rPr lang="en-US" sz="1200" b="1">
                          <a:solidFill>
                            <a:srgbClr val="BBDEFB"/>
                          </a:solidFill>
                        </a:rPr>
                        <a:t>E91 Protocol</a:t>
                      </a:r>
                    </a:p>
                  </a:txBody>
                  <a:tcPr>
                    <a:solidFill>
                      <a:srgbClr val="112233"/>
                    </a:solidFill>
                  </a:tcPr>
                </a:tc>
                <a:tc>
                  <a:txBody>
                    <a:bodyPr/>
                    <a:lstStyle/>
                    <a:p>
                      <a:r>
                        <a:rPr lang="en-US" sz="1200">
                          <a:solidFill>
                            <a:srgbClr val="E3F2FD"/>
                          </a:solidFill>
                        </a:rPr>
                        <a:t>Entangled photon pairs; Bell inequality test</a:t>
                      </a:r>
                    </a:p>
                  </a:txBody>
                  <a:tcPr>
                    <a:solidFill>
                      <a:srgbClr val="112233"/>
                    </a:solidFill>
                  </a:tcPr>
                </a:tc>
                <a:tc>
                  <a:txBody>
                    <a:bodyPr/>
                    <a:lstStyle/>
                    <a:p>
                      <a:r>
                        <a:rPr lang="en-US" sz="1200">
                          <a:solidFill>
                            <a:srgbClr val="E3F2FD"/>
                          </a:solidFill>
                        </a:rPr>
                        <a:t>Device-independent security; CHSH test</a:t>
                      </a:r>
                    </a:p>
                  </a:txBody>
                  <a:tcPr>
                    <a:solidFill>
                      <a:srgbClr val="112233"/>
                    </a:solidFill>
                  </a:tcPr>
                </a:tc>
              </a:tr>
              <a:tr h="648000">
                <a:tc>
                  <a:txBody>
                    <a:bodyPr/>
                    <a:lstStyle/>
                    <a:p>
                      <a:r>
                        <a:rPr lang="en-US" sz="1200" b="1">
                          <a:solidFill>
                            <a:srgbClr val="BBDEFB"/>
                          </a:solidFill>
                        </a:rPr>
                        <a:t>Quantum Teleportation</a:t>
                      </a:r>
                    </a:p>
                  </a:txBody>
                  <a:tcPr>
                    <a:solidFill>
                      <a:srgbClr val="0D2137"/>
                    </a:solidFill>
                  </a:tcPr>
                </a:tc>
                <a:tc>
                  <a:txBody>
                    <a:bodyPr/>
                    <a:lstStyle/>
                    <a:p>
                      <a:r>
                        <a:rPr lang="en-US" sz="1200">
                          <a:solidFill>
                            <a:srgbClr val="E3F2FD"/>
                          </a:solidFill>
                        </a:rPr>
                        <a:t>1 ebit + 2 classical bits transfer quantum state</a:t>
                      </a:r>
                    </a:p>
                  </a:txBody>
                  <a:tcPr>
                    <a:solidFill>
                      <a:srgbClr val="0D2137"/>
                    </a:solidFill>
                  </a:tcPr>
                </a:tc>
                <a:tc>
                  <a:txBody>
                    <a:bodyPr/>
                    <a:lstStyle/>
                    <a:p>
                      <a:r>
                        <a:rPr lang="en-US" sz="1200">
                          <a:solidFill>
                            <a:srgbClr val="E3F2FD"/>
                          </a:solidFill>
                        </a:rPr>
                        <a:t>No FTL signaling (classical channel required)</a:t>
                      </a:r>
                    </a:p>
                  </a:txBody>
                  <a:tcPr>
                    <a:solidFill>
                      <a:srgbClr val="0D2137"/>
                    </a:solidFill>
                  </a:tcPr>
                </a:tc>
              </a:tr>
              <a:tr h="648000">
                <a:tc>
                  <a:txBody>
                    <a:bodyPr/>
                    <a:lstStyle/>
                    <a:p>
                      <a:r>
                        <a:rPr lang="en-US" sz="1200" b="1">
                          <a:solidFill>
                            <a:srgbClr val="BBDEFB"/>
                          </a:solidFill>
                        </a:rPr>
                        <a:t>Quantum Internet</a:t>
                      </a:r>
                    </a:p>
                  </a:txBody>
                  <a:tcPr>
                    <a:solidFill>
                      <a:srgbClr val="112233"/>
                    </a:solidFill>
                  </a:tcPr>
                </a:tc>
                <a:tc>
                  <a:txBody>
                    <a:bodyPr/>
                    <a:lstStyle/>
                    <a:p>
                      <a:r>
                        <a:rPr lang="en-US" sz="1200">
                          <a:solidFill>
                            <a:srgbClr val="E3F2FD"/>
                          </a:solidFill>
                        </a:rPr>
                        <a:t>Quantum repeaters + entanglement distillation</a:t>
                      </a:r>
                    </a:p>
                  </a:txBody>
                  <a:tcPr>
                    <a:solidFill>
                      <a:srgbClr val="112233"/>
                    </a:solidFill>
                  </a:tcPr>
                </a:tc>
                <a:tc>
                  <a:txBody>
                    <a:bodyPr/>
                    <a:lstStyle/>
                    <a:p>
                      <a:r>
                        <a:rPr lang="en-US" sz="1200">
                          <a:solidFill>
                            <a:srgbClr val="E3F2FD"/>
                          </a:solidFill>
                        </a:rPr>
                        <a:t>Long-distance QKD; distributed QC; blind QC</a:t>
                      </a:r>
                    </a:p>
                  </a:txBody>
                  <a:tcPr>
                    <a:solidFill>
                      <a:srgbClr val="112233"/>
                    </a:solidFill>
                  </a:tcPr>
                </a:tc>
              </a:tr>
            </a:tbl>
          </a:graphicData>
        </a:graphic>
      </p:graphicFrame>
      <p:sp>
        <p:nvSpPr>
          <p:cNvPr id="100378" name="TextBox 4"/>
          <p:cNvSpPr txBox="1"/>
          <p:nvPr/>
        </p:nvSpPr>
        <p:spPr>
          <a:xfrm xmlns:a="http://schemas.openxmlformats.org/drawingml/2006/main">
            <a:off x="360000" y="4500000"/>
            <a:ext cx="11160000" cy="1080000"/>
          </a:xfrm>
          <a:prstGeom xmlns:a="http://schemas.openxmlformats.org/drawingml/2006/main" prst="rect">
            <a:avLst/>
          </a:prstGeom>
          <a:solidFill xmlns:a="http://schemas.openxmlformats.org/drawingml/2006/main">
            <a:srgbClr val="0D1F33"/>
          </a:solidFill>
        </p:spPr>
        <p:txBody>
          <a:bodyPr xmlns:a="http://schemas.openxmlformats.org/drawingml/2006/main"/>
          <a:lstStyle xmlns:a="http://schemas.openxmlformats.org/drawingml/2006/main"/>
          <a:p xmlns:a="http://schemas.openxmlformats.org/drawingml/2006/main">
            <a:pPr algn="l"/>
            <a:r>
              <a:rPr lang="en-US">
                <a:solidFill>
                  <a:srgbClr val="90CAF9"/>
                </a:solidFill>
              </a:rPr>
              <a:t>Milestones: China's Micius satellite QKD (2017, 1200 km); QuTech Delft 3-node entangled network (2021); US NQIA Quantum Internet Blueprint. NIST FIPS 203/204/205 PQC standards finalized 2024 for classical systems.</a:t>
            </a:r>
          </a:p>
        </p:txBody>
      </p:sp>
      <p:sp>
        <p:nvSpPr>
          <p:cNvPr id="100379"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63 / 65  |  QUANTUM NETWORKS</a:t>
            </a:r>
          </a:p>
        </p:txBody>
      </p:sp>
      <p:sp>
        <p:nvSpPr>
          <p:cNvPr id="100380"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59.xml><?xml version="1.0" encoding="utf-8"?>
<p:sld xmlns:p="http://schemas.openxmlformats.org/presentationml/2006/main">
  <p:cSld>
    <p:spTree>
      <p:nvGrpSpPr>
        <p:cNvPr id="1" name=""/>
        <p:cNvGrpSpPr/>
        <p:nvPr/>
      </p:nvGrpSpPr>
      <p:grpSpPr/>
      <p:sp>
        <p:nvSpPr>
          <p:cNvPr id="100381"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CLOSING</a:t>
            </a:r>
          </a:p>
        </p:txBody>
      </p:sp>
      <p:sp>
        <p:nvSpPr>
          <p:cNvPr id="100382"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Open Problems &amp; Grand Challenges in Quantum Computing</a:t>
            </a:r>
          </a:p>
        </p:txBody>
      </p:sp>
      <p:sp>
        <p:nvSpPr>
          <p:cNvPr id="100383"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384"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E3F2FD"/>
                </a:solidFill>
              </a:rPr>
              <a:t>1. Fault-Tolerant Quantum Computing at Scale</a:t>
            </a:r>
          </a:p>
          <a:p xmlns:a="http://schemas.openxmlformats.org/drawingml/2006/main">
            <a:pPr algn="l"/>
            <a:r>
              <a:rPr lang="en-US">
                <a:solidFill>
                  <a:srgbClr val="E3F2FD"/>
                </a:solidFill>
              </a:rPr>
              <a:t>   Reduce overhead: from ~1000 physical qubits per logical to ~100. Magic state distillation costs.</a:t>
            </a:r>
          </a:p>
          <a:p xmlns:a="http://schemas.openxmlformats.org/drawingml/2006/main">
            <a:pPr algn="l"/>
            <a:r>
              <a:rPr lang="en-US">
                <a:solidFill>
                  <a:srgbClr val="E3F2FD"/>
                </a:solidFill>
              </a:rPr>
              <a:t>   Active areas: transversal gates, flag qubits, biased-noise codes (XZZX surface code).</a:t>
            </a:r>
          </a:p>
          <a:p xmlns:a="http://schemas.openxmlformats.org/drawingml/2006/main">
            <a:pPr algn="l"/>
            <a:r>
              <a:rPr lang="en-US">
                <a:solidFill>
                  <a:srgbClr val="E3F2FD"/>
                </a:solidFill>
              </a:rPr>
              <a:t/>
            </a:r>
          </a:p>
          <a:p xmlns:a="http://schemas.openxmlformats.org/drawingml/2006/main">
            <a:pPr algn="l"/>
            <a:r>
              <a:rPr lang="en-US">
                <a:solidFill>
                  <a:srgbClr val="E3F2FD"/>
                </a:solidFill>
              </a:rPr>
              <a:t>2. The BQP vs NP Question</a:t>
            </a:r>
          </a:p>
          <a:p xmlns:a="http://schemas.openxmlformats.org/drawingml/2006/main">
            <a:pPr algn="l"/>
            <a:r>
              <a:rPr lang="en-US">
                <a:solidFill>
                  <a:srgbClr val="E3F2FD"/>
                </a:solidFill>
              </a:rPr>
              <a:t>   Does quantum computing solve NP-complete problems efficiently? Strong evidence: NO.</a:t>
            </a:r>
          </a:p>
          <a:p xmlns:a="http://schemas.openxmlformats.org/drawingml/2006/main">
            <a:pPr algn="l"/>
            <a:r>
              <a:rPr lang="en-US">
                <a:solidFill>
                  <a:srgbClr val="E3F2FD"/>
                </a:solidFill>
              </a:rPr>
              <a:t>   BQP ⊄ NP (conjectured); quantum speedup for NP is not established.</a:t>
            </a:r>
          </a:p>
          <a:p xmlns:a="http://schemas.openxmlformats.org/drawingml/2006/main">
            <a:pPr algn="l"/>
            <a:r>
              <a:rPr lang="en-US">
                <a:solidFill>
                  <a:srgbClr val="E3F2FD"/>
                </a:solidFill>
              </a:rPr>
              <a:t/>
            </a:r>
          </a:p>
          <a:p xmlns:a="http://schemas.openxmlformats.org/drawingml/2006/main">
            <a:pPr algn="l"/>
            <a:r>
              <a:rPr lang="en-US">
                <a:solidFill>
                  <a:srgbClr val="E3F2FD"/>
                </a:solidFill>
              </a:rPr>
              <a:t>3. Practical Quantum Advantage for Chemistry</a:t>
            </a:r>
          </a:p>
          <a:p xmlns:a="http://schemas.openxmlformats.org/drawingml/2006/main">
            <a:pPr algn="l"/>
            <a:r>
              <a:rPr lang="en-US">
                <a:solidFill>
                  <a:srgbClr val="E3F2FD"/>
                </a:solidFill>
              </a:rPr>
              <a:t>   Can VQE/QPE solve FeMoco (nitrogenase cofactor) with 200 logical qubits?</a:t>
            </a:r>
          </a:p>
          <a:p xmlns:a="http://schemas.openxmlformats.org/drawingml/2006/main">
            <a:pPr algn="l"/>
            <a:r>
              <a:rPr lang="en-US">
                <a:solidFill>
                  <a:srgbClr val="E3F2FD"/>
                </a:solidFill>
              </a:rPr>
              <a:t>   Reiher et al. (2017): requires ~111 logical qubits and ~10¹⁴ T gates → needs fault-tolerant hardware.</a:t>
            </a:r>
          </a:p>
          <a:p xmlns:a="http://schemas.openxmlformats.org/drawingml/2006/main">
            <a:pPr algn="l"/>
            <a:r>
              <a:rPr lang="en-US">
                <a:solidFill>
                  <a:srgbClr val="E3F2FD"/>
                </a:solidFill>
              </a:rPr>
              <a:t/>
            </a:r>
          </a:p>
          <a:p xmlns:a="http://schemas.openxmlformats.org/drawingml/2006/main">
            <a:pPr algn="l"/>
            <a:r>
              <a:rPr lang="en-US">
                <a:solidFill>
                  <a:srgbClr val="E3F2FD"/>
                </a:solidFill>
              </a:rPr>
              <a:t>4. Barren Plateaus in Variational Algorithms</a:t>
            </a:r>
          </a:p>
          <a:p xmlns:a="http://schemas.openxmlformats.org/drawingml/2006/main">
            <a:pPr algn="l"/>
            <a:r>
              <a:rPr lang="en-US">
                <a:solidFill>
                  <a:srgbClr val="E3F2FD"/>
                </a:solidFill>
              </a:rPr>
              <a:t>   Gradients of cost functions vanish exponentially with system size → untrainable circuits.</a:t>
            </a:r>
          </a:p>
          <a:p xmlns:a="http://schemas.openxmlformats.org/drawingml/2006/main">
            <a:pPr algn="l"/>
            <a:r>
              <a:rPr lang="en-US">
                <a:solidFill>
                  <a:srgbClr val="E3F2FD"/>
                </a:solidFill>
              </a:rPr>
              <a:t>   Solutions: layerwise training, symmetry-adapted ansatz, classical pre-training.</a:t>
            </a:r>
          </a:p>
          <a:p xmlns:a="http://schemas.openxmlformats.org/drawingml/2006/main">
            <a:pPr algn="l"/>
            <a:r>
              <a:rPr lang="en-US">
                <a:solidFill>
                  <a:srgbClr val="E3F2FD"/>
                </a:solidFill>
              </a:rPr>
              <a:t/>
            </a:r>
          </a:p>
          <a:p xmlns:a="http://schemas.openxmlformats.org/drawingml/2006/main">
            <a:pPr algn="l"/>
            <a:r>
              <a:rPr lang="en-US">
                <a:solidFill>
                  <a:srgbClr val="E3F2FD"/>
                </a:solidFill>
              </a:rPr>
              <a:t>5. Quantum Memory &amp; Long-Distance Networking</a:t>
            </a:r>
          </a:p>
          <a:p xmlns:a="http://schemas.openxmlformats.org/drawingml/2006/main">
            <a:pPr algn="l"/>
            <a:r>
              <a:rPr lang="en-US">
                <a:solidFill>
                  <a:srgbClr val="E3F2FD"/>
                </a:solidFill>
              </a:rPr>
              <a:t>   Quantum repeater requires quantum memory with &gt;100ms storage + high-fidelity transduction.</a:t>
            </a:r>
          </a:p>
          <a:p xmlns:a="http://schemas.openxmlformats.org/drawingml/2006/main">
            <a:pPr algn="l"/>
            <a:r>
              <a:rPr lang="en-US">
                <a:solidFill>
                  <a:srgbClr val="E3F2FD"/>
                </a:solidFill>
              </a:rPr>
              <a:t>   NV centers + rare-earth ions most promising; photon-matter interface efficiency &lt;10% today.</a:t>
            </a:r>
          </a:p>
          <a:p xmlns:a="http://schemas.openxmlformats.org/drawingml/2006/main">
            <a:pPr algn="l"/>
            <a:r>
              <a:rPr lang="en-US">
                <a:solidFill>
                  <a:srgbClr val="E3F2FD"/>
                </a:solidFill>
              </a:rPr>
              <a:t/>
            </a:r>
          </a:p>
          <a:p xmlns:a="http://schemas.openxmlformats.org/drawingml/2006/main">
            <a:pPr algn="l"/>
            <a:r>
              <a:rPr lang="en-US">
                <a:solidFill>
                  <a:srgbClr val="E3F2FD"/>
                </a:solidFill>
              </a:rPr>
              <a:t>6. Classical Simulation vs Quantum Simulation Boundary</a:t>
            </a:r>
          </a:p>
          <a:p xmlns:a="http://schemas.openxmlformats.org/drawingml/2006/main">
            <a:pPr algn="l"/>
            <a:r>
              <a:rPr lang="en-US">
                <a:solidFill>
                  <a:srgbClr val="E3F2FD"/>
                </a:solidFill>
              </a:rPr>
              <a:t>   Tensor networks, DMRG can simulate some 'quantum' circuits classically.</a:t>
            </a:r>
          </a:p>
          <a:p xmlns:a="http://schemas.openxmlformats.org/drawingml/2006/main">
            <a:pPr algn="l"/>
            <a:r>
              <a:rPr lang="en-US">
                <a:solidFill>
                  <a:srgbClr val="E3F2FD"/>
                </a:solidFill>
              </a:rPr>
              <a:t>   Defining the exact quantum advantage boundary for specific molecule classes is unsolved.</a:t>
            </a:r>
          </a:p>
          <a:p xmlns:a="http://schemas.openxmlformats.org/drawingml/2006/main">
            <a:pPr algn="l"/>
            <a:r>
              <a:rPr lang="en-US">
                <a:solidFill>
                  <a:srgbClr val="E3F2FD"/>
                </a:solidFill>
              </a:rPr>
              <a:t/>
            </a:r>
          </a:p>
          <a:p xmlns:a="http://schemas.openxmlformats.org/drawingml/2006/main">
            <a:pPr algn="l"/>
            <a:r>
              <a:rPr lang="en-US">
                <a:solidFill>
                  <a:srgbClr val="E3F2FD"/>
                </a:solidFill>
              </a:rPr>
              <a:t>7. Standards &amp; Benchmarking</a:t>
            </a:r>
          </a:p>
          <a:p xmlns:a="http://schemas.openxmlformats.org/drawingml/2006/main">
            <a:pPr algn="l"/>
            <a:r>
              <a:rPr lang="en-US">
                <a:solidFill>
                  <a:srgbClr val="E3F2FD"/>
                </a:solidFill>
              </a:rPr>
              <a:t>   No agreed metric: circuit volume, CLOPS, EPLG, mirror circuits, application benchmarks.</a:t>
            </a:r>
          </a:p>
          <a:p xmlns:a="http://schemas.openxmlformats.org/drawingml/2006/main">
            <a:pPr algn="l"/>
            <a:r>
              <a:rPr lang="en-US">
                <a:solidFill>
                  <a:srgbClr val="E3F2FD"/>
                </a:solidFill>
              </a:rPr>
              <a:t>   Q-NEXT, QED-C working on standardization.</a:t>
            </a:r>
          </a:p>
        </p:txBody>
      </p:sp>
      <p:sp>
        <p:nvSpPr>
          <p:cNvPr id="100385"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64 / 65  |  OPEN PROBLEMS</a:t>
            </a:r>
          </a:p>
        </p:txBody>
      </p:sp>
      <p:sp>
        <p:nvSpPr>
          <p:cNvPr id="100386"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60.xml><?xml version="1.0" encoding="utf-8"?>
<p:sld xmlns:p="http://schemas.openxmlformats.org/presentationml/2006/main">
  <p:cSld>
    <p:spTree>
      <p:nvGrpSpPr>
        <p:cNvPr id="1" name=""/>
        <p:cNvGrpSpPr/>
        <p:nvPr/>
      </p:nvGrpSpPr>
      <p:grpSpPr/>
      <p:sp>
        <p:nvSpPr>
          <p:cNvPr id="100387"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CLOSING</a:t>
            </a:r>
          </a:p>
        </p:txBody>
      </p:sp>
      <p:sp>
        <p:nvSpPr>
          <p:cNvPr id="100388"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Complete Course Summary</a:t>
            </a:r>
          </a:p>
        </p:txBody>
      </p:sp>
      <p:sp>
        <p:nvSpPr>
          <p:cNvPr id="100389"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graphicFrame>
        <p:nvGraphicFramePr>
          <p:cNvPr id="100390" name="Table 1"/>
          <p:cNvGraphicFramePr/>
          <p:nvPr/>
        </p:nvGraphicFramePr>
        <p:xfrm>
          <a:off xmlns:a="http://schemas.openxmlformats.org/drawingml/2006/main" x="360000" y="1152000"/>
          <a:ext xmlns:a="http://schemas.openxmlformats.org/drawingml/2006/main" cx="11160000" cy="3960000"/>
        </p:xfrm>
        <a:graphic xmlns:a="http://schemas.openxmlformats.org/drawingml/2006/main">
          <a:graphicData uri="http://schemas.openxmlformats.org/drawingml/2006/table">
            <a:tbl>
              <a:tblPr firstRow="1" bandRow="1"/>
              <a:tblGrid>
                <a:gridCol w="3720000"/>
                <a:gridCol w="3720000"/>
                <a:gridCol w="3720000"/>
              </a:tblGrid>
              <a:tr h="792000">
                <a:tc>
                  <a:txBody>
                    <a:bodyPr/>
                    <a:lstStyle/>
                    <a:p>
                      <a:r>
                        <a:rPr lang="en-US" sz="1300" b="1">
                          <a:solidFill>
                            <a:srgbClr val="E3F2FD"/>
                          </a:solidFill>
                        </a:rPr>
                        <a:t>Module</a:t>
                      </a:r>
                    </a:p>
                  </a:txBody>
                  <a:tcPr>
                    <a:solidFill>
                      <a:srgbClr val="1565C0"/>
                    </a:solidFill>
                  </a:tcPr>
                </a:tc>
                <a:tc>
                  <a:txBody>
                    <a:bodyPr/>
                    <a:lstStyle/>
                    <a:p>
                      <a:r>
                        <a:rPr lang="en-US" sz="1300" b="1">
                          <a:solidFill>
                            <a:srgbClr val="E3F2FD"/>
                          </a:solidFill>
                        </a:rPr>
                        <a:t>Core Concepts</a:t>
                      </a:r>
                    </a:p>
                  </a:txBody>
                  <a:tcPr>
                    <a:solidFill>
                      <a:srgbClr val="1565C0"/>
                    </a:solidFill>
                  </a:tcPr>
                </a:tc>
                <a:tc>
                  <a:txBody>
                    <a:bodyPr/>
                    <a:lstStyle/>
                    <a:p>
                      <a:r>
                        <a:rPr lang="en-US" sz="1300" b="1">
                          <a:solidFill>
                            <a:srgbClr val="E3F2FD"/>
                          </a:solidFill>
                        </a:rPr>
                        <a:t>Key Equation / Result</a:t>
                      </a:r>
                    </a:p>
                  </a:txBody>
                  <a:tcPr>
                    <a:solidFill>
                      <a:srgbClr val="1565C0"/>
                    </a:solidFill>
                  </a:tcPr>
                </a:tc>
              </a:tr>
              <a:tr h="792000">
                <a:tc>
                  <a:txBody>
                    <a:bodyPr/>
                    <a:lstStyle/>
                    <a:p>
                      <a:r>
                        <a:rPr lang="en-US" sz="1200" b="1">
                          <a:solidFill>
                            <a:srgbClr val="B2EBF2"/>
                          </a:solidFill>
                        </a:rPr>
                        <a:t>Module 1: Mathematics (Slides 4–18)</a:t>
                      </a:r>
                    </a:p>
                  </a:txBody>
                  <a:tcPr>
                    <a:solidFill>
                      <a:srgbClr val="009688"/>
                    </a:solidFill>
                  </a:tcPr>
                </a:tc>
                <a:tc>
                  <a:txBody>
                    <a:bodyPr/>
                    <a:lstStyle/>
                    <a:p>
                      <a:r>
                        <a:rPr lang="en-US" sz="1200">
                          <a:solidFill>
                            <a:srgbClr val="E0F7FA"/>
                          </a:solidFill>
                        </a:rPr>
                        <a:t>Hilbert spaces, Dirac notation, linear operators, eigenvalues, tensor products, probability, QFT, group theory</a:t>
                      </a:r>
                    </a:p>
                  </a:txBody>
                  <a:tcPr>
                    <a:solidFill>
                      <a:srgbClr val="009688"/>
                    </a:solidFill>
                  </a:tcPr>
                </a:tc>
                <a:tc>
                  <a:txBody>
                    <a:bodyPr/>
                    <a:lstStyle/>
                    <a:p>
                      <a:r>
                        <a:rPr lang="en-US" sz="1200">
                          <a:solidFill>
                            <a:srgbClr val="E0F7FA"/>
                          </a:solidFill>
                        </a:rPr>
                        <a:t>|ψ⟩ ∈ ℋ; ⟨Ô⟩ = ⟨ψ|Ô|ψ⟩; QFT|j⟩=(1/√N)Σe^{2πijk/N}|k⟩</a:t>
                      </a:r>
                    </a:p>
                  </a:txBody>
                  <a:tcPr>
                    <a:solidFill>
                      <a:srgbClr val="009688"/>
                    </a:solidFill>
                  </a:tcPr>
                </a:tc>
              </a:tr>
              <a:tr h="792000">
                <a:tc>
                  <a:txBody>
                    <a:bodyPr/>
                    <a:lstStyle/>
                    <a:p>
                      <a:r>
                        <a:rPr lang="en-US" sz="1200" b="1">
                          <a:solidFill>
                            <a:srgbClr val="BBDEFB"/>
                          </a:solidFill>
                        </a:rPr>
                        <a:t>Module 2: Quantum Physics (Slides 19–29)</a:t>
                      </a:r>
                    </a:p>
                  </a:txBody>
                  <a:tcPr>
                    <a:solidFill>
                      <a:srgbClr val="1565C0"/>
                    </a:solidFill>
                  </a:tcPr>
                </a:tc>
                <a:tc>
                  <a:txBody>
                    <a:bodyPr/>
                    <a:lstStyle/>
                    <a:p>
                      <a:r>
                        <a:rPr lang="en-US" sz="1200">
                          <a:solidFill>
                            <a:srgbClr val="E3F2FD"/>
                          </a:solidFill>
                        </a:rPr>
                        <a:t>Wave-particle duality, Schrödinger equation, H atom, spin, postulates, Bell states, decoherence, many-body</a:t>
                      </a:r>
                    </a:p>
                  </a:txBody>
                  <a:tcPr>
                    <a:solidFill>
                      <a:srgbClr val="1565C0"/>
                    </a:solidFill>
                  </a:tcPr>
                </a:tc>
                <a:tc>
                  <a:txBody>
                    <a:bodyPr/>
                    <a:lstStyle/>
                    <a:p>
                      <a:r>
                        <a:rPr lang="en-US" sz="1200">
                          <a:solidFill>
                            <a:srgbClr val="E3F2FD"/>
                          </a:solidFill>
                        </a:rPr>
                        <a:t>iℏ∂|ψ⟩/∂t=Ĥ|ψ⟩; Eₙ=-13.6/n² eV; σᵢ=X,Y,Z gates</a:t>
                      </a:r>
                    </a:p>
                  </a:txBody>
                  <a:tcPr>
                    <a:solidFill>
                      <a:srgbClr val="1565C0"/>
                    </a:solidFill>
                  </a:tcPr>
                </a:tc>
              </a:tr>
              <a:tr h="792000">
                <a:tc>
                  <a:txBody>
                    <a:bodyPr/>
                    <a:lstStyle/>
                    <a:p>
                      <a:r>
                        <a:rPr lang="en-US" sz="1200" b="1">
                          <a:solidFill>
                            <a:srgbClr val="E1BEE7"/>
                          </a:solidFill>
                        </a:rPr>
                        <a:t>Module 3: Quantum Chemistry (Slides 30–37)</a:t>
                      </a:r>
                    </a:p>
                  </a:txBody>
                  <a:tcPr>
                    <a:solidFill>
                      <a:srgbClr val="6A1B9A"/>
                    </a:solidFill>
                  </a:tcPr>
                </a:tc>
                <a:tc>
                  <a:txBody>
                    <a:bodyPr/>
                    <a:lstStyle/>
                    <a:p>
                      <a:r>
                        <a:rPr lang="en-US" sz="1200">
                          <a:solidFill>
                            <a:srgbClr val="F3E5F5"/>
                          </a:solidFill>
                        </a:rPr>
                        <a:t>Atomic orbitals, BO approx, HF/CCSD/FCI, 2nd quantization, Jordan-Wigner, VQE workflow</a:t>
                      </a:r>
                    </a:p>
                  </a:txBody>
                  <a:tcPr>
                    <a:solidFill>
                      <a:srgbClr val="6A1B9A"/>
                    </a:solidFill>
                  </a:tcPr>
                </a:tc>
                <a:tc>
                  <a:txBody>
                    <a:bodyPr/>
                    <a:lstStyle/>
                    <a:p>
                      <a:r>
                        <a:rPr lang="en-US" sz="1200">
                          <a:solidFill>
                            <a:srgbClr val="F3E5F5"/>
                          </a:solidFill>
                        </a:rPr>
                        <a:t>E₀≤⟨ψ(θ)|Ĥ|ψ(θ)⟩; Ĥ=Σhₚqâ†ₚâq+½Σgₚqrsâ†ₚâ†qâsâr</a:t>
                      </a:r>
                    </a:p>
                  </a:txBody>
                  <a:tcPr>
                    <a:solidFill>
                      <a:srgbClr val="6A1B9A"/>
                    </a:solidFill>
                  </a:tcPr>
                </a:tc>
              </a:tr>
              <a:tr h="792000">
                <a:tc>
                  <a:txBody>
                    <a:bodyPr/>
                    <a:lstStyle/>
                    <a:p>
                      <a:r>
                        <a:rPr lang="en-US" sz="1200" b="1">
                          <a:solidFill>
                            <a:srgbClr val="FFCCBC"/>
                          </a:solidFill>
                        </a:rPr>
                        <a:t>Module 4: Qubit ↔ Atoms (Slides 38–46)</a:t>
                      </a:r>
                    </a:p>
                  </a:txBody>
                  <a:tcPr>
                    <a:solidFill>
                      <a:srgbClr val="BF360C"/>
                    </a:solidFill>
                  </a:tcPr>
                </a:tc>
                <a:tc>
                  <a:txBody>
                    <a:bodyPr/>
                    <a:lstStyle/>
                    <a:p>
                      <a:r>
                        <a:rPr lang="en-US" sz="1200">
                          <a:solidFill>
                            <a:srgbClr val="FBE9E7"/>
                          </a:solidFill>
                        </a:rPr>
                        <a:t>Spin-½=qubit, energy levels=register, trapped ions, neutral atoms, NV centers, DiVincenzo, atom→circuit pipeline</a:t>
                      </a:r>
                    </a:p>
                  </a:txBody>
                  <a:tcPr>
                    <a:solidFill>
                      <a:srgbClr val="BF360C"/>
                    </a:solidFill>
                  </a:tcPr>
                </a:tc>
                <a:tc>
                  <a:txBody>
                    <a:bodyPr/>
                    <a:lstStyle/>
                    <a:p>
                      <a:r>
                        <a:rPr lang="en-US" sz="1200">
                          <a:solidFill>
                            <a:srgbClr val="FBE9E7"/>
                          </a:solidFill>
                        </a:rPr>
                        <a:t>θ=Ωₑff·t (gate via pulse); T₁/T₂ coherence times</a:t>
                      </a:r>
                    </a:p>
                  </a:txBody>
                  <a:tcPr>
                    <a:solidFill>
                      <a:srgbClr val="BF360C"/>
                    </a:solidFill>
                  </a:tcPr>
                </a:tc>
              </a:tr>
            </a:tbl>
          </a:graphicData>
        </a:graphic>
      </p:graphicFrame>
      <p:sp>
        <p:nvSpPr>
          <p:cNvPr id="100391" name="TextBox 4"/>
          <p:cNvSpPr txBox="1"/>
          <p:nvPr/>
        </p:nvSpPr>
        <p:spPr>
          <a:xfrm xmlns:a="http://schemas.openxmlformats.org/drawingml/2006/main">
            <a:off x="360000" y="5220000"/>
            <a:ext cx="11160000" cy="1080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ctr"/>
            <a:r>
              <a:rPr lang="en-US" b="1">
                <a:solidFill>
                  <a:srgbClr val="00E5FF"/>
                </a:solidFill>
              </a:rPr>
              <a:t>Grand Conclusion: Quantum computing is a direct consequence of quantum mechanics applied to information processing. Mathematics provides the language, physics provides the laws, chemistry provides the problems, and atomic hardware provides the processor. The journey from Schrödinger's equation to a running quantum circuit is now complete.</a:t>
            </a:r>
          </a:p>
        </p:txBody>
      </p:sp>
      <p:sp>
        <p:nvSpPr>
          <p:cNvPr id="100392" name="TextBox 5"/>
          <p:cNvSpPr txBox="1"/>
          <p:nvPr/>
        </p:nvSpPr>
        <p:spPr>
          <a:xfrm xmlns:a="http://schemas.openxmlformats.org/drawingml/2006/main">
            <a:off x="360000" y="6120000"/>
            <a:ext cx="5400000" cy="1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546E7A"/>
                </a:solidFill>
              </a:rPr>
              <a:t>65 will be the final closing — see next slide</a:t>
            </a:r>
          </a:p>
        </p:txBody>
      </p:sp>
      <p:sp>
        <p:nvSpPr>
          <p:cNvPr id="100393"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61.xml><?xml version="1.0" encoding="utf-8"?>
<p:sld xmlns:p="http://schemas.openxmlformats.org/presentationml/2006/main">
  <p:cSld>
    <p:spTree>
      <p:nvGrpSpPr>
        <p:cNvPr id="1" name=""/>
        <p:cNvGrpSpPr/>
        <p:nvPr/>
      </p:nvGrpSpPr>
      <p:grpSpPr/>
      <p:sp>
        <p:nvSpPr>
          <p:cNvPr id="100394"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CLOSING</a:t>
            </a:r>
          </a:p>
        </p:txBody>
      </p:sp>
      <p:sp>
        <p:nvSpPr>
          <p:cNvPr id="100395"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What's Next: Your Quantum Journey</a:t>
            </a:r>
          </a:p>
        </p:txBody>
      </p:sp>
      <p:sp>
        <p:nvSpPr>
          <p:cNvPr id="100396"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397"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E3F2FD"/>
                </a:solidFill>
              </a:rPr>
              <a:t>This Week (Immediate Action):</a:t>
            </a:r>
          </a:p>
          <a:p xmlns:a="http://schemas.openxmlformats.org/drawingml/2006/main">
            <a:pPr algn="l"/>
            <a:r>
              <a:rPr lang="en-US">
                <a:solidFill>
                  <a:srgbClr val="E3F2FD"/>
                </a:solidFill>
              </a:rPr>
              <a:t>  1. Create free IBM Quantum account → learning.quantum.ibm.com</a:t>
            </a:r>
          </a:p>
          <a:p xmlns:a="http://schemas.openxmlformats.org/drawingml/2006/main">
            <a:pPr algn="l"/>
            <a:r>
              <a:rPr lang="en-US">
                <a:solidFill>
                  <a:srgbClr val="E3F2FD"/>
                </a:solidFill>
              </a:rPr>
              <a:t>  2. Complete 'Introduction to Quantum Computing' course (3 hours)</a:t>
            </a:r>
          </a:p>
          <a:p xmlns:a="http://schemas.openxmlformats.org/drawingml/2006/main">
            <a:pPr algn="l"/>
            <a:r>
              <a:rPr lang="en-US">
                <a:solidFill>
                  <a:srgbClr val="E3F2FD"/>
                </a:solidFill>
              </a:rPr>
              <a:t>  3. Run your first circuit on a real quantum computer (IBM Quantum free tier)</a:t>
            </a:r>
          </a:p>
          <a:p xmlns:a="http://schemas.openxmlformats.org/drawingml/2006/main">
            <a:pPr algn="l"/>
            <a:r>
              <a:rPr lang="en-US">
                <a:solidFill>
                  <a:srgbClr val="E3F2FD"/>
                </a:solidFill>
              </a:rPr>
              <a:t/>
            </a:r>
          </a:p>
          <a:p xmlns:a="http://schemas.openxmlformats.org/drawingml/2006/main">
            <a:pPr algn="l"/>
            <a:r>
              <a:rPr lang="en-US">
                <a:solidFill>
                  <a:srgbClr val="E3F2FD"/>
                </a:solidFill>
              </a:rPr>
              <a:t>This Month (Foundations):</a:t>
            </a:r>
          </a:p>
          <a:p xmlns:a="http://schemas.openxmlformats.org/drawingml/2006/main">
            <a:pPr algn="l"/>
            <a:r>
              <a:rPr lang="en-US">
                <a:solidFill>
                  <a:srgbClr val="E3F2FD"/>
                </a:solidFill>
              </a:rPr>
              <a:t>  4. Work through Nielsen &amp; Chuang Chapter 1 (30 pages)</a:t>
            </a:r>
          </a:p>
          <a:p xmlns:a="http://schemas.openxmlformats.org/drawingml/2006/main">
            <a:pPr algn="l"/>
            <a:r>
              <a:rPr lang="en-US">
                <a:solidFill>
                  <a:srgbClr val="E3F2FD"/>
                </a:solidFill>
              </a:rPr>
              <a:t>  5. Implement Grover's algorithm on 3 qubits in Qiskit</a:t>
            </a:r>
          </a:p>
          <a:p xmlns:a="http://schemas.openxmlformats.org/drawingml/2006/main">
            <a:pPr algn="l"/>
            <a:r>
              <a:rPr lang="en-US">
                <a:solidFill>
                  <a:srgbClr val="E3F2FD"/>
                </a:solidFill>
              </a:rPr>
              <a:t>  6. Read Preskill's NISQ era paper (2018) — arXiv:1801.00862</a:t>
            </a:r>
          </a:p>
          <a:p xmlns:a="http://schemas.openxmlformats.org/drawingml/2006/main">
            <a:pPr algn="l"/>
            <a:r>
              <a:rPr lang="en-US">
                <a:solidFill>
                  <a:srgbClr val="E3F2FD"/>
                </a:solidFill>
              </a:rPr>
              <a:t/>
            </a:r>
          </a:p>
          <a:p xmlns:a="http://schemas.openxmlformats.org/drawingml/2006/main">
            <a:pPr algn="l"/>
            <a:r>
              <a:rPr lang="en-US">
                <a:solidFill>
                  <a:srgbClr val="E3F2FD"/>
                </a:solidFill>
              </a:rPr>
              <a:t>This Year (Depth):</a:t>
            </a:r>
          </a:p>
          <a:p xmlns:a="http://schemas.openxmlformats.org/drawingml/2006/main">
            <a:pPr algn="l"/>
            <a:r>
              <a:rPr lang="en-US">
                <a:solidFill>
                  <a:srgbClr val="E3F2FD"/>
                </a:solidFill>
              </a:rPr>
              <a:t>  7. Take MIT OCW 8.371 Quantum Computation or Caltech Ph219</a:t>
            </a:r>
          </a:p>
          <a:p xmlns:a="http://schemas.openxmlformats.org/drawingml/2006/main">
            <a:pPr algn="l"/>
            <a:r>
              <a:rPr lang="en-US">
                <a:solidFill>
                  <a:srgbClr val="E3F2FD"/>
                </a:solidFill>
              </a:rPr>
              <a:t>  8. Contribute to an open-source project: Qiskit, PennyLane, or Cirq</a:t>
            </a:r>
          </a:p>
          <a:p xmlns:a="http://schemas.openxmlformats.org/drawingml/2006/main">
            <a:pPr algn="l"/>
            <a:r>
              <a:rPr lang="en-US">
                <a:solidFill>
                  <a:srgbClr val="E3F2FD"/>
                </a:solidFill>
              </a:rPr>
              <a:t>  9. Run VQE on H₂ or LiH molecule — benchmark against classical CCSD(T)</a:t>
            </a:r>
          </a:p>
          <a:p xmlns:a="http://schemas.openxmlformats.org/drawingml/2006/main">
            <a:pPr algn="l"/>
            <a:r>
              <a:rPr lang="en-US">
                <a:solidFill>
                  <a:srgbClr val="E3F2FD"/>
                </a:solidFill>
              </a:rPr>
              <a:t>  10. Attend QFF26 — Quantum Fall Fest 2026!</a:t>
            </a:r>
          </a:p>
          <a:p xmlns:a="http://schemas.openxmlformats.org/drawingml/2006/main">
            <a:pPr algn="l"/>
            <a:r>
              <a:rPr lang="en-US">
                <a:solidFill>
                  <a:srgbClr val="E3F2FD"/>
                </a:solidFill>
              </a:rPr>
              <a:t/>
            </a:r>
          </a:p>
          <a:p xmlns:a="http://schemas.openxmlformats.org/drawingml/2006/main">
            <a:pPr algn="l"/>
            <a:r>
              <a:rPr lang="en-US">
                <a:solidFill>
                  <a:srgbClr val="E3F2FD"/>
                </a:solidFill>
              </a:rPr>
              <a:t>Advanced Path:</a:t>
            </a:r>
          </a:p>
          <a:p xmlns:a="http://schemas.openxmlformats.org/drawingml/2006/main">
            <a:pPr algn="l"/>
            <a:r>
              <a:rPr lang="en-US">
                <a:solidFill>
                  <a:srgbClr val="E3F2FD"/>
                </a:solidFill>
              </a:rPr>
              <a:t>  • Enter IBM Quantum Challenge or Quantum Open Source Foundation competitions</a:t>
            </a:r>
          </a:p>
          <a:p xmlns:a="http://schemas.openxmlformats.org/drawingml/2006/main">
            <a:pPr algn="l"/>
            <a:r>
              <a:rPr lang="en-US">
                <a:solidFill>
                  <a:srgbClr val="E3F2FD"/>
                </a:solidFill>
              </a:rPr>
              <a:t>  • Enroll in graduate quantum computing coursework</a:t>
            </a:r>
          </a:p>
          <a:p xmlns:a="http://schemas.openxmlformats.org/drawingml/2006/main">
            <a:pPr algn="l"/>
            <a:r>
              <a:rPr lang="en-US">
                <a:solidFill>
                  <a:srgbClr val="E3F2FD"/>
                </a:solidFill>
              </a:rPr>
              <a:t>  • Submit a research preprint on arXiv:quant-ph</a:t>
            </a:r>
          </a:p>
          <a:p xmlns:a="http://schemas.openxmlformats.org/drawingml/2006/main">
            <a:pPr algn="l"/>
            <a:r>
              <a:rPr lang="en-US">
                <a:solidFill>
                  <a:srgbClr val="E3F2FD"/>
                </a:solidFill>
              </a:rPr>
              <a:t>  • Apply for IBM Quantum Network membership or internship</a:t>
            </a:r>
          </a:p>
        </p:txBody>
      </p:sp>
      <p:sp>
        <p:nvSpPr>
          <p:cNvPr id="100398"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61 / 65  |  NEXT STEPS</a:t>
            </a:r>
          </a:p>
        </p:txBody>
      </p:sp>
      <p:sp>
        <p:nvSpPr>
          <p:cNvPr id="100399"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62.xml><?xml version="1.0" encoding="utf-8"?>
<p:sld xmlns:p="http://schemas.openxmlformats.org/presentationml/2006/main">
  <p:cSld>
    <p:spTree>
      <p:nvGrpSpPr>
        <p:cNvPr id="1" name=""/>
        <p:cNvGrpSpPr/>
        <p:nvPr/>
      </p:nvGrpSpPr>
      <p:grpSpPr/>
      <p:sp>
        <p:nvSpPr>
          <p:cNvPr id="100400"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CLOSING</a:t>
            </a:r>
          </a:p>
        </p:txBody>
      </p:sp>
      <p:sp>
        <p:nvSpPr>
          <p:cNvPr id="100401"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Acknowledgements &amp; Course Information</a:t>
            </a:r>
          </a:p>
        </p:txBody>
      </p:sp>
      <p:sp>
        <p:nvSpPr>
          <p:cNvPr id="100402"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403" name="TextBox 4"/>
          <p:cNvSpPr txBox="1"/>
          <p:nvPr/>
        </p:nvSpPr>
        <p:spPr>
          <a:xfrm xmlns:a="http://schemas.openxmlformats.org/drawingml/2006/main">
            <a:off x="360000" y="1152000"/>
            <a:ext cx="11160000" cy="4968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E3F2FD"/>
                </a:solidFill>
              </a:rPr>
              <a:t>Course: Quantum Computing Basics — Prerequisites &amp; Foundations</a:t>
            </a:r>
          </a:p>
          <a:p xmlns:a="http://schemas.openxmlformats.org/drawingml/2006/main">
            <a:pPr algn="l"/>
            <a:r>
              <a:rPr lang="en-US">
                <a:solidFill>
                  <a:srgbClr val="E3F2FD"/>
                </a:solidFill>
              </a:rPr>
              <a:t>Lecture Series: Quantum Fall Fest 2026 (QFF26)</a:t>
            </a:r>
          </a:p>
          <a:p xmlns:a="http://schemas.openxmlformats.org/drawingml/2006/main">
            <a:pPr algn="l"/>
            <a:r>
              <a:rPr lang="en-US">
                <a:solidFill>
                  <a:srgbClr val="E3F2FD"/>
                </a:solidFill>
              </a:rPr>
              <a:t>Format: 65-slide prerequisite course | 4 modules | ~8 hours of content</a:t>
            </a:r>
          </a:p>
          <a:p xmlns:a="http://schemas.openxmlformats.org/drawingml/2006/main">
            <a:pPr algn="l"/>
            <a:r>
              <a:rPr lang="en-US">
                <a:solidFill>
                  <a:srgbClr val="E3F2FD"/>
                </a:solidFill>
              </a:rPr>
              <a:t>Audience: Students and researchers from any background who want deep quantum fundamentals</a:t>
            </a:r>
          </a:p>
          <a:p xmlns:a="http://schemas.openxmlformats.org/drawingml/2006/main">
            <a:pPr algn="l"/>
            <a:r>
              <a:rPr lang="en-US">
                <a:solidFill>
                  <a:srgbClr val="E3F2FD"/>
                </a:solidFill>
              </a:rPr>
              <a:t/>
            </a:r>
          </a:p>
          <a:p xmlns:a="http://schemas.openxmlformats.org/drawingml/2006/main">
            <a:pPr algn="l"/>
            <a:r>
              <a:rPr lang="en-US">
                <a:solidFill>
                  <a:srgbClr val="E3F2FD"/>
                </a:solidFill>
              </a:rPr>
              <a:t>Content Sources &amp; Acknowledgements:</a:t>
            </a:r>
          </a:p>
          <a:p xmlns:a="http://schemas.openxmlformats.org/drawingml/2006/main">
            <a:pPr algn="l"/>
            <a:r>
              <a:rPr lang="en-US">
                <a:solidFill>
                  <a:srgbClr val="E3F2FD"/>
                </a:solidFill>
              </a:rPr>
              <a:t>• IBM Quantum Learning platform (learning.quantum.ibm.com)</a:t>
            </a:r>
          </a:p>
          <a:p xmlns:a="http://schemas.openxmlformats.org/drawingml/2006/main">
            <a:pPr algn="l"/>
            <a:r>
              <a:rPr lang="en-US">
                <a:solidFill>
                  <a:srgbClr val="E3F2FD"/>
                </a:solidFill>
              </a:rPr>
              <a:t>• Nielsen &amp; Chuang — Quantum Computation &amp; Quantum Information (Cambridge, 2000)</a:t>
            </a:r>
          </a:p>
          <a:p xmlns:a="http://schemas.openxmlformats.org/drawingml/2006/main">
            <a:pPr algn="l"/>
            <a:r>
              <a:rPr lang="en-US">
                <a:solidFill>
                  <a:srgbClr val="E3F2FD"/>
                </a:solidFill>
              </a:rPr>
              <a:t>• John Preskill — Ph219 Lecture Notes (Caltech)</a:t>
            </a:r>
          </a:p>
          <a:p xmlns:a="http://schemas.openxmlformats.org/drawingml/2006/main">
            <a:pPr algn="l"/>
            <a:r>
              <a:rPr lang="en-US">
                <a:solidFill>
                  <a:srgbClr val="E3F2FD"/>
                </a:solidFill>
              </a:rPr>
              <a:t>• David Griffiths — Introduction to Quantum Mechanics (Cambridge)</a:t>
            </a:r>
          </a:p>
          <a:p xmlns:a="http://schemas.openxmlformats.org/drawingml/2006/main">
            <a:pPr algn="l"/>
            <a:r>
              <a:rPr lang="en-US">
                <a:solidFill>
                  <a:srgbClr val="E3F2FD"/>
                </a:solidFill>
              </a:rPr>
              <a:t>• Aspuru-Guzik group — quantum chemistry on quantum computers</a:t>
            </a:r>
          </a:p>
          <a:p xmlns:a="http://schemas.openxmlformats.org/drawingml/2006/main">
            <a:pPr algn="l"/>
            <a:r>
              <a:rPr lang="en-US">
                <a:solidFill>
                  <a:srgbClr val="E3F2FD"/>
                </a:solidFill>
              </a:rPr>
              <a:t>• Yudong Cao et al. — quantum chemistry review (Chem. Rev. 2019)</a:t>
            </a:r>
          </a:p>
          <a:p xmlns:a="http://schemas.openxmlformats.org/drawingml/2006/main">
            <a:pPr algn="l"/>
            <a:r>
              <a:rPr lang="en-US">
                <a:solidFill>
                  <a:srgbClr val="E3F2FD"/>
                </a:solidFill>
              </a:rPr>
              <a:t>• Qiskit open-source community (qiskit.org)</a:t>
            </a:r>
          </a:p>
          <a:p xmlns:a="http://schemas.openxmlformats.org/drawingml/2006/main">
            <a:pPr algn="l"/>
            <a:r>
              <a:rPr lang="en-US">
                <a:solidFill>
                  <a:srgbClr val="E3F2FD"/>
                </a:solidFill>
              </a:rPr>
              <a:t>• OpenFermion team (Google Research)</a:t>
            </a:r>
          </a:p>
          <a:p xmlns:a="http://schemas.openxmlformats.org/drawingml/2006/main">
            <a:pPr algn="l"/>
            <a:r>
              <a:rPr lang="en-US">
                <a:solidFill>
                  <a:srgbClr val="E3F2FD"/>
                </a:solidFill>
              </a:rPr>
              <a:t>• All 30 cited peer-reviewed papers (see slides 54–56)</a:t>
            </a:r>
          </a:p>
          <a:p xmlns:a="http://schemas.openxmlformats.org/drawingml/2006/main">
            <a:pPr algn="l"/>
            <a:r>
              <a:rPr lang="en-US">
                <a:solidFill>
                  <a:srgbClr val="E3F2FD"/>
                </a:solidFill>
              </a:rPr>
              <a:t/>
            </a:r>
          </a:p>
          <a:p xmlns:a="http://schemas.openxmlformats.org/drawingml/2006/main">
            <a:pPr algn="l"/>
            <a:r>
              <a:rPr lang="en-US">
                <a:solidFill>
                  <a:srgbClr val="E3F2FD"/>
                </a:solidFill>
              </a:rPr>
              <a:t>Contact &amp; Resources:</a:t>
            </a:r>
          </a:p>
          <a:p xmlns:a="http://schemas.openxmlformats.org/drawingml/2006/main">
            <a:pPr algn="l"/>
            <a:r>
              <a:rPr lang="en-US">
                <a:solidFill>
                  <a:srgbClr val="E3F2FD"/>
                </a:solidFill>
              </a:rPr>
              <a:t>  QFF26 Website:  qff26.org</a:t>
            </a:r>
          </a:p>
          <a:p xmlns:a="http://schemas.openxmlformats.org/drawingml/2006/main">
            <a:pPr algn="l"/>
            <a:r>
              <a:rPr lang="en-US">
                <a:solidFill>
                  <a:srgbClr val="E3F2FD"/>
                </a:solidFill>
              </a:rPr>
              <a:t>  GitHub:         github.com/qff26</a:t>
            </a:r>
          </a:p>
          <a:p xmlns:a="http://schemas.openxmlformats.org/drawingml/2006/main">
            <a:pPr algn="l"/>
            <a:r>
              <a:rPr lang="en-US">
                <a:solidFill>
                  <a:srgbClr val="E3F2FD"/>
                </a:solidFill>
              </a:rPr>
              <a:t>  Qiskit Slack:   ibm.co/qiskit-slack</a:t>
            </a:r>
          </a:p>
          <a:p xmlns:a="http://schemas.openxmlformats.org/drawingml/2006/main">
            <a:pPr algn="l"/>
            <a:r>
              <a:rPr lang="en-US">
                <a:solidFill>
                  <a:srgbClr val="E3F2FD"/>
                </a:solidFill>
              </a:rPr>
              <a:t>  IBM Quantum:    quantum.ibm.com</a:t>
            </a:r>
          </a:p>
          <a:p xmlns:a="http://schemas.openxmlformats.org/drawingml/2006/main">
            <a:pPr algn="l"/>
            <a:r>
              <a:rPr lang="en-US">
                <a:solidFill>
                  <a:srgbClr val="E3F2FD"/>
                </a:solidFill>
              </a:rPr>
              <a:t/>
            </a:r>
          </a:p>
          <a:p xmlns:a="http://schemas.openxmlformats.org/drawingml/2006/main">
            <a:pPr algn="l"/>
            <a:r>
              <a:rPr lang="en-US">
                <a:solidFill>
                  <a:srgbClr val="E3F2FD"/>
                </a:solidFill>
              </a:rPr>
              <a:t>License: Creative Commons Attribution 4.0 (CC BY 4.0)</a:t>
            </a:r>
          </a:p>
          <a:p xmlns:a="http://schemas.openxmlformats.org/drawingml/2006/main">
            <a:pPr algn="l"/>
            <a:r>
              <a:rPr lang="en-US">
                <a:solidFill>
                  <a:srgbClr val="E3F2FD"/>
                </a:solidFill>
              </a:rPr>
              <a:t>All content may be shared, adapted, and used freely with attribution.</a:t>
            </a:r>
          </a:p>
        </p:txBody>
      </p:sp>
      <p:sp>
        <p:nvSpPr>
          <p:cNvPr id="100404"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63 / 65  |  ACKNOWLEDGEMENTS</a:t>
            </a:r>
          </a:p>
        </p:txBody>
      </p:sp>
      <p:sp>
        <p:nvSpPr>
          <p:cNvPr id="100405"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63.xml><?xml version="1.0" encoding="utf-8"?>
<p:sld xmlns:p="http://schemas.openxmlformats.org/presentationml/2006/main">
  <p:cSld>
    <p:spTree>
      <p:nvGrpSpPr>
        <p:cNvPr id="1" name=""/>
        <p:cNvGrpSpPr/>
        <p:nvPr/>
      </p:nvGrpSpPr>
      <p:grpSpPr/>
      <p:sp>
        <p:nvSpPr>
          <p:cNvPr id="100406"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0D47A1"/>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CLOSING</a:t>
            </a:r>
          </a:p>
        </p:txBody>
      </p:sp>
      <p:sp>
        <p:nvSpPr>
          <p:cNvPr id="100407"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ctr"/>
            <a:r>
              <a:rPr lang="en-US" b="1">
                <a:solidFill>
                  <a:srgbClr val="E3F2FD"/>
                </a:solidFill>
              </a:rPr>
              <a:t>Q &amp; A: Questions Welcome</a:t>
            </a:r>
          </a:p>
        </p:txBody>
      </p:sp>
      <p:sp>
        <p:nvSpPr>
          <p:cNvPr id="100408"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1E88E5"/>
          </a:solidFill>
        </p:spPr>
        <p:txBody>
          <a:bodyPr xmlns:a="http://schemas.openxmlformats.org/drawingml/2006/main"/>
          <a:lstStyle xmlns:a="http://schemas.openxmlformats.org/drawingml/2006/main"/>
          <a:p xmlns:a="http://schemas.openxmlformats.org/drawingml/2006/main">
            <a:endParaRPr lang="en-US">
              <a:solidFill>
                <a:srgbClr val="1E88E5"/>
              </a:solidFill>
            </a:endParaRPr>
          </a:p>
        </p:txBody>
      </p:sp>
      <p:sp>
        <p:nvSpPr>
          <p:cNvPr id="100409" name="TextBox 4"/>
          <p:cNvSpPr txBox="1"/>
          <p:nvPr/>
        </p:nvSpPr>
        <p:spPr>
          <a:xfrm xmlns:a="http://schemas.openxmlformats.org/drawingml/2006/main">
            <a:off x="360000" y="1152000"/>
            <a:ext cx="11160000" cy="4140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l"/>
            <a:r>
              <a:rPr lang="en-US">
                <a:solidFill>
                  <a:srgbClr val="E3F2FD"/>
                </a:solidFill>
              </a:rPr>
              <a:t>Suggested Q&amp;A Topics by Module:</a:t>
            </a:r>
          </a:p>
          <a:p xmlns:a="http://schemas.openxmlformats.org/drawingml/2006/main">
            <a:pPr algn="l"/>
            <a:r>
              <a:rPr lang="en-US">
                <a:solidFill>
                  <a:srgbClr val="E3F2FD"/>
                </a:solidFill>
              </a:rPr>
              <a:t/>
            </a:r>
          </a:p>
          <a:p xmlns:a="http://schemas.openxmlformats.org/drawingml/2006/main">
            <a:pPr algn="l"/>
            <a:r>
              <a:rPr lang="en-US">
                <a:solidFill>
                  <a:srgbClr val="E3F2FD"/>
                </a:solidFill>
              </a:rPr>
              <a:t>Module 1 (Mathematics)</a:t>
            </a:r>
          </a:p>
          <a:p xmlns:a="http://schemas.openxmlformats.org/drawingml/2006/main">
            <a:pPr algn="l"/>
            <a:r>
              <a:rPr lang="en-US">
                <a:solidFill>
                  <a:srgbClr val="E3F2FD"/>
                </a:solidFill>
              </a:rPr>
              <a:t>  • How does the QFT differ from the classical DFT in terms of computational cost?</a:t>
            </a:r>
          </a:p>
          <a:p xmlns:a="http://schemas.openxmlformats.org/drawingml/2006/main">
            <a:pPr algn="l"/>
            <a:r>
              <a:rPr lang="en-US">
                <a:solidFill>
                  <a:srgbClr val="E3F2FD"/>
                </a:solidFill>
              </a:rPr>
              <a:t>  • Why must quantum gates be unitary operators?</a:t>
            </a:r>
          </a:p>
          <a:p xmlns:a="http://schemas.openxmlformats.org/drawingml/2006/main">
            <a:pPr algn="l"/>
            <a:r>
              <a:rPr lang="en-US">
                <a:solidFill>
                  <a:srgbClr val="E3F2FD"/>
                </a:solidFill>
              </a:rPr>
              <a:t/>
            </a:r>
          </a:p>
          <a:p xmlns:a="http://schemas.openxmlformats.org/drawingml/2006/main">
            <a:pPr algn="l"/>
            <a:r>
              <a:rPr lang="en-US">
                <a:solidFill>
                  <a:srgbClr val="E3F2FD"/>
                </a:solidFill>
              </a:rPr>
              <a:t>Module 2 (Physics)</a:t>
            </a:r>
          </a:p>
          <a:p xmlns:a="http://schemas.openxmlformats.org/drawingml/2006/main">
            <a:pPr algn="l"/>
            <a:r>
              <a:rPr lang="en-US">
                <a:solidFill>
                  <a:srgbClr val="E3F2FD"/>
                </a:solidFill>
              </a:rPr>
              <a:t>  • How does decoherence in a real qubit differ from the idealized T₁/T₂ model?</a:t>
            </a:r>
          </a:p>
          <a:p xmlns:a="http://schemas.openxmlformats.org/drawingml/2006/main">
            <a:pPr algn="l"/>
            <a:r>
              <a:rPr lang="en-US">
                <a:solidFill>
                  <a:srgbClr val="E3F2FD"/>
                </a:solidFill>
              </a:rPr>
              <a:t>  • Can you explain Bell inequality violation in plain terms?</a:t>
            </a:r>
          </a:p>
          <a:p xmlns:a="http://schemas.openxmlformats.org/drawingml/2006/main">
            <a:pPr algn="l"/>
            <a:r>
              <a:rPr lang="en-US">
                <a:solidFill>
                  <a:srgbClr val="E3F2FD"/>
                </a:solidFill>
              </a:rPr>
              <a:t/>
            </a:r>
          </a:p>
          <a:p xmlns:a="http://schemas.openxmlformats.org/drawingml/2006/main">
            <a:pPr algn="l"/>
            <a:r>
              <a:rPr lang="en-US">
                <a:solidFill>
                  <a:srgbClr val="E3F2FD"/>
                </a:solidFill>
              </a:rPr>
              <a:t>Module 3 (Chemistry)</a:t>
            </a:r>
          </a:p>
          <a:p xmlns:a="http://schemas.openxmlformats.org/drawingml/2006/main">
            <a:pPr algn="l"/>
            <a:r>
              <a:rPr lang="en-US">
                <a:solidFill>
                  <a:srgbClr val="E3F2FD"/>
                </a:solidFill>
              </a:rPr>
              <a:t>  • What is the main limitation of VQE on current NISQ hardware?</a:t>
            </a:r>
          </a:p>
          <a:p xmlns:a="http://schemas.openxmlformats.org/drawingml/2006/main">
            <a:pPr algn="l"/>
            <a:r>
              <a:rPr lang="en-US">
                <a:solidFill>
                  <a:srgbClr val="E3F2FD"/>
                </a:solidFill>
              </a:rPr>
              <a:t>  • Why is the Jordan-Wigner transform necessary?</a:t>
            </a:r>
          </a:p>
          <a:p xmlns:a="http://schemas.openxmlformats.org/drawingml/2006/main">
            <a:pPr algn="l"/>
            <a:r>
              <a:rPr lang="en-US">
                <a:solidFill>
                  <a:srgbClr val="E3F2FD"/>
                </a:solidFill>
              </a:rPr>
              <a:t/>
            </a:r>
          </a:p>
          <a:p xmlns:a="http://schemas.openxmlformats.org/drawingml/2006/main">
            <a:pPr algn="l"/>
            <a:r>
              <a:rPr lang="en-US">
                <a:solidFill>
                  <a:srgbClr val="E3F2FD"/>
                </a:solidFill>
              </a:rPr>
              <a:t>Module 4 (Qubit ↔ Atoms)</a:t>
            </a:r>
          </a:p>
          <a:p xmlns:a="http://schemas.openxmlformats.org/drawingml/2006/main">
            <a:pPr algn="l"/>
            <a:r>
              <a:rPr lang="en-US">
                <a:solidFill>
                  <a:srgbClr val="E3F2FD"/>
                </a:solidFill>
              </a:rPr>
              <a:t>  • How is a Mølmer-Sørensen gate physically implemented?</a:t>
            </a:r>
          </a:p>
          <a:p xmlns:a="http://schemas.openxmlformats.org/drawingml/2006/main">
            <a:pPr algn="l"/>
            <a:r>
              <a:rPr lang="en-US">
                <a:solidFill>
                  <a:srgbClr val="E3F2FD"/>
                </a:solidFill>
              </a:rPr>
              <a:t>  • What is the difference between a qubit and a qutrit?</a:t>
            </a:r>
          </a:p>
          <a:p xmlns:a="http://schemas.openxmlformats.org/drawingml/2006/main">
            <a:pPr algn="l"/>
            <a:r>
              <a:rPr lang="en-US">
                <a:solidFill>
                  <a:srgbClr val="E3F2FD"/>
                </a:solidFill>
              </a:rPr>
              <a:t/>
            </a:r>
          </a:p>
          <a:p xmlns:a="http://schemas.openxmlformats.org/drawingml/2006/main">
            <a:pPr algn="l"/>
            <a:r>
              <a:rPr lang="en-US">
                <a:solidFill>
                  <a:srgbClr val="E3F2FD"/>
                </a:solidFill>
              </a:rPr>
              <a:t>General</a:t>
            </a:r>
          </a:p>
          <a:p xmlns:a="http://schemas.openxmlformats.org/drawingml/2006/main">
            <a:pPr algn="l"/>
            <a:r>
              <a:rPr lang="en-US">
                <a:solidFill>
                  <a:srgbClr val="E3F2FD"/>
                </a:solidFill>
              </a:rPr>
              <a:t>  • When will quantum computers break RSA encryption?</a:t>
            </a:r>
          </a:p>
          <a:p xmlns:a="http://schemas.openxmlformats.org/drawingml/2006/main">
            <a:pPr algn="l"/>
            <a:r>
              <a:rPr lang="en-US">
                <a:solidFill>
                  <a:srgbClr val="E3F2FD"/>
                </a:solidFill>
              </a:rPr>
              <a:t>  • How can I start contributing to quantum open-source projects today?</a:t>
            </a:r>
          </a:p>
        </p:txBody>
      </p:sp>
      <p:sp>
        <p:nvSpPr>
          <p:cNvPr id="100410" name="TextBox 5"/>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CAF9"/>
                </a:solidFill>
              </a:rPr>
              <a:t>64 / 65  |  Q&amp;A</a:t>
            </a:r>
          </a:p>
        </p:txBody>
      </p:sp>
      <p:sp>
        <p:nvSpPr>
          <p:cNvPr id="100411" name="TextBox 6"/>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64B5F6"/>
                </a:solidFill>
              </a:rPr>
              <a:t>QFF26 Lecture Series — Quantum Computing Basics  |  qff26.org</a:t>
            </a:r>
          </a:p>
        </p:txBody>
      </p:sp>
    </p:spTree>
  </p:cSld>
</p:sld>
</file>

<file path=ppt/slides/slide64.xml><?xml version="1.0" encoding="utf-8"?>
<p:sld xmlns:p="http://schemas.openxmlformats.org/presentationml/2006/main">
  <p:cSld>
    <p:spTree>
      <p:nvGrpSpPr>
        <p:cNvPr id="1" name=""/>
        <p:cNvGrpSpPr/>
        <p:nvPr/>
      </p:nvGrpSpPr>
      <p:grpSpPr/>
      <p:sp>
        <p:nvSpPr>
          <p:cNvPr id="100412" name="TextBox 1"/>
          <p:cNvSpPr txBox="1"/>
          <p:nvPr/>
        </p:nvSpPr>
        <p:spPr>
          <a:xfrm xmlns:a="http://schemas.openxmlformats.org/drawingml/2006/main">
            <a:off x="180000" y="198000"/>
            <a:ext cx="1440000" cy="198000"/>
          </a:xfrm>
          <a:prstGeom xmlns:a="http://schemas.openxmlformats.org/drawingml/2006/main" prst="rect">
            <a:avLst/>
          </a:prstGeom>
          <a:solidFill xmlns:a="http://schemas.openxmlformats.org/drawingml/2006/main">
            <a:srgbClr val="37474F"/>
          </a:solidFill>
        </p:spPr>
        <p:txBody>
          <a:bodyPr xmlns:a="http://schemas.openxmlformats.org/drawingml/2006/main"/>
          <a:lstStyle xmlns:a="http://schemas.openxmlformats.org/drawingml/2006/main"/>
          <a:p xmlns:a="http://schemas.openxmlformats.org/drawingml/2006/main">
            <a:pPr algn="ctr"/>
            <a:r>
              <a:rPr lang="en-US" b="1">
                <a:solidFill>
                  <a:srgbClr val="FFFFFF"/>
                </a:solidFill>
              </a:rPr>
              <a:t>APPENDIX</a:t>
            </a:r>
          </a:p>
        </p:txBody>
      </p:sp>
      <p:sp>
        <p:nvSpPr>
          <p:cNvPr id="100413" name="TextBox 2"/>
          <p:cNvSpPr txBox="1"/>
          <p:nvPr/>
        </p:nvSpPr>
        <p:spPr>
          <a:xfrm xmlns:a="http://schemas.openxmlformats.org/drawingml/2006/main">
            <a:off x="360000" y="360000"/>
            <a:ext cx="11160000" cy="57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b="1">
                <a:solidFill>
                  <a:srgbClr val="E3F2FD"/>
                </a:solidFill>
              </a:rPr>
              <a:t>Appendix: Quantum Gate Reference Card</a:t>
            </a:r>
          </a:p>
        </p:txBody>
      </p:sp>
      <p:sp>
        <p:nvSpPr>
          <p:cNvPr id="100414" name="TextBox 3"/>
          <p:cNvSpPr txBox="1"/>
          <p:nvPr/>
        </p:nvSpPr>
        <p:spPr>
          <a:xfrm xmlns:a="http://schemas.openxmlformats.org/drawingml/2006/main">
            <a:off x="360000" y="1026000"/>
            <a:ext cx="11160000" cy="28800"/>
          </a:xfrm>
          <a:prstGeom xmlns:a="http://schemas.openxmlformats.org/drawingml/2006/main" prst="rect">
            <a:avLst/>
          </a:prstGeom>
          <a:solidFill xmlns:a="http://schemas.openxmlformats.org/drawingml/2006/main">
            <a:srgbClr val="546E7A"/>
          </a:solidFill>
        </p:spPr>
        <p:txBody>
          <a:bodyPr xmlns:a="http://schemas.openxmlformats.org/drawingml/2006/main"/>
          <a:lstStyle xmlns:a="http://schemas.openxmlformats.org/drawingml/2006/main"/>
          <a:p xmlns:a="http://schemas.openxmlformats.org/drawingml/2006/main">
            <a:endParaRPr lang="en-US">
              <a:solidFill>
                <a:srgbClr val="546E7A"/>
              </a:solidFill>
            </a:endParaRPr>
          </a:p>
        </p:txBody>
      </p:sp>
      <p:graphicFrame>
        <p:nvGraphicFramePr>
          <p:cNvPr id="100415" name="Table 1"/>
          <p:cNvGraphicFramePr/>
          <p:nvPr/>
        </p:nvGraphicFramePr>
        <p:xfrm>
          <a:off xmlns:a="http://schemas.openxmlformats.org/drawingml/2006/main" x="360000" y="1152000"/>
          <a:ext xmlns:a="http://schemas.openxmlformats.org/drawingml/2006/main" cx="11160000" cy="4680000"/>
        </p:xfrm>
        <a:graphic xmlns:a="http://schemas.openxmlformats.org/drawingml/2006/main">
          <a:graphicData uri="http://schemas.openxmlformats.org/drawingml/2006/table">
            <a:tbl>
              <a:tblPr firstRow="1" bandRow="1"/>
              <a:tblGrid>
                <a:gridCol w="2790000"/>
                <a:gridCol w="2790000"/>
                <a:gridCol w="2790000"/>
                <a:gridCol w="2790000"/>
              </a:tblGrid>
              <a:tr h="425454">
                <a:tc>
                  <a:txBody>
                    <a:bodyPr/>
                    <a:lstStyle/>
                    <a:p>
                      <a:r>
                        <a:rPr lang="en-US" sz="1200" b="1">
                          <a:solidFill>
                            <a:srgbClr val="E3F2FD"/>
                          </a:solidFill>
                        </a:rPr>
                        <a:t>Gate</a:t>
                      </a:r>
                    </a:p>
                  </a:txBody>
                  <a:tcPr>
                    <a:solidFill>
                      <a:srgbClr val="37474F"/>
                    </a:solidFill>
                  </a:tcPr>
                </a:tc>
                <a:tc>
                  <a:txBody>
                    <a:bodyPr/>
                    <a:lstStyle/>
                    <a:p>
                      <a:r>
                        <a:rPr lang="en-US" sz="1200" b="1">
                          <a:solidFill>
                            <a:srgbClr val="E3F2FD"/>
                          </a:solidFill>
                        </a:rPr>
                        <a:t>Matrix</a:t>
                      </a:r>
                    </a:p>
                  </a:txBody>
                  <a:tcPr>
                    <a:solidFill>
                      <a:srgbClr val="37474F"/>
                    </a:solidFill>
                  </a:tcPr>
                </a:tc>
                <a:tc>
                  <a:txBody>
                    <a:bodyPr/>
                    <a:lstStyle/>
                    <a:p>
                      <a:r>
                        <a:rPr lang="en-US" sz="1200" b="1">
                          <a:solidFill>
                            <a:srgbClr val="E3F2FD"/>
                          </a:solidFill>
                        </a:rPr>
                        <a:t>Action on |0⟩, |1⟩</a:t>
                      </a:r>
                    </a:p>
                  </a:txBody>
                  <a:tcPr>
                    <a:solidFill>
                      <a:srgbClr val="37474F"/>
                    </a:solidFill>
                  </a:tcPr>
                </a:tc>
                <a:tc>
                  <a:txBody>
                    <a:bodyPr/>
                    <a:lstStyle/>
                    <a:p>
                      <a:r>
                        <a:rPr lang="en-US" sz="1200" b="1">
                          <a:solidFill>
                            <a:srgbClr val="E3F2FD"/>
                          </a:solidFill>
                        </a:rPr>
                        <a:t>Use</a:t>
                      </a:r>
                    </a:p>
                  </a:txBody>
                  <a:tcPr>
                    <a:solidFill>
                      <a:srgbClr val="37474F"/>
                    </a:solidFill>
                  </a:tcPr>
                </a:tc>
              </a:tr>
              <a:tr h="425454">
                <a:tc>
                  <a:txBody>
                    <a:bodyPr/>
                    <a:lstStyle/>
                    <a:p>
                      <a:r>
                        <a:rPr lang="en-US" sz="1100" b="1">
                          <a:solidFill>
                            <a:srgbClr val="B0BEC5"/>
                          </a:solidFill>
                        </a:rPr>
                        <a:t>H (Hadamard)</a:t>
                      </a:r>
                    </a:p>
                  </a:txBody>
                  <a:tcPr>
                    <a:solidFill>
                      <a:srgbClr val="263238"/>
                    </a:solidFill>
                  </a:tcPr>
                </a:tc>
                <a:tc>
                  <a:txBody>
                    <a:bodyPr/>
                    <a:lstStyle/>
                    <a:p>
                      <a:r>
                        <a:rPr lang="en-US" sz="1100">
                          <a:solidFill>
                            <a:srgbClr val="E3F2FD"/>
                          </a:solidFill>
                        </a:rPr>
                        <a:t>1/√2 [[1,1],[1,-1]]</a:t>
                      </a:r>
                    </a:p>
                  </a:txBody>
                  <a:tcPr>
                    <a:solidFill>
                      <a:srgbClr val="263238"/>
                    </a:solidFill>
                  </a:tcPr>
                </a:tc>
                <a:tc>
                  <a:txBody>
                    <a:bodyPr/>
                    <a:lstStyle/>
                    <a:p>
                      <a:r>
                        <a:rPr lang="en-US" sz="1100">
                          <a:solidFill>
                            <a:srgbClr val="E3F2FD"/>
                          </a:solidFill>
                        </a:rPr>
                        <a:t>|0⟩→|+⟩, |1⟩→|-⟩</a:t>
                      </a:r>
                    </a:p>
                  </a:txBody>
                  <a:tcPr>
                    <a:solidFill>
                      <a:srgbClr val="263238"/>
                    </a:solidFill>
                  </a:tcPr>
                </a:tc>
                <a:tc>
                  <a:txBody>
                    <a:bodyPr/>
                    <a:lstStyle/>
                    <a:p>
                      <a:r>
                        <a:rPr lang="en-US" sz="1100">
                          <a:solidFill>
                            <a:srgbClr val="E3F2FD"/>
                          </a:solidFill>
                        </a:rPr>
                        <a:t>Superposition; basis change</a:t>
                      </a:r>
                    </a:p>
                  </a:txBody>
                  <a:tcPr>
                    <a:solidFill>
                      <a:srgbClr val="263238"/>
                    </a:solidFill>
                  </a:tcPr>
                </a:tc>
              </a:tr>
              <a:tr h="425454">
                <a:tc>
                  <a:txBody>
                    <a:bodyPr/>
                    <a:lstStyle/>
                    <a:p>
                      <a:r>
                        <a:rPr lang="en-US" sz="1100" b="1">
                          <a:solidFill>
                            <a:srgbClr val="B0BEC5"/>
                          </a:solidFill>
                        </a:rPr>
                        <a:t>X (NOT)</a:t>
                      </a:r>
                    </a:p>
                  </a:txBody>
                  <a:tcPr>
                    <a:solidFill>
                      <a:srgbClr val="2E3B43"/>
                    </a:solidFill>
                  </a:tcPr>
                </a:tc>
                <a:tc>
                  <a:txBody>
                    <a:bodyPr/>
                    <a:lstStyle/>
                    <a:p>
                      <a:r>
                        <a:rPr lang="en-US" sz="1100">
                          <a:solidFill>
                            <a:srgbClr val="E3F2FD"/>
                          </a:solidFill>
                        </a:rPr>
                        <a:t>[[0,1],[1,0]]</a:t>
                      </a:r>
                    </a:p>
                  </a:txBody>
                  <a:tcPr>
                    <a:solidFill>
                      <a:srgbClr val="2E3B43"/>
                    </a:solidFill>
                  </a:tcPr>
                </a:tc>
                <a:tc>
                  <a:txBody>
                    <a:bodyPr/>
                    <a:lstStyle/>
                    <a:p>
                      <a:r>
                        <a:rPr lang="en-US" sz="1100">
                          <a:solidFill>
                            <a:srgbClr val="E3F2FD"/>
                          </a:solidFill>
                        </a:rPr>
                        <a:t>|0⟩→|1⟩, |1⟩→|0⟩</a:t>
                      </a:r>
                    </a:p>
                  </a:txBody>
                  <a:tcPr>
                    <a:solidFill>
                      <a:srgbClr val="2E3B43"/>
                    </a:solidFill>
                  </a:tcPr>
                </a:tc>
                <a:tc>
                  <a:txBody>
                    <a:bodyPr/>
                    <a:lstStyle/>
                    <a:p>
                      <a:r>
                        <a:rPr lang="en-US" sz="1100">
                          <a:solidFill>
                            <a:srgbClr val="E3F2FD"/>
                          </a:solidFill>
                        </a:rPr>
                        <a:t>Bit flip; initialization</a:t>
                      </a:r>
                    </a:p>
                  </a:txBody>
                  <a:tcPr>
                    <a:solidFill>
                      <a:srgbClr val="2E3B43"/>
                    </a:solidFill>
                  </a:tcPr>
                </a:tc>
              </a:tr>
              <a:tr h="425454">
                <a:tc>
                  <a:txBody>
                    <a:bodyPr/>
                    <a:lstStyle/>
                    <a:p>
                      <a:r>
                        <a:rPr lang="en-US" sz="1100" b="1">
                          <a:solidFill>
                            <a:srgbClr val="B0BEC5"/>
                          </a:solidFill>
                        </a:rPr>
                        <a:t>Y</a:t>
                      </a:r>
                    </a:p>
                  </a:txBody>
                  <a:tcPr>
                    <a:solidFill>
                      <a:srgbClr val="263238"/>
                    </a:solidFill>
                  </a:tcPr>
                </a:tc>
                <a:tc>
                  <a:txBody>
                    <a:bodyPr/>
                    <a:lstStyle/>
                    <a:p>
                      <a:r>
                        <a:rPr lang="en-US" sz="1100">
                          <a:solidFill>
                            <a:srgbClr val="E3F2FD"/>
                          </a:solidFill>
                        </a:rPr>
                        <a:t>[[0,-i],[i,0]]</a:t>
                      </a:r>
                    </a:p>
                  </a:txBody>
                  <a:tcPr>
                    <a:solidFill>
                      <a:srgbClr val="263238"/>
                    </a:solidFill>
                  </a:tcPr>
                </a:tc>
                <a:tc>
                  <a:txBody>
                    <a:bodyPr/>
                    <a:lstStyle/>
                    <a:p>
                      <a:r>
                        <a:rPr lang="en-US" sz="1100">
                          <a:solidFill>
                            <a:srgbClr val="E3F2FD"/>
                          </a:solidFill>
                        </a:rPr>
                        <a:t>|0⟩→i|1⟩, |1⟩→-i|0⟩</a:t>
                      </a:r>
                    </a:p>
                  </a:txBody>
                  <a:tcPr>
                    <a:solidFill>
                      <a:srgbClr val="263238"/>
                    </a:solidFill>
                  </a:tcPr>
                </a:tc>
                <a:tc>
                  <a:txBody>
                    <a:bodyPr/>
                    <a:lstStyle/>
                    <a:p>
                      <a:r>
                        <a:rPr lang="en-US" sz="1100">
                          <a:solidFill>
                            <a:srgbClr val="E3F2FD"/>
                          </a:solidFill>
                        </a:rPr>
                        <a:t>Bit+phase flip</a:t>
                      </a:r>
                    </a:p>
                  </a:txBody>
                  <a:tcPr>
                    <a:solidFill>
                      <a:srgbClr val="263238"/>
                    </a:solidFill>
                  </a:tcPr>
                </a:tc>
              </a:tr>
              <a:tr h="425454">
                <a:tc>
                  <a:txBody>
                    <a:bodyPr/>
                    <a:lstStyle/>
                    <a:p>
                      <a:r>
                        <a:rPr lang="en-US" sz="1100" b="1">
                          <a:solidFill>
                            <a:srgbClr val="B0BEC5"/>
                          </a:solidFill>
                        </a:rPr>
                        <a:t>Z</a:t>
                      </a:r>
                    </a:p>
                  </a:txBody>
                  <a:tcPr>
                    <a:solidFill>
                      <a:srgbClr val="2E3B43"/>
                    </a:solidFill>
                  </a:tcPr>
                </a:tc>
                <a:tc>
                  <a:txBody>
                    <a:bodyPr/>
                    <a:lstStyle/>
                    <a:p>
                      <a:r>
                        <a:rPr lang="en-US" sz="1100">
                          <a:solidFill>
                            <a:srgbClr val="E3F2FD"/>
                          </a:solidFill>
                        </a:rPr>
                        <a:t>[[1,0],[0,-1]]</a:t>
                      </a:r>
                    </a:p>
                  </a:txBody>
                  <a:tcPr>
                    <a:solidFill>
                      <a:srgbClr val="2E3B43"/>
                    </a:solidFill>
                  </a:tcPr>
                </a:tc>
                <a:tc>
                  <a:txBody>
                    <a:bodyPr/>
                    <a:lstStyle/>
                    <a:p>
                      <a:r>
                        <a:rPr lang="en-US" sz="1100">
                          <a:solidFill>
                            <a:srgbClr val="E3F2FD"/>
                          </a:solidFill>
                        </a:rPr>
                        <a:t>|0⟩→|0⟩, |1⟩→-|1⟩</a:t>
                      </a:r>
                    </a:p>
                  </a:txBody>
                  <a:tcPr>
                    <a:solidFill>
                      <a:srgbClr val="2E3B43"/>
                    </a:solidFill>
                  </a:tcPr>
                </a:tc>
                <a:tc>
                  <a:txBody>
                    <a:bodyPr/>
                    <a:lstStyle/>
                    <a:p>
                      <a:r>
                        <a:rPr lang="en-US" sz="1100">
                          <a:solidFill>
                            <a:srgbClr val="E3F2FD"/>
                          </a:solidFill>
                        </a:rPr>
                        <a:t>Phase flip</a:t>
                      </a:r>
                    </a:p>
                  </a:txBody>
                  <a:tcPr>
                    <a:solidFill>
                      <a:srgbClr val="2E3B43"/>
                    </a:solidFill>
                  </a:tcPr>
                </a:tc>
              </a:tr>
              <a:tr h="425454">
                <a:tc>
                  <a:txBody>
                    <a:bodyPr/>
                    <a:lstStyle/>
                    <a:p>
                      <a:r>
                        <a:rPr lang="en-US" sz="1100" b="1">
                          <a:solidFill>
                            <a:srgbClr val="B0BEC5"/>
                          </a:solidFill>
                        </a:rPr>
                        <a:t>S (Phase)</a:t>
                      </a:r>
                    </a:p>
                  </a:txBody>
                  <a:tcPr>
                    <a:solidFill>
                      <a:srgbClr val="263238"/>
                    </a:solidFill>
                  </a:tcPr>
                </a:tc>
                <a:tc>
                  <a:txBody>
                    <a:bodyPr/>
                    <a:lstStyle/>
                    <a:p>
                      <a:r>
                        <a:rPr lang="en-US" sz="1100">
                          <a:solidFill>
                            <a:srgbClr val="E3F2FD"/>
                          </a:solidFill>
                        </a:rPr>
                        <a:t>[[1,0],[0,i]]</a:t>
                      </a:r>
                    </a:p>
                  </a:txBody>
                  <a:tcPr>
                    <a:solidFill>
                      <a:srgbClr val="263238"/>
                    </a:solidFill>
                  </a:tcPr>
                </a:tc>
                <a:tc>
                  <a:txBody>
                    <a:bodyPr/>
                    <a:lstStyle/>
                    <a:p>
                      <a:r>
                        <a:rPr lang="en-US" sz="1100">
                          <a:solidFill>
                            <a:srgbClr val="E3F2FD"/>
                          </a:solidFill>
                        </a:rPr>
                        <a:t>|0⟩→|0⟩, |1⟩→i|1⟩</a:t>
                      </a:r>
                    </a:p>
                  </a:txBody>
                  <a:tcPr>
                    <a:solidFill>
                      <a:srgbClr val="263238"/>
                    </a:solidFill>
                  </a:tcPr>
                </a:tc>
                <a:tc>
                  <a:txBody>
                    <a:bodyPr/>
                    <a:lstStyle/>
                    <a:p>
                      <a:r>
                        <a:rPr lang="en-US" sz="1100">
                          <a:solidFill>
                            <a:srgbClr val="E3F2FD"/>
                          </a:solidFill>
                        </a:rPr>
                        <a:t>π/2 phase; Clifford group</a:t>
                      </a:r>
                    </a:p>
                  </a:txBody>
                  <a:tcPr>
                    <a:solidFill>
                      <a:srgbClr val="263238"/>
                    </a:solidFill>
                  </a:tcPr>
                </a:tc>
              </a:tr>
              <a:tr h="425454">
                <a:tc>
                  <a:txBody>
                    <a:bodyPr/>
                    <a:lstStyle/>
                    <a:p>
                      <a:r>
                        <a:rPr lang="en-US" sz="1100" b="1">
                          <a:solidFill>
                            <a:srgbClr val="B0BEC5"/>
                          </a:solidFill>
                        </a:rPr>
                        <a:t>T</a:t>
                      </a:r>
                    </a:p>
                  </a:txBody>
                  <a:tcPr>
                    <a:solidFill>
                      <a:srgbClr val="2E3B43"/>
                    </a:solidFill>
                  </a:tcPr>
                </a:tc>
                <a:tc>
                  <a:txBody>
                    <a:bodyPr/>
                    <a:lstStyle/>
                    <a:p>
                      <a:r>
                        <a:rPr lang="en-US" sz="1100">
                          <a:solidFill>
                            <a:srgbClr val="E3F2FD"/>
                          </a:solidFill>
                        </a:rPr>
                        <a:t>[[1,0],[0,e^{iπ/4}]]</a:t>
                      </a:r>
                    </a:p>
                  </a:txBody>
                  <a:tcPr>
                    <a:solidFill>
                      <a:srgbClr val="2E3B43"/>
                    </a:solidFill>
                  </a:tcPr>
                </a:tc>
                <a:tc>
                  <a:txBody>
                    <a:bodyPr/>
                    <a:lstStyle/>
                    <a:p>
                      <a:r>
                        <a:rPr lang="en-US" sz="1100">
                          <a:solidFill>
                            <a:srgbClr val="E3F2FD"/>
                          </a:solidFill>
                        </a:rPr>
                        <a:t>|0⟩→|0⟩, |1⟩→e^{iπ/4}|1⟩</a:t>
                      </a:r>
                    </a:p>
                  </a:txBody>
                  <a:tcPr>
                    <a:solidFill>
                      <a:srgbClr val="2E3B43"/>
                    </a:solidFill>
                  </a:tcPr>
                </a:tc>
                <a:tc>
                  <a:txBody>
                    <a:bodyPr/>
                    <a:lstStyle/>
                    <a:p>
                      <a:r>
                        <a:rPr lang="en-US" sz="1100">
                          <a:solidFill>
                            <a:srgbClr val="E3F2FD"/>
                          </a:solidFill>
                        </a:rPr>
                        <a:t>π/8 gate; magic state distillation</a:t>
                      </a:r>
                    </a:p>
                  </a:txBody>
                  <a:tcPr>
                    <a:solidFill>
                      <a:srgbClr val="2E3B43"/>
                    </a:solidFill>
                  </a:tcPr>
                </a:tc>
              </a:tr>
              <a:tr h="425454">
                <a:tc>
                  <a:txBody>
                    <a:bodyPr/>
                    <a:lstStyle/>
                    <a:p>
                      <a:r>
                        <a:rPr lang="en-US" sz="1100" b="1">
                          <a:solidFill>
                            <a:srgbClr val="B0BEC5"/>
                          </a:solidFill>
                        </a:rPr>
                        <a:t>CNOT</a:t>
                      </a:r>
                    </a:p>
                  </a:txBody>
                  <a:tcPr>
                    <a:solidFill>
                      <a:srgbClr val="263238"/>
                    </a:solidFill>
                  </a:tcPr>
                </a:tc>
                <a:tc>
                  <a:txBody>
                    <a:bodyPr/>
                    <a:lstStyle/>
                    <a:p>
                      <a:r>
                        <a:rPr lang="en-US" sz="1100">
                          <a:solidFill>
                            <a:srgbClr val="E3F2FD"/>
                          </a:solidFill>
                        </a:rPr>
                        <a:t>[[1,0,0,0],[0,1,0,0],[0,0,0,1],[0,0,1,0]]</a:t>
                      </a:r>
                    </a:p>
                  </a:txBody>
                  <a:tcPr>
                    <a:solidFill>
                      <a:srgbClr val="263238"/>
                    </a:solidFill>
                  </a:tcPr>
                </a:tc>
                <a:tc>
                  <a:txBody>
                    <a:bodyPr/>
                    <a:lstStyle/>
                    <a:p>
                      <a:r>
                        <a:rPr lang="en-US" sz="1100">
                          <a:solidFill>
                            <a:srgbClr val="E3F2FD"/>
                          </a:solidFill>
                        </a:rPr>
                        <a:t>|00⟩→|00⟩,|01⟩→|01⟩,|10⟩→|11⟩,|11⟩→|10⟩</a:t>
                      </a:r>
                    </a:p>
                  </a:txBody>
                  <a:tcPr>
                    <a:solidFill>
                      <a:srgbClr val="263238"/>
                    </a:solidFill>
                  </a:tcPr>
                </a:tc>
                <a:tc>
                  <a:txBody>
                    <a:bodyPr/>
                    <a:lstStyle/>
                    <a:p>
                      <a:r>
                        <a:rPr lang="en-US" sz="1100">
                          <a:solidFill>
                            <a:srgbClr val="E3F2FD"/>
                          </a:solidFill>
                        </a:rPr>
                        <a:t>Controlled NOT; entanglement</a:t>
                      </a:r>
                    </a:p>
                  </a:txBody>
                  <a:tcPr>
                    <a:solidFill>
                      <a:srgbClr val="263238"/>
                    </a:solidFill>
                  </a:tcPr>
                </a:tc>
              </a:tr>
              <a:tr h="425454">
                <a:tc>
                  <a:txBody>
                    <a:bodyPr/>
                    <a:lstStyle/>
                    <a:p>
                      <a:r>
                        <a:rPr lang="en-US" sz="1100" b="1">
                          <a:solidFill>
                            <a:srgbClr val="B0BEC5"/>
                          </a:solidFill>
                        </a:rPr>
                        <a:t>CZ</a:t>
                      </a:r>
                    </a:p>
                  </a:txBody>
                  <a:tcPr>
                    <a:solidFill>
                      <a:srgbClr val="2E3B43"/>
                    </a:solidFill>
                  </a:tcPr>
                </a:tc>
                <a:tc>
                  <a:txBody>
                    <a:bodyPr/>
                    <a:lstStyle/>
                    <a:p>
                      <a:r>
                        <a:rPr lang="en-US" sz="1100">
                          <a:solidFill>
                            <a:srgbClr val="E3F2FD"/>
                          </a:solidFill>
                        </a:rPr>
                        <a:t>diag(1,1,1,-1)</a:t>
                      </a:r>
                    </a:p>
                  </a:txBody>
                  <a:tcPr>
                    <a:solidFill>
                      <a:srgbClr val="2E3B43"/>
                    </a:solidFill>
                  </a:tcPr>
                </a:tc>
                <a:tc>
                  <a:txBody>
                    <a:bodyPr/>
                    <a:lstStyle/>
                    <a:p>
                      <a:r>
                        <a:rPr lang="en-US" sz="1100">
                          <a:solidFill>
                            <a:srgbClr val="E3F2FD"/>
                          </a:solidFill>
                        </a:rPr>
                        <a:t>|11⟩→-|11⟩; others unchanged</a:t>
                      </a:r>
                    </a:p>
                  </a:txBody>
                  <a:tcPr>
                    <a:solidFill>
                      <a:srgbClr val="2E3B43"/>
                    </a:solidFill>
                  </a:tcPr>
                </a:tc>
                <a:tc>
                  <a:txBody>
                    <a:bodyPr/>
                    <a:lstStyle/>
                    <a:p>
                      <a:r>
                        <a:rPr lang="en-US" sz="1100">
                          <a:solidFill>
                            <a:srgbClr val="E3F2FD"/>
                          </a:solidFill>
                        </a:rPr>
                        <a:t>Native 2Q gate (SC, neutral atom)</a:t>
                      </a:r>
                    </a:p>
                  </a:txBody>
                  <a:tcPr>
                    <a:solidFill>
                      <a:srgbClr val="2E3B43"/>
                    </a:solidFill>
                  </a:tcPr>
                </a:tc>
              </a:tr>
              <a:tr h="425454">
                <a:tc>
                  <a:txBody>
                    <a:bodyPr/>
                    <a:lstStyle/>
                    <a:p>
                      <a:r>
                        <a:rPr lang="en-US" sz="1100" b="1">
                          <a:solidFill>
                            <a:srgbClr val="B0BEC5"/>
                          </a:solidFill>
                        </a:rPr>
                        <a:t>Toffoli (CCX)</a:t>
                      </a:r>
                    </a:p>
                  </a:txBody>
                  <a:tcPr>
                    <a:solidFill>
                      <a:srgbClr val="263238"/>
                    </a:solidFill>
                  </a:tcPr>
                </a:tc>
                <a:tc>
                  <a:txBody>
                    <a:bodyPr/>
                    <a:lstStyle/>
                    <a:p>
                      <a:r>
                        <a:rPr lang="en-US" sz="1100">
                          <a:solidFill>
                            <a:srgbClr val="E3F2FD"/>
                          </a:solidFill>
                        </a:rPr>
                        <a:t>8×8 unitary</a:t>
                      </a:r>
                    </a:p>
                  </a:txBody>
                  <a:tcPr>
                    <a:solidFill>
                      <a:srgbClr val="263238"/>
                    </a:solidFill>
                  </a:tcPr>
                </a:tc>
                <a:tc>
                  <a:txBody>
                    <a:bodyPr/>
                    <a:lstStyle/>
                    <a:p>
                      <a:r>
                        <a:rPr lang="en-US" sz="1100">
                          <a:solidFill>
                            <a:srgbClr val="E3F2FD"/>
                          </a:solidFill>
                        </a:rPr>
                        <a:t>Flips target iff both controls =|1⟩</a:t>
                      </a:r>
                    </a:p>
                  </a:txBody>
                  <a:tcPr>
                    <a:solidFill>
                      <a:srgbClr val="263238"/>
                    </a:solidFill>
                  </a:tcPr>
                </a:tc>
                <a:tc>
                  <a:txBody>
                    <a:bodyPr/>
                    <a:lstStyle/>
                    <a:p>
                      <a:r>
                        <a:rPr lang="en-US" sz="1100">
                          <a:solidFill>
                            <a:srgbClr val="E3F2FD"/>
                          </a:solidFill>
                        </a:rPr>
                        <a:t>Universal reversible classical logic</a:t>
                      </a:r>
                    </a:p>
                  </a:txBody>
                  <a:tcPr>
                    <a:solidFill>
                      <a:srgbClr val="263238"/>
                    </a:solidFill>
                  </a:tcPr>
                </a:tc>
              </a:tr>
              <a:tr h="425454">
                <a:tc>
                  <a:txBody>
                    <a:bodyPr/>
                    <a:lstStyle/>
                    <a:p>
                      <a:r>
                        <a:rPr lang="en-US" sz="1100" b="1">
                          <a:solidFill>
                            <a:srgbClr val="B0BEC5"/>
                          </a:solidFill>
                        </a:rPr>
                        <a:t>SWAP</a:t>
                      </a:r>
                    </a:p>
                  </a:txBody>
                  <a:tcPr>
                    <a:solidFill>
                      <a:srgbClr val="2E3B43"/>
                    </a:solidFill>
                  </a:tcPr>
                </a:tc>
                <a:tc>
                  <a:txBody>
                    <a:bodyPr/>
                    <a:lstStyle/>
                    <a:p>
                      <a:r>
                        <a:rPr lang="en-US" sz="1100">
                          <a:solidFill>
                            <a:srgbClr val="E3F2FD"/>
                          </a:solidFill>
                        </a:rPr>
                        <a:t>[[1,0,0,0],[0,0,1,0],[0,1,0,0],[0,0,0,1]]</a:t>
                      </a:r>
                    </a:p>
                  </a:txBody>
                  <a:tcPr>
                    <a:solidFill>
                      <a:srgbClr val="2E3B43"/>
                    </a:solidFill>
                  </a:tcPr>
                </a:tc>
                <a:tc>
                  <a:txBody>
                    <a:bodyPr/>
                    <a:lstStyle/>
                    <a:p>
                      <a:r>
                        <a:rPr lang="en-US" sz="1100">
                          <a:solidFill>
                            <a:srgbClr val="E3F2FD"/>
                          </a:solidFill>
                        </a:rPr>
                        <a:t>|01⟩↔|10⟩; others unchanged</a:t>
                      </a:r>
                    </a:p>
                  </a:txBody>
                  <a:tcPr>
                    <a:solidFill>
                      <a:srgbClr val="2E3B43"/>
                    </a:solidFill>
                  </a:tcPr>
                </a:tc>
                <a:tc>
                  <a:txBody>
                    <a:bodyPr/>
                    <a:lstStyle/>
                    <a:p>
                      <a:r>
                        <a:rPr lang="en-US" sz="1100">
                          <a:solidFill>
                            <a:srgbClr val="E3F2FD"/>
                          </a:solidFill>
                        </a:rPr>
                        <a:t>Routing on fixed topology</a:t>
                      </a:r>
                    </a:p>
                  </a:txBody>
                  <a:tcPr>
                    <a:solidFill>
                      <a:srgbClr val="2E3B43"/>
                    </a:solidFill>
                  </a:tcPr>
                </a:tc>
              </a:tr>
            </a:tbl>
          </a:graphicData>
        </a:graphic>
      </p:graphicFrame>
      <p:sp>
        <p:nvSpPr>
          <p:cNvPr id="100416" name="TextBox 4"/>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90A4AE"/>
                </a:solidFill>
              </a:rPr>
              <a:t>65 / 65  |  APPENDIX — GATE REFERENCE</a:t>
            </a:r>
          </a:p>
        </p:txBody>
      </p:sp>
      <p:sp>
        <p:nvSpPr>
          <p:cNvPr id="100417" name="TextBox 5"/>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78909C"/>
                </a:solidFill>
              </a:rPr>
              <a:t>QFF26 Lecture Series — Quantum Computing Basics  |  qff26.org</a:t>
            </a:r>
          </a:p>
        </p:txBody>
      </p:sp>
    </p:spTree>
  </p:cSld>
</p:sld>
</file>

<file path=ppt/slides/slide65.xml><?xml version="1.0" encoding="utf-8"?>
<p:sld xmlns:p="http://schemas.openxmlformats.org/presentationml/2006/main">
  <p:cSld>
    <p:spTree>
      <p:nvGrpSpPr>
        <p:cNvPr id="1" name=""/>
        <p:cNvGrpSpPr/>
        <p:nvPr/>
      </p:nvGrpSpPr>
      <p:grpSpPr/>
      <p:sp>
        <p:nvSpPr>
          <p:cNvPr id="100418" name="TextBox 1"/>
          <p:cNvSpPr txBox="1"/>
          <p:nvPr/>
        </p:nvSpPr>
        <p:spPr>
          <a:xfrm xmlns:a="http://schemas.openxmlformats.org/drawingml/2006/main">
            <a:off x="0" y="0"/>
            <a:ext cx="12193200" cy="180000"/>
          </a:xfrm>
          <a:prstGeom xmlns:a="http://schemas.openxmlformats.org/drawingml/2006/main" prst="rect">
            <a:avLst/>
          </a:prstGeom>
          <a:solidFill xmlns:a="http://schemas.openxmlformats.org/drawingml/2006/main">
            <a:srgbClr val="00BCD4"/>
          </a:solidFill>
        </p:spPr>
        <p:txBody>
          <a:bodyPr xmlns:a="http://schemas.openxmlformats.org/drawingml/2006/main"/>
          <a:lstStyle xmlns:a="http://schemas.openxmlformats.org/drawingml/2006/main"/>
          <a:p xmlns:a="http://schemas.openxmlformats.org/drawingml/2006/main">
            <a:endParaRPr lang="en-US">
              <a:solidFill>
                <a:srgbClr val="00BCD4"/>
              </a:solidFill>
            </a:endParaRPr>
          </a:p>
        </p:txBody>
      </p:sp>
      <p:sp>
        <p:nvSpPr>
          <p:cNvPr id="100419" name="TextBox 2"/>
          <p:cNvSpPr txBox="1"/>
          <p:nvPr/>
        </p:nvSpPr>
        <p:spPr>
          <a:xfrm xmlns:a="http://schemas.openxmlformats.org/drawingml/2006/main">
            <a:off x="720000" y="1080000"/>
            <a:ext cx="10800000" cy="10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ctr"/>
            <a:r>
              <a:rPr lang="en-US" b="1">
                <a:solidFill>
                  <a:srgbClr val="00E5FF"/>
                </a:solidFill>
              </a:rPr>
              <a:t>Thank You — See You at QFF26!</a:t>
            </a:r>
          </a:p>
        </p:txBody>
      </p:sp>
      <p:sp>
        <p:nvSpPr>
          <p:cNvPr id="100420" name="TextBox 3"/>
          <p:cNvSpPr txBox="1"/>
          <p:nvPr/>
        </p:nvSpPr>
        <p:spPr>
          <a:xfrm xmlns:a="http://schemas.openxmlformats.org/drawingml/2006/main">
            <a:off x="720000" y="2232000"/>
            <a:ext cx="10800000" cy="54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ctr"/>
            <a:r>
              <a:rPr lang="en-US">
                <a:solidFill>
                  <a:srgbClr val="80DEEA"/>
                </a:solidFill>
              </a:rPr>
              <a:t>Quantum Computing Basics | 65 Slides Complete</a:t>
            </a:r>
          </a:p>
        </p:txBody>
      </p:sp>
      <p:sp>
        <p:nvSpPr>
          <p:cNvPr id="100421" name="TextBox 4"/>
          <p:cNvSpPr txBox="1"/>
          <p:nvPr/>
        </p:nvSpPr>
        <p:spPr>
          <a:xfrm xmlns:a="http://schemas.openxmlformats.org/drawingml/2006/main">
            <a:off x="720000" y="2880000"/>
            <a:ext cx="10800000" cy="90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ctr"/>
            <a:r>
              <a:rPr lang="en-US">
                <a:solidFill>
                  <a:srgbClr val="B2EBF2"/>
                </a:solidFill>
              </a:rPr>
              <a:t>Module 1: Math  ·  Module 2: Physics  ·  Module 3: Chemistry  ·  Module 4: Qubit ↔ Atoms</a:t>
            </a:r>
          </a:p>
          <a:p xmlns:a="http://schemas.openxmlformats.org/drawingml/2006/main">
            <a:pPr algn="ctr"/>
            <a:r>
              <a:rPr lang="en-US">
                <a:solidFill>
                  <a:srgbClr val="B2EBF2"/>
                </a:solidFill>
              </a:rPr>
              <a:t>30 Peer-Reviewed References  ·  2 Hands-On Labs  ·  Career Pathways  ·  Gate Reference Card</a:t>
            </a:r>
          </a:p>
        </p:txBody>
      </p:sp>
      <p:sp>
        <p:nvSpPr>
          <p:cNvPr id="100422" name="TextBox 5"/>
          <p:cNvSpPr txBox="1"/>
          <p:nvPr/>
        </p:nvSpPr>
        <p:spPr>
          <a:xfrm xmlns:a="http://schemas.openxmlformats.org/drawingml/2006/main">
            <a:off x="720000" y="3960000"/>
            <a:ext cx="10800000" cy="432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ctr"/>
            <a:r>
              <a:rPr lang="en-US">
                <a:solidFill>
                  <a:srgbClr val="4DD0E1"/>
                </a:solidFill>
              </a:rPr>
              <a:t>learning.quantum.ibm.com  |  qiskit.org  |  qff26.org</a:t>
            </a:r>
          </a:p>
        </p:txBody>
      </p:sp>
      <p:sp>
        <p:nvSpPr>
          <p:cNvPr id="100423" name="TextBox 6"/>
          <p:cNvSpPr txBox="1"/>
          <p:nvPr/>
        </p:nvSpPr>
        <p:spPr>
          <a:xfrm xmlns:a="http://schemas.openxmlformats.org/drawingml/2006/main">
            <a:off x="720000" y="4680000"/>
            <a:ext cx="10800000" cy="1080000"/>
          </a:xfrm>
          <a:prstGeom xmlns:a="http://schemas.openxmlformats.org/drawingml/2006/main" prst="rect">
            <a:avLst/>
          </a:prstGeom>
          <a:solidFill xmlns:a="http://schemas.openxmlformats.org/drawingml/2006/main">
            <a:srgbClr val="0D1B2A"/>
          </a:solidFill>
        </p:spPr>
        <p:txBody>
          <a:bodyPr xmlns:a="http://schemas.openxmlformats.org/drawingml/2006/main"/>
          <a:lstStyle xmlns:a="http://schemas.openxmlformats.org/drawingml/2006/main"/>
          <a:p xmlns:a="http://schemas.openxmlformats.org/drawingml/2006/main">
            <a:pPr algn="ctr"/>
            <a:r>
              <a:rPr lang="en-US">
                <a:solidFill>
                  <a:srgbClr val="90CAF9"/>
                </a:solidFill>
              </a:rPr>
              <a:t>"Nature isn't classical, and if you want to make a simulation of Nature, you'd better make it quantum mechanical."</a:t>
            </a:r>
          </a:p>
          <a:p xmlns:a="http://schemas.openxmlformats.org/drawingml/2006/main">
            <a:pPr algn="ctr"/>
            <a:r>
              <a:rPr lang="en-US">
                <a:solidFill>
                  <a:srgbClr val="90CAF9"/>
                </a:solidFill>
              </a:rPr>
              <a:t>— Richard Feynman, 1982</a:t>
            </a:r>
          </a:p>
        </p:txBody>
      </p:sp>
      <p:sp>
        <p:nvSpPr>
          <p:cNvPr id="100424" name="TextBox 7"/>
          <p:cNvSpPr txBox="1"/>
          <p:nvPr/>
        </p:nvSpPr>
        <p:spPr>
          <a:xfrm xmlns:a="http://schemas.openxmlformats.org/drawingml/2006/main">
            <a:off x="7920000" y="6408000"/>
            <a:ext cx="39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r"/>
            <a:r>
              <a:rPr lang="en-US">
                <a:solidFill>
                  <a:srgbClr val="80DEEA"/>
                </a:solidFill>
              </a:rPr>
              <a:t>65 / 65  |  QUANTUM FALL FEST 2026</a:t>
            </a:r>
          </a:p>
        </p:txBody>
      </p:sp>
      <p:sp>
        <p:nvSpPr>
          <p:cNvPr id="100425" name="TextBox 8"/>
          <p:cNvSpPr txBox="1"/>
          <p:nvPr/>
        </p:nvSpPr>
        <p:spPr>
          <a:xfrm xmlns:a="http://schemas.openxmlformats.org/drawingml/2006/main">
            <a:off x="0" y="6408000"/>
            <a:ext cx="7560000" cy="216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pPr algn="l"/>
            <a:r>
              <a:rPr lang="en-US">
                <a:solidFill>
                  <a:srgbClr val="4DD0E1"/>
                </a:solidFill>
              </a:rPr>
              <a:t>QFF26 Lecture Series — Quantum Computing Basics  |  qff26.org</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OfficeCLI/1.0.155</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2026-10-08T17:58:22Z</dcterms:created>
  <cp:lastModifiedBy>OfficeCLI</cp:lastModifiedBy>
  <dcterms:modified xsi:type="dcterms:W3CDTF">2026-10-08T17:58:22Z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1.0.155</vt:lpwstr>
  </op:property>
  <op:property fmtid="{D5CDD505-2E9C-101B-9397-08002B2CF9AE}" pid="3" name="OfficeCLI.LastModified">
    <vt:lpwstr xmlns:vt="http://schemas.openxmlformats.org/officeDocument/2006/docPropsVTypes">2026-10-08T18:30:11Z</vt:lpwstr>
  </op:property>
</op:Properties>
</file>